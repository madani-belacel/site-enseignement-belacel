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et bienvenue dans ce module d'intelligence artificielle de 2e année PEP.</a:t>
            </a:r>
          </a:p>
          <a:p/>
          <a:p>
            <a:r>
              <a:t>Aujourd'hui, on ne va pas faire de théorie : pas d'histoire de l'IA, pas de définitions compliquées, pas de formules à retenir. Mon seul objectif, c'est qu'à la fin de la séance vous sachiez utiliser concrètement ChatGPT, Gemini et les autres outils, et surtout que vous repartiez avec des astuces que vous pourrez tester dès ce soir.</a:t>
            </a:r>
          </a:p>
          <a:p/>
          <a:p>
            <a:r>
              <a:t>On va voir quatre grandes choses : comment bien demander à l'IA, quelles fonctions existent et comment s'en servir, comment l'appliquer à vos matières PEP, et quels pièges éviter.</a:t>
            </a:r>
          </a:p>
          <a:p/>
          <a:p>
            <a:r>
              <a:t>Gardez en tête une seule idée, c'est le fil rouge de tout le cours : la qualité de ce que vous obtenez dépend directement de la qualité de ce que vous demandez. Si vous ne retenez qu'une phrase aujourd'hui, c'est celle-là.</a:t>
            </a:r>
          </a:p>
          <a:p/>
          <a:p>
            <a:r>
              <a:t>Installez-vous, prenez votre téléphone si vous voulez tester en même temps, et c'est parti.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programme, et vous allez voir qu'il est très logique.</a:t>
            </a:r>
          </a:p>
          <a:p/>
          <a:p>
            <a:r>
              <a:t>D'abord, « bien démarrer » : l'état d'esprit à avoir et comment choisir le bon outil selon ce que vous voulez faire. Ensuite, le cœur du cours : la méthode, c'est-à-dire comment bien formuler une demande. On y passera le plus de temps, parce que c'est ça qui fait toute la différence.</a:t>
            </a:r>
          </a:p>
          <a:p/>
          <a:p>
            <a:r>
              <a:t>Troisième partie : les astuces concrètes, une par fonctionnalité — analyser un document, chercher une information, rédiger, générer un tableau ou une image, s'organiser, automatiser.</a:t>
            </a:r>
          </a:p>
          <a:p/>
          <a:p>
            <a:r>
              <a:t>Quatrième partie : on traduit tout ça pour VOS études, avec des prompts prêts à copier-coller pour vos matières. Et enfin, on termine par les pièges à éviter et un petit exercice pratique.</a:t>
            </a:r>
          </a:p>
          <a:p/>
          <a:p>
            <a:r>
              <a:t>Si vous avez votre téléphone, ouvrez votre application préférée, on testera ensemble.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les outils, on plante le décor avec cinq principes. Ils ont l'air simples, mais ce sont eux qui font la différence entre quelqu'un qui progresse et quelqu'un qui abandonne.</a:t>
            </a:r>
          </a:p>
          <a:p/>
          <a:p>
            <a:r>
              <a:t>Premier principe : l'IA n'est pas un magicien. Elle ne « comprend » pas comme un humain, elle calcule et prédit. Donc elle peut se tromper avec un aplomb total. C'est une aide très puissante, pas une vérité.</a:t>
            </a:r>
          </a:p>
          <a:p/>
          <a:p>
            <a:r>
              <a:t>Deuxième : fixez-vous un objectif clair. Si vous commencez par « je veux apprendre l'IA », vous allez vous disperser. Dites plutôt : « je veux résumer mes cours plus vite », ou « je veux rédiger mon rapport ». Un objectif concret, ça change tout.</a:t>
            </a:r>
          </a:p>
          <a:p/>
          <a:p>
            <a:r>
              <a:t>Troisième : 30 minutes par jour valent bien mieux que 5 heures une fois par mois. La régularité gagne toujours.</a:t>
            </a:r>
          </a:p>
          <a:p/>
          <a:p>
            <a:r>
              <a:t>Quatrième : apprenez un seul outil à la fois. Ne sautez pas de ChatGPT à Gemini à Claude à Perplexity en même temps, vous allez vous épuiser. Maîtrisez-en un, puis passez au suivant.</a:t>
            </a:r>
          </a:p>
          <a:p/>
          <a:p>
            <a:r>
              <a:t>Cinquième : le piège numéro un, c'est de regarder des vidéos toute la journée sans jamais pratiquer. Vous savez conduire parce que vous avez conduit, pas parce que vous avez regardé dix leçons de conduite. Donc la règle d'or : appliquez. Testez chaque astuce sur une vraie tâche de votre semaine. C'est ça qui vous fera progresser.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étape : bien choisir son outil. Il n'y a pas « une » IA, il y en a plusieurs, et elles ne sont pas bonnes partout.</a:t>
            </a:r>
          </a:p>
          <a:p/>
          <a:p>
            <a:r>
              <a:t>Pour un usage quotidien — résumer, rédiger un email, coder un petit bout de code — ChatGPT ou Gemini font très bien l'affaire.</a:t>
            </a:r>
          </a:p>
          <a:p/>
          <a:p>
            <a:r>
              <a:t>Pour un travail long ou un raisonnement complexe, beaucoup de professionnels préfèrent Claude : il est souvent plus fin sur les longs textes et le code.</a:t>
            </a:r>
          </a:p>
          <a:p/>
          <a:p>
            <a:r>
              <a:t>Pour la recherche avec des sources fiables et vérifiables, Perplexity est le bon choix, parce qu'il cite systématiquement ses sources.</a:t>
            </a:r>
          </a:p>
          <a:p/>
          <a:p>
            <a:r>
              <a:t>Pour analyser une image, un schéma ou un document, Gemini et ChatGPT sont excellents.</a:t>
            </a:r>
          </a:p>
          <a:p/>
          <a:p>
            <a:r>
              <a:t>Et si vous voulez du gratuit, en local, avec vos données qui ne partent pas ailleurs, regardez du côté de Mistral, Llama ou DeepSeek.</a:t>
            </a:r>
          </a:p>
          <a:p/>
          <a:p>
            <a:r>
              <a:t>L'astuce, c'est de ne pas choisir au hasard : gardez deux ou trois outils sous la main et posez la même question aux deux. Vous verrez que le meilleur change selon la tâche. Dernier point important : les IA ont souvent deux modes, un mode rapide pour les petites questions et un mode réflexion pour les calculs, le code ou les textes longs. Pour une tâche difficile, forcez le mode réflexion, même si c'est plus lent.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d'entrer dans le vif, deux points très pratiques qui évitent bien des galères.</a:t>
            </a:r>
          </a:p>
          <a:p/>
          <a:p>
            <a:r>
              <a:t>Premier point : téléchargez l'application OFFICIELLE, celle d'OpenAI pour ChatGPT et de Google pour Gemini. Elle est gratuite. Méfiez-vous : il existe des dizaines de faux clones qui font payer ce qui est gratuit. Un bon test : l'application officielle doit retrouver l'historique de vos conversations de l'ordinateur. Si ce n'est pas le cas, c'est probablement un clone.</a:t>
            </a:r>
          </a:p>
          <a:p/>
          <a:p>
            <a:r>
              <a:t>Deuxième point : faut-il payer ? Non, pas au début. La version gratuite est largement suffisante pour vos études. L'abonnement, environ 20 dollars par mois, sert surtout à ceux qui l'utilisent tous les jours, et il débloque des fonctions avancées comme la planification automatique.</a:t>
            </a:r>
          </a:p>
          <a:p/>
          <a:p>
            <a:r>
              <a:t>Ensuite, le point le plus important de cette diapo : comment lui parler. Arrêtez d'écrire vos demandes comme si vous programmiez une machine à sous, avec des mots-clés empilés. Les anciens modèles avaient besoin de ces « formules magiques », les nouveaux non. Parlez-lui comme à un collègue intelligent : expliquez votre situation, votre objectif, et surtout le POURQUOI vous voulez cette chose. C'est ça qui change la qualité de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arrive au cœur du cours. Je vais le dire franchement : peu importe l'outil que vous utilisez, 90 % de la qualité du résultat vient de la qualité de votre demande. Deux personnes avec le même ChatGPT peuvent obtenir des résultats complètement différents, juste parce que l'une a mieux expliqué ce qu'elle voulait. Cette partie vaut de l'or, on va la prendre étape par étape.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formule que je veux que vous reteniez. On l'appelle parfois la méthode des six éléments : le rôle, la tâche, le contexte, les exemples, le format et la tonalité.</a:t>
            </a:r>
          </a:p>
          <a:p/>
          <a:p>
            <a:r>
              <a:t>Prenons un exemple simple : je veux comprendre la loi d'Ohm. Sans rien dire, je tape « explique la loi d'Ohm » et j'obtiens une réponse vague, niveau encyclopédie.</a:t>
            </a:r>
          </a:p>
          <a:p/>
          <a:p>
            <a:r>
              <a:t>Maintenant, j'applique la formule : « Tu es un professeur de physique expérimenté » — ça, c'est le rôle. « Explique-moi la loi d'Ohm » — la tâche. « Je suis étudiant en 2e année PEP, niveau débutant » — le contexte. « Inspire-toi de cette fiche ci-joint » — l'exemple. « Une fiche d'une page en points clés » — le format. « Simple, sans jargon, sans emojis » — la tonalité.</a:t>
            </a:r>
          </a:p>
          <a:p/>
          <a:p>
            <a:r>
              <a:t>Vous verrez, la réponse n'a plus rien à voir. Elle est adaptée à votre niveau, structurée, directement utilisable.</a:t>
            </a:r>
          </a:p>
          <a:p/>
          <a:p>
            <a:r>
              <a:t>Vous n'êtes pas obligé d'utiliser les six à chaque fois, mais plus vous en donnez, meilleur c'est. Gardez ce modèle quelque part, vous le réutiliserez tout le temps.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je ne devais garder qu'une seule idée de tout ce cours, ce serait celle-là : le contexte.</a:t>
            </a:r>
          </a:p>
          <a:p/>
          <a:p>
            <a:r>
              <a:t>Les professionnels ne cherchent pas le « prompt parfait », ils donnent un maximum de contexte. Imaginez que l'IA est un nouvel employé que vous venez de recruter. Vous ne lui dites pas juste « fais un rapport » et vous attendez. Vous lui expliquez le projet, le client, le style attendu, vous lui donnez les documents. C'est ce qu'on appelle un « onboarding ».</a:t>
            </a:r>
          </a:p>
          <a:p/>
          <a:p>
            <a:r>
              <a:t>Avec l'IA, c'est exactement pareil. Donnez-lui : votre objectif, votre public, vos contraintes, des exemples, des documents. Et voici une astuce que j'adore : demandez-lui d'abord « quels documents m'aideraient à mieux répondre ? ». Souvent, elle va vous dire exactement ce dont elle a besoin. Vous n'avez plus qu'à les fournir, ou à la laisser les chercher elle-même.</a:t>
            </a:r>
          </a:p>
          <a:p/>
          <a:p>
            <a:r>
              <a:t>Retenez la formule : même modèle, plus de contexte, égal résultat bien meilleur. C'est presque tout ce qu'il y a à savoir sur le prompt.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astuce, très simple et très puissante : donnez un rôle à l'IA. Dites « agis comme un expert » dans le domaine qui vous intéresse.</a:t>
            </a:r>
          </a:p>
          <a:p/>
          <a:p>
            <a:r>
              <a:t>Pourquoi ça marche ? Parce que quand vous demandez à l'IA de répondre comme un expert, elle change trois choses : le vocabulaire qu'elle emploie, la profondeur de sa réponse, et surtout ce qu'elle décide de vous signaler. Un expert ne se contente pas de répondre, il vous prévient des pièges.</a:t>
            </a:r>
          </a:p>
          <a:p/>
          <a:p>
            <a:r>
              <a:t>Je prends un exemple volontairement simple : je demande « une recette de taboulé ». Réponse classique, plate. Maintenant je dis : « Tu es un chef étoilé spécialisé dans le taboulé, avec dix restaurants ». Là, elle va vous donner des astuces de chef, des détails qu'une simple recette n'aurait pas.</a:t>
            </a:r>
          </a:p>
          <a:p/>
          <a:p>
            <a:r>
              <a:t>Et vous pouvez accentuer le rôle : plus il est précis, meilleure est la réponse. Pour vos rapports, essayez : « Tu es un correcteur de rapports d'ingénieur exigeant ». Vous allez voir la différence. C'est gratuit, ça prend cinq secondes, et ça change tout.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astuce : montrez un exemple. On appelle ça aussi le « few-shot ».</a:t>
            </a:r>
          </a:p>
          <a:p/>
          <a:p>
            <a:r>
              <a:t>Au lieu de décrire pendant dix lignes ce que vous voulez, vous collez un exemple de ce que vous considérez comme réussi, et vous dites : « inspire-toi de sa structure et de son ton ». Si vous avez un texte écrit dans le style qui vous plaît, collez-le et dites « garde exactement ce ton ». C'est beaucoup plus efficace qu'une longue description.</a:t>
            </a:r>
          </a:p>
          <a:p/>
          <a:p>
            <a:r>
              <a:t>Et maintenant, la partie que j'ai appelée « soyez paresseux », mais c'est en réalité l'astuce la plus sous-estimée de toutes. Au lieu de chercher le prompt parfait, demandez à l'IA de l'améliorer à votre place. Vous écrivez : « Voici ce que je veux obtenir. Réécris mon prompt pour l'obtenir, puis explique ce que tu as changé. »</a:t>
            </a:r>
          </a:p>
          <a:p/>
          <a:p>
            <a:r>
              <a:t>Là, il se passe deux choses magiques : vous obtenez un meilleur prompt, mais en plus elle vous explique ce qu'elle a changé, donc vous apprenez à prompter. Faites ça dix fois, et vous aurez plus appris qu'avec n'importe quelle formation payante. Testez, c'est vraiment frappant.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astuce, en deux volets.</a:t>
            </a:r>
          </a:p>
          <a:p/>
          <a:p>
            <a:r>
              <a:t>Premier volet : la reformulation. Vous n'êtes pas obligé de tout recommencer si la réponse ne vous convient pas. Dites simplement : « explique comme si j'avais dix ans », ou « résume en trois phrases », ou « reformule, plus court, plus professionnel, sans emojis ». Une phrase, et vous adaptez la réponse à votre niveau et à votre besoin. Perso, j'aime bien : « donne-moi d'abord la réponse courte, puis les détails » — parfait quand on est pressé.</a:t>
            </a:r>
          </a:p>
          <a:p/>
          <a:p>
            <a:r>
              <a:t>Deuxième volet : imposez le format. C'est tout bête mais ça change tout au quotidien. « Réponds sous forme de tableau à trois colonnes ». « Une liste numérotée de sept points maximum ». « Deux paragraphes, sans puces ». Si vous dictez précisément la forme que vous voulez, vous n'aurez pas à retoucher la réponse après. C'est du temps gagné à chaque fois.</a:t>
            </a:r>
          </a:p>
          <a:p/>
          <a:p>
            <a:r>
              <a:t>Ces deux réflexes, reformuler et imposer le format, s'appliquent à tous les outils, que ce soit ChatGPT, Gemini ou Claude.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qu'on sait bien demander, on passe aux astuces concrètes, fonctionnalité par fonctionnalité. Sortez votre téléphone si ce n'est pas déjà fait : le meilleur moyen de retenir, c'est de tester en même temps. On va faire le tour de tout ce que l'IA sait faire, et pour chaque point, je vous donne l'astuce qui fait gagner du temps.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astuce concrète : le mode vocal.</a:t>
            </a:r>
          </a:p>
          <a:p/>
          <a:p>
            <a:r>
              <a:t>Sur l'application mobile, il y a un petit micro. Appuyez dessus et parlez : l'IA écrit votre question pour vous. C'est idéal quand vous êtes en déplacement, dans le bus, ou tout simplement quand vous ne savez pas comment formuler votre demande par écrit. Vous parlez naturellement, c'est tout.</a:t>
            </a:r>
          </a:p>
          <a:p/>
          <a:p>
            <a:r>
              <a:t>Le mode vocal moderne, lui, se comporte comme un vrai appel téléphonique. Concrètement, vous pouvez l'interrompre en pleine phrase et il s'arrête, il ne continue pas comme un répondeur. Il arrive même à gérer plusieurs personnes qui parlent en même temps — pratique pour une discussion à deux.</a:t>
            </a:r>
          </a:p>
          <a:p/>
          <a:p>
            <a:r>
              <a:t>Et si vous avez un abonnement payant, il y a un bonus : vous pouvez partager votre écran ou pointer la caméra vers quelque chose. Par exemple, pointer la caméra vers le tableau de bord d'une voiture de location et demander « c'est quoi ce voyant ? ». Ou montrer votre écran et demander de repérer une erreur.</a:t>
            </a:r>
          </a:p>
          <a:p/>
          <a:p>
            <a:r>
              <a:t>Bref, ne sous-estimez pas le vocal : souvent, parler est plus rapide qu'écrire.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astuce : analyser vos documents. C'est une des fonctions les plus utiles pour un étudiant.</a:t>
            </a:r>
          </a:p>
          <a:p/>
          <a:p>
            <a:r>
              <a:t>Vous cliquez sur le petit « plus », vous chargez un fichier — un PDF, un Word, un Excel — et vous posez votre question. Un PDF, c'est parfait pour résumer un cours, un article, un contrat, ou un TD.</a:t>
            </a:r>
          </a:p>
          <a:p/>
          <a:p>
            <a:r>
              <a:t>Deux astuces pour que ça marche bien. La première : restez sur des fichiers courts, disons vingt à cinquante pages maximum. Si vous chargez un document de trois cents pages, l'IA va survoler et rater l'essentiel. La deuxième, plus importante : posez une question précise. Ne dites pas « donne-moi les infos du document », ça ne veut rien dire. Dites plutôt : « extrais les cinq idées essentielles liées au chapitre sur les transferts thermiques ». Là, vous obtenez quelque chose de vraiment exploitable.</a:t>
            </a:r>
          </a:p>
          <a:p/>
          <a:p>
            <a:r>
              <a:t>Pour les tableurs Excel, c'est possible, mais vérifiez toujours les calculs : l'IA se trompe parfois.</a:t>
            </a:r>
          </a:p>
          <a:p/>
          <a:p>
            <a:r>
              <a:t>Dernier point, la sécurité : préférez charger le fichier depuis votre ordinateur plutôt que de connecter tout votre Drive. Vous ne voulez pas donner accès à tous vos documents personnels.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astuce : la fonction Vision, c'est-à-dire montrer une image. C'est une des fonctions les plus sous-estimées, et pourtant elle est géniale pour un étudiant.</a:t>
            </a:r>
          </a:p>
          <a:p/>
          <a:p>
            <a:r>
              <a:t>Le principe : vous partagez une image ou une photo, et l'IA l'analyse et vous aide.</a:t>
            </a:r>
          </a:p>
          <a:p/>
          <a:p>
            <a:r>
              <a:t>Je vous donne des cas très concrets. Vous photographiez la fiche ou le tableau que le prof vient d'écrire et vous demandez de le retranscrire proprement. Vous photographiez un graphique de TD et vous demandez de l'expliquer. Vous montrez une capture d'écran de code, et elle repère l'erreur. Vous montrez un code d'erreur affiché sur une machine ou un logiciel. En voyage, vous photographiez une notice et vous demandez de la traduire.</a:t>
            </a:r>
          </a:p>
          <a:p/>
          <a:p>
            <a:r>
              <a:t>L'usage roi, à mon avis : les comptes-rendus. Vous avez pris des notes à la main pendant le TP, parfois illisibles ; vous les photographiez, et l'IA vous en fait un texte propre et structuré. Ça vous fait gagner un temps fou. Testez avec votre dernière feuille de notes.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Quatrième astuce : la recherche et la vérification. C'est la partie où il faut être le plus vigilant.</a:t>
            </a:r>
          </a:p>
          <a:p/>
          <a:p>
            <a:r>
              <a:t>L'IA peut aller chercher l'information en ligne toute seule. Vous pouvez activer le bouton « Rechercher » pour la forcer à chercher sur le web, ou coller un lien et lui poser une question sur ce site précis.</a:t>
            </a:r>
          </a:p>
          <a:p/>
          <a:p>
            <a:r>
              <a:t>Si vous avez besoin de sources fiables et vérifiables — pour un exposé, un rapport — utilisez Perplexity. Sa grande force, c'est qu'il cite systématiquement ses sources, donc vous pouvez tout vérifier.</a:t>
            </a:r>
          </a:p>
          <a:p/>
          <a:p>
            <a:r>
              <a:t>Il existe aussi la recherche approfondie, qu'on appelle « deep research ». Vous lui donnez une question, elle va lire des dizaines de sites pendant plusieurs minutes, et elle vous rend un rapport structuré avec des liens. C'est idéal avant un exposé, avant un achat important, ou pour préparer une décision.</a:t>
            </a:r>
          </a:p>
          <a:p/>
          <a:p>
            <a:r>
              <a:t>Mais voici le réflexe que je veux que vous ayez tous : demandez toujours « quelles sont tes sources ? », et ouvrez deux ou trois liens. Parce que l'IA peut se tromper avec une assurance déconcertante. Elle peut citer un site qui ne dit pas ce qu'elle prétend. Pour les faits, les chiffres, les dates, vérifiez toujours. C'est votre responsabilité, pas la sienne.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Cinquième astuce : la rédaction. C'est probablement ce que vous allez utiliser le plus.</a:t>
            </a:r>
          </a:p>
          <a:p/>
          <a:p>
            <a:r>
              <a:t>Quelques phrases à connaître par cœur. Pour corriger : « corrige l'orthographe et la grammaire sans changer le sens ». Pour améliorer : « reformule ce passage, plus clair, plus court, plus professionnel ». Pour adapter : « adapte ce texte pour mon professeur », ou pour des camarades, ou pour une entreprise — le ton n'est pas le même. Et si vous bloquez sur un rapport, demandez : « écris une introduction et une conclusion pour ce rapport ».</a:t>
            </a:r>
          </a:p>
          <a:p/>
          <a:p>
            <a:r>
              <a:t>L'astuce qui change tout : donnez un exemple du style que vous voulez, et dites « garde ce ton ». Vous obtiendrez un texte qui vous ressemble, pas une langue de bois.</a:t>
            </a:r>
          </a:p>
          <a:p/>
          <a:p>
            <a:r>
              <a:t>Mais un mot d'avertissement, et il est important : relisez toujours. L'IA vous fait gagner du temps, elle produit un brouillon. Vous restez responsable de ce que vous rendez. Rendre un texte non relu, c'est risquer une erreur bête qui vous coûte des points.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Sixième astuce : générer des tableaux. Beaucoup de gens ne savent pas que c'est possible.</a:t>
            </a:r>
          </a:p>
          <a:p/>
          <a:p>
            <a:r>
              <a:t>Vous demandez par exemple : « génère un tableau à quatre colonnes et trois lignes, au format Excel ». L'IA ne vous donne pas juste un tableau dans le chat, elle vous produit un vrai fichier .xlsx ou .csv que vous pouvez télécharger.</a:t>
            </a:r>
          </a:p>
          <a:p/>
          <a:p>
            <a:r>
              <a:t>L'astuce importante : téléchargez-le tout de suite. Le lien de téléchargement peut expirer au bout d'un moment, et vous perdez le fichier. Donc dès qu'il est prêt, vous le téléchargez.</a:t>
            </a:r>
          </a:p>
          <a:p/>
          <a:p>
            <a:r>
              <a:t>À quoi ça sert concrètement ? Organiser des données de TP, préparer un planning, faire un tableau comparatif de plusieurs options pour un exposé, structurer vos notes.</a:t>
            </a:r>
          </a:p>
          <a:p/>
          <a:p>
            <a:r>
              <a:t>Un mot de prudence quand même : pour de vrais calculs, refaites-les vous-même ou vérifiez-les. L'IA se trompe régulièrement en maths, même sur des choses simples. Le tableau, c'est surtout pour la structure et l'organisation, pas pour lui faire confiance les yeux fermés sur les chiffres.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Septième astuce : les images. Très utile pour illustrer un exposé ou un rapport.</a:t>
            </a:r>
          </a:p>
          <a:p/>
          <a:p>
            <a:r>
              <a:t>Pour générer une image, décrivez précisément ce que vous voulez et choisissez un style : réaliste, illustration, dessin. Bonne nouvelle : le texte dans les images est maintenant lisible, donc vous pouvez faire un logo, une affiche, un menu.</a:t>
            </a:r>
          </a:p>
          <a:p/>
          <a:p>
            <a:r>
              <a:t>Mais le vrai changement, c'est la modification. Avant, quand vous vouliez changer un détail, il fallait tout regénérer, et vous obteniez une image complètement différente. Maintenant, modifier une image, c'est une conversation : vous discutez avec la même image, et le personnage, la pose, l'éclairage restent.</a:t>
            </a:r>
          </a:p>
          <a:p/>
          <a:p>
            <a:r>
              <a:t>Pour que ça marche bien, retenez la règle des trois parties : ce qu'on CHANGE, ce qu'on GARDE, et ce qu'on INTERDIT. Par exemple : « mets la veste en bleu marine » — ce qu'on change ; « garde le visage et la pose » — ce qu'on garde ; « surtout pas de flare ni de main en trop » — ce qu'on interdit. Des trois, la partie « garde » est la plus importante, c'est elle qui protège le reste de l'image.</a:t>
            </a:r>
          </a:p>
          <a:p/>
          <a:p>
            <a:r>
              <a:t>Quelques outils : Nano Banana, dans Gemini, pour le côté créatif ; ChatGPT Image pour le réalisme et le texte ; et Flux, gratuit et en local, pour un contrôle total. Attention, ça reste imparfait sur les détails et les longs textes.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Huitième astuce : les assistants personnalisés, qu'on appelle aussi les « GPT personnalisés ».</a:t>
            </a:r>
          </a:p>
          <a:p/>
          <a:p>
            <a:r>
              <a:t>L'idée est simple : au lieu de tout réexpliquer à chaque fois, vous créez une fois un assistant dédié à une tâche répétitive. Par exemple : un correcteur de rapports, qui connaît vos consignes de style. Un générateur de QCM, qui connaît votre programme. Un traducteur technique, qui connaît le vocabulaire de votre filière.</a:t>
            </a:r>
          </a:p>
          <a:p/>
          <a:p>
            <a:r>
              <a:t>Vous le créez une fois, et ensuite vous le réutilisez sans rien réexpliquer. C'est un énorme gain de temps.</a:t>
            </a:r>
          </a:p>
          <a:p/>
          <a:p>
            <a:r>
              <a:t>Deux petites astuces. La première : épinglez vos assistants préférés pour les retrouver en un clic. La seconde : vérifiez quel modèle les fait tourner, et préférez le modèle le plus récent, ou en mode réflexion. Un assistant mal configuré sur un vieux modèle donnera des réponses moyennes.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Neuvième astuce, et honnêtement une de mes préférées : les Projets.</a:t>
            </a:r>
          </a:p>
          <a:p/>
          <a:p>
            <a:r>
              <a:t>Un Projet, c'est une sorte de dossier qui contient vos conversations, vos fichiers et vos consignes, tous regroupés autour d'un même sujet. Trois choses à retenir. Un : les consignes que vous mettez dans le projet priment sur vos réglages généraux. Deux : la mémoire du projet est cloisonnée, elle ne mélange pas avec vos autres sujets. Trois : tous les nouveaux chats à l'intérieur du projet connaissent déjà le contexte.</a:t>
            </a:r>
          </a:p>
          <a:p/>
          <a:p>
            <a:r>
              <a:t>Pour vous, étudiants, le cas d'école c'est un projet « Révisions ». Vous y ajoutez votre programme, vos fiches, vos anciens sujets. Et à partir de là, l'IA sait toujours qui vous êtes, où vous en êtes, ce que vous avez déjà vu. Fini de répéter « je suis en 2e année PEP, je révise le chapitre 3… » à chaque message.</a:t>
            </a:r>
          </a:p>
          <a:p/>
          <a:p>
            <a:r>
              <a:t>Mon conseil : créez un projet par matière, ou par gros travail comme votre rapport de fin d'année. Une fois configuré, c'est un vrai bureau de travail qui pense à votre place.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Dixième astuce : les réglages de personnalisation. C'est un réglage qu'on fait une fois et qu'on oublie, mais il s'applique à toutes vos conversations.</a:t>
            </a:r>
          </a:p>
          <a:p/>
          <a:p>
            <a:r>
              <a:t>Dans le menu « Personnalisation », vous avez trois choses regroupées : les instructions personnalisées, la mémoire, et le style de réponse.</a:t>
            </a:r>
          </a:p>
          <a:p/>
          <a:p>
            <a:r>
              <a:t>Dans les instructions, dites-lui une fois pour toutes qui vous êtes et ce que vous étudiez. Par exemple : « Je suis étudiant en 2e année PEP. » Ensuite, quelques consignes très utiles : « réponds simplement, en structure, sans jargon inutile ». Et celle qui est vraiment importante : « si une information est incertaine, dis-le au lieu d'inventer, et cite tes sources ». Cette dernière consigne réduit énormément les erreurs, parce que l'IA a tendance à inventer plutôt qu'à admettre qu'elle ne sait pas.</a:t>
            </a:r>
          </a:p>
          <a:p/>
          <a:p>
            <a:r>
              <a:t>Petit point sur la mémoire : elle a en fait deux niveaux — les faits qu'elle sauvegarde explicitement, et le contexte qu'elle tire de votre historique. Jetez-y un œil de temps en temps et nettoyez : elle retient parfois des détails inutiles qu'elle croit être des faits permanents sur vous, et ça fausse ses réponses.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Onzième astuce, un peu avancée mais très pratique : apprendre à l'IA à écrire dans votre style.</a:t>
            </a:r>
          </a:p>
          <a:p/>
          <a:p>
            <a:r>
              <a:t>Ça se fait en deux étapes. Étape un : vous lui envoyez un texte que VOUS avez écrit — un de vos rapports, un de vos emails — et vous dites : « analyse ce texte pour le ton, le style, le format et le niveau de lecture ». Étape deux : « mémorise mon style d'écriture pour ce type de document, et dès que je te demande ce genre de document, réutilise ce style ».</a:t>
            </a:r>
          </a:p>
          <a:p/>
          <a:p>
            <a:r>
              <a:t>Résultat : la prochaine fois que vous lui demandez d'écrire un email ou un paragraphe de rapport, elle le fait directement dans votre style, sans que vous ayez à le redemander. Vous pouvez faire ça pour chaque type de document : un souvenir pour vos rapports, un autre pour vos emails, un autre pour vos exposés.</a:t>
            </a:r>
          </a:p>
          <a:p/>
          <a:p>
            <a:r>
              <a:t>Combinez ça avec les instructions personnalisées de la diapo précédente, et vous avez une IA qui écrit comme vous dès le premier coup. C'est très efficace.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Douzième astuce : l'automatisation, ce qu'on appelle les tâches planifiées.</a:t>
            </a:r>
          </a:p>
          <a:p/>
          <a:p>
            <a:r>
              <a:t>L'IA peut exécuter une tâche toute seule, automatiquement, à intervalles réguliers. Vous lui donnez une consigne, et elle la répète sans que vous ayez à y penser.</a:t>
            </a:r>
          </a:p>
          <a:p/>
          <a:p>
            <a:r>
              <a:t>Quelques exemples adaptés à vos études. « Chaque lundi à 19 heures, fais-moi un point sur les nouveautés de ma filière. » « Chaque semaine, donne-moi un quiz de révision sur le chapitre en cours. » Ou encore : « rappelle-moi mes échéances et propose-moi un planning de révisions. »</a:t>
            </a:r>
          </a:p>
          <a:p/>
          <a:p>
            <a:r>
              <a:t>C'est idéal pour tout ce qui est répétitif et pour le suivi. L'IA devient un assistant qui travaille en arrière-plan, pour vous préparer le terrain.</a:t>
            </a:r>
          </a:p>
          <a:p/>
          <a:p>
            <a:r>
              <a:t>Seule limite : ça nécessite un abonnement payant. Mais si vous comptez beaucoup l'utiliser, ça peut valoir le coup pendant les périodes d'examens.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Treizième astuce : une série de petits raccourcis qui, additionnés, font gagner beaucoup de temps. Je les passe vite, notez ceux qui vous intéressent.</a:t>
            </a:r>
          </a:p>
          <a:p/>
          <a:p>
            <a:r>
              <a:t>L'application bureau : installez-la, et vous ouvrez ChatGPT instantanément avec Alt + Espace sous Windows. Plus besoin d'ouvrir un onglet et de naviguer.</a:t>
            </a:r>
          </a:p>
          <a:p/>
          <a:p>
            <a:r>
              <a:t>Shift + Entrée : ça saute une ligne sans envoyer le message. C'est indispensable pour écrire un prompt bien structuré sur plusieurs lignes.</a:t>
            </a:r>
          </a:p>
          <a:p/>
          <a:p>
            <a:r>
              <a:t>Les trois petits points à côté d'un message : vous permettent de réessayer la réponse en un clic, soit plus court, soit avec une recherche web. Fini de tout retaper.</a:t>
            </a:r>
          </a:p>
          <a:p/>
          <a:p>
            <a:r>
              <a:t>« Brancher » : quand une conversation part dans deux directions, vous pouvez la diviser en deux, une pour chaque piste, sans casser le fil d'origine.</a:t>
            </a:r>
          </a:p>
          <a:p/>
          <a:p>
            <a:r>
              <a:t>La barre de recherche : retrouvez un ancien chat par mot-clé, au lieu de faire défiler des dizaines de conversations.</a:t>
            </a:r>
          </a:p>
          <a:p/>
          <a:p>
            <a:r>
              <a:t>Le mode éphémère : la conversation n'est pas mémorisée, elle ne reste pas dans l'historique. Parfait pour une question ponctuelle ou sensible.</a:t>
            </a:r>
          </a:p>
          <a:p/>
          <a:p>
            <a:r>
              <a:t>Et enfin, la confidentialité : dans les réglages, vous pouvez désactiver l'usage de vos conversations pour l'entraînement du modèle. Deux minutes à faire, et vous n'y pensez plus.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avez maintenant toutes les méthodes et les astuces. On va les traduire pour VOS études. D'abord un outil que peu de gens connaissent mais qui est parfait pour la 2e année PEP : le mode Étude. Ensuite, vos usages concrets. Et enfin, le plus important : des prompts prêts à l'emploi, par matière, que vous pourrez copier-coller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le mode Étude. C'est un mode spécial, à activer dans le menu des outils. La particularité, c'est qu'au lieu de vous donner la réponse directement, l'IA vous guide par des questions et des indices, un peu comme un professeur qui vous fait réfléchir. Elle lit vos PDF et vos captures d'écran, et elle vous interroge sur les parties que vous évitez justement. C'est plus lent, et c'est exprès : c'est ce qui vous fait vraiment apprendre. Si vous voulez juste la réponse vite fait, désactivez-le. Mais pour réviser, c'est un excellent prof particulier.</a:t>
            </a:r>
          </a:p>
          <a:p/>
          <a:p>
            <a:r>
              <a:t>Ensuite, vos usages concrets : faire des fiches d'une page, avoir un prof particulier, résumer un PDF de cours ou de TD, comprendre un concept autrement, analyser un graphique de TP, préparer un exposé. C'est ça, l'IA utile pour vous.</a:t>
            </a:r>
          </a:p>
          <a:p/>
          <a:p>
            <a:r>
              <a:t>Mais maintenant, la partie que je considère comme la plus importante : la vigilance. Quatre pièges. Un, les hallucinations : elle invente parfois, donc vérifiez faits, chiffres, formules. Deux, les données personnelles : ne partagez rien de sensible. Trois, la dépendance : si l'IA réfléchit à votre place, vous n'apprenez pas, et le jour de l'examen, elle ne sera pas là. Quatre : relisez toujours. L'IA est un stagiaire brillant mais faillible. Ce n'est pas votre signature.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partie que vous allez pouvoir réutiliser dès maintenant : des prompts prêts à l'emploi. Vous copiez, vous remplacez ce qui est entre crochets, et c'est parti.</a:t>
            </a:r>
          </a:p>
          <a:p/>
          <a:p>
            <a:r>
              <a:t>Le premier, pour comprendre : « Explique-moi tel concept comme à un débutant, avec une analogie et un exemple simple, puis pose-moi une question pour vérifier que j'ai compris. » La dernière partie est importante : en vous posant une question, l'IA vous force à vous tester.</a:t>
            </a:r>
          </a:p>
          <a:p/>
          <a:p>
            <a:r>
              <a:t>Deuxième, la fiche de révision : « À partir de ce chapitre, fais une fiche d'une page : définitions, formules, cinq points clés, trois pièges d'examen. » Le mot « une page » est essentiel — sinon elle vous écrit dix pages.</a:t>
            </a:r>
          </a:p>
          <a:p/>
          <a:p>
            <a:r>
              <a:t>Troisième, le quiz : « Crée dix questions, mélange QCM et questions ouvertes, avec corrigé, mais ne me montre le corrigé qu'après que j'aie répondu. » Sinon elle vous donne la réponse tout de suite et vous n'apprenez rien.</a:t>
            </a:r>
          </a:p>
          <a:p/>
          <a:p>
            <a:r>
              <a:t>Quatrième, la méthode : « Donne-moi une méthode étape par étape pour résoudre tel type d'exercice, et explique le raisonnement, pas seulement la réponse. »</a:t>
            </a:r>
          </a:p>
          <a:p/>
          <a:p>
            <a:r>
              <a:t>Et cinquième, le planning de révision, avec un objectif par jour. Ces cinq prompts marchent dans toutes les matières.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série de prompts, cette fois par matière.</a:t>
            </a:r>
          </a:p>
          <a:p/>
          <a:p>
            <a:r>
              <a:t>En maths : « Résous et explique cet exercice étape par étape, et signale les erreurs classiques à éviter. » Il est essentiel de demander l'explication, pas juste le résultat, sinon vous ne progressez pas.</a:t>
            </a:r>
          </a:p>
          <a:p/>
          <a:p>
            <a:r>
              <a:t>En physique, thermodynamique ou mécanique : « Explique cette loi avec les unités, un schéma simple et un exemple de calcul numérique. » Demandez les unités, c'est là que beaucoup d'erreurs se cachent.</a:t>
            </a:r>
          </a:p>
          <a:p/>
          <a:p>
            <a:r>
              <a:t>En réseau ou informatique : « Explique ce protocole avec une analogie, un tableau récapitulatif et un schéma des couches. » Les analogies aident énormément à mémoriser.</a:t>
            </a:r>
          </a:p>
          <a:p/>
          <a:p>
            <a:r>
              <a:t>Pour vos rapports et exposés : « Corrige la langue et le style sans changer le sens, puis propose un plan d'exposé en cinq parties. »</a:t>
            </a:r>
          </a:p>
          <a:p/>
          <a:p>
            <a:r>
              <a:t>Et cette phrase, à ajouter à la fin de tout : « Si tu n'es pas sûr, dis-le. Cite tes sources. »</a:t>
            </a:r>
          </a:p>
          <a:p/>
          <a:p>
            <a:r>
              <a:t>Enfin, le réflexe qui peut vous sauver une note entière : recroisez toujours les formules, les unités et les chiffres avec votre cours. L'IA peut se tromper avec une assurance totale. Elle vous fait gagner du temps, mais vous restez responsable de l'exactitude. C'est votre nom qui est sur la copie.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un petit exercice pratique, que je vous demande de faire pour de vrai, pas juste en réfléchissant.</a:t>
            </a:r>
          </a:p>
          <a:p/>
          <a:p>
            <a:r>
              <a:t>Étape un : choisissez une question liée à vos études — par exemple, résumer un chapitre de cours. Étape deux : posez-la d'abord de façon vague, sans aucun contexte : « résume ce chapitre ». Notez la réponse. Étape trois : reprenez la même question, mais cette fois avec la méthode des six éléments — un rôle, du contexte, un format précis. Et comparez.</a:t>
            </a:r>
          </a:p>
          <a:p/>
          <a:p>
            <a:r>
              <a:t>Étape quatre, pour aller plus loin : faites-le sur deux IA différentes, par exemple ChatGPT et Claude, et regardez laquelle s'en sort le mieux sur VOTRE sujet.</a:t>
            </a:r>
          </a:p>
          <a:p/>
          <a:p>
            <a:r>
              <a:t>Pourquoi cet exercice ? Parce que voir par soi-même la différence entre une question vague et une question bien posée, c'est bien plus convaincant que de me croire sur parole. C'est l'exercice qui ancre le mieux la leçon du jour.</a:t>
            </a:r>
          </a:p>
          <a:p/>
          <a:p>
            <a:r>
              <a:t>Pour résumer tout ce qu'on a vu aujourd'hui en une phrase : la qualité de ce que vous obtenez dépend directement de la qualité de ce que vous demandez. Testez, pratiquez, et vous verrez les progrès très vite.</a:t>
            </a:r>
          </a:p>
          <a:p/>
          <a:p>
            <a:r>
              <a:t>Merci de votre attention. Est-ce que vous avez des questions ? Et surtout, allez tester dès aujourd'hui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25880"/>
            <a:ext cx="10332720" cy="457200"/>
          </a:xfrm>
          <a:prstGeom prst="rect">
            <a:avLst/>
          </a:prstGeom>
          <a:noFill/>
        </p:spPr>
        <p:txBody>
          <a:bodyPr wrap="square" anchor="t">
            <a:spAutoFit/>
          </a:bodyPr>
          <a:lstStyle/>
          <a:p>
            <a:pPr algn="l"/>
            <a:r>
              <a:rPr sz="1500" b="1" i="0">
                <a:solidFill>
                  <a:srgbClr val="FF8A00"/>
                </a:solidFill>
                <a:latin typeface="Segoe UI"/>
              </a:rPr>
              <a:t>MODULE INTELLIGENCE ARTIFICIELLE — 2e ANNÉE PEP</a:t>
            </a:r>
          </a:p>
        </p:txBody>
      </p:sp>
      <p:sp>
        <p:nvSpPr>
          <p:cNvPr id="5" name="TextBox 4"/>
          <p:cNvSpPr txBox="1"/>
          <p:nvPr/>
        </p:nvSpPr>
        <p:spPr>
          <a:xfrm>
            <a:off x="914400" y="1828800"/>
            <a:ext cx="10332720" cy="1463040"/>
          </a:xfrm>
          <a:prstGeom prst="rect">
            <a:avLst/>
          </a:prstGeom>
          <a:noFill/>
        </p:spPr>
        <p:txBody>
          <a:bodyPr wrap="square" anchor="t">
            <a:spAutoFit/>
          </a:bodyPr>
          <a:lstStyle/>
          <a:p>
            <a:pPr algn="l"/>
            <a:r>
              <a:rPr sz="5200" b="1" i="0">
                <a:solidFill>
                  <a:srgbClr val="FFFFFF"/>
                </a:solidFill>
                <a:latin typeface="Segoe UI"/>
              </a:rPr>
              <a:t>Utiliser l'IA au quotidien</a:t>
            </a:r>
          </a:p>
        </p:txBody>
      </p:sp>
      <p:sp>
        <p:nvSpPr>
          <p:cNvPr id="6" name="TextBox 5"/>
          <p:cNvSpPr txBox="1"/>
          <p:nvPr/>
        </p:nvSpPr>
        <p:spPr>
          <a:xfrm>
            <a:off x="914400" y="3108960"/>
            <a:ext cx="10332720" cy="914400"/>
          </a:xfrm>
          <a:prstGeom prst="rect">
            <a:avLst/>
          </a:prstGeom>
          <a:noFill/>
        </p:spPr>
        <p:txBody>
          <a:bodyPr wrap="square" anchor="t">
            <a:spAutoFit/>
          </a:bodyPr>
          <a:lstStyle/>
          <a:p>
            <a:pPr algn="l"/>
            <a:r>
              <a:rPr sz="2300" b="0" i="0">
                <a:solidFill>
                  <a:srgbClr val="BFD2E8"/>
                </a:solidFill>
                <a:latin typeface="Segoe UI"/>
              </a:rPr>
              <a:t>ChatGPT, Gemini… : méthodes, fonctionnalités et astuces concrètes</a:t>
            </a:r>
          </a:p>
        </p:txBody>
      </p:sp>
      <p:sp>
        <p:nvSpPr>
          <p:cNvPr id="7" name="Rectangle 6"/>
          <p:cNvSpPr/>
          <p:nvPr/>
        </p:nvSpPr>
        <p:spPr>
          <a:xfrm>
            <a:off x="914400" y="4114800"/>
            <a:ext cx="2743200"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89120"/>
            <a:ext cx="10332720" cy="1463040"/>
          </a:xfrm>
          <a:prstGeom prst="rect">
            <a:avLst/>
          </a:prstGeom>
          <a:noFill/>
        </p:spPr>
        <p:txBody>
          <a:bodyPr wrap="square" anchor="t">
            <a:spAutoFit/>
          </a:bodyPr>
          <a:lstStyle/>
          <a:p>
            <a:pPr algn="l"/>
            <a:r>
              <a:rPr sz="1500" b="0" i="0">
                <a:solidFill>
                  <a:srgbClr val="9FB6D0"/>
                </a:solidFill>
                <a:latin typeface="Segoe UI"/>
              </a:rPr>
              <a:t>Objectif : repartir avec des méthodes et des astuces utilisables tout de suite,
pour vos études PEP comme au quotidien. 100 % pratique, sans théorie.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PLAN</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Ce qu'on va voir aujourd'hui</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a:t>
            </a:r>
          </a:p>
        </p:txBody>
      </p:sp>
      <p:sp>
        <p:nvSpPr>
          <p:cNvPr id="8" name="TextBox 7"/>
          <p:cNvSpPr txBox="1"/>
          <p:nvPr/>
        </p:nvSpPr>
        <p:spPr>
          <a:xfrm>
            <a:off x="640080" y="1508760"/>
            <a:ext cx="10881360" cy="4846320"/>
          </a:xfrm>
          <a:prstGeom prst="rect">
            <a:avLst/>
          </a:prstGeom>
          <a:noFill/>
        </p:spPr>
        <p:txBody>
          <a:bodyPr wrap="square">
            <a:spAutoFit/>
          </a:bodyPr>
          <a:lstStyle/>
          <a:p>
            <a:pPr>
              <a:spcAft>
                <a:spcPts val="800"/>
              </a:spcAft>
            </a:pPr>
            <a:r>
              <a:rPr sz="2100" b="1">
                <a:solidFill>
                  <a:srgbClr val="0F2A4A"/>
                </a:solidFill>
                <a:latin typeface="Segoe UI"/>
              </a:rPr>
              <a:t>•  1. Bien démarrer : l'état d'esprit et le bon outil.</a:t>
            </a:r>
          </a:p>
          <a:p>
            <a:pPr>
              <a:spcAft>
                <a:spcPts val="800"/>
              </a:spcAft>
            </a:pPr>
            <a:r>
              <a:rPr sz="2100" b="1">
                <a:solidFill>
                  <a:srgbClr val="0F2A4A"/>
                </a:solidFill>
                <a:latin typeface="Segoe UI"/>
              </a:rPr>
              <a:t>•  2. La méthode : bien demander à l'IA (la compétence n°1).</a:t>
            </a:r>
          </a:p>
          <a:p>
            <a:pPr>
              <a:spcAft>
                <a:spcPts val="800"/>
              </a:spcAft>
            </a:pPr>
            <a:r>
              <a:rPr sz="2100" b="1">
                <a:solidFill>
                  <a:srgbClr val="0F2A4A"/>
                </a:solidFill>
                <a:latin typeface="Segoe UI"/>
              </a:rPr>
              <a:t>•  3. Les astuces concrètes, fonctionnalité par fonctionnalité.</a:t>
            </a:r>
          </a:p>
          <a:p>
            <a:pPr lvl="1">
              <a:spcAft>
                <a:spcPts val="400"/>
              </a:spcAft>
            </a:pPr>
            <a:r>
              <a:rPr sz="1800">
                <a:solidFill>
                  <a:srgbClr val="374151"/>
                </a:solidFill>
                <a:latin typeface="Segoe UI"/>
              </a:rPr>
              <a:t>–  Analyser, rechercher, rédiger, générer, s'organiser, automatiser.</a:t>
            </a:r>
          </a:p>
          <a:p>
            <a:pPr>
              <a:spcAft>
                <a:spcPts val="800"/>
              </a:spcAft>
            </a:pPr>
            <a:r>
              <a:rPr sz="2100" b="1">
                <a:solidFill>
                  <a:srgbClr val="0F2A4A"/>
                </a:solidFill>
                <a:latin typeface="Segoe UI"/>
              </a:rPr>
              <a:t>•  4. L'IA pour vos études PEP + des prompts prêts à l'emploi.</a:t>
            </a:r>
          </a:p>
          <a:p>
            <a:pPr>
              <a:spcAft>
                <a:spcPts val="800"/>
              </a:spcAft>
            </a:pPr>
            <a:r>
              <a:rPr sz="2100" b="1">
                <a:solidFill>
                  <a:srgbClr val="0F2A4A"/>
                </a:solidFill>
                <a:latin typeface="Segoe UI"/>
              </a:rPr>
              <a:t>•  5. Les pièges à éviter et un petit TP 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1 - BIEN DÉMARRER</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Comment bien démarrer : les 5 principes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3</a:t>
            </a:r>
          </a:p>
        </p:txBody>
      </p:sp>
      <p:sp>
        <p:nvSpPr>
          <p:cNvPr id="8" name="TextBox 7"/>
          <p:cNvSpPr txBox="1"/>
          <p:nvPr/>
        </p:nvSpPr>
        <p:spPr>
          <a:xfrm>
            <a:off x="640080" y="1417320"/>
            <a:ext cx="10881360" cy="4846320"/>
          </a:xfrm>
          <a:prstGeom prst="rect">
            <a:avLst/>
          </a:prstGeom>
          <a:noFill/>
        </p:spPr>
        <p:txBody>
          <a:bodyPr wrap="square">
            <a:spAutoFit/>
          </a:bodyPr>
          <a:lstStyle/>
          <a:p>
            <a:pPr>
              <a:spcAft>
                <a:spcPts val="800"/>
              </a:spcAft>
            </a:pPr>
            <a:r>
              <a:rPr sz="1900" b="1">
                <a:solidFill>
                  <a:srgbClr val="0F2A4A"/>
                </a:solidFill>
                <a:latin typeface="Segoe UI"/>
              </a:rPr>
              <a:t>•  L'IA est un assistant, pas un magicien : elle ne « comprend » pas, elle calcule.</a:t>
            </a:r>
          </a:p>
          <a:p>
            <a:pPr>
              <a:spcAft>
                <a:spcPts val="800"/>
              </a:spcAft>
            </a:pPr>
            <a:r>
              <a:rPr sz="1900" b="1">
                <a:solidFill>
                  <a:srgbClr val="0F2A4A"/>
                </a:solidFill>
                <a:latin typeface="Segoe UI"/>
              </a:rPr>
              <a:t>•  Avant de commencer, fixez-vous un objectif clair (qu'est-ce que je veux obtenir ?).</a:t>
            </a:r>
          </a:p>
          <a:p>
            <a:pPr>
              <a:spcAft>
                <a:spcPts val="800"/>
              </a:spcAft>
            </a:pPr>
            <a:r>
              <a:rPr sz="1900" b="1">
                <a:solidFill>
                  <a:srgbClr val="0F2A4A"/>
                </a:solidFill>
                <a:latin typeface="Segoe UI"/>
              </a:rPr>
              <a:t>•  Mieux vaut 30 min par jour que 5 h une fois par mois.</a:t>
            </a:r>
          </a:p>
          <a:p>
            <a:pPr>
              <a:spcAft>
                <a:spcPts val="800"/>
              </a:spcAft>
            </a:pPr>
            <a:r>
              <a:rPr sz="1900" b="1">
                <a:solidFill>
                  <a:srgbClr val="0F2A4A"/>
                </a:solidFill>
                <a:latin typeface="Segoe UI"/>
              </a:rPr>
              <a:t>•  Apprenez UN outil à la fois, maîtrisez-le, puis passez au suivant.</a:t>
            </a:r>
          </a:p>
          <a:p>
            <a:pPr>
              <a:spcAft>
                <a:spcPts val="800"/>
              </a:spcAft>
            </a:pPr>
            <a:r>
              <a:rPr sz="1900" b="1">
                <a:solidFill>
                  <a:srgbClr val="0F2A4A"/>
                </a:solidFill>
                <a:latin typeface="Segoe UI"/>
              </a:rPr>
              <a:t>•  Le piège n°1 : regarder des vidéos… sans jamais pratiquer.</a:t>
            </a:r>
          </a:p>
          <a:p>
            <a:pPr lvl="1">
              <a:spcAft>
                <a:spcPts val="400"/>
              </a:spcAft>
            </a:pPr>
            <a:r>
              <a:rPr sz="1600">
                <a:solidFill>
                  <a:srgbClr val="374151"/>
                </a:solidFill>
                <a:latin typeface="Segoe UI"/>
              </a:rPr>
              <a:t>–  Ne cherchez pas à tout comprendre en théorie : apprenez et appliquez.</a:t>
            </a:r>
          </a:p>
        </p:txBody>
      </p:sp>
      <p:sp>
        <p:nvSpPr>
          <p:cNvPr id="9" name="Rectangle 8"/>
          <p:cNvSpPr/>
          <p:nvPr/>
        </p:nvSpPr>
        <p:spPr>
          <a:xfrm>
            <a:off x="640080" y="5212080"/>
            <a:ext cx="10881360" cy="10515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212080"/>
            <a:ext cx="91440" cy="1051560"/>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321808"/>
            <a:ext cx="10424160" cy="365760"/>
          </a:xfrm>
          <a:prstGeom prst="rect">
            <a:avLst/>
          </a:prstGeom>
          <a:noFill/>
        </p:spPr>
        <p:txBody>
          <a:bodyPr wrap="square" anchor="t">
            <a:spAutoFit/>
          </a:bodyPr>
          <a:lstStyle/>
          <a:p>
            <a:pPr algn="l"/>
            <a:r>
              <a:rPr sz="1500" b="1" i="0">
                <a:solidFill>
                  <a:srgbClr val="1E8E4E"/>
                </a:solidFill>
                <a:latin typeface="Segoe UI"/>
              </a:rPr>
              <a:t>La règle n°1 : appliquer</a:t>
            </a:r>
          </a:p>
        </p:txBody>
      </p:sp>
      <p:sp>
        <p:nvSpPr>
          <p:cNvPr id="12" name="TextBox 11"/>
          <p:cNvSpPr txBox="1"/>
          <p:nvPr/>
        </p:nvSpPr>
        <p:spPr>
          <a:xfrm>
            <a:off x="896112" y="5687568"/>
            <a:ext cx="10424160" cy="448055"/>
          </a:xfrm>
          <a:prstGeom prst="rect">
            <a:avLst/>
          </a:prstGeom>
          <a:noFill/>
        </p:spPr>
        <p:txBody>
          <a:bodyPr wrap="square" anchor="t">
            <a:spAutoFit/>
          </a:bodyPr>
          <a:lstStyle/>
          <a:p>
            <a:pPr algn="l"/>
            <a:r>
              <a:rPr sz="1400" b="0" i="0">
                <a:solidFill>
                  <a:srgbClr val="374151"/>
                </a:solidFill>
                <a:latin typeface="Segoe UI"/>
              </a:rPr>
              <a:t>On n'apprend pas à conduire en regardant 10 cours de conduite. Testez chaque astuce sur une vraie tâche de votre semaine.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1 - BIEN DÉMARRER</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Quel outil pour quel besoin ?</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4</a:t>
            </a:r>
          </a:p>
        </p:txBody>
      </p:sp>
      <p:graphicFrame>
        <p:nvGraphicFramePr>
          <p:cNvPr id="8" name="Table 7"/>
          <p:cNvGraphicFramePr>
            <a:graphicFrameLocks noGrp="1"/>
          </p:cNvGraphicFramePr>
          <p:nvPr/>
        </p:nvGraphicFramePr>
        <p:xfrm>
          <a:off x="640080" y="1298448"/>
          <a:ext cx="10881360" cy="3794760"/>
        </p:xfrm>
        <a:graphic>
          <a:graphicData uri="http://schemas.openxmlformats.org/drawingml/2006/table">
            <a:tbl>
              <a:tblPr firstRow="1" bandRow="1">
                <a:tableStyleId>{5C22544A-7EE6-4342-B048-85BDC9FD1C3A}</a:tableStyleId>
              </a:tblPr>
              <a:tblGrid>
                <a:gridCol w="6583680"/>
                <a:gridCol w="4297680"/>
              </a:tblGrid>
              <a:tr h="474345">
                <a:tc>
                  <a:txBody>
                    <a:bodyPr wrap="square"/>
                    <a:lstStyle/>
                    <a:p>
                      <a:r>
                        <a:rPr sz="1400" b="1">
                          <a:solidFill>
                            <a:srgbClr val="FFFFFF"/>
                          </a:solidFill>
                          <a:latin typeface="Segoe UI"/>
                        </a:rPr>
                        <a:t>Votre besoin</a:t>
                      </a:r>
                    </a:p>
                  </a:txBody>
                  <a:tcPr marL="73152" marR="54864" marT="18288" marB="18288" anchor="ctr">
                    <a:solidFill>
                      <a:srgbClr val="0F2A4A"/>
                    </a:solidFill>
                  </a:tcPr>
                </a:tc>
                <a:tc>
                  <a:txBody>
                    <a:bodyPr wrap="square"/>
                    <a:lstStyle/>
                    <a:p>
                      <a:r>
                        <a:rPr sz="1400" b="1">
                          <a:solidFill>
                            <a:srgbClr val="FFFFFF"/>
                          </a:solidFill>
                          <a:latin typeface="Segoe UI"/>
                        </a:rPr>
                        <a:t>Le bon outil</a:t>
                      </a:r>
                    </a:p>
                  </a:txBody>
                  <a:tcPr marL="73152" marR="54864" marT="18288" marB="18288" anchor="ctr">
                    <a:solidFill>
                      <a:srgbClr val="0F2A4A"/>
                    </a:solidFill>
                  </a:tcPr>
                </a:tc>
              </a:tr>
              <a:tr h="474345">
                <a:tc>
                  <a:txBody>
                    <a:bodyPr wrap="square"/>
                    <a:lstStyle/>
                    <a:p>
                      <a:r>
                        <a:rPr sz="1400">
                          <a:solidFill>
                            <a:srgbClr val="374151"/>
                          </a:solidFill>
                          <a:latin typeface="Segoe UI"/>
                        </a:rPr>
                        <a:t>Usage quotidien (résumer, rédiger, coder…)</a:t>
                      </a:r>
                    </a:p>
                  </a:txBody>
                  <a:tcPr marL="73152" marR="54864" marT="18288" marB="18288" anchor="ctr">
                    <a:solidFill>
                      <a:srgbClr val="FFFFFF"/>
                    </a:solidFill>
                  </a:tcPr>
                </a:tc>
                <a:tc>
                  <a:txBody>
                    <a:bodyPr wrap="square"/>
                    <a:lstStyle/>
                    <a:p>
                      <a:r>
                        <a:rPr sz="1400">
                          <a:solidFill>
                            <a:srgbClr val="374151"/>
                          </a:solidFill>
                          <a:latin typeface="Segoe UI"/>
                        </a:rPr>
                        <a:t>ChatGPT ou Gemini</a:t>
                      </a:r>
                    </a:p>
                  </a:txBody>
                  <a:tcPr marL="73152" marR="54864" marT="18288" marB="18288" anchor="ctr">
                    <a:solidFill>
                      <a:srgbClr val="FFFFFF"/>
                    </a:solidFill>
                  </a:tcPr>
                </a:tc>
              </a:tr>
              <a:tr h="474345">
                <a:tc>
                  <a:txBody>
                    <a:bodyPr wrap="square"/>
                    <a:lstStyle/>
                    <a:p>
                      <a:r>
                        <a:rPr sz="1400">
                          <a:solidFill>
                            <a:srgbClr val="374151"/>
                          </a:solidFill>
                          <a:latin typeface="Segoe UI"/>
                        </a:rPr>
                        <a:t>Travail long, code, raisonnement complexe</a:t>
                      </a:r>
                    </a:p>
                  </a:txBody>
                  <a:tcPr marL="73152" marR="54864" marT="18288" marB="18288" anchor="ctr">
                    <a:solidFill>
                      <a:srgbClr val="E8EFF7"/>
                    </a:solidFill>
                  </a:tcPr>
                </a:tc>
                <a:tc>
                  <a:txBody>
                    <a:bodyPr wrap="square"/>
                    <a:lstStyle/>
                    <a:p>
                      <a:r>
                        <a:rPr sz="1400">
                          <a:solidFill>
                            <a:srgbClr val="374151"/>
                          </a:solidFill>
                          <a:latin typeface="Segoe UI"/>
                        </a:rPr>
                        <a:t>Claude</a:t>
                      </a:r>
                    </a:p>
                  </a:txBody>
                  <a:tcPr marL="73152" marR="54864" marT="18288" marB="18288" anchor="ctr">
                    <a:solidFill>
                      <a:srgbClr val="E8EFF7"/>
                    </a:solidFill>
                  </a:tcPr>
                </a:tc>
              </a:tr>
              <a:tr h="474345">
                <a:tc>
                  <a:txBody>
                    <a:bodyPr wrap="square"/>
                    <a:lstStyle/>
                    <a:p>
                      <a:r>
                        <a:rPr sz="1400">
                          <a:solidFill>
                            <a:srgbClr val="374151"/>
                          </a:solidFill>
                          <a:latin typeface="Segoe UI"/>
                        </a:rPr>
                        <a:t>Recherche avec sources vérifiables</a:t>
                      </a:r>
                    </a:p>
                  </a:txBody>
                  <a:tcPr marL="73152" marR="54864" marT="18288" marB="18288" anchor="ctr">
                    <a:solidFill>
                      <a:srgbClr val="FFFFFF"/>
                    </a:solidFill>
                  </a:tcPr>
                </a:tc>
                <a:tc>
                  <a:txBody>
                    <a:bodyPr wrap="square"/>
                    <a:lstStyle/>
                    <a:p>
                      <a:r>
                        <a:rPr sz="1400">
                          <a:solidFill>
                            <a:srgbClr val="374151"/>
                          </a:solidFill>
                          <a:latin typeface="Segoe UI"/>
                        </a:rPr>
                        <a:t>Perplexity</a:t>
                      </a:r>
                    </a:p>
                  </a:txBody>
                  <a:tcPr marL="73152" marR="54864" marT="18288" marB="18288" anchor="ctr">
                    <a:solidFill>
                      <a:srgbClr val="FFFFFF"/>
                    </a:solidFill>
                  </a:tcPr>
                </a:tc>
              </a:tr>
              <a:tr h="474345">
                <a:tc>
                  <a:txBody>
                    <a:bodyPr wrap="square"/>
                    <a:lstStyle/>
                    <a:p>
                      <a:r>
                        <a:rPr sz="1400">
                          <a:solidFill>
                            <a:srgbClr val="374151"/>
                          </a:solidFill>
                          <a:latin typeface="Segoe UI"/>
                        </a:rPr>
                        <a:t>Actualité en temps réel</a:t>
                      </a:r>
                    </a:p>
                  </a:txBody>
                  <a:tcPr marL="73152" marR="54864" marT="18288" marB="18288" anchor="ctr">
                    <a:solidFill>
                      <a:srgbClr val="E8EFF7"/>
                    </a:solidFill>
                  </a:tcPr>
                </a:tc>
                <a:tc>
                  <a:txBody>
                    <a:bodyPr wrap="square"/>
                    <a:lstStyle/>
                    <a:p>
                      <a:r>
                        <a:rPr sz="1400">
                          <a:solidFill>
                            <a:srgbClr val="374151"/>
                          </a:solidFill>
                          <a:latin typeface="Segoe UI"/>
                        </a:rPr>
                        <a:t>Grok</a:t>
                      </a:r>
                    </a:p>
                  </a:txBody>
                  <a:tcPr marL="73152" marR="54864" marT="18288" marB="18288" anchor="ctr">
                    <a:solidFill>
                      <a:srgbClr val="E8EFF7"/>
                    </a:solidFill>
                  </a:tcPr>
                </a:tc>
              </a:tr>
              <a:tr h="474345">
                <a:tc>
                  <a:txBody>
                    <a:bodyPr wrap="square"/>
                    <a:lstStyle/>
                    <a:p>
                      <a:r>
                        <a:rPr sz="1400">
                          <a:solidFill>
                            <a:srgbClr val="374151"/>
                          </a:solidFill>
                          <a:latin typeface="Segoe UI"/>
                        </a:rPr>
                        <a:t>Analyse d'images et de documents</a:t>
                      </a:r>
                    </a:p>
                  </a:txBody>
                  <a:tcPr marL="73152" marR="54864" marT="18288" marB="18288" anchor="ctr">
                    <a:solidFill>
                      <a:srgbClr val="FFFFFF"/>
                    </a:solidFill>
                  </a:tcPr>
                </a:tc>
                <a:tc>
                  <a:txBody>
                    <a:bodyPr wrap="square"/>
                    <a:lstStyle/>
                    <a:p>
                      <a:r>
                        <a:rPr sz="1400">
                          <a:solidFill>
                            <a:srgbClr val="374151"/>
                          </a:solidFill>
                          <a:latin typeface="Segoe UI"/>
                        </a:rPr>
                        <a:t>Gemini / ChatGPT</a:t>
                      </a:r>
                    </a:p>
                  </a:txBody>
                  <a:tcPr marL="73152" marR="54864" marT="18288" marB="18288" anchor="ctr">
                    <a:solidFill>
                      <a:srgbClr val="FFFFFF"/>
                    </a:solidFill>
                  </a:tcPr>
                </a:tc>
              </a:tr>
              <a:tr h="474345">
                <a:tc>
                  <a:txBody>
                    <a:bodyPr wrap="square"/>
                    <a:lstStyle/>
                    <a:p>
                      <a:r>
                        <a:rPr sz="1400">
                          <a:solidFill>
                            <a:srgbClr val="374151"/>
                          </a:solidFill>
                          <a:latin typeface="Segoe UI"/>
                        </a:rPr>
                        <a:t>Générer des images / vidéos</a:t>
                      </a:r>
                    </a:p>
                  </a:txBody>
                  <a:tcPr marL="73152" marR="54864" marT="18288" marB="18288" anchor="ctr">
                    <a:solidFill>
                      <a:srgbClr val="E8EFF7"/>
                    </a:solidFill>
                  </a:tcPr>
                </a:tc>
                <a:tc>
                  <a:txBody>
                    <a:bodyPr wrap="square"/>
                    <a:lstStyle/>
                    <a:p>
                      <a:r>
                        <a:rPr sz="1400">
                          <a:solidFill>
                            <a:srgbClr val="374151"/>
                          </a:solidFill>
                          <a:latin typeface="Segoe UI"/>
                        </a:rPr>
                        <a:t>ChatGPT, Gemini, Sora</a:t>
                      </a:r>
                    </a:p>
                  </a:txBody>
                  <a:tcPr marL="73152" marR="54864" marT="18288" marB="18288" anchor="ctr">
                    <a:solidFill>
                      <a:srgbClr val="E8EFF7"/>
                    </a:solidFill>
                  </a:tcPr>
                </a:tc>
              </a:tr>
              <a:tr h="474345">
                <a:tc>
                  <a:txBody>
                    <a:bodyPr wrap="square"/>
                    <a:lstStyle/>
                    <a:p>
                      <a:r>
                        <a:rPr sz="1400">
                          <a:solidFill>
                            <a:srgbClr val="374151"/>
                          </a:solidFill>
                          <a:latin typeface="Segoe UI"/>
                        </a:rPr>
                        <a:t>Gratuit et local (données privées)</a:t>
                      </a:r>
                    </a:p>
                  </a:txBody>
                  <a:tcPr marL="73152" marR="54864" marT="18288" marB="18288" anchor="ctr">
                    <a:solidFill>
                      <a:srgbClr val="FFFFFF"/>
                    </a:solidFill>
                  </a:tcPr>
                </a:tc>
                <a:tc>
                  <a:txBody>
                    <a:bodyPr wrap="square"/>
                    <a:lstStyle/>
                    <a:p>
                      <a:r>
                        <a:rPr sz="1400">
                          <a:solidFill>
                            <a:srgbClr val="374151"/>
                          </a:solidFill>
                          <a:latin typeface="Segoe UI"/>
                        </a:rPr>
                        <a:t>Mistral, Llama, DeepSeek</a:t>
                      </a:r>
                    </a:p>
                  </a:txBody>
                  <a:tcPr marL="73152" marR="54864" marT="18288" marB="18288" anchor="ctr">
                    <a:solidFill>
                      <a:srgbClr val="FFFFFF"/>
                    </a:solidFill>
                  </a:tcPr>
                </a:tc>
              </a:tr>
            </a:tbl>
          </a:graphicData>
        </a:graphic>
      </p:graphicFrame>
      <p:sp>
        <p:nvSpPr>
          <p:cNvPr id="9" name="Rectangle 8"/>
          <p:cNvSpPr/>
          <p:nvPr/>
        </p:nvSpPr>
        <p:spPr>
          <a:xfrm>
            <a:off x="640080" y="5230368"/>
            <a:ext cx="10881360" cy="1033271"/>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230368"/>
            <a:ext cx="91440" cy="1033271"/>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340096"/>
            <a:ext cx="10424160" cy="365760"/>
          </a:xfrm>
          <a:prstGeom prst="rect">
            <a:avLst/>
          </a:prstGeom>
          <a:noFill/>
        </p:spPr>
        <p:txBody>
          <a:bodyPr wrap="square" anchor="t">
            <a:spAutoFit/>
          </a:bodyPr>
          <a:lstStyle/>
          <a:p>
            <a:pPr algn="l"/>
            <a:r>
              <a:rPr sz="1500" b="1" i="0">
                <a:solidFill>
                  <a:srgbClr val="1F6FB2"/>
                </a:solidFill>
                <a:latin typeface="Segoe UI"/>
              </a:rPr>
              <a:t>Astuce : ne choisissez pas au hasard</a:t>
            </a:r>
          </a:p>
        </p:txBody>
      </p:sp>
      <p:sp>
        <p:nvSpPr>
          <p:cNvPr id="12" name="TextBox 11"/>
          <p:cNvSpPr txBox="1"/>
          <p:nvPr/>
        </p:nvSpPr>
        <p:spPr>
          <a:xfrm>
            <a:off x="896112" y="5705856"/>
            <a:ext cx="10424160" cy="429767"/>
          </a:xfrm>
          <a:prstGeom prst="rect">
            <a:avLst/>
          </a:prstGeom>
          <a:noFill/>
        </p:spPr>
        <p:txBody>
          <a:bodyPr wrap="square" anchor="t">
            <a:spAutoFit/>
          </a:bodyPr>
          <a:lstStyle/>
          <a:p>
            <a:pPr algn="l"/>
            <a:r>
              <a:rPr sz="1400" b="0" i="0">
                <a:solidFill>
                  <a:srgbClr val="374151"/>
                </a:solidFill>
                <a:latin typeface="Segoe UI"/>
              </a:rPr>
              <a:t>Gardez 2 ou 3 outils et comparez sur la MÊME question. Mode RAPIDE (questions simples) vs mode RÉFLEXION (calculs, code, textes longs) : forcez la réflexion pour une tâche complexe.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1 - BIEN DÉMARRER</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La bonne application et comment lui parler</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5</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700" b="1">
                <a:solidFill>
                  <a:srgbClr val="0F2A4A"/>
                </a:solidFill>
                <a:latin typeface="Segoe UI"/>
              </a:rPr>
              <a:t>•  Téléchargez l'application OFFICIELLE (OpenAI / Google) : elle est gratuite.</a:t>
            </a:r>
          </a:p>
          <a:p>
            <a:pPr>
              <a:spcAft>
                <a:spcPts val="800"/>
              </a:spcAft>
            </a:pPr>
            <a:r>
              <a:rPr sz="1700" b="1">
                <a:solidFill>
                  <a:srgbClr val="0F2A4A"/>
                </a:solidFill>
                <a:latin typeface="Segoe UI"/>
              </a:rPr>
              <a:t>•  Jamais un clone payant : l'historique doit se synchroniser téléphone ↔ ordinateur.</a:t>
            </a:r>
          </a:p>
          <a:p>
            <a:pPr>
              <a:spcAft>
                <a:spcPts val="800"/>
              </a:spcAft>
            </a:pPr>
            <a:r>
              <a:rPr sz="1700" b="1">
                <a:solidFill>
                  <a:srgbClr val="0F2A4A"/>
                </a:solidFill>
                <a:latin typeface="Segoe UI"/>
              </a:rPr>
              <a:t>•  Gratuit = suffisant pour débuter. L'abonnement (~20 $/mois) débloque les fonctions avancées.</a:t>
            </a:r>
          </a:p>
          <a:p>
            <a:pPr>
              <a:spcAft>
                <a:spcPts val="800"/>
              </a:spcAft>
            </a:pPr>
            <a:r>
              <a:rPr sz="1700" b="1">
                <a:solidFill>
                  <a:srgbClr val="0F2A4A"/>
                </a:solidFill>
                <a:latin typeface="Segoe UI"/>
              </a:rPr>
              <a:t>•  Parlez-lui comme à un collègue, en langage naturel :</a:t>
            </a:r>
          </a:p>
          <a:p>
            <a:pPr lvl="1">
              <a:spcAft>
                <a:spcPts val="400"/>
              </a:spcAft>
            </a:pPr>
            <a:r>
              <a:rPr sz="1400">
                <a:solidFill>
                  <a:srgbClr val="374151"/>
                </a:solidFill>
                <a:latin typeface="Segoe UI"/>
              </a:rPr>
              <a:t>–  Dites le POURQUOI vous voulez la chose, pas des mots-clés empilés.</a:t>
            </a:r>
          </a:p>
          <a:p>
            <a:pPr lvl="1">
              <a:spcAft>
                <a:spcPts val="400"/>
              </a:spcAft>
            </a:pPr>
            <a:r>
              <a:rPr sz="1400">
                <a:solidFill>
                  <a:srgbClr val="374151"/>
                </a:solidFill>
                <a:latin typeface="Segoe UI"/>
              </a:rPr>
              <a:t>–  Oubliez les « formules magiques » : les anciens modèles en avaient besoin, plus les nouveaux.</a:t>
            </a:r>
          </a:p>
          <a:p>
            <a:pPr lvl="1">
              <a:spcAft>
                <a:spcPts val="400"/>
              </a:spcAft>
            </a:pPr>
            <a:r>
              <a:rPr sz="1400">
                <a:solidFill>
                  <a:srgbClr val="374151"/>
                </a:solidFill>
                <a:latin typeface="Segoe UI"/>
              </a:rPr>
              <a:t>–  Décrivez votre situation et votre objectif avec vos propres mots.</a:t>
            </a:r>
          </a:p>
          <a:p>
            <a:pPr>
              <a:spcAft>
                <a:spcPts val="800"/>
              </a:spcAft>
            </a:pPr>
            <a:r>
              <a:rPr sz="1700" b="1">
                <a:solidFill>
                  <a:srgbClr val="0F2A4A"/>
                </a:solidFill>
                <a:latin typeface="Segoe UI"/>
              </a:rPr>
              <a:t>•  Astuce : gardez UNE application principale au début pour ne pas vous disperser.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914400" y="2880360"/>
            <a:ext cx="2011680" cy="7315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914400"/>
          </a:xfrm>
          <a:prstGeom prst="rect">
            <a:avLst/>
          </a:prstGeom>
          <a:noFill/>
        </p:spPr>
        <p:txBody>
          <a:bodyPr wrap="square" anchor="t">
            <a:spAutoFit/>
          </a:bodyPr>
          <a:lstStyle/>
          <a:p>
            <a:pPr algn="l"/>
            <a:r>
              <a:rPr sz="4000" b="1" i="0">
                <a:solidFill>
                  <a:srgbClr val="FFFFFF"/>
                </a:solidFill>
                <a:latin typeface="Segoe UI"/>
              </a:rPr>
              <a:t>La méthode</a:t>
            </a:r>
          </a:p>
        </p:txBody>
      </p:sp>
      <p:sp>
        <p:nvSpPr>
          <p:cNvPr id="4" name="TextBox 3"/>
          <p:cNvSpPr txBox="1"/>
          <p:nvPr/>
        </p:nvSpPr>
        <p:spPr>
          <a:xfrm>
            <a:off x="914400" y="3108960"/>
            <a:ext cx="10058400" cy="731520"/>
          </a:xfrm>
          <a:prstGeom prst="rect">
            <a:avLst/>
          </a:prstGeom>
          <a:noFill/>
        </p:spPr>
        <p:txBody>
          <a:bodyPr wrap="square" anchor="t">
            <a:spAutoFit/>
          </a:bodyPr>
          <a:lstStyle/>
          <a:p>
            <a:pPr algn="l"/>
            <a:r>
              <a:rPr sz="1800" b="0" i="0">
                <a:solidFill>
                  <a:srgbClr val="BFD2E8"/>
                </a:solidFill>
                <a:latin typeface="Segoe UI"/>
              </a:rPr>
              <a:t>Bien demander à l'IA : la compétence n°1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2 - LA MÉTHODE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Les 6 éléments d'un bon prompt</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7</a:t>
            </a:r>
          </a:p>
        </p:txBody>
      </p:sp>
      <p:sp>
        <p:nvSpPr>
          <p:cNvPr id="8" name="Rectangle 7"/>
          <p:cNvSpPr/>
          <p:nvPr/>
        </p:nvSpPr>
        <p:spPr>
          <a:xfrm>
            <a:off x="640080" y="1298448"/>
            <a:ext cx="10881360" cy="91440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298448"/>
            <a:ext cx="91440"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08176"/>
            <a:ext cx="10424160" cy="365760"/>
          </a:xfrm>
          <a:prstGeom prst="rect">
            <a:avLst/>
          </a:prstGeom>
          <a:noFill/>
        </p:spPr>
        <p:txBody>
          <a:bodyPr wrap="square" anchor="t">
            <a:spAutoFit/>
          </a:bodyPr>
          <a:lstStyle/>
          <a:p>
            <a:pPr algn="l"/>
            <a:r>
              <a:rPr sz="1500" b="1" i="0">
                <a:solidFill>
                  <a:srgbClr val="1F6FB2"/>
                </a:solidFill>
                <a:latin typeface="Segoe UI"/>
              </a:rPr>
              <a:t>À retenir : la formule des 6 éléments</a:t>
            </a:r>
          </a:p>
        </p:txBody>
      </p:sp>
      <p:sp>
        <p:nvSpPr>
          <p:cNvPr id="11" name="TextBox 10"/>
          <p:cNvSpPr txBox="1"/>
          <p:nvPr/>
        </p:nvSpPr>
        <p:spPr>
          <a:xfrm>
            <a:off x="896112" y="1773936"/>
            <a:ext cx="10424160" cy="310896"/>
          </a:xfrm>
          <a:prstGeom prst="rect">
            <a:avLst/>
          </a:prstGeom>
          <a:noFill/>
        </p:spPr>
        <p:txBody>
          <a:bodyPr wrap="square" anchor="t">
            <a:spAutoFit/>
          </a:bodyPr>
          <a:lstStyle/>
          <a:p>
            <a:pPr algn="l"/>
            <a:r>
              <a:rPr sz="1400" b="0" i="0">
                <a:solidFill>
                  <a:srgbClr val="374151"/>
                </a:solidFill>
                <a:latin typeface="Segoe UI"/>
              </a:rPr>
              <a:t>Rôle + Tâche + Contexte + Exemples + Format + Tonalité.  Plus c'est clair et complet, meilleur est le résultat.</a:t>
            </a:r>
          </a:p>
        </p:txBody>
      </p:sp>
      <p:graphicFrame>
        <p:nvGraphicFramePr>
          <p:cNvPr id="12" name="Table 11"/>
          <p:cNvGraphicFramePr>
            <a:graphicFrameLocks noGrp="1"/>
          </p:cNvGraphicFramePr>
          <p:nvPr/>
        </p:nvGraphicFramePr>
        <p:xfrm>
          <a:off x="640080" y="2331720"/>
          <a:ext cx="10881360" cy="3840480"/>
        </p:xfrm>
        <a:graphic>
          <a:graphicData uri="http://schemas.openxmlformats.org/drawingml/2006/table">
            <a:tbl>
              <a:tblPr firstRow="1" bandRow="1">
                <a:tableStyleId>{5C22544A-7EE6-4342-B048-85BDC9FD1C3A}</a:tableStyleId>
              </a:tblPr>
              <a:tblGrid>
                <a:gridCol w="2560320"/>
                <a:gridCol w="8321040"/>
              </a:tblGrid>
              <a:tr h="548640">
                <a:tc>
                  <a:txBody>
                    <a:bodyPr wrap="square"/>
                    <a:lstStyle/>
                    <a:p>
                      <a:r>
                        <a:rPr sz="1400" b="1">
                          <a:solidFill>
                            <a:srgbClr val="FFFFFF"/>
                          </a:solidFill>
                          <a:latin typeface="Segoe UI"/>
                        </a:rPr>
                        <a:t>Élément</a:t>
                      </a:r>
                    </a:p>
                  </a:txBody>
                  <a:tcPr marL="73152" marR="54864" marT="18288" marB="18288" anchor="ctr">
                    <a:solidFill>
                      <a:srgbClr val="0F2A4A"/>
                    </a:solidFill>
                  </a:tcPr>
                </a:tc>
                <a:tc>
                  <a:txBody>
                    <a:bodyPr wrap="square"/>
                    <a:lstStyle/>
                    <a:p>
                      <a:r>
                        <a:rPr sz="1400" b="1">
                          <a:solidFill>
                            <a:srgbClr val="FFFFFF"/>
                          </a:solidFill>
                          <a:latin typeface="Segoe UI"/>
                        </a:rPr>
                        <a:t>Exemple</a:t>
                      </a:r>
                    </a:p>
                  </a:txBody>
                  <a:tcPr marL="73152" marR="54864" marT="18288" marB="18288" anchor="ctr">
                    <a:solidFill>
                      <a:srgbClr val="0F2A4A"/>
                    </a:solidFill>
                  </a:tcPr>
                </a:tc>
              </a:tr>
              <a:tr h="548640">
                <a:tc>
                  <a:txBody>
                    <a:bodyPr wrap="square"/>
                    <a:lstStyle/>
                    <a:p>
                      <a:r>
                        <a:rPr sz="1400">
                          <a:solidFill>
                            <a:srgbClr val="374151"/>
                          </a:solidFill>
                          <a:latin typeface="Segoe UI"/>
                        </a:rPr>
                        <a:t>1. Rôle</a:t>
                      </a:r>
                    </a:p>
                  </a:txBody>
                  <a:tcPr marL="73152" marR="54864" marT="18288" marB="18288" anchor="ctr">
                    <a:solidFill>
                      <a:srgbClr val="FFFFFF"/>
                    </a:solidFill>
                  </a:tcPr>
                </a:tc>
                <a:tc>
                  <a:txBody>
                    <a:bodyPr wrap="square"/>
                    <a:lstStyle/>
                    <a:p>
                      <a:r>
                        <a:rPr sz="1400">
                          <a:solidFill>
                            <a:srgbClr val="374151"/>
                          </a:solidFill>
                          <a:latin typeface="Segoe UI"/>
                        </a:rPr>
                        <a:t>« Tu es un professeur de physique expérimenté. »</a:t>
                      </a:r>
                    </a:p>
                  </a:txBody>
                  <a:tcPr marL="73152" marR="54864" marT="18288" marB="18288" anchor="ctr">
                    <a:solidFill>
                      <a:srgbClr val="FFFFFF"/>
                    </a:solidFill>
                  </a:tcPr>
                </a:tc>
              </a:tr>
              <a:tr h="548640">
                <a:tc>
                  <a:txBody>
                    <a:bodyPr wrap="square"/>
                    <a:lstStyle/>
                    <a:p>
                      <a:r>
                        <a:rPr sz="1400">
                          <a:solidFill>
                            <a:srgbClr val="374151"/>
                          </a:solidFill>
                          <a:latin typeface="Segoe UI"/>
                        </a:rPr>
                        <a:t>2. Tâche</a:t>
                      </a:r>
                    </a:p>
                  </a:txBody>
                  <a:tcPr marL="73152" marR="54864" marT="18288" marB="18288" anchor="ctr">
                    <a:solidFill>
                      <a:srgbClr val="E8EFF7"/>
                    </a:solidFill>
                  </a:tcPr>
                </a:tc>
                <a:tc>
                  <a:txBody>
                    <a:bodyPr wrap="square"/>
                    <a:lstStyle/>
                    <a:p>
                      <a:r>
                        <a:rPr sz="1400">
                          <a:solidFill>
                            <a:srgbClr val="374151"/>
                          </a:solidFill>
                          <a:latin typeface="Segoe UI"/>
                        </a:rPr>
                        <a:t>« Explique-moi la loi d'Ohm. »</a:t>
                      </a:r>
                    </a:p>
                  </a:txBody>
                  <a:tcPr marL="73152" marR="54864" marT="18288" marB="18288" anchor="ctr">
                    <a:solidFill>
                      <a:srgbClr val="E8EFF7"/>
                    </a:solidFill>
                  </a:tcPr>
                </a:tc>
              </a:tr>
              <a:tr h="548640">
                <a:tc>
                  <a:txBody>
                    <a:bodyPr wrap="square"/>
                    <a:lstStyle/>
                    <a:p>
                      <a:r>
                        <a:rPr sz="1400">
                          <a:solidFill>
                            <a:srgbClr val="374151"/>
                          </a:solidFill>
                          <a:latin typeface="Segoe UI"/>
                        </a:rPr>
                        <a:t>3. Contexte</a:t>
                      </a:r>
                    </a:p>
                  </a:txBody>
                  <a:tcPr marL="73152" marR="54864" marT="18288" marB="18288" anchor="ctr">
                    <a:solidFill>
                      <a:srgbClr val="FFFFFF"/>
                    </a:solidFill>
                  </a:tcPr>
                </a:tc>
                <a:tc>
                  <a:txBody>
                    <a:bodyPr wrap="square"/>
                    <a:lstStyle/>
                    <a:p>
                      <a:r>
                        <a:rPr sz="1400">
                          <a:solidFill>
                            <a:srgbClr val="374151"/>
                          </a:solidFill>
                          <a:latin typeface="Segoe UI"/>
                        </a:rPr>
                        <a:t>« Je suis étudiant en 2e année PEP, niveau débutant. »</a:t>
                      </a:r>
                    </a:p>
                  </a:txBody>
                  <a:tcPr marL="73152" marR="54864" marT="18288" marB="18288" anchor="ctr">
                    <a:solidFill>
                      <a:srgbClr val="FFFFFF"/>
                    </a:solidFill>
                  </a:tcPr>
                </a:tc>
              </a:tr>
              <a:tr h="548640">
                <a:tc>
                  <a:txBody>
                    <a:bodyPr wrap="square"/>
                    <a:lstStyle/>
                    <a:p>
                      <a:r>
                        <a:rPr sz="1400">
                          <a:solidFill>
                            <a:srgbClr val="374151"/>
                          </a:solidFill>
                          <a:latin typeface="Segoe UI"/>
                        </a:rPr>
                        <a:t>4. Exemples</a:t>
                      </a:r>
                    </a:p>
                  </a:txBody>
                  <a:tcPr marL="73152" marR="54864" marT="18288" marB="18288" anchor="ctr">
                    <a:solidFill>
                      <a:srgbClr val="E8EFF7"/>
                    </a:solidFill>
                  </a:tcPr>
                </a:tc>
                <a:tc>
                  <a:txBody>
                    <a:bodyPr wrap="square"/>
                    <a:lstStyle/>
                    <a:p>
                      <a:r>
                        <a:rPr sz="1400">
                          <a:solidFill>
                            <a:srgbClr val="374151"/>
                          </a:solidFill>
                          <a:latin typeface="Segoe UI"/>
                        </a:rPr>
                        <a:t>« Inspire-toi de cette fiche de cours (ci-joint). »</a:t>
                      </a:r>
                    </a:p>
                  </a:txBody>
                  <a:tcPr marL="73152" marR="54864" marT="18288" marB="18288" anchor="ctr">
                    <a:solidFill>
                      <a:srgbClr val="E8EFF7"/>
                    </a:solidFill>
                  </a:tcPr>
                </a:tc>
              </a:tr>
              <a:tr h="548640">
                <a:tc>
                  <a:txBody>
                    <a:bodyPr wrap="square"/>
                    <a:lstStyle/>
                    <a:p>
                      <a:r>
                        <a:rPr sz="1400">
                          <a:solidFill>
                            <a:srgbClr val="374151"/>
                          </a:solidFill>
                          <a:latin typeface="Segoe UI"/>
                        </a:rPr>
                        <a:t>5. Format</a:t>
                      </a:r>
                    </a:p>
                  </a:txBody>
                  <a:tcPr marL="73152" marR="54864" marT="18288" marB="18288" anchor="ctr">
                    <a:solidFill>
                      <a:srgbClr val="FFFFFF"/>
                    </a:solidFill>
                  </a:tcPr>
                </a:tc>
                <a:tc>
                  <a:txBody>
                    <a:bodyPr wrap="square"/>
                    <a:lstStyle/>
                    <a:p>
                      <a:r>
                        <a:rPr sz="1400">
                          <a:solidFill>
                            <a:srgbClr val="374151"/>
                          </a:solidFill>
                          <a:latin typeface="Segoe UI"/>
                        </a:rPr>
                        <a:t>« Une fiche d'une page, en points clés. »</a:t>
                      </a:r>
                    </a:p>
                  </a:txBody>
                  <a:tcPr marL="73152" marR="54864" marT="18288" marB="18288" anchor="ctr">
                    <a:solidFill>
                      <a:srgbClr val="FFFFFF"/>
                    </a:solidFill>
                  </a:tcPr>
                </a:tc>
              </a:tr>
              <a:tr h="548640">
                <a:tc>
                  <a:txBody>
                    <a:bodyPr wrap="square"/>
                    <a:lstStyle/>
                    <a:p>
                      <a:r>
                        <a:rPr sz="1400">
                          <a:solidFill>
                            <a:srgbClr val="374151"/>
                          </a:solidFill>
                          <a:latin typeface="Segoe UI"/>
                        </a:rPr>
                        <a:t>6. Tonalité</a:t>
                      </a:r>
                    </a:p>
                  </a:txBody>
                  <a:tcPr marL="73152" marR="54864" marT="18288" marB="18288" anchor="ctr">
                    <a:solidFill>
                      <a:srgbClr val="E8EFF7"/>
                    </a:solidFill>
                  </a:tcPr>
                </a:tc>
                <a:tc>
                  <a:txBody>
                    <a:bodyPr wrap="square"/>
                    <a:lstStyle/>
                    <a:p>
                      <a:r>
                        <a:rPr sz="1400">
                          <a:solidFill>
                            <a:srgbClr val="374151"/>
                          </a:solidFill>
                          <a:latin typeface="Segoe UI"/>
                        </a:rPr>
                        <a:t>« Simple, sans jargon, sans emojis. »</a:t>
                      </a:r>
                    </a:p>
                  </a:txBody>
                  <a:tcPr marL="73152" marR="54864" marT="18288" marB="18288" anchor="ctr">
                    <a:solidFill>
                      <a:srgbClr val="E8EF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2 - LA MÉTHODE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La vraie clé : donner du contexte</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8</a:t>
            </a:r>
          </a:p>
        </p:txBody>
      </p:sp>
      <p:sp>
        <p:nvSpPr>
          <p:cNvPr id="8" name="TextBox 7"/>
          <p:cNvSpPr txBox="1"/>
          <p:nvPr/>
        </p:nvSpPr>
        <p:spPr>
          <a:xfrm>
            <a:off x="640080" y="1280160"/>
            <a:ext cx="10881360" cy="457200"/>
          </a:xfrm>
          <a:prstGeom prst="rect">
            <a:avLst/>
          </a:prstGeom>
          <a:noFill/>
        </p:spPr>
        <p:txBody>
          <a:bodyPr wrap="square" anchor="t">
            <a:spAutoFit/>
          </a:bodyPr>
          <a:lstStyle/>
          <a:p>
            <a:pPr algn="l"/>
            <a:r>
              <a:rPr sz="2000" b="1" i="0">
                <a:solidFill>
                  <a:srgbClr val="0F2A4A"/>
                </a:solidFill>
                <a:latin typeface="Segoe UI"/>
              </a:rPr>
              <a:t>Le secret des pros : moins d'effort sur le prompt, plus de CONTEXTE.</a:t>
            </a:r>
          </a:p>
        </p:txBody>
      </p:sp>
      <p:sp>
        <p:nvSpPr>
          <p:cNvPr id="9" name="TextBox 8"/>
          <p:cNvSpPr txBox="1"/>
          <p:nvPr/>
        </p:nvSpPr>
        <p:spPr>
          <a:xfrm>
            <a:off x="640080" y="1965960"/>
            <a:ext cx="10881360" cy="4846320"/>
          </a:xfrm>
          <a:prstGeom prst="rect">
            <a:avLst/>
          </a:prstGeom>
          <a:noFill/>
        </p:spPr>
        <p:txBody>
          <a:bodyPr wrap="square">
            <a:spAutoFit/>
          </a:bodyPr>
          <a:lstStyle/>
          <a:p>
            <a:pPr>
              <a:spcAft>
                <a:spcPts val="800"/>
              </a:spcAft>
            </a:pPr>
            <a:r>
              <a:rPr sz="1800" b="1">
                <a:solidFill>
                  <a:srgbClr val="0F2A4A"/>
                </a:solidFill>
                <a:latin typeface="Segoe UI"/>
              </a:rPr>
              <a:t>•  Imaginez que l'IA est un nouvel employé que vous recrutez.</a:t>
            </a:r>
          </a:p>
          <a:p>
            <a:pPr lvl="1">
              <a:spcAft>
                <a:spcPts val="400"/>
              </a:spcAft>
            </a:pPr>
            <a:r>
              <a:rPr sz="1500">
                <a:solidFill>
                  <a:srgbClr val="374151"/>
                </a:solidFill>
                <a:latin typeface="Segoe UI"/>
              </a:rPr>
              <a:t>–  2 minutes d'instructions ne suffisent pas : faites un « onboarding ».</a:t>
            </a:r>
          </a:p>
          <a:p>
            <a:pPr>
              <a:spcAft>
                <a:spcPts val="800"/>
              </a:spcAft>
            </a:pPr>
            <a:r>
              <a:rPr sz="1800" b="1">
                <a:solidFill>
                  <a:srgbClr val="0F2A4A"/>
                </a:solidFill>
                <a:latin typeface="Segoe UI"/>
              </a:rPr>
              <a:t>•  Donnez : votre objectif, votre public, vos contraintes, des exemples, des documents.</a:t>
            </a:r>
          </a:p>
          <a:p>
            <a:pPr>
              <a:spcAft>
                <a:spcPts val="800"/>
              </a:spcAft>
            </a:pPr>
            <a:r>
              <a:rPr sz="1800" b="1">
                <a:solidFill>
                  <a:srgbClr val="0F2A4A"/>
                </a:solidFill>
                <a:latin typeface="Segoe UI"/>
              </a:rPr>
              <a:t>•  Astuce : demandez d'abord « quels documents t'aideraient à mieux répondre ? ».</a:t>
            </a:r>
          </a:p>
          <a:p>
            <a:pPr lvl="1">
              <a:spcAft>
                <a:spcPts val="400"/>
              </a:spcAft>
            </a:pPr>
            <a:r>
              <a:rPr sz="1500">
                <a:solidFill>
                  <a:srgbClr val="374151"/>
                </a:solidFill>
                <a:latin typeface="Segoe UI"/>
              </a:rPr>
              <a:t>–  Puis fournissez-les (ou laissez-la les chercher).</a:t>
            </a:r>
          </a:p>
          <a:p>
            <a:pPr>
              <a:spcAft>
                <a:spcPts val="800"/>
              </a:spcAft>
            </a:pPr>
            <a:r>
              <a:rPr sz="1800" b="1">
                <a:solidFill>
                  <a:srgbClr val="0F2A4A"/>
                </a:solidFill>
                <a:latin typeface="Segoe UI"/>
              </a:rPr>
              <a:t>•  Le même modèle + plus de contexte = un résultat bien meilleur.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2 - LA MÉTHODE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 : donnez-lui un rôle</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9</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800" b="1">
                <a:solidFill>
                  <a:srgbClr val="0F2A4A"/>
                </a:solidFill>
                <a:latin typeface="Segoe UI"/>
              </a:rPr>
              <a:t>•  Dire « Agis comme un expert [métier] » change tout :</a:t>
            </a:r>
          </a:p>
          <a:p>
            <a:pPr lvl="1">
              <a:spcAft>
                <a:spcPts val="400"/>
              </a:spcAft>
            </a:pPr>
            <a:r>
              <a:rPr sz="1500">
                <a:solidFill>
                  <a:srgbClr val="374151"/>
                </a:solidFill>
                <a:latin typeface="Segoe UI"/>
              </a:rPr>
              <a:t>–  le vocabulaire, la profondeur et ce que l'IA vous signale.</a:t>
            </a:r>
          </a:p>
          <a:p>
            <a:pPr>
              <a:spcAft>
                <a:spcPts val="800"/>
              </a:spcAft>
            </a:pPr>
            <a:r>
              <a:rPr sz="1800" b="1">
                <a:solidFill>
                  <a:srgbClr val="0F2A4A"/>
                </a:solidFill>
                <a:latin typeface="Segoe UI"/>
              </a:rPr>
              <a:t>•  Exemple « sans rôle » : réponse générique, plate, sans relief.</a:t>
            </a:r>
          </a:p>
          <a:p>
            <a:pPr>
              <a:spcAft>
                <a:spcPts val="800"/>
              </a:spcAft>
            </a:pPr>
            <a:r>
              <a:rPr sz="1800" b="1">
                <a:solidFill>
                  <a:srgbClr val="0F2A4A"/>
                </a:solidFill>
                <a:latin typeface="Segoe UI"/>
              </a:rPr>
              <a:t>•  Exemple « avec rôle » : réponse structurée, précise, avec les pièges à éviter.</a:t>
            </a:r>
          </a:p>
          <a:p>
            <a:pPr>
              <a:spcAft>
                <a:spcPts val="800"/>
              </a:spcAft>
            </a:pPr>
            <a:r>
              <a:rPr sz="1800" b="1">
                <a:solidFill>
                  <a:srgbClr val="0F2A4A"/>
                </a:solidFill>
                <a:latin typeface="Segoe UI"/>
              </a:rPr>
              <a:t>•  Accentuez le rôle pour de meilleurs résultats :</a:t>
            </a:r>
          </a:p>
          <a:p>
            <a:pPr lvl="1">
              <a:spcAft>
                <a:spcPts val="400"/>
              </a:spcAft>
            </a:pPr>
            <a:r>
              <a:rPr sz="1500">
                <a:solidFill>
                  <a:srgbClr val="374151"/>
                </a:solidFill>
                <a:latin typeface="Segoe UI"/>
              </a:rPr>
              <a:t>–  « Tu es un chef étoilé spécialisé dans le taboulé, avec 10 restaurants. »</a:t>
            </a:r>
          </a:p>
          <a:p>
            <a:pPr lvl="1">
              <a:spcAft>
                <a:spcPts val="400"/>
              </a:spcAft>
            </a:pPr>
            <a:r>
              <a:rPr sz="1500">
                <a:solidFill>
                  <a:srgbClr val="374151"/>
                </a:solidFill>
                <a:latin typeface="Segoe UI"/>
              </a:rPr>
              <a:t>–  « Tu es un correcteur de rapports d'ingénieur exigeant.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2 - LA MÉTHODE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n°2 : montrez un exemple… et soyez paresseux !</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10</a:t>
            </a:r>
          </a:p>
        </p:txBody>
      </p:sp>
      <p:sp>
        <p:nvSpPr>
          <p:cNvPr id="8" name="Rectangle 7"/>
          <p:cNvSpPr/>
          <p:nvPr/>
        </p:nvSpPr>
        <p:spPr>
          <a:xfrm>
            <a:off x="640080" y="1325880"/>
            <a:ext cx="5349240" cy="416052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91440" cy="41605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4892040" cy="365760"/>
          </a:xfrm>
          <a:prstGeom prst="rect">
            <a:avLst/>
          </a:prstGeom>
          <a:noFill/>
        </p:spPr>
        <p:txBody>
          <a:bodyPr wrap="square" anchor="t">
            <a:spAutoFit/>
          </a:bodyPr>
          <a:lstStyle/>
          <a:p>
            <a:pPr algn="l"/>
            <a:r>
              <a:rPr sz="1500" b="1" i="0">
                <a:solidFill>
                  <a:srgbClr val="1F6FB2"/>
                </a:solidFill>
                <a:latin typeface="Segoe UI"/>
              </a:rPr>
              <a:t>Montrez un modèle (« few-shot »)</a:t>
            </a:r>
          </a:p>
        </p:txBody>
      </p:sp>
      <p:sp>
        <p:nvSpPr>
          <p:cNvPr id="11" name="TextBox 10"/>
          <p:cNvSpPr txBox="1"/>
          <p:nvPr/>
        </p:nvSpPr>
        <p:spPr>
          <a:xfrm>
            <a:off x="896112" y="1801368"/>
            <a:ext cx="4892040" cy="3557015"/>
          </a:xfrm>
          <a:prstGeom prst="rect">
            <a:avLst/>
          </a:prstGeom>
          <a:noFill/>
        </p:spPr>
        <p:txBody>
          <a:bodyPr wrap="square" anchor="t">
            <a:spAutoFit/>
          </a:bodyPr>
          <a:lstStyle/>
          <a:p>
            <a:pPr algn="l"/>
            <a:r>
              <a:rPr sz="1400" b="0" i="0">
                <a:solidFill>
                  <a:srgbClr val="374151"/>
                </a:solidFill>
                <a:latin typeface="Segoe UI"/>
              </a:rPr>
              <a:t>Collez un exemple du résultat voulu et dites :
« Voici un résumé réussi : inspire-toi de sa structure et de son ton. »
Si vous avez un texte dans le style voulu : « Garde exactement ce ton. »</a:t>
            </a:r>
          </a:p>
        </p:txBody>
      </p:sp>
      <p:sp>
        <p:nvSpPr>
          <p:cNvPr id="12" name="Rectangle 11"/>
          <p:cNvSpPr/>
          <p:nvPr/>
        </p:nvSpPr>
        <p:spPr>
          <a:xfrm>
            <a:off x="6172200" y="1325880"/>
            <a:ext cx="5349240" cy="41605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25880"/>
            <a:ext cx="91440" cy="4160520"/>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435607"/>
            <a:ext cx="4892040" cy="365760"/>
          </a:xfrm>
          <a:prstGeom prst="rect">
            <a:avLst/>
          </a:prstGeom>
          <a:noFill/>
        </p:spPr>
        <p:txBody>
          <a:bodyPr wrap="square" anchor="t">
            <a:spAutoFit/>
          </a:bodyPr>
          <a:lstStyle/>
          <a:p>
            <a:pPr algn="l"/>
            <a:r>
              <a:rPr sz="1500" b="1" i="0">
                <a:solidFill>
                  <a:srgbClr val="1E8E4E"/>
                </a:solidFill>
                <a:latin typeface="Segoe UI"/>
              </a:rPr>
              <a:t>L'astuce la plus sous-estimée</a:t>
            </a:r>
          </a:p>
        </p:txBody>
      </p:sp>
      <p:sp>
        <p:nvSpPr>
          <p:cNvPr id="15" name="TextBox 14"/>
          <p:cNvSpPr txBox="1"/>
          <p:nvPr/>
        </p:nvSpPr>
        <p:spPr>
          <a:xfrm>
            <a:off x="6428232" y="1801368"/>
            <a:ext cx="4892040" cy="3557015"/>
          </a:xfrm>
          <a:prstGeom prst="rect">
            <a:avLst/>
          </a:prstGeom>
          <a:noFill/>
        </p:spPr>
        <p:txBody>
          <a:bodyPr wrap="square" anchor="t">
            <a:spAutoFit/>
          </a:bodyPr>
          <a:lstStyle/>
          <a:p>
            <a:pPr algn="l"/>
            <a:r>
              <a:rPr sz="1400" b="0" i="0">
                <a:solidFill>
                  <a:srgbClr val="374151"/>
                </a:solidFill>
                <a:latin typeface="Segoe UI"/>
              </a:rPr>
              <a:t>Demandez à l'IA d'améliorer VOTRE prompt avant de répondre :
« Voici ce que je veux obtenir. Réécris mon prompt pour l'obtenir, puis explique ce que tu as changé. »
10 essais comme ça = plus utile que n'importe quelle 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ÉTAPE 2 - LA MÉTHODE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n°3 : reformulez et imposez le format</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11</a:t>
            </a:r>
          </a:p>
        </p:txBody>
      </p:sp>
      <p:sp>
        <p:nvSpPr>
          <p:cNvPr id="8" name="Rectangle 7"/>
          <p:cNvSpPr/>
          <p:nvPr/>
        </p:nvSpPr>
        <p:spPr>
          <a:xfrm>
            <a:off x="640080" y="1325880"/>
            <a:ext cx="5349240" cy="41605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91440" cy="4160520"/>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4892040" cy="365760"/>
          </a:xfrm>
          <a:prstGeom prst="rect">
            <a:avLst/>
          </a:prstGeom>
          <a:noFill/>
        </p:spPr>
        <p:txBody>
          <a:bodyPr wrap="square" anchor="t">
            <a:spAutoFit/>
          </a:bodyPr>
          <a:lstStyle/>
          <a:p>
            <a:pPr algn="l"/>
            <a:r>
              <a:rPr sz="1500" b="1" i="0">
                <a:solidFill>
                  <a:srgbClr val="1E8E4E"/>
                </a:solidFill>
                <a:latin typeface="Segoe UI"/>
              </a:rPr>
              <a:t>Reformulez pour vous</a:t>
            </a:r>
          </a:p>
        </p:txBody>
      </p:sp>
      <p:sp>
        <p:nvSpPr>
          <p:cNvPr id="11" name="TextBox 10"/>
          <p:cNvSpPr txBox="1"/>
          <p:nvPr/>
        </p:nvSpPr>
        <p:spPr>
          <a:xfrm>
            <a:off x="896112" y="1801368"/>
            <a:ext cx="4892040" cy="3557015"/>
          </a:xfrm>
          <a:prstGeom prst="rect">
            <a:avLst/>
          </a:prstGeom>
          <a:noFill/>
        </p:spPr>
        <p:txBody>
          <a:bodyPr wrap="square" anchor="t">
            <a:spAutoFit/>
          </a:bodyPr>
          <a:lstStyle/>
          <a:p>
            <a:pPr algn="l"/>
            <a:r>
              <a:rPr sz="1400" b="0" i="0">
                <a:solidFill>
                  <a:srgbClr val="374151"/>
                </a:solidFill>
                <a:latin typeface="Segoe UI"/>
              </a:rPr>
              <a:t>« Explique comme si j'avais 10 ans. »
« Résume en 3 phrases. »
« Reformule : plus court, plus professionnel, sans emojis. »
« Donne-moi d'abord la réponse courte, puis les détails. »</a:t>
            </a:r>
          </a:p>
        </p:txBody>
      </p:sp>
      <p:sp>
        <p:nvSpPr>
          <p:cNvPr id="12" name="Rectangle 11"/>
          <p:cNvSpPr/>
          <p:nvPr/>
        </p:nvSpPr>
        <p:spPr>
          <a:xfrm>
            <a:off x="6172200" y="1325880"/>
            <a:ext cx="5349240" cy="416052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25880"/>
            <a:ext cx="91440" cy="41605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435607"/>
            <a:ext cx="4892040" cy="365760"/>
          </a:xfrm>
          <a:prstGeom prst="rect">
            <a:avLst/>
          </a:prstGeom>
          <a:noFill/>
        </p:spPr>
        <p:txBody>
          <a:bodyPr wrap="square" anchor="t">
            <a:spAutoFit/>
          </a:bodyPr>
          <a:lstStyle/>
          <a:p>
            <a:pPr algn="l"/>
            <a:r>
              <a:rPr sz="1500" b="1" i="0">
                <a:solidFill>
                  <a:srgbClr val="1F6FB2"/>
                </a:solidFill>
                <a:latin typeface="Segoe UI"/>
              </a:rPr>
              <a:t>Imposez le format</a:t>
            </a:r>
          </a:p>
        </p:txBody>
      </p:sp>
      <p:sp>
        <p:nvSpPr>
          <p:cNvPr id="15" name="TextBox 14"/>
          <p:cNvSpPr txBox="1"/>
          <p:nvPr/>
        </p:nvSpPr>
        <p:spPr>
          <a:xfrm>
            <a:off x="6428232" y="1801368"/>
            <a:ext cx="4892040" cy="3557015"/>
          </a:xfrm>
          <a:prstGeom prst="rect">
            <a:avLst/>
          </a:prstGeom>
          <a:noFill/>
        </p:spPr>
        <p:txBody>
          <a:bodyPr wrap="square" anchor="t">
            <a:spAutoFit/>
          </a:bodyPr>
          <a:lstStyle/>
          <a:p>
            <a:pPr algn="l"/>
            <a:r>
              <a:rPr sz="1400" b="0" i="0">
                <a:solidFill>
                  <a:srgbClr val="374151"/>
                </a:solidFill>
                <a:latin typeface="Segoe UI"/>
              </a:rPr>
              <a:t>« Réponds sous forme de tableau à 3 colonnes. »
« Une liste numérotée de 7 points maximum. »
« Deux paragraphes, sans puces. »
Dicter précisément le format fait gagner du temps à chaque fois.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914400" y="2880360"/>
            <a:ext cx="2011680" cy="7315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914400"/>
          </a:xfrm>
          <a:prstGeom prst="rect">
            <a:avLst/>
          </a:prstGeom>
          <a:noFill/>
        </p:spPr>
        <p:txBody>
          <a:bodyPr wrap="square" anchor="t">
            <a:spAutoFit/>
          </a:bodyPr>
          <a:lstStyle/>
          <a:p>
            <a:pPr algn="l"/>
            <a:r>
              <a:rPr sz="4000" b="1" i="0">
                <a:solidFill>
                  <a:srgbClr val="FFFFFF"/>
                </a:solidFill>
                <a:latin typeface="Segoe UI"/>
              </a:rPr>
              <a:t>Les astuces concrètes</a:t>
            </a:r>
          </a:p>
        </p:txBody>
      </p:sp>
      <p:sp>
        <p:nvSpPr>
          <p:cNvPr id="4" name="TextBox 3"/>
          <p:cNvSpPr txBox="1"/>
          <p:nvPr/>
        </p:nvSpPr>
        <p:spPr>
          <a:xfrm>
            <a:off x="914400" y="3108960"/>
            <a:ext cx="10058400" cy="731520"/>
          </a:xfrm>
          <a:prstGeom prst="rect">
            <a:avLst/>
          </a:prstGeom>
          <a:noFill/>
        </p:spPr>
        <p:txBody>
          <a:bodyPr wrap="square" anchor="t">
            <a:spAutoFit/>
          </a:bodyPr>
          <a:lstStyle/>
          <a:p>
            <a:pPr algn="l"/>
            <a:r>
              <a:rPr sz="1800" b="0" i="0">
                <a:solidFill>
                  <a:srgbClr val="BFD2E8"/>
                </a:solidFill>
                <a:latin typeface="Segoe UI"/>
              </a:rPr>
              <a:t>Fonctionnalité par fonctionnalité — à tester tout de suite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LE MODE VOCAL</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n°4 : parler et dicter</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13</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700" b="1">
                <a:solidFill>
                  <a:srgbClr val="0F2A4A"/>
                </a:solidFill>
                <a:latin typeface="Segoe UI"/>
              </a:rPr>
              <a:t>•  Sur mobile, appuyez sur le micro et parlez : l'IA écrit pour vous.</a:t>
            </a:r>
          </a:p>
          <a:p>
            <a:pPr>
              <a:spcAft>
                <a:spcPts val="800"/>
              </a:spcAft>
            </a:pPr>
            <a:r>
              <a:rPr sz="1700" b="1">
                <a:solidFill>
                  <a:srgbClr val="0F2A4A"/>
                </a:solidFill>
                <a:latin typeface="Segoe UI"/>
              </a:rPr>
              <a:t>•  Posez une question à l'oral au lieu de la taper.</a:t>
            </a:r>
          </a:p>
          <a:p>
            <a:pPr>
              <a:spcAft>
                <a:spcPts val="800"/>
              </a:spcAft>
            </a:pPr>
            <a:r>
              <a:rPr sz="1700" b="1">
                <a:solidFill>
                  <a:srgbClr val="0F2A4A"/>
                </a:solidFill>
                <a:latin typeface="Segoe UI"/>
              </a:rPr>
              <a:t>•  Le mode vocal moderne se comporte comme un vrai appel :</a:t>
            </a:r>
          </a:p>
          <a:p>
            <a:pPr lvl="1">
              <a:spcAft>
                <a:spcPts val="400"/>
              </a:spcAft>
            </a:pPr>
            <a:r>
              <a:rPr sz="1400">
                <a:solidFill>
                  <a:srgbClr val="374151"/>
                </a:solidFill>
                <a:latin typeface="Segoe UI"/>
              </a:rPr>
              <a:t>–  Vous pouvez l'interrompre en pleine phrase, il s'arrête.</a:t>
            </a:r>
          </a:p>
          <a:p>
            <a:pPr lvl="1">
              <a:spcAft>
                <a:spcPts val="400"/>
              </a:spcAft>
            </a:pPr>
            <a:r>
              <a:rPr sz="1400">
                <a:solidFill>
                  <a:srgbClr val="374151"/>
                </a:solidFill>
                <a:latin typeface="Segoe UI"/>
              </a:rPr>
              <a:t>–  Il gère plusieurs personnes qui parlent en même temps.</a:t>
            </a:r>
          </a:p>
          <a:p>
            <a:pPr lvl="1">
              <a:spcAft>
                <a:spcPts val="400"/>
              </a:spcAft>
            </a:pPr>
            <a:r>
              <a:rPr sz="1400">
                <a:solidFill>
                  <a:srgbClr val="374151"/>
                </a:solidFill>
                <a:latin typeface="Segoe UI"/>
              </a:rPr>
              <a:t>–  Sur abonnement payant : montrez votre écran ou pointez la caméra.</a:t>
            </a:r>
          </a:p>
          <a:p>
            <a:pPr>
              <a:spcAft>
                <a:spcPts val="800"/>
              </a:spcAft>
            </a:pPr>
            <a:r>
              <a:rPr sz="1700" b="1">
                <a:solidFill>
                  <a:srgbClr val="0F2A4A"/>
                </a:solidFill>
                <a:latin typeface="Segoe UI"/>
              </a:rPr>
              <a:t>•  Astuce : dictez un long email, puis demandez-lui de le corriger.</a:t>
            </a:r>
          </a:p>
          <a:p>
            <a:pPr>
              <a:spcAft>
                <a:spcPts val="800"/>
              </a:spcAft>
            </a:pPr>
            <a:r>
              <a:rPr sz="1700" b="1">
                <a:solidFill>
                  <a:srgbClr val="0F2A4A"/>
                </a:solidFill>
                <a:latin typeface="Segoe UI"/>
              </a:rPr>
              <a:t>•  Idéal pour réviser à l'oral : posez des questions, répondez, faites-vous corriger.</a:t>
            </a:r>
          </a:p>
          <a:p>
            <a:pPr>
              <a:spcAft>
                <a:spcPts val="800"/>
              </a:spcAft>
            </a:pPr>
            <a:r>
              <a:rPr sz="1700" b="1">
                <a:solidFill>
                  <a:srgbClr val="0F2A4A"/>
                </a:solidFill>
                <a:latin typeface="Segoe UI"/>
              </a:rPr>
              <a:t>•  En déplacement, ou quand vous ne savez pas comment formuler.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PDF, EXCEL, WORD</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n°5 : analyser vos documents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14</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700" b="1">
                <a:solidFill>
                  <a:srgbClr val="0F2A4A"/>
                </a:solidFill>
                <a:latin typeface="Segoe UI"/>
              </a:rPr>
              <a:t>•  Chargez un fichier (bouton « + ») puis posez une question PRÉCISE.</a:t>
            </a:r>
          </a:p>
          <a:p>
            <a:pPr>
              <a:spcAft>
                <a:spcPts val="800"/>
              </a:spcAft>
            </a:pPr>
            <a:r>
              <a:rPr sz="1700" b="1">
                <a:solidFill>
                  <a:srgbClr val="0F2A4A"/>
                </a:solidFill>
                <a:latin typeface="Segoe UI"/>
              </a:rPr>
              <a:t>•  PDF : parfait pour résumer un cours, un article, un contrat, un TD.</a:t>
            </a:r>
          </a:p>
          <a:p>
            <a:pPr lvl="1">
              <a:spcAft>
                <a:spcPts val="400"/>
              </a:spcAft>
            </a:pPr>
            <a:r>
              <a:rPr sz="1400">
                <a:solidFill>
                  <a:srgbClr val="374151"/>
                </a:solidFill>
                <a:latin typeface="Segoe UI"/>
              </a:rPr>
              <a:t>–  Astuce : restez sur des fichiers courts (20 à 50 pages maximum).</a:t>
            </a:r>
          </a:p>
          <a:p>
            <a:pPr lvl="1">
              <a:spcAft>
                <a:spcPts val="400"/>
              </a:spcAft>
            </a:pPr>
            <a:r>
              <a:rPr sz="1400">
                <a:solidFill>
                  <a:srgbClr val="374151"/>
                </a:solidFill>
                <a:latin typeface="Segoe UI"/>
              </a:rPr>
              <a:t>–  Astuce : ne demandez pas « donne les infos », mais « extrais les 5 idées essentielles liées à… ».</a:t>
            </a:r>
          </a:p>
          <a:p>
            <a:pPr>
              <a:spcAft>
                <a:spcPts val="800"/>
              </a:spcAft>
            </a:pPr>
            <a:r>
              <a:rPr sz="1700" b="1">
                <a:solidFill>
                  <a:srgbClr val="0F2A4A"/>
                </a:solidFill>
                <a:latin typeface="Segoe UI"/>
              </a:rPr>
              <a:t>•  Excel / tableurs : possible, mais vérifiez toujours les résultats.</a:t>
            </a:r>
          </a:p>
          <a:p>
            <a:pPr>
              <a:spcAft>
                <a:spcPts val="800"/>
              </a:spcAft>
            </a:pPr>
            <a:r>
              <a:rPr sz="1700" b="1">
                <a:solidFill>
                  <a:srgbClr val="0F2A4A"/>
                </a:solidFill>
                <a:latin typeface="Segoe UI"/>
              </a:rPr>
              <a:t>•  Word / texte : résumer, reformuler, extraire les points clés.</a:t>
            </a:r>
          </a:p>
          <a:p>
            <a:pPr lvl="1">
              <a:spcAft>
                <a:spcPts val="400"/>
              </a:spcAft>
            </a:pPr>
            <a:r>
              <a:rPr sz="1400">
                <a:solidFill>
                  <a:srgbClr val="374151"/>
                </a:solidFill>
                <a:latin typeface="Segoe UI"/>
              </a:rPr>
              <a:t>–  Astuce : demandez « d'abord un résumé court, puis les détails ».</a:t>
            </a:r>
          </a:p>
          <a:p>
            <a:pPr>
              <a:spcAft>
                <a:spcPts val="800"/>
              </a:spcAft>
            </a:pPr>
            <a:r>
              <a:rPr sz="1700" b="1">
                <a:solidFill>
                  <a:srgbClr val="0F2A4A"/>
                </a:solidFill>
                <a:latin typeface="Segoe UI"/>
              </a:rPr>
              <a:t>•  Sécurité : préférez charger depuis votre ordinateur plutôt que connecter votre Drive.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UNE FONCTIONNALITÉ SOUS-ESTIMÉE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n°6 : la fonction Vision (images)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15</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700" b="1">
                <a:solidFill>
                  <a:srgbClr val="0F2A4A"/>
                </a:solidFill>
                <a:latin typeface="Segoe UI"/>
              </a:rPr>
              <a:t>•  Partagez une image ou une photo : l'IA l'analyse et vous aide.</a:t>
            </a:r>
          </a:p>
          <a:p>
            <a:pPr>
              <a:spcAft>
                <a:spcPts val="800"/>
              </a:spcAft>
            </a:pPr>
            <a:r>
              <a:rPr sz="1700" b="1">
                <a:solidFill>
                  <a:srgbClr val="0F2A4A"/>
                </a:solidFill>
                <a:latin typeface="Segoe UI"/>
              </a:rPr>
              <a:t>•  Cas concrets :</a:t>
            </a:r>
          </a:p>
          <a:p>
            <a:pPr lvl="1">
              <a:spcAft>
                <a:spcPts val="400"/>
              </a:spcAft>
            </a:pPr>
            <a:r>
              <a:rPr sz="1400">
                <a:solidFill>
                  <a:srgbClr val="374151"/>
                </a:solidFill>
                <a:latin typeface="Segoe UI"/>
              </a:rPr>
              <a:t>–  Retranscrire une fiche ou un tableau photographié.</a:t>
            </a:r>
          </a:p>
          <a:p>
            <a:pPr lvl="1">
              <a:spcAft>
                <a:spcPts val="400"/>
              </a:spcAft>
            </a:pPr>
            <a:r>
              <a:rPr sz="1400">
                <a:solidFill>
                  <a:srgbClr val="374151"/>
                </a:solidFill>
                <a:latin typeface="Segoe UI"/>
              </a:rPr>
              <a:t>–  Lire et expliquer un graphique ou un schéma.</a:t>
            </a:r>
          </a:p>
          <a:p>
            <a:pPr lvl="1">
              <a:spcAft>
                <a:spcPts val="400"/>
              </a:spcAft>
            </a:pPr>
            <a:r>
              <a:rPr sz="1400">
                <a:solidFill>
                  <a:srgbClr val="374151"/>
                </a:solidFill>
                <a:latin typeface="Segoe UI"/>
              </a:rPr>
              <a:t>–  Repérer une erreur dans du code affiché à l'écran.</a:t>
            </a:r>
          </a:p>
          <a:p>
            <a:pPr lvl="1">
              <a:spcAft>
                <a:spcPts val="400"/>
              </a:spcAft>
            </a:pPr>
            <a:r>
              <a:rPr sz="1400">
                <a:solidFill>
                  <a:srgbClr val="374151"/>
                </a:solidFill>
                <a:latin typeface="Segoe UI"/>
              </a:rPr>
              <a:t>–  Identifier un code d'erreur (machine, logiciel…).</a:t>
            </a:r>
          </a:p>
          <a:p>
            <a:pPr lvl="1">
              <a:spcAft>
                <a:spcPts val="400"/>
              </a:spcAft>
            </a:pPr>
            <a:r>
              <a:rPr sz="1400">
                <a:solidFill>
                  <a:srgbClr val="374151"/>
                </a:solidFill>
                <a:latin typeface="Segoe UI"/>
              </a:rPr>
              <a:t>–  Traduire un document ou une notice en voyage.</a:t>
            </a:r>
          </a:p>
          <a:p>
            <a:pPr>
              <a:spcAft>
                <a:spcPts val="800"/>
              </a:spcAft>
            </a:pPr>
            <a:r>
              <a:rPr sz="1700" b="1">
                <a:solidFill>
                  <a:srgbClr val="0F2A4A"/>
                </a:solidFill>
                <a:latin typeface="Segoe UI"/>
              </a:rPr>
              <a:t>•  Excellent pour des comptes-rendus à partir de notes/manuscrits.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SOURCES FIABLES ET RECHERCHE APPROFONDIE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n°7 : rechercher et vérifier</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16</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500" b="1">
                <a:solidFill>
                  <a:srgbClr val="0F2A4A"/>
                </a:solidFill>
                <a:latin typeface="Segoe UI"/>
              </a:rPr>
              <a:t>•  L'IA peut aller chercher l'information en ligne elle-même.</a:t>
            </a:r>
          </a:p>
          <a:p>
            <a:pPr lvl="1">
              <a:spcAft>
                <a:spcPts val="400"/>
              </a:spcAft>
            </a:pPr>
            <a:r>
              <a:rPr sz="1200">
                <a:solidFill>
                  <a:srgbClr val="374151"/>
                </a:solidFill>
                <a:latin typeface="Segoe UI"/>
              </a:rPr>
              <a:t>–  Activez « Rechercher » pour forcer une recherche web, ou collez un lien.</a:t>
            </a:r>
          </a:p>
          <a:p>
            <a:pPr>
              <a:spcAft>
                <a:spcPts val="800"/>
              </a:spcAft>
            </a:pPr>
            <a:r>
              <a:rPr sz="1500" b="1">
                <a:solidFill>
                  <a:srgbClr val="0F2A4A"/>
                </a:solidFill>
                <a:latin typeface="Segoe UI"/>
              </a:rPr>
              <a:t>•  Grok est pratique pour l'actualité en temps réel.</a:t>
            </a:r>
          </a:p>
          <a:p>
            <a:pPr>
              <a:spcAft>
                <a:spcPts val="800"/>
              </a:spcAft>
            </a:pPr>
            <a:r>
              <a:rPr sz="1500" b="1">
                <a:solidFill>
                  <a:srgbClr val="0F2A4A"/>
                </a:solidFill>
                <a:latin typeface="Segoe UI"/>
              </a:rPr>
              <a:t>•  Pour des sources fiables, utilisez Perplexity : il cite systématiquement ses sources.</a:t>
            </a:r>
          </a:p>
          <a:p>
            <a:pPr>
              <a:spcAft>
                <a:spcPts val="800"/>
              </a:spcAft>
            </a:pPr>
            <a:r>
              <a:rPr sz="1500" b="1">
                <a:solidFill>
                  <a:srgbClr val="0F2A4A"/>
                </a:solidFill>
                <a:latin typeface="Segoe UI"/>
              </a:rPr>
              <a:t>•  Recherche approfondie (« deep research ») :</a:t>
            </a:r>
          </a:p>
          <a:p>
            <a:pPr lvl="1">
              <a:spcAft>
                <a:spcPts val="400"/>
              </a:spcAft>
            </a:pPr>
            <a:r>
              <a:rPr sz="1200">
                <a:solidFill>
                  <a:srgbClr val="374151"/>
                </a:solidFill>
                <a:latin typeface="Segoe UI"/>
              </a:rPr>
              <a:t>–  L'IA lit des dizaines de sites et rend un rapport structuré avec liens.</a:t>
            </a:r>
          </a:p>
          <a:p>
            <a:pPr lvl="1">
              <a:spcAft>
                <a:spcPts val="400"/>
              </a:spcAft>
            </a:pPr>
            <a:r>
              <a:rPr sz="1200">
                <a:solidFill>
                  <a:srgbClr val="374151"/>
                </a:solidFill>
                <a:latin typeface="Segoe UI"/>
              </a:rPr>
              <a:t>–  Idéal pour un exposé, un achat important ou une décision à préparer.</a:t>
            </a:r>
          </a:p>
          <a:p>
            <a:pPr>
              <a:spcAft>
                <a:spcPts val="800"/>
              </a:spcAft>
            </a:pPr>
            <a:r>
              <a:rPr sz="1500" b="1">
                <a:solidFill>
                  <a:srgbClr val="0F2A4A"/>
                </a:solidFill>
                <a:latin typeface="Segoe UI"/>
              </a:rPr>
              <a:t>•  Réflexe clé : demandez « quelles sont tes sources ? » et ouvrez 2-3 liens.</a:t>
            </a:r>
          </a:p>
          <a:p>
            <a:pPr>
              <a:spcAft>
                <a:spcPts val="800"/>
              </a:spcAft>
            </a:pPr>
            <a:r>
              <a:rPr sz="1500" b="1">
                <a:solidFill>
                  <a:srgbClr val="0F2A4A"/>
                </a:solidFill>
                <a:latin typeface="Segoe UI"/>
              </a:rPr>
              <a:t>•  Vérifiez les faits, chiffres, dates ET la date des informations.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EMAILS, RAPPORTS, EXPOSÉS</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n°8 : rédiger et améliorer un texte</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17</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600" b="1">
                <a:solidFill>
                  <a:srgbClr val="0F2A4A"/>
                </a:solidFill>
                <a:latin typeface="Segoe UI"/>
              </a:rPr>
              <a:t>•  « Corrige l'orthographe et la grammaire sans changer le sens. »</a:t>
            </a:r>
          </a:p>
          <a:p>
            <a:pPr>
              <a:spcAft>
                <a:spcPts val="800"/>
              </a:spcAft>
            </a:pPr>
            <a:r>
              <a:rPr sz="1600" b="1">
                <a:solidFill>
                  <a:srgbClr val="0F2A4A"/>
                </a:solidFill>
                <a:latin typeface="Segoe UI"/>
              </a:rPr>
              <a:t>•  « Reformule ce passage : plus clair, plus court, plus professionnel. »</a:t>
            </a:r>
          </a:p>
          <a:p>
            <a:pPr>
              <a:spcAft>
                <a:spcPts val="800"/>
              </a:spcAft>
            </a:pPr>
            <a:r>
              <a:rPr sz="1600" b="1">
                <a:solidFill>
                  <a:srgbClr val="0F2A4A"/>
                </a:solidFill>
                <a:latin typeface="Segoe UI"/>
              </a:rPr>
              <a:t>•  « Adapte ce texte pour [public : professeur, camarades, entreprise]. »</a:t>
            </a:r>
          </a:p>
          <a:p>
            <a:pPr>
              <a:spcAft>
                <a:spcPts val="800"/>
              </a:spcAft>
            </a:pPr>
            <a:r>
              <a:rPr sz="1600" b="1">
                <a:solidFill>
                  <a:srgbClr val="0F2A4A"/>
                </a:solidFill>
                <a:latin typeface="Segoe UI"/>
              </a:rPr>
              <a:t>•  « Écris une introduction et une conclusion pour ce rapport. »</a:t>
            </a:r>
          </a:p>
          <a:p>
            <a:pPr>
              <a:spcAft>
                <a:spcPts val="800"/>
              </a:spcAft>
            </a:pPr>
            <a:r>
              <a:rPr sz="1600" b="1">
                <a:solidFill>
                  <a:srgbClr val="0F2A4A"/>
                </a:solidFill>
                <a:latin typeface="Segoe UI"/>
              </a:rPr>
              <a:t>•  « Génère un plan de rapport à partir de ces idées. »</a:t>
            </a:r>
          </a:p>
          <a:p>
            <a:pPr>
              <a:spcAft>
                <a:spcPts val="800"/>
              </a:spcAft>
            </a:pPr>
            <a:r>
              <a:rPr sz="1600" b="1">
                <a:solidFill>
                  <a:srgbClr val="0F2A4A"/>
                </a:solidFill>
                <a:latin typeface="Segoe UI"/>
              </a:rPr>
              <a:t>•  « Propose 5 formulations différentes pour cette phrase. »</a:t>
            </a:r>
          </a:p>
          <a:p>
            <a:pPr>
              <a:spcAft>
                <a:spcPts val="800"/>
              </a:spcAft>
            </a:pPr>
            <a:r>
              <a:rPr sz="1600" b="1">
                <a:solidFill>
                  <a:srgbClr val="0F2A4A"/>
                </a:solidFill>
                <a:latin typeface="Segoe UI"/>
              </a:rPr>
              <a:t>•  Astuce : donnez un exemple du style voulu et dites « garde ce ton ».</a:t>
            </a:r>
          </a:p>
          <a:p>
            <a:pPr>
              <a:spcAft>
                <a:spcPts val="800"/>
              </a:spcAft>
            </a:pPr>
            <a:r>
              <a:rPr sz="1600" b="1">
                <a:solidFill>
                  <a:srgbClr val="0F2A4A"/>
                </a:solidFill>
                <a:latin typeface="Segoe UI"/>
              </a:rPr>
              <a:t>•  Relisez toujours : l'IA est un brouillon, vous restez responsable du rendu.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EXCEL / CSV</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n°9 : générer des tableaux</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18</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600" b="1">
                <a:solidFill>
                  <a:srgbClr val="0F2A4A"/>
                </a:solidFill>
                <a:latin typeface="Segoe UI"/>
              </a:rPr>
              <a:t>•  Exemple : « Génère un tableau à 4 colonnes et 3 lignes, au format Excel. »</a:t>
            </a:r>
          </a:p>
          <a:p>
            <a:pPr>
              <a:spcAft>
                <a:spcPts val="800"/>
              </a:spcAft>
            </a:pPr>
            <a:r>
              <a:rPr sz="1600" b="1">
                <a:solidFill>
                  <a:srgbClr val="0F2A4A"/>
                </a:solidFill>
                <a:latin typeface="Segoe UI"/>
              </a:rPr>
              <a:t>•  L'IA produit un fichier .xlsx / .csv téléchargeable.</a:t>
            </a:r>
          </a:p>
          <a:p>
            <a:pPr lvl="1">
              <a:spcAft>
                <a:spcPts val="400"/>
              </a:spcAft>
            </a:pPr>
            <a:r>
              <a:rPr sz="1300">
                <a:solidFill>
                  <a:srgbClr val="374151"/>
                </a:solidFill>
                <a:latin typeface="Segoe UI"/>
              </a:rPr>
              <a:t>–  Précisez les colonnes, les en-têtes et les unités.</a:t>
            </a:r>
          </a:p>
          <a:p>
            <a:pPr lvl="1">
              <a:spcAft>
                <a:spcPts val="400"/>
              </a:spcAft>
            </a:pPr>
            <a:r>
              <a:rPr sz="1300">
                <a:solidFill>
                  <a:srgbClr val="374151"/>
                </a:solidFill>
                <a:latin typeface="Segoe UI"/>
              </a:rPr>
              <a:t>–  Astuce : téléchargez-le TOUT DE SUITE (le lien peut expirer ensuite).</a:t>
            </a:r>
          </a:p>
          <a:p>
            <a:pPr>
              <a:spcAft>
                <a:spcPts val="800"/>
              </a:spcAft>
            </a:pPr>
            <a:r>
              <a:rPr sz="1600" b="1">
                <a:solidFill>
                  <a:srgbClr val="0F2A4A"/>
                </a:solidFill>
                <a:latin typeface="Segoe UI"/>
              </a:rPr>
              <a:t>•  Astuce : demandez aussi un graphique (« trace la courbe de… »).</a:t>
            </a:r>
          </a:p>
          <a:p>
            <a:pPr>
              <a:spcAft>
                <a:spcPts val="800"/>
              </a:spcAft>
            </a:pPr>
            <a:r>
              <a:rPr sz="1600" b="1">
                <a:solidFill>
                  <a:srgbClr val="0F2A4A"/>
                </a:solidFill>
                <a:latin typeface="Segoe UI"/>
              </a:rPr>
              <a:t>•  Utile pour : données de TP, planning, comparaison de matériaux.</a:t>
            </a:r>
          </a:p>
          <a:p>
            <a:pPr>
              <a:spcAft>
                <a:spcPts val="800"/>
              </a:spcAft>
            </a:pPr>
            <a:r>
              <a:rPr sz="1600" b="1">
                <a:solidFill>
                  <a:srgbClr val="0F2A4A"/>
                </a:solidFill>
                <a:latin typeface="Segoe UI"/>
              </a:rPr>
              <a:t>•  Pour de vrais calculs, refaites-les vous-même ou vérifiez-les : l'IA se trompe.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POUR VOS EXPOSÉS</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n°10 : générer et modifier des images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19</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500" b="1">
                <a:solidFill>
                  <a:srgbClr val="0F2A4A"/>
                </a:solidFill>
                <a:latin typeface="Segoe UI"/>
              </a:rPr>
              <a:t>•  Décrivez précisément l'image voulue et choisissez un style.</a:t>
            </a:r>
          </a:p>
          <a:p>
            <a:pPr>
              <a:spcAft>
                <a:spcPts val="800"/>
              </a:spcAft>
            </a:pPr>
            <a:r>
              <a:rPr sz="1500" b="1">
                <a:solidFill>
                  <a:srgbClr val="0F2A4A"/>
                </a:solidFill>
                <a:latin typeface="Segoe UI"/>
              </a:rPr>
              <a:t>•  Le texte dans les images est désormais lisible (logos, affiches, menus).</a:t>
            </a:r>
          </a:p>
          <a:p>
            <a:pPr>
              <a:spcAft>
                <a:spcPts val="800"/>
              </a:spcAft>
            </a:pPr>
            <a:r>
              <a:rPr sz="1500" b="1">
                <a:solidFill>
                  <a:srgbClr val="0F2A4A"/>
                </a:solidFill>
                <a:latin typeface="Segoe UI"/>
              </a:rPr>
              <a:t>•  Modifier une image = une conversation, pas un tirage au sort :</a:t>
            </a:r>
          </a:p>
          <a:p>
            <a:pPr lvl="1">
              <a:spcAft>
                <a:spcPts val="400"/>
              </a:spcAft>
            </a:pPr>
            <a:r>
              <a:rPr sz="1200">
                <a:solidFill>
                  <a:srgbClr val="374151"/>
                </a:solidFill>
                <a:latin typeface="Segoe UI"/>
              </a:rPr>
              <a:t>–  La règle des 3 parties : ce qu'on CHANGE + ce qu'on GARDE + ce qu'on INTERDIT.</a:t>
            </a:r>
          </a:p>
          <a:p>
            <a:pPr lvl="1">
              <a:spcAft>
                <a:spcPts val="400"/>
              </a:spcAft>
            </a:pPr>
            <a:r>
              <a:rPr sz="1200">
                <a:solidFill>
                  <a:srgbClr val="374151"/>
                </a:solidFill>
                <a:latin typeface="Segoe UI"/>
              </a:rPr>
              <a:t>–  Exemple : « mets la veste en bleu marine, garde le visage et la pose, pas de flare ».</a:t>
            </a:r>
          </a:p>
          <a:p>
            <a:pPr>
              <a:spcAft>
                <a:spcPts val="800"/>
              </a:spcAft>
            </a:pPr>
            <a:r>
              <a:rPr sz="1500" b="1">
                <a:solidFill>
                  <a:srgbClr val="0F2A4A"/>
                </a:solidFill>
                <a:latin typeface="Segoe UI"/>
              </a:rPr>
              <a:t>•  Autres outils : Nano Banana (créatif), ChatGPT Image (texte/réalisme), Flux (gratuit, local).</a:t>
            </a:r>
          </a:p>
          <a:p>
            <a:pPr lvl="1">
              <a:spcAft>
                <a:spcPts val="400"/>
              </a:spcAft>
            </a:pPr>
            <a:r>
              <a:rPr sz="1200">
                <a:solidFill>
                  <a:srgbClr val="374151"/>
                </a:solidFill>
                <a:latin typeface="Segoe UI"/>
              </a:rPr>
              <a:t>–  Autres réglages : changer le format (carré, story) et effacer un objet du cadre.</a:t>
            </a:r>
          </a:p>
          <a:p>
            <a:pPr>
              <a:spcAft>
                <a:spcPts val="800"/>
              </a:spcAft>
            </a:pPr>
            <a:r>
              <a:rPr sz="1500" b="1">
                <a:solidFill>
                  <a:srgbClr val="0F2A4A"/>
                </a:solidFill>
                <a:latin typeface="Segoe UI"/>
              </a:rPr>
              <a:t>•  Astuce : demandez à l'IA de décrire une image que vous aimez, pour la refaire plus tard.</a:t>
            </a:r>
          </a:p>
          <a:p>
            <a:pPr>
              <a:spcAft>
                <a:spcPts val="800"/>
              </a:spcAft>
            </a:pPr>
            <a:r>
              <a:rPr sz="1500" b="1">
                <a:solidFill>
                  <a:srgbClr val="0F2A4A"/>
                </a:solidFill>
                <a:latin typeface="Segoe UI"/>
              </a:rPr>
              <a:t>•  Pour un exposé : schémas, illustrations, icônes.</a:t>
            </a:r>
          </a:p>
          <a:p>
            <a:pPr>
              <a:spcAft>
                <a:spcPts val="800"/>
              </a:spcAft>
            </a:pPr>
            <a:r>
              <a:rPr sz="1500" b="1">
                <a:solidFill>
                  <a:srgbClr val="0F2A4A"/>
                </a:solidFill>
                <a:latin typeface="Segoe UI"/>
              </a:rPr>
              <a:t>•  Attention : ce n'est pas parfait (détails, texte long).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NE PLUS SE RÉPÉTER</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n°11 : créer vos assistants (GPT personnalisés)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20</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600" b="1">
                <a:solidFill>
                  <a:srgbClr val="0F2A4A"/>
                </a:solidFill>
                <a:latin typeface="Segoe UI"/>
              </a:rPr>
              <a:t>•  Un assistant créé une fois pour UNE tâche répétitive.</a:t>
            </a:r>
          </a:p>
          <a:p>
            <a:pPr>
              <a:spcAft>
                <a:spcPts val="800"/>
              </a:spcAft>
            </a:pPr>
            <a:r>
              <a:rPr sz="1600" b="1">
                <a:solidFill>
                  <a:srgbClr val="0F2A4A"/>
                </a:solidFill>
                <a:latin typeface="Segoe UI"/>
              </a:rPr>
              <a:t>•  Exemples : un « correcteur de rapport », un « générateur de QCM », un « traducteur technique ».</a:t>
            </a:r>
          </a:p>
          <a:p>
            <a:pPr>
              <a:spcAft>
                <a:spcPts val="800"/>
              </a:spcAft>
            </a:pPr>
            <a:r>
              <a:rPr sz="1600" b="1">
                <a:solidFill>
                  <a:srgbClr val="0F2A4A"/>
                </a:solidFill>
                <a:latin typeface="Segoe UI"/>
              </a:rPr>
              <a:t>•  Vous les réutilisez sans tout réexpliquer à chaque fois.</a:t>
            </a:r>
          </a:p>
          <a:p>
            <a:pPr lvl="1">
              <a:spcAft>
                <a:spcPts val="400"/>
              </a:spcAft>
            </a:pPr>
            <a:r>
              <a:rPr sz="1300">
                <a:solidFill>
                  <a:srgbClr val="374151"/>
                </a:solidFill>
                <a:latin typeface="Segoe UI"/>
              </a:rPr>
              <a:t>–  Astuce : épinglez vos assistants préférés pour y accéder en un clic.</a:t>
            </a:r>
          </a:p>
          <a:p>
            <a:pPr lvl="1">
              <a:spcAft>
                <a:spcPts val="400"/>
              </a:spcAft>
            </a:pPr>
            <a:r>
              <a:rPr sz="1300">
                <a:solidFill>
                  <a:srgbClr val="374151"/>
                </a:solidFill>
                <a:latin typeface="Segoe UI"/>
              </a:rPr>
              <a:t>–  Donnez-lui un nom clair et une consigne d'une ligne.</a:t>
            </a:r>
          </a:p>
          <a:p>
            <a:pPr lvl="1">
              <a:spcAft>
                <a:spcPts val="400"/>
              </a:spcAft>
            </a:pPr>
            <a:r>
              <a:rPr sz="1300">
                <a:solidFill>
                  <a:srgbClr val="374151"/>
                </a:solidFill>
                <a:latin typeface="Segoe UI"/>
              </a:rPr>
              <a:t>–  Astuce : vérifiez le modèle utilisé et choisissez le plus récent / le mode réflexion.</a:t>
            </a:r>
          </a:p>
          <a:p>
            <a:pPr>
              <a:spcAft>
                <a:spcPts val="800"/>
              </a:spcAft>
            </a:pPr>
            <a:r>
              <a:rPr sz="1600" b="1">
                <a:solidFill>
                  <a:srgbClr val="0F2A4A"/>
                </a:solidFill>
                <a:latin typeface="Segoe UI"/>
              </a:rPr>
              <a:t>•  Vous pouvez les partager avec vos camarades.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GARDER LE CONTEXTE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n°12 : les Projets (espaces de travail)</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21</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600" b="1">
                <a:solidFill>
                  <a:srgbClr val="0F2A4A"/>
                </a:solidFill>
                <a:latin typeface="Segoe UI"/>
              </a:rPr>
              <a:t>•  Un Projet = un dossier qui garde les chats, les fichiers et les consignes.</a:t>
            </a:r>
          </a:p>
          <a:p>
            <a:pPr>
              <a:spcAft>
                <a:spcPts val="800"/>
              </a:spcAft>
            </a:pPr>
            <a:r>
              <a:rPr sz="1600" b="1">
                <a:solidFill>
                  <a:srgbClr val="0F2A4A"/>
                </a:solidFill>
                <a:latin typeface="Segoe UI"/>
              </a:rPr>
              <a:t>•  Ses consignes internes priment sur les réglages généraux.</a:t>
            </a:r>
          </a:p>
          <a:p>
            <a:pPr lvl="1">
              <a:spcAft>
                <a:spcPts val="400"/>
              </a:spcAft>
            </a:pPr>
            <a:r>
              <a:rPr sz="1300">
                <a:solidFill>
                  <a:srgbClr val="374151"/>
                </a:solidFill>
                <a:latin typeface="Segoe UI"/>
              </a:rPr>
              <a:t>–  Sa mémoire est cloisonnée : il ne mélange pas les autres sujets.</a:t>
            </a:r>
          </a:p>
          <a:p>
            <a:pPr>
              <a:spcAft>
                <a:spcPts val="800"/>
              </a:spcAft>
            </a:pPr>
            <a:r>
              <a:rPr sz="1600" b="1">
                <a:solidFill>
                  <a:srgbClr val="0F2A4A"/>
                </a:solidFill>
                <a:latin typeface="Segoe UI"/>
              </a:rPr>
              <a:t>•  Cas étudiant : un projet « Révisions ».</a:t>
            </a:r>
          </a:p>
          <a:p>
            <a:pPr lvl="1">
              <a:spcAft>
                <a:spcPts val="400"/>
              </a:spcAft>
            </a:pPr>
            <a:r>
              <a:rPr sz="1300">
                <a:solidFill>
                  <a:srgbClr val="374151"/>
                </a:solidFill>
                <a:latin typeface="Segoe UI"/>
              </a:rPr>
              <a:t>–  Ajoutez le programme et vos fiches : l'IA sait toujours qui vous êtes.</a:t>
            </a:r>
          </a:p>
          <a:p>
            <a:pPr lvl="1">
              <a:spcAft>
                <a:spcPts val="400"/>
              </a:spcAft>
            </a:pPr>
            <a:r>
              <a:rPr sz="1300">
                <a:solidFill>
                  <a:srgbClr val="374151"/>
                </a:solidFill>
                <a:latin typeface="Segoe UI"/>
              </a:rPr>
              <a:t>–  Fini les répétitions « je suis en 2e année PEP… » à chaque message.</a:t>
            </a:r>
          </a:p>
          <a:p>
            <a:pPr lvl="1">
              <a:spcAft>
                <a:spcPts val="400"/>
              </a:spcAft>
            </a:pPr>
            <a:r>
              <a:rPr sz="1300">
                <a:solidFill>
                  <a:srgbClr val="374151"/>
                </a:solidFill>
                <a:latin typeface="Segoe UI"/>
              </a:rPr>
              <a:t>–  Déposez-y les annales et les sujets d'examen.</a:t>
            </a:r>
          </a:p>
          <a:p>
            <a:pPr>
              <a:spcAft>
                <a:spcPts val="800"/>
              </a:spcAft>
            </a:pPr>
            <a:r>
              <a:rPr sz="1600" b="1">
                <a:solidFill>
                  <a:srgbClr val="0F2A4A"/>
                </a:solidFill>
                <a:latin typeface="Segoe UI"/>
              </a:rPr>
              <a:t>•  Créez un projet par matière ou par gros travail (« Rapport de fin d'année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RÉGLAGES</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n°13 : personnaliser l'IA une fois pour toutes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22</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500" b="1">
                <a:solidFill>
                  <a:srgbClr val="0F2A4A"/>
                </a:solidFill>
                <a:latin typeface="Segoe UI"/>
              </a:rPr>
              <a:t>•  Menu « Personnalisation » : instructions personnalisées + mémoire + style.</a:t>
            </a:r>
          </a:p>
          <a:p>
            <a:pPr>
              <a:spcAft>
                <a:spcPts val="800"/>
              </a:spcAft>
            </a:pPr>
            <a:r>
              <a:rPr sz="1500" b="1">
                <a:solidFill>
                  <a:srgbClr val="0F2A4A"/>
                </a:solidFill>
                <a:latin typeface="Segoe UI"/>
              </a:rPr>
              <a:t>•  Dites-lui une fois pour toutes qui vous êtes et ce que vous étudiez.</a:t>
            </a:r>
          </a:p>
          <a:p>
            <a:pPr>
              <a:spcAft>
                <a:spcPts val="800"/>
              </a:spcAft>
            </a:pPr>
            <a:r>
              <a:rPr sz="1500" b="1">
                <a:solidFill>
                  <a:srgbClr val="0F2A4A"/>
                </a:solidFill>
                <a:latin typeface="Segoe UI"/>
              </a:rPr>
              <a:t>•  Quelques consignes très utiles :</a:t>
            </a:r>
          </a:p>
          <a:p>
            <a:pPr lvl="1">
              <a:spcAft>
                <a:spcPts val="400"/>
              </a:spcAft>
            </a:pPr>
            <a:r>
              <a:rPr sz="1200">
                <a:solidFill>
                  <a:srgbClr val="374151"/>
                </a:solidFill>
                <a:latin typeface="Segoe UI"/>
              </a:rPr>
              <a:t>–  « Je suis étudiant en 2e année PEP. »</a:t>
            </a:r>
          </a:p>
          <a:p>
            <a:pPr lvl="1">
              <a:spcAft>
                <a:spcPts val="400"/>
              </a:spcAft>
            </a:pPr>
            <a:r>
              <a:rPr sz="1200">
                <a:solidFill>
                  <a:srgbClr val="374151"/>
                </a:solidFill>
                <a:latin typeface="Segoe UI"/>
              </a:rPr>
              <a:t>–  « Réponds simplement, en structure, sans jargon inutile. »</a:t>
            </a:r>
          </a:p>
          <a:p>
            <a:pPr lvl="1">
              <a:spcAft>
                <a:spcPts val="400"/>
              </a:spcAft>
            </a:pPr>
            <a:r>
              <a:rPr sz="1200">
                <a:solidFill>
                  <a:srgbClr val="374151"/>
                </a:solidFill>
                <a:latin typeface="Segoe UI"/>
              </a:rPr>
              <a:t>–  « Si une info est incertaine, dis-le au lieu d'inventer. Cite tes sources. »</a:t>
            </a:r>
          </a:p>
          <a:p>
            <a:pPr>
              <a:spcAft>
                <a:spcPts val="800"/>
              </a:spcAft>
            </a:pPr>
            <a:r>
              <a:rPr sz="1500" b="1">
                <a:solidFill>
                  <a:srgbClr val="0F2A4A"/>
                </a:solidFill>
                <a:latin typeface="Segoe UI"/>
              </a:rPr>
              <a:t>•  Les instructions s'appliquent à TOUS les chats.</a:t>
            </a:r>
          </a:p>
          <a:p>
            <a:pPr>
              <a:spcAft>
                <a:spcPts val="800"/>
              </a:spcAft>
            </a:pPr>
            <a:r>
              <a:rPr sz="1500" b="1">
                <a:solidFill>
                  <a:srgbClr val="0F2A4A"/>
                </a:solidFill>
                <a:latin typeface="Segoe UI"/>
              </a:rPr>
              <a:t>•  Mémoire : deux niveaux — nettoyez-la de temps en temps (elle retient parfois des détails inutiles).</a:t>
            </a:r>
          </a:p>
          <a:p>
            <a:pPr>
              <a:spcAft>
                <a:spcPts val="800"/>
              </a:spcAft>
            </a:pPr>
            <a:r>
              <a:rPr sz="1500" b="1">
                <a:solidFill>
                  <a:srgbClr val="0F2A4A"/>
                </a:solidFill>
                <a:latin typeface="Segoe UI"/>
              </a:rPr>
              <a:t>•  Choisissez un style de réponse : concis / détaillé / neutre.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ASTUCE AVANCÉE ET PRATIQUE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n°14 : mémoriser votre style d'écriture</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23</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2000" b="1">
                <a:solidFill>
                  <a:srgbClr val="0F2A4A"/>
                </a:solidFill>
                <a:latin typeface="Segoe UI"/>
              </a:rPr>
              <a:t>•  Étape 1 : « Analyse ce texte pour le ton, le style, le format et le niveau de lecture. »</a:t>
            </a:r>
          </a:p>
          <a:p>
            <a:pPr lvl="1">
              <a:spcAft>
                <a:spcPts val="400"/>
              </a:spcAft>
            </a:pPr>
            <a:r>
              <a:rPr sz="1700">
                <a:solidFill>
                  <a:srgbClr val="374151"/>
                </a:solidFill>
                <a:latin typeface="Segoe UI"/>
              </a:rPr>
              <a:t>–  Collez un texte que VOUS avez écrit.</a:t>
            </a:r>
          </a:p>
          <a:p>
            <a:pPr>
              <a:spcAft>
                <a:spcPts val="800"/>
              </a:spcAft>
            </a:pPr>
            <a:r>
              <a:rPr sz="2000" b="1">
                <a:solidFill>
                  <a:srgbClr val="0F2A4A"/>
                </a:solidFill>
                <a:latin typeface="Segoe UI"/>
              </a:rPr>
              <a:t>•  Étape 2 : « Mémorise mon style d'écriture pour [type de document]. »</a:t>
            </a:r>
          </a:p>
          <a:p>
            <a:pPr lvl="1">
              <a:spcAft>
                <a:spcPts val="400"/>
              </a:spcAft>
            </a:pPr>
            <a:r>
              <a:rPr sz="1700">
                <a:solidFill>
                  <a:srgbClr val="374151"/>
                </a:solidFill>
                <a:latin typeface="Segoe UI"/>
              </a:rPr>
              <a:t>–  Dès que je te demande ce type de document, réutilise ce style.</a:t>
            </a:r>
          </a:p>
          <a:p>
            <a:pPr>
              <a:spcAft>
                <a:spcPts val="800"/>
              </a:spcAft>
            </a:pPr>
            <a:r>
              <a:rPr sz="2000" b="1">
                <a:solidFill>
                  <a:srgbClr val="0F2A4A"/>
                </a:solidFill>
                <a:latin typeface="Segoe UI"/>
              </a:rPr>
              <a:t>•  Exemples : vos rapports, vos emails, vos exposés.</a:t>
            </a:r>
          </a:p>
          <a:p>
            <a:pPr>
              <a:spcAft>
                <a:spcPts val="800"/>
              </a:spcAft>
            </a:pPr>
            <a:r>
              <a:rPr sz="2000" b="1">
                <a:solidFill>
                  <a:srgbClr val="0F2A4A"/>
                </a:solidFill>
                <a:latin typeface="Segoe UI"/>
              </a:rPr>
              <a:t>•  Résultat : l'IA écrit dès le premier coup dans VOTRE style.</a:t>
            </a:r>
          </a:p>
          <a:p>
            <a:pPr>
              <a:spcAft>
                <a:spcPts val="800"/>
              </a:spcAft>
            </a:pPr>
            <a:r>
              <a:rPr sz="2000" b="1">
                <a:solidFill>
                  <a:srgbClr val="0F2A4A"/>
                </a:solidFill>
                <a:latin typeface="Segoe UI"/>
              </a:rPr>
              <a:t>•  À combiner avec les instructions personnalisées (diapo précédente).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FONCTION AVANCÉE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n°15 : automatiser (tâches planifiées)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24</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700" b="1">
                <a:solidFill>
                  <a:srgbClr val="0F2A4A"/>
                </a:solidFill>
                <a:latin typeface="Segoe UI"/>
              </a:rPr>
              <a:t>•  L'IA peut exécuter une tâche automatiquement, à intervalles réguliers.</a:t>
            </a:r>
          </a:p>
          <a:p>
            <a:pPr>
              <a:spcAft>
                <a:spcPts val="800"/>
              </a:spcAft>
            </a:pPr>
            <a:r>
              <a:rPr sz="1700" b="1">
                <a:solidFill>
                  <a:srgbClr val="0F2A4A"/>
                </a:solidFill>
                <a:latin typeface="Segoe UI"/>
              </a:rPr>
              <a:t>•  Exemples :</a:t>
            </a:r>
          </a:p>
          <a:p>
            <a:pPr lvl="1">
              <a:spcAft>
                <a:spcPts val="400"/>
              </a:spcAft>
            </a:pPr>
            <a:r>
              <a:rPr sz="1400">
                <a:solidFill>
                  <a:srgbClr val="374151"/>
                </a:solidFill>
                <a:latin typeface="Segoe UI"/>
              </a:rPr>
              <a:t>–  « Chaque lundi à 19h, fais-moi un point sur les nouveautés de ma filière. »</a:t>
            </a:r>
          </a:p>
          <a:p>
            <a:pPr lvl="1">
              <a:spcAft>
                <a:spcPts val="400"/>
              </a:spcAft>
            </a:pPr>
            <a:r>
              <a:rPr sz="1400">
                <a:solidFill>
                  <a:srgbClr val="374151"/>
                </a:solidFill>
                <a:latin typeface="Segoe UI"/>
              </a:rPr>
              <a:t>–  « Chaque semaine, donne-moi un quiz de révision sur le chapitre en cours. »</a:t>
            </a:r>
          </a:p>
          <a:p>
            <a:pPr lvl="1">
              <a:spcAft>
                <a:spcPts val="400"/>
              </a:spcAft>
            </a:pPr>
            <a:r>
              <a:rPr sz="1400">
                <a:solidFill>
                  <a:srgbClr val="374151"/>
                </a:solidFill>
                <a:latin typeface="Segoe UI"/>
              </a:rPr>
              <a:t>–  « Rappelle-moi mes échéances et un planning de révisions. »</a:t>
            </a:r>
          </a:p>
          <a:p>
            <a:pPr lvl="1">
              <a:spcAft>
                <a:spcPts val="400"/>
              </a:spcAft>
            </a:pPr>
            <a:r>
              <a:rPr sz="1400">
                <a:solidFill>
                  <a:srgbClr val="374151"/>
                </a:solidFill>
                <a:latin typeface="Segoe UI"/>
              </a:rPr>
              <a:t>–  « Chaque matin, rappelle-moi mes objectifs du jour. »</a:t>
            </a:r>
          </a:p>
          <a:p>
            <a:pPr>
              <a:spcAft>
                <a:spcPts val="800"/>
              </a:spcAft>
            </a:pPr>
            <a:r>
              <a:rPr sz="1700" b="1">
                <a:solidFill>
                  <a:srgbClr val="0F2A4A"/>
                </a:solidFill>
                <a:latin typeface="Segoe UI"/>
              </a:rPr>
              <a:t>•  Idéal pour les tâches répétitives et le suivi régulier.</a:t>
            </a:r>
          </a:p>
          <a:p>
            <a:pPr>
              <a:spcAft>
                <a:spcPts val="800"/>
              </a:spcAft>
            </a:pPr>
            <a:r>
              <a:rPr sz="1700" b="1">
                <a:solidFill>
                  <a:srgbClr val="0F2A4A"/>
                </a:solidFill>
                <a:latin typeface="Segoe UI"/>
              </a:rPr>
              <a:t>•  Une tâche planifiée est modifiable, pausable, supprimable.</a:t>
            </a:r>
          </a:p>
          <a:p>
            <a:pPr>
              <a:spcAft>
                <a:spcPts val="800"/>
              </a:spcAft>
            </a:pPr>
            <a:r>
              <a:rPr sz="1700" b="1">
                <a:solidFill>
                  <a:srgbClr val="0F2A4A"/>
                </a:solidFill>
                <a:latin typeface="Segoe UI"/>
              </a:rPr>
              <a:t>•  Nécessite un abonnement payant.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DÉTAILS PRATIQUES</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Astuce n°16 : petits raccourcis qui sauvent</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25</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600" b="1">
                <a:solidFill>
                  <a:srgbClr val="0F2A4A"/>
                </a:solidFill>
                <a:latin typeface="Segoe UI"/>
              </a:rPr>
              <a:t>•  Application bureau : ouvrez ChatGPT instantanément (Alt + Espace sous Windows).</a:t>
            </a:r>
          </a:p>
          <a:p>
            <a:pPr>
              <a:spcAft>
                <a:spcPts val="800"/>
              </a:spcAft>
            </a:pPr>
            <a:r>
              <a:rPr sz="1600" b="1">
                <a:solidFill>
                  <a:srgbClr val="0F2A4A"/>
                </a:solidFill>
                <a:latin typeface="Segoe UI"/>
              </a:rPr>
              <a:t>•  Sauter une ligne sans envoyer : Shift + Entrée (indispensable pour un prompt long).</a:t>
            </a:r>
          </a:p>
          <a:p>
            <a:pPr>
              <a:spcAft>
                <a:spcPts val="800"/>
              </a:spcAft>
            </a:pPr>
            <a:r>
              <a:rPr sz="1600" b="1">
                <a:solidFill>
                  <a:srgbClr val="0F2A4A"/>
                </a:solidFill>
                <a:latin typeface="Segoe UI"/>
              </a:rPr>
              <a:t>•  Les « 3 points » : réessayer plus court ou avec recherche web, en un clic.</a:t>
            </a:r>
          </a:p>
          <a:p>
            <a:pPr>
              <a:spcAft>
                <a:spcPts val="800"/>
              </a:spcAft>
            </a:pPr>
            <a:r>
              <a:rPr sz="1600" b="1">
                <a:solidFill>
                  <a:srgbClr val="0F2A4A"/>
                </a:solidFill>
                <a:latin typeface="Segoe UI"/>
              </a:rPr>
              <a:t>•  Brancher : scinder une conversation en deux quand on explore deux pistes.</a:t>
            </a:r>
          </a:p>
          <a:p>
            <a:pPr>
              <a:spcAft>
                <a:spcPts val="800"/>
              </a:spcAft>
            </a:pPr>
            <a:r>
              <a:rPr sz="1600" b="1">
                <a:solidFill>
                  <a:srgbClr val="0F2A4A"/>
                </a:solidFill>
                <a:latin typeface="Segoe UI"/>
              </a:rPr>
              <a:t>•  La barre de recherche : retrouver un ancien chat par mot-clé.</a:t>
            </a:r>
          </a:p>
          <a:p>
            <a:pPr>
              <a:spcAft>
                <a:spcPts val="800"/>
              </a:spcAft>
            </a:pPr>
            <a:r>
              <a:rPr sz="1600" b="1">
                <a:solidFill>
                  <a:srgbClr val="0F2A4A"/>
                </a:solidFill>
                <a:latin typeface="Segoe UI"/>
              </a:rPr>
              <a:t>•  Mode éphémère : conversation non mémorisée (questions ponctuelles / sensibles).</a:t>
            </a:r>
          </a:p>
          <a:p>
            <a:pPr>
              <a:spcAft>
                <a:spcPts val="800"/>
              </a:spcAft>
            </a:pPr>
            <a:r>
              <a:rPr sz="1600" b="1">
                <a:solidFill>
                  <a:srgbClr val="0F2A4A"/>
                </a:solidFill>
                <a:latin typeface="Segoe UI"/>
              </a:rPr>
              <a:t>•  Confidentialité : désactivez l'usage de vos conversations pour l'entraînement dans les réglages.</a:t>
            </a:r>
          </a:p>
          <a:p>
            <a:pPr>
              <a:spcAft>
                <a:spcPts val="800"/>
              </a:spcAft>
            </a:pPr>
            <a:r>
              <a:rPr sz="1600" b="1">
                <a:solidFill>
                  <a:srgbClr val="0F2A4A"/>
                </a:solidFill>
                <a:latin typeface="Segoe UI"/>
              </a:rPr>
              <a:t>•  Renommer une conversation pour la retrouver facilement.</a:t>
            </a:r>
          </a:p>
          <a:p>
            <a:pPr>
              <a:spcAft>
                <a:spcPts val="800"/>
              </a:spcAft>
            </a:pPr>
            <a:r>
              <a:rPr sz="1600" b="1">
                <a:solidFill>
                  <a:srgbClr val="0F2A4A"/>
                </a:solidFill>
                <a:latin typeface="Segoe UI"/>
              </a:rPr>
              <a:t>•  Éviter d'enchaîner des demandes sans rapport dans un même chat.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914400" y="2880360"/>
            <a:ext cx="2011680" cy="7315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914400"/>
          </a:xfrm>
          <a:prstGeom prst="rect">
            <a:avLst/>
          </a:prstGeom>
          <a:noFill/>
        </p:spPr>
        <p:txBody>
          <a:bodyPr wrap="square" anchor="t">
            <a:spAutoFit/>
          </a:bodyPr>
          <a:lstStyle/>
          <a:p>
            <a:pPr algn="l"/>
            <a:r>
              <a:rPr sz="4000" b="1" i="0">
                <a:solidFill>
                  <a:srgbClr val="FFFFFF"/>
                </a:solidFill>
                <a:latin typeface="Segoe UI"/>
              </a:rPr>
              <a:t>De l'IA à vos études PEP</a:t>
            </a:r>
          </a:p>
        </p:txBody>
      </p:sp>
      <p:sp>
        <p:nvSpPr>
          <p:cNvPr id="4" name="TextBox 3"/>
          <p:cNvSpPr txBox="1"/>
          <p:nvPr/>
        </p:nvSpPr>
        <p:spPr>
          <a:xfrm>
            <a:off x="914400" y="3108960"/>
            <a:ext cx="10058400" cy="731520"/>
          </a:xfrm>
          <a:prstGeom prst="rect">
            <a:avLst/>
          </a:prstGeom>
          <a:noFill/>
        </p:spPr>
        <p:txBody>
          <a:bodyPr wrap="square" anchor="t">
            <a:spAutoFit/>
          </a:bodyPr>
          <a:lstStyle/>
          <a:p>
            <a:pPr algn="l"/>
            <a:r>
              <a:rPr sz="1800" b="0" i="0">
                <a:solidFill>
                  <a:srgbClr val="BFD2E8"/>
                </a:solidFill>
                <a:latin typeface="Segoe UI"/>
              </a:rPr>
              <a:t>Le mode Étude, les usages, et des prompts prêts à l'emploi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APPRENDRE, PAS SEULEMENT OBTENIR LA RÉPONSE</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Le mode Étude et vos usages</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27</a:t>
            </a:r>
          </a:p>
        </p:txBody>
      </p:sp>
      <p:sp>
        <p:nvSpPr>
          <p:cNvPr id="8" name="Rectangle 7"/>
          <p:cNvSpPr/>
          <p:nvPr/>
        </p:nvSpPr>
        <p:spPr>
          <a:xfrm>
            <a:off x="640080" y="1298448"/>
            <a:ext cx="5349240" cy="228600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298448"/>
            <a:ext cx="91440" cy="2286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08176"/>
            <a:ext cx="4892040" cy="365760"/>
          </a:xfrm>
          <a:prstGeom prst="rect">
            <a:avLst/>
          </a:prstGeom>
          <a:noFill/>
        </p:spPr>
        <p:txBody>
          <a:bodyPr wrap="square" anchor="t">
            <a:spAutoFit/>
          </a:bodyPr>
          <a:lstStyle/>
          <a:p>
            <a:pPr algn="l"/>
            <a:r>
              <a:rPr sz="1500" b="1" i="0">
                <a:solidFill>
                  <a:srgbClr val="1F6FB2"/>
                </a:solidFill>
                <a:latin typeface="Segoe UI"/>
              </a:rPr>
              <a:t>Le mode Étude (Socratic)</a:t>
            </a:r>
          </a:p>
        </p:txBody>
      </p:sp>
      <p:sp>
        <p:nvSpPr>
          <p:cNvPr id="11" name="TextBox 10"/>
          <p:cNvSpPr txBox="1"/>
          <p:nvPr/>
        </p:nvSpPr>
        <p:spPr>
          <a:xfrm>
            <a:off x="896112" y="1773936"/>
            <a:ext cx="4892040" cy="1682495"/>
          </a:xfrm>
          <a:prstGeom prst="rect">
            <a:avLst/>
          </a:prstGeom>
          <a:noFill/>
        </p:spPr>
        <p:txBody>
          <a:bodyPr wrap="square" anchor="t">
            <a:spAutoFit/>
          </a:bodyPr>
          <a:lstStyle/>
          <a:p>
            <a:pPr algn="l"/>
            <a:r>
              <a:rPr sz="1300" b="0" i="0">
                <a:solidFill>
                  <a:srgbClr val="374151"/>
                </a:solidFill>
                <a:latin typeface="Segoe UI"/>
              </a:rPr>
              <a:t>Au lieu de donner la réponse, l'IA vous guide par des questions et des indices.
Elle lit vos PDF et vos captures, et vous interroge sur ce que vous évitez.
C'est plus lent exprès : parfait pour VRAIMENT apprendre.</a:t>
            </a:r>
          </a:p>
        </p:txBody>
      </p:sp>
      <p:sp>
        <p:nvSpPr>
          <p:cNvPr id="12" name="Rectangle 11"/>
          <p:cNvSpPr/>
          <p:nvPr/>
        </p:nvSpPr>
        <p:spPr>
          <a:xfrm>
            <a:off x="6172200" y="1298448"/>
            <a:ext cx="534924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298448"/>
            <a:ext cx="91440" cy="2286000"/>
          </a:xfrm>
          <a:prstGeom prst="rect">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408176"/>
            <a:ext cx="4892040" cy="365760"/>
          </a:xfrm>
          <a:prstGeom prst="rect">
            <a:avLst/>
          </a:prstGeom>
          <a:noFill/>
        </p:spPr>
        <p:txBody>
          <a:bodyPr wrap="square" anchor="t">
            <a:spAutoFit/>
          </a:bodyPr>
          <a:lstStyle/>
          <a:p>
            <a:pPr algn="l"/>
            <a:r>
              <a:rPr sz="1500" b="1" i="0">
                <a:solidFill>
                  <a:srgbClr val="1E8E4E"/>
                </a:solidFill>
                <a:latin typeface="Segoe UI"/>
              </a:rPr>
              <a:t>Vos usages concrets</a:t>
            </a:r>
          </a:p>
        </p:txBody>
      </p:sp>
      <p:sp>
        <p:nvSpPr>
          <p:cNvPr id="15" name="TextBox 14"/>
          <p:cNvSpPr txBox="1"/>
          <p:nvPr/>
        </p:nvSpPr>
        <p:spPr>
          <a:xfrm>
            <a:off x="6428232" y="1773936"/>
            <a:ext cx="4892040" cy="1682495"/>
          </a:xfrm>
          <a:prstGeom prst="rect">
            <a:avLst/>
          </a:prstGeom>
          <a:noFill/>
        </p:spPr>
        <p:txBody>
          <a:bodyPr wrap="square" anchor="t">
            <a:spAutoFit/>
          </a:bodyPr>
          <a:lstStyle/>
          <a:p>
            <a:pPr algn="l"/>
            <a:r>
              <a:rPr sz="1300" b="0" i="0">
                <a:solidFill>
                  <a:srgbClr val="374151"/>
                </a:solidFill>
                <a:latin typeface="Segoe UI"/>
              </a:rPr>
              <a:t>– Fiches de révision d'une page.
– Prof particulier : cours, quiz, correction.
– Résumer un PDF de cours ou un TD.
– Comprendre un concept autrement.
– Analyser un graphique / des données de TP.
– Préparer un exposé : plan, contenu, slides.
– S'auto-évaluer avant l'examen (quiz).</a:t>
            </a:r>
          </a:p>
        </p:txBody>
      </p:sp>
      <p:sp>
        <p:nvSpPr>
          <p:cNvPr id="16" name="Rectangle 15"/>
          <p:cNvSpPr/>
          <p:nvPr/>
        </p:nvSpPr>
        <p:spPr>
          <a:xfrm>
            <a:off x="640080" y="3703320"/>
            <a:ext cx="10881360" cy="1920240"/>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703320"/>
            <a:ext cx="91440" cy="19202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813048"/>
            <a:ext cx="10424160" cy="365760"/>
          </a:xfrm>
          <a:prstGeom prst="rect">
            <a:avLst/>
          </a:prstGeom>
          <a:noFill/>
        </p:spPr>
        <p:txBody>
          <a:bodyPr wrap="square" anchor="t">
            <a:spAutoFit/>
          </a:bodyPr>
          <a:lstStyle/>
          <a:p>
            <a:pPr algn="l"/>
            <a:r>
              <a:rPr sz="1500" b="1" i="0">
                <a:solidFill>
                  <a:srgbClr val="C0392B"/>
                </a:solidFill>
                <a:latin typeface="Segoe UI"/>
              </a:rPr>
              <a:t>Vigilance : gardez l'esprit critique</a:t>
            </a:r>
          </a:p>
        </p:txBody>
      </p:sp>
      <p:sp>
        <p:nvSpPr>
          <p:cNvPr id="19" name="TextBox 18"/>
          <p:cNvSpPr txBox="1"/>
          <p:nvPr/>
        </p:nvSpPr>
        <p:spPr>
          <a:xfrm>
            <a:off x="896112" y="4178808"/>
            <a:ext cx="10424160" cy="1316736"/>
          </a:xfrm>
          <a:prstGeom prst="rect">
            <a:avLst/>
          </a:prstGeom>
          <a:noFill/>
        </p:spPr>
        <p:txBody>
          <a:bodyPr wrap="square" anchor="t">
            <a:spAutoFit/>
          </a:bodyPr>
          <a:lstStyle/>
          <a:p>
            <a:pPr algn="l"/>
            <a:r>
              <a:rPr sz="1350" b="0" i="0">
                <a:solidFill>
                  <a:srgbClr val="374151"/>
                </a:solidFill>
                <a:latin typeface="Segoe UI"/>
              </a:rPr>
              <a:t>1. Hallucinations : vérifiez faits, chiffres, dates, formules et sources.
2. Données personnelles : ne partagez rien de sensible.
3. Dépendance : l'IA vous aide, elle ne réfléchit pas à votre place — sinon vous n'apprenez pas.
4. Relisez toujours : l'IA est un stagiaire brillant mais faillible, pas votre signature.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À COPIER-COLLER ET ADAPTER ENTRE [CROCHETS]</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Prompts prêts à l'emploi (1/2)</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28</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500" b="1">
                <a:solidFill>
                  <a:srgbClr val="0F2A4A"/>
                </a:solidFill>
                <a:latin typeface="Segoe UI"/>
              </a:rPr>
              <a:t>•  Comprendre : « Explique-moi [concept] comme à un débutant, avec une analogie et un exemple simple, puis pose-moi une question pour vérifier. »</a:t>
            </a:r>
          </a:p>
          <a:p>
            <a:pPr>
              <a:spcAft>
                <a:spcPts val="800"/>
              </a:spcAft>
            </a:pPr>
            <a:r>
              <a:rPr sz="1500" b="1">
                <a:solidFill>
                  <a:srgbClr val="0F2A4A"/>
                </a:solidFill>
                <a:latin typeface="Segoe UI"/>
              </a:rPr>
              <a:t>•  Fiche de révision : « À partir de ce chapitre, fais une fiche d'une page : définitions, formules, 5 points clés, 3 pièges d'examen. »</a:t>
            </a:r>
          </a:p>
          <a:p>
            <a:pPr>
              <a:spcAft>
                <a:spcPts val="800"/>
              </a:spcAft>
            </a:pPr>
            <a:r>
              <a:rPr sz="1500" b="1">
                <a:solidFill>
                  <a:srgbClr val="0F2A4A"/>
                </a:solidFill>
                <a:latin typeface="Segoe UI"/>
              </a:rPr>
              <a:t>•  Quiz : « Crée 10 questions (QCM + ouvertes) sur [chapitre], niveau 2e année PEP, avec corrigé. Ne montre le corrigé qu'après. »</a:t>
            </a:r>
          </a:p>
          <a:p>
            <a:pPr>
              <a:spcAft>
                <a:spcPts val="800"/>
              </a:spcAft>
            </a:pPr>
            <a:r>
              <a:rPr sz="1500" b="1">
                <a:solidFill>
                  <a:srgbClr val="0F2A4A"/>
                </a:solidFill>
                <a:latin typeface="Segoe UI"/>
              </a:rPr>
              <a:t>•  Méthode : « Donne-moi une méthode étape par étape pour résoudre [type d'exercice]. Explique le raisonnement, pas seulement la réponse. »</a:t>
            </a:r>
          </a:p>
          <a:p>
            <a:pPr>
              <a:spcAft>
                <a:spcPts val="800"/>
              </a:spcAft>
            </a:pPr>
            <a:r>
              <a:rPr sz="1500" b="1">
                <a:solidFill>
                  <a:srgbClr val="0F2A4A"/>
                </a:solidFill>
                <a:latin typeface="Segoe UI"/>
              </a:rPr>
              <a:t>•  Planning : « Aide-moi à planifier mes révisions pour [examen] en [X] jours, 1 h/jour, avec un objectif par jour. »</a:t>
            </a:r>
          </a:p>
          <a:p>
            <a:pPr>
              <a:spcAft>
                <a:spcPts val="800"/>
              </a:spcAft>
            </a:pPr>
            <a:r>
              <a:rPr sz="1500" b="1">
                <a:solidFill>
                  <a:srgbClr val="0F2A4A"/>
                </a:solidFill>
                <a:latin typeface="Segoe UI"/>
              </a:rPr>
              <a:t>•  Ré-expliquer : « Je n'ai pas compris cette partie, explique autrement avec un exemple. »</a:t>
            </a:r>
          </a:p>
          <a:p>
            <a:pPr>
              <a:spcAft>
                <a:spcPts val="800"/>
              </a:spcAft>
            </a:pPr>
            <a:r>
              <a:rPr sz="1500" b="1">
                <a:solidFill>
                  <a:srgbClr val="0F2A4A"/>
                </a:solidFill>
                <a:latin typeface="Segoe UI"/>
              </a:rPr>
              <a:t>•  Résumer un PDF : « Fais un résumé en 10 points + 5 définitions à retenir.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p:spPr>
        <p:txBody>
          <a:bodyPr wrap="square" anchor="t">
            <a:spAutoFit/>
          </a:bodyPr>
          <a:lstStyle/>
          <a:p>
            <a:pPr algn="l"/>
            <a:r>
              <a:rPr sz="1200" b="1" i="0">
                <a:solidFill>
                  <a:srgbClr val="FF8A00"/>
                </a:solidFill>
                <a:latin typeface="Segoe UI"/>
              </a:rPr>
              <a:t>PAR MATIÈRE — ET LE RÉFLEXE DE VÉRIFICATION</a:t>
            </a:r>
          </a:p>
        </p:txBody>
      </p:sp>
      <p:sp>
        <p:nvSpPr>
          <p:cNvPr id="5" name="TextBox 4"/>
          <p:cNvSpPr txBox="1"/>
          <p:nvPr/>
        </p:nvSpPr>
        <p:spPr>
          <a:xfrm>
            <a:off x="502920" y="347472"/>
            <a:ext cx="11155680" cy="640080"/>
          </a:xfrm>
          <a:prstGeom prst="rect">
            <a:avLst/>
          </a:prstGeom>
          <a:noFill/>
        </p:spPr>
        <p:txBody>
          <a:bodyPr wrap="square" anchor="t">
            <a:spAutoFit/>
          </a:bodyPr>
          <a:lstStyle/>
          <a:p>
            <a:pPr algn="l"/>
            <a:r>
              <a:rPr sz="2700" b="1" i="0">
                <a:solidFill>
                  <a:srgbClr val="FFFFFF"/>
                </a:solidFill>
                <a:latin typeface="Segoe UI"/>
              </a:rPr>
              <a:t>Prompts prêts à l'emploi (2/2)</a:t>
            </a:r>
          </a:p>
        </p:txBody>
      </p:sp>
      <p:sp>
        <p:nvSpPr>
          <p:cNvPr id="6" name="TextBox 5"/>
          <p:cNvSpPr txBox="1"/>
          <p:nvPr/>
        </p:nvSpPr>
        <p:spPr>
          <a:xfrm>
            <a:off x="10424160" y="6446520"/>
            <a:ext cx="1554480" cy="365760"/>
          </a:xfrm>
          <a:prstGeom prst="rect">
            <a:avLst/>
          </a:prstGeom>
          <a:noFill/>
        </p:spPr>
        <p:txBody>
          <a:bodyPr wrap="square" anchor="t">
            <a:spAutoFit/>
          </a:bodyPr>
          <a:lstStyle/>
          <a:p>
            <a:pPr algn="r"/>
            <a:r>
              <a:rPr sz="900" b="0" i="0">
                <a:solidFill>
                  <a:srgbClr val="374151"/>
                </a:solidFill>
                <a:latin typeface="Segoe UI"/>
              </a:rPr>
              <a:t>Module IA - 2e année PEP</a:t>
            </a:r>
          </a:p>
        </p:txBody>
      </p:sp>
      <p:sp>
        <p:nvSpPr>
          <p:cNvPr id="7" name="TextBox 6"/>
          <p:cNvSpPr txBox="1"/>
          <p:nvPr/>
        </p:nvSpPr>
        <p:spPr>
          <a:xfrm>
            <a:off x="365760" y="6446520"/>
            <a:ext cx="1097280" cy="365760"/>
          </a:xfrm>
          <a:prstGeom prst="rect">
            <a:avLst/>
          </a:prstGeom>
          <a:noFill/>
        </p:spPr>
        <p:txBody>
          <a:bodyPr wrap="square" anchor="t">
            <a:spAutoFit/>
          </a:bodyPr>
          <a:lstStyle/>
          <a:p>
            <a:pPr algn="l"/>
            <a:r>
              <a:rPr sz="1000" b="1" i="0">
                <a:solidFill>
                  <a:srgbClr val="1F6FB2"/>
                </a:solidFill>
                <a:latin typeface="Segoe UI"/>
              </a:rPr>
              <a:t>29</a:t>
            </a:r>
          </a:p>
        </p:txBody>
      </p:sp>
      <p:sp>
        <p:nvSpPr>
          <p:cNvPr id="8" name="TextBox 7"/>
          <p:cNvSpPr txBox="1"/>
          <p:nvPr/>
        </p:nvSpPr>
        <p:spPr>
          <a:xfrm>
            <a:off x="640080" y="1371600"/>
            <a:ext cx="10881360" cy="4846320"/>
          </a:xfrm>
          <a:prstGeom prst="rect">
            <a:avLst/>
          </a:prstGeom>
          <a:noFill/>
        </p:spPr>
        <p:txBody>
          <a:bodyPr wrap="square">
            <a:spAutoFit/>
          </a:bodyPr>
          <a:lstStyle/>
          <a:p>
            <a:pPr>
              <a:spcAft>
                <a:spcPts val="800"/>
              </a:spcAft>
            </a:pPr>
            <a:r>
              <a:rPr sz="1500" b="1">
                <a:solidFill>
                  <a:srgbClr val="0F2A4A"/>
                </a:solidFill>
                <a:latin typeface="Segoe UI"/>
              </a:rPr>
              <a:t>•  Maths : « Résous et explique cet exercice étape par étape, et signale les erreurs classiques à éviter. »</a:t>
            </a:r>
          </a:p>
          <a:p>
            <a:pPr>
              <a:spcAft>
                <a:spcPts val="800"/>
              </a:spcAft>
            </a:pPr>
            <a:r>
              <a:rPr sz="1500" b="1">
                <a:solidFill>
                  <a:srgbClr val="0F2A4A"/>
                </a:solidFill>
                <a:latin typeface="Segoe UI"/>
              </a:rPr>
              <a:t>•  Physique / thermo : « Explique [loi/concept] avec les unités, un schéma simple et un exemple de calcul numérique. »</a:t>
            </a:r>
          </a:p>
          <a:p>
            <a:pPr>
              <a:spcAft>
                <a:spcPts val="800"/>
              </a:spcAft>
            </a:pPr>
            <a:r>
              <a:rPr sz="1500" b="1">
                <a:solidFill>
                  <a:srgbClr val="0F2A4A"/>
                </a:solidFill>
                <a:latin typeface="Segoe UI"/>
              </a:rPr>
              <a:t>•  Réseau / informatique : « Explique [protocole] avec une analogie, un tableau récap et un schéma des couches. »</a:t>
            </a:r>
          </a:p>
          <a:p>
            <a:pPr>
              <a:spcAft>
                <a:spcPts val="800"/>
              </a:spcAft>
            </a:pPr>
            <a:r>
              <a:rPr sz="1500" b="1">
                <a:solidFill>
                  <a:srgbClr val="0F2A4A"/>
                </a:solidFill>
                <a:latin typeface="Segoe UI"/>
              </a:rPr>
              <a:t>•  Rapport / exposé : « Corrige la langue et le style sans changer le sens, puis propose un plan d'exposé en 5 parties. »</a:t>
            </a:r>
          </a:p>
          <a:p>
            <a:pPr>
              <a:spcAft>
                <a:spcPts val="800"/>
              </a:spcAft>
            </a:pPr>
            <a:r>
              <a:rPr sz="1500" b="1">
                <a:solidFill>
                  <a:srgbClr val="0F2A4A"/>
                </a:solidFill>
                <a:latin typeface="Segoe UI"/>
              </a:rPr>
              <a:t>•  Chimie / procédés : « Explique ce procédé étape par étape avec un bilan matière et les conditions (T, P). »</a:t>
            </a:r>
          </a:p>
          <a:p>
            <a:pPr>
              <a:spcAft>
                <a:spcPts val="800"/>
              </a:spcAft>
            </a:pPr>
            <a:r>
              <a:rPr sz="1500" b="1">
                <a:solidFill>
                  <a:srgbClr val="0F2A4A"/>
                </a:solidFill>
                <a:latin typeface="Segoe UI"/>
              </a:rPr>
              <a:t>•  Anglais / langues : « Corrige mes phrases et explique mes erreurs une par une. »</a:t>
            </a:r>
          </a:p>
          <a:p>
            <a:pPr>
              <a:spcAft>
                <a:spcPts val="800"/>
              </a:spcAft>
            </a:pPr>
            <a:r>
              <a:rPr sz="1500" b="1">
                <a:solidFill>
                  <a:srgbClr val="0F2A4A"/>
                </a:solidFill>
                <a:latin typeface="Segoe UI"/>
              </a:rPr>
              <a:t>•  À TOUJOURS ajouter : « Si tu n'es pas sûr, dis-le. Cite tes sources. »</a:t>
            </a:r>
          </a:p>
        </p:txBody>
      </p:sp>
      <p:sp>
        <p:nvSpPr>
          <p:cNvPr id="9" name="Rectangle 8"/>
          <p:cNvSpPr/>
          <p:nvPr/>
        </p:nvSpPr>
        <p:spPr>
          <a:xfrm>
            <a:off x="640080" y="4800600"/>
            <a:ext cx="10881360" cy="1280160"/>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800600"/>
            <a:ext cx="91440" cy="12801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910328"/>
            <a:ext cx="10424160" cy="365760"/>
          </a:xfrm>
          <a:prstGeom prst="rect">
            <a:avLst/>
          </a:prstGeom>
          <a:noFill/>
        </p:spPr>
        <p:txBody>
          <a:bodyPr wrap="square" anchor="t">
            <a:spAutoFit/>
          </a:bodyPr>
          <a:lstStyle/>
          <a:p>
            <a:pPr algn="l"/>
            <a:r>
              <a:rPr sz="1500" b="1" i="0">
                <a:solidFill>
                  <a:srgbClr val="C0392B"/>
                </a:solidFill>
                <a:latin typeface="Segoe UI"/>
              </a:rPr>
              <a:t>Le réflexe qui sauve une note</a:t>
            </a:r>
          </a:p>
        </p:txBody>
      </p:sp>
      <p:sp>
        <p:nvSpPr>
          <p:cNvPr id="12" name="TextBox 11"/>
          <p:cNvSpPr txBox="1"/>
          <p:nvPr/>
        </p:nvSpPr>
        <p:spPr>
          <a:xfrm>
            <a:off x="896112" y="5276088"/>
            <a:ext cx="10424160" cy="676655"/>
          </a:xfrm>
          <a:prstGeom prst="rect">
            <a:avLst/>
          </a:prstGeom>
          <a:noFill/>
        </p:spPr>
        <p:txBody>
          <a:bodyPr wrap="square" anchor="t">
            <a:spAutoFit/>
          </a:bodyPr>
          <a:lstStyle/>
          <a:p>
            <a:pPr algn="l"/>
            <a:r>
              <a:rPr sz="1400" b="0" i="0">
                <a:solidFill>
                  <a:srgbClr val="374151"/>
                </a:solidFill>
                <a:latin typeface="Segoe UI"/>
              </a:rPr>
              <a:t>Recroisez toujours formules, unités et chiffres avec votre cours : l'IA peut se tromper avec assurance. Elle vous fait gagner du temps, vous restez responsable de l'exactitude.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51560"/>
            <a:ext cx="10332720" cy="914400"/>
          </a:xfrm>
          <a:prstGeom prst="rect">
            <a:avLst/>
          </a:prstGeom>
          <a:noFill/>
        </p:spPr>
        <p:txBody>
          <a:bodyPr wrap="square" anchor="t">
            <a:spAutoFit/>
          </a:bodyPr>
          <a:lstStyle/>
          <a:p>
            <a:pPr algn="l"/>
            <a:r>
              <a:rPr sz="4600" b="1" i="0">
                <a:solidFill>
                  <a:srgbClr val="FFFFFF"/>
                </a:solidFill>
                <a:latin typeface="Segoe UI"/>
              </a:rPr>
              <a:t>À vous de jouer !</a:t>
            </a:r>
          </a:p>
        </p:txBody>
      </p:sp>
      <p:sp>
        <p:nvSpPr>
          <p:cNvPr id="5" name="TextBox 4"/>
          <p:cNvSpPr txBox="1"/>
          <p:nvPr/>
        </p:nvSpPr>
        <p:spPr>
          <a:xfrm>
            <a:off x="914400" y="2148840"/>
            <a:ext cx="10332720" cy="640080"/>
          </a:xfrm>
          <a:prstGeom prst="rect">
            <a:avLst/>
          </a:prstGeom>
          <a:noFill/>
        </p:spPr>
        <p:txBody>
          <a:bodyPr wrap="square" anchor="t">
            <a:spAutoFit/>
          </a:bodyPr>
          <a:lstStyle/>
          <a:p>
            <a:pPr algn="l"/>
            <a:r>
              <a:rPr sz="2000" b="0" i="0">
                <a:solidFill>
                  <a:srgbClr val="FF8A00"/>
                </a:solidFill>
                <a:latin typeface="Segoe UI"/>
              </a:rPr>
              <a:t>Petit TP : testez par vous-mêmes l'effet du contexte</a:t>
            </a:r>
          </a:p>
        </p:txBody>
      </p:sp>
      <p:sp>
        <p:nvSpPr>
          <p:cNvPr id="6" name="TextBox 5"/>
          <p:cNvSpPr txBox="1"/>
          <p:nvPr/>
        </p:nvSpPr>
        <p:spPr>
          <a:xfrm>
            <a:off x="914400" y="2880360"/>
            <a:ext cx="10332720" cy="2377440"/>
          </a:xfrm>
          <a:prstGeom prst="rect">
            <a:avLst/>
          </a:prstGeom>
          <a:noFill/>
        </p:spPr>
        <p:txBody>
          <a:bodyPr wrap="square" anchor="t">
            <a:spAutoFit/>
          </a:bodyPr>
          <a:lstStyle/>
          <a:p>
            <a:pPr algn="l"/>
            <a:r>
              <a:rPr sz="1600" b="0" i="0">
                <a:solidFill>
                  <a:srgbClr val="D8E2EF"/>
                </a:solidFill>
                <a:latin typeface="Segoe UI"/>
              </a:rPr>
              <a:t>1. Choisissez une même question d'étude (ex. : résumer un chapitre).
2. Version A : question vague, sans contexte.
3. Version B : la même avec les 6 éléments (rôle, contexte, format…).
4. Testez sur 2 IA différentes et comparez les résultats.</a:t>
            </a:r>
          </a:p>
        </p:txBody>
      </p:sp>
      <p:sp>
        <p:nvSpPr>
          <p:cNvPr id="7" name="Rectangle 6"/>
          <p:cNvSpPr/>
          <p:nvPr/>
        </p:nvSpPr>
        <p:spPr>
          <a:xfrm>
            <a:off x="914400" y="5440680"/>
            <a:ext cx="2743200" cy="54864"/>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69280"/>
            <a:ext cx="10332720" cy="731520"/>
          </a:xfrm>
          <a:prstGeom prst="rect">
            <a:avLst/>
          </a:prstGeom>
          <a:noFill/>
        </p:spPr>
        <p:txBody>
          <a:bodyPr wrap="square" anchor="t">
            <a:spAutoFit/>
          </a:bodyPr>
          <a:lstStyle/>
          <a:p>
            <a:pPr algn="l"/>
            <a:r>
              <a:rPr sz="1500" b="0" i="0">
                <a:solidFill>
                  <a:srgbClr val="BFD2E8"/>
                </a:solidFill>
                <a:latin typeface="Segoe UI"/>
              </a:rPr>
              <a:t>Merci ! Des questions ?  |  Module IA — 2e année PEP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