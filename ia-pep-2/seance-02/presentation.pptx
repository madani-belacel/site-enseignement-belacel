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Séance 02 — Panorama des outils d'IA pour l'enseignant</a:t>
            </a:r>
          </a:p>
          <a:p>
            <a:r>
              <a:rPr sz="2200">
                <a:solidFill>
                  <a:srgbClr val="ECEFF1"/>
                </a:solidFill>
              </a:rPr>
              <a:t>Overview of AI tools for the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CEFF1"/>
                </a:solidFill>
              </a:rPr>
              <a:t>Module « Intelligence Artificielle » — 2ème année PEP · ENS
Dr. Madani BELACEL — Université de Mostaganem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de la séance</a:t>
            </a:r>
            <a:r>
              <a:t>  ·  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Citer et décrire 5 familles d'outils d'IA utiles à l'enseignant.</a:t>
            </a:r>
          </a:p>
          <a:p>
            <a:pPr>
              <a:defRPr sz="2200"/>
            </a:pPr>
            <a:r>
              <a:t>Pour une tâche donnée (préparer une leçon, illustrer, évaluer), choisir la famille et l'outil adapté.</a:t>
            </a:r>
          </a:p>
          <a:p>
            <a:pPr>
              <a:defRPr sz="2200"/>
            </a:pPr>
            <a:r>
              <a:t>Construire un tableau comparatif de 3 outils sur des critères précis (coût, facilité, RGPD, langue).</a:t>
            </a:r>
          </a:p>
          <a:p>
            <a:pPr>
              <a:defRPr sz="2200"/>
            </a:pPr>
            <a:r>
              <a:t>Identifier les précautions de base avant d'utiliser un outil avec des élèves (âge, données personnelles).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Name and describe 5 families of AI tools useful to the teacher.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For a given task (preparing a lesson, illustrating, assessing), choose the right family and tool.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Build a comparison table of 3 tools using precise criteria (cost, ease, GDPR, language).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Identify basic precautions before using a tool with pupils (age, personal data).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Déroulé (1 h 30)</a:t>
            </a:r>
            <a:r>
              <a:t>  ·  Session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00–10 — Accueil, rappel et sondage</a:t>
            </a:r>
          </a:p>
          <a:p>
            <a:pPr>
              <a:defRPr sz="2200"/>
            </a:pPr>
            <a:r>
              <a:t>10–30 — Les 6 familles d'outils</a:t>
            </a:r>
          </a:p>
          <a:p>
            <a:pPr>
              <a:defRPr sz="2200"/>
            </a:pPr>
            <a:r>
              <a:t>30–55 — Démo guidée de 3 outils</a:t>
            </a:r>
          </a:p>
          <a:p>
            <a:pPr>
              <a:defRPr sz="2200"/>
            </a:pPr>
            <a:r>
              <a:t>55–70 — Critères de choix d'un outil</a:t>
            </a:r>
          </a:p>
          <a:p>
            <a:pPr>
              <a:defRPr sz="2200"/>
            </a:pPr>
            <a:r>
              <a:t>70–80 — Activité : tableau comparatif</a:t>
            </a:r>
          </a:p>
          <a:p>
            <a:pPr>
              <a:defRPr sz="2200"/>
            </a:pPr>
            <a:r>
              <a:t>80–90 — Synthèse et annonce séance 3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Welcome, recap and survey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The 6 tool families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Guided demo of 3 tools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Choosing criteria for a tool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Activity: comparison table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Wrap-up and preview of session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6 familles d'outils d'IA</a:t>
            </a:r>
            <a:r>
              <a:t>  ·  The 6 families of AI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Pour se repérer, on classe les outils d'IA en six grandes familles selon ce qu'ils produisent. Un même site peut cumuler plusieurs familles.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To get oriented, we classify AI tools into six main families according to what they produce. One site can combine several families.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Zoom sur les assistants de texte</a:t>
            </a:r>
            <a:r>
              <a:t>  ·  Focus on text assistants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Ce sont les outils les plus utilisés : ils peuvent rédiger, résumer, reformuler, traduire, proposer des exercices. Pour un enseignant, ils font gagner beaucoup de temps sur la préparation.</a:t>
            </a:r>
          </a:p>
          <a:p>
            <a:pPr>
              <a:defRPr sz="2200"/>
            </a:pPr>
            <a:r>
              <a:t>&lt;strong&gt;Usages concrets :&lt;/strong&gt; rédiger la consigne d'un exercice, adapter un texte à un niveau de lecture, créer une dictée, reformuler une explication simple.</a:t>
            </a:r>
          </a:p>
          <a:p>
            <a:pPr>
              <a:defRPr sz="2200"/>
            </a:pPr>
            <a:r>
              <a:t>&lt;strong&gt;Point de vigilance :&lt;/strong&gt; toujours relire et vérifier le contenu (niveau de langue, exactitude des faits, vocabulaire adapté à l'âge).</a:t>
            </a:r>
          </a:p>
          <a:p>
            <a:pPr>
              <a:defRPr sz="2200"/>
            </a:pPr>
            <a:r>
              <a:t>&lt;strong&gt;Exemples :&lt;/strong&gt; ChatGPT, Gemini, Claude, Le Chat (Mistral), Copilot.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These are the most used tools: they can write, summarise, rephrase, translate, propose exercises. For a teacher, they save a lot of preparation time.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&lt;strong&gt;Concrete uses:&lt;/strong&gt; write exercise instructions, adapt a text to a reading level, create a dictation, rephrase a simple explanation.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&lt;strong&gt;Watch out:&lt;/strong&gt; always proofread and check the content (language level, factual accuracy, age-appropriate vocabulary).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&lt;strong&gt;Examples:&lt;/strong&gt; ChatGPT, Gemini, Claude, Le Chat (Mistral), Copilot.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Zoom sur les générateurs d'images</a:t>
            </a:r>
            <a:r>
              <a:t>  ·  Focus on image generators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Un générateur d'images transforme une description en texte en une illustration. Utile pour illustrer une leçon, créer un poster, un coloriage ou un personnage de classe.</a:t>
            </a:r>
          </a:p>
          <a:p>
            <a:pPr>
              <a:defRPr sz="2200"/>
            </a:pPr>
            <a:r>
              <a:t>&lt;strong&gt;Consigne de description :&lt;/strong&gt; sujet, style (aquarelle, bande dessinée, photo), ambiance (lumineux), et ce qu'il ne faut PAS représenter.</a:t>
            </a:r>
          </a:p>
          <a:p>
            <a:pPr>
              <a:defRPr sz="2200"/>
            </a:pPr>
            <a:r>
              <a:t>&lt;strong&gt;Exemples :&lt;/strong&gt; DALL·E (dans ChatGPT/Bing), Midjourney, Leonardo, Ideogram, et l'outil « Magic Media » de Canva.</a:t>
            </a:r>
          </a:p>
          <a:p>
            <a:pPr>
              <a:defRPr sz="2200"/>
            </a:pPr>
            <a:r>
              <a:t>&lt;strong&gt;Précautions :&lt;/strong&gt; vérifier le réalisme (déformations), respecter les droits d'auteur, ne pas figurer de vrai enfant identifiable.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An image generator turns a text description into an illustration. Useful to illustrate a lesson, create a poster, a colouring sheet or a class mascot.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&lt;strong&gt;Description prompt:&lt;/strong&gt; subject, style (watercolour, comic, photo), mood (bright), and what should NOT be depicted.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&lt;strong&gt;Examples:&lt;/strong&gt; DALL·E (in ChatGPT/Bing), Midjourney, Leonardo, Ideogram, and Canva's "Magic Media" tool.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&lt;strong&gt;Precautions:&lt;/strong&gt; check realism (deformations), respect copyright, never depict an identifiable real child.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Zoom sur les outils de quiz, de voix et de présentation</a:t>
            </a:r>
            <a:r>
              <a:t>  ·  Focus on quiz, voice and presentation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Ces outils se concentrent sur des tâches très précises, souvent avec des versions gratuites suffisantes pour une classe.</a:t>
            </a:r>
          </a:p>
          <a:p>
            <a:pPr>
              <a:defRPr sz="2200"/>
            </a:pPr>
            <a:r>
              <a:t>&lt;strong&gt;Quiz / évaluation :&lt;/strong&gt; Quizizz AI, Kahoot, LearningApps, Socrative — générer un QCM à partir d'une consigne, avec correction automatique.</a:t>
            </a:r>
          </a:p>
          <a:p>
            <a:pPr>
              <a:defRPr sz="2200"/>
            </a:pPr>
            <a:r>
              <a:t>&lt;strong&gt;Voix / audio :&lt;/strong&gt; synthèse vocale pour lire un texte à voix haute (aide à la lecture), génération de dictées audio.</a:t>
            </a:r>
          </a:p>
          <a:p>
            <a:pPr>
              <a:defRPr sz="2200"/>
            </a:pPr>
            <a:r>
              <a:t>&lt;strong&gt;Présentation :&lt;/strong&gt; Gamma, Canva, PowerPoint — créer des diapositives structurées à partir d'un plan.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These tools focus on very specific tasks, often with free versions that are enough for a classroom.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&lt;strong&gt;Quiz / assessment:&lt;/strong&gt; Quizizz AI, Kahoot, LearningApps, Socrative — generate a quiz from a prompt, with automatic marking.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&lt;strong&gt;Voice / audio:&lt;/strong&gt; speech synthesis to read a text aloud (reading support), generate audio dictations.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&lt;strong&gt;Presentation:&lt;/strong&gt; Gamma, Canva, PowerPoint — build structured slides from an outline.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Choisir le bon outil pour la bonne tâche</a:t>
            </a:r>
            <a:r>
              <a:t>  ·  Choose the right tool for the right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Voici une grille de décision en 5 questions à poser avant tout choix d'outil :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Here is a 5-question decision grid to ask before choosing any tool: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 scénario complet : la leçon de sciences de la semaine</a:t>
            </a:r>
            <a:r>
              <a:t>  ·  A complete scenario: the week's science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Prenons un exemple : préparer une leçon de découverte du monde sur « le cycle de l'eau » pour des CP.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Let's take an example: preparing a "discovering the world" lesson on the water cycle for Year-1 pupils.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À retenir</a:t>
            </a:r>
            <a:r>
              <a:t>  · 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200"/>
            </a:pPr>
            <a:r>
              <a:t>Six familles d'outils : texte, images, voix, quiz, présentation, vidéo.</a:t>
            </a:r>
          </a:p>
          <a:p>
            <a:pPr>
              <a:defRPr sz="2200"/>
            </a:pPr>
            <a:r>
              <a:t>On choisit un outil selon la tâche, le public, le coût, la protection des données et la vérification.</a:t>
            </a:r>
          </a:p>
          <a:p>
            <a:pPr>
              <a:defRPr sz="2200"/>
            </a:pPr>
            <a:r>
              <a:t>Pas d'outil sans vérification : l'enseignant garde le dernier mot.</a:t>
            </a:r>
          </a:p>
          <a:p>
            <a:pPr>
              <a:defRPr sz="2200"/>
            </a:pPr>
            <a:r>
              <a:t>La version gratuite suffit souvent pour une classe ; toujours tester sur un appareil d'élève.</a:t>
            </a:r>
          </a:p>
          <a:p/>
          <a:p>
            <a:pPr lvl="1">
              <a:defRPr sz="1400">
                <a:solidFill>
                  <a:srgbClr val="546E7A"/>
                </a:solidFill>
              </a:defRPr>
            </a:pPr>
            <a:r>
              <a:t>• Six tool families: text, images, voice, quizzes, presentation, video.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Choose a tool according to the task, the audience, cost, data protection and verification.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No tool without checking: the teacher has the final word.</a:t>
            </a:r>
          </a:p>
          <a:p>
            <a:pPr lvl="1">
              <a:defRPr sz="1400">
                <a:solidFill>
                  <a:srgbClr val="546E7A"/>
                </a:solidFill>
              </a:defRPr>
            </a:pPr>
            <a:r>
              <a:t>• The free version is often enough for a class; always test on a pupil's device.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3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Séance 02 — Panorama des outils d'IA pour l'enseignant</a:t>
            </a:r>
          </a:p>
          <a:p>
            <a:r>
              <a:rPr sz="2200">
                <a:solidFill>
                  <a:srgbClr val="ECEFF1"/>
                </a:solidFill>
              </a:rPr>
              <a:t>Overview of AI tools for the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CEFF1"/>
                </a:solidFill>
              </a:rPr>
              <a:t>Module « Intelligence Artificielle » — 2ème année PEP · ENS
Dr. Madani BELACEL — Université de Mostaganem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