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08 — Rédaction académique, traduction et correction</a:t>
            </a:r>
          </a:p>
          <a:p>
            <a:r>
              <a:rPr sz="2000">
                <a:solidFill>
                  <a:srgbClr val="ECEFF1"/>
                </a:solidFill>
              </a:rPr>
              <a:t>Academic writing, translation and proofreading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Faire relire un texte par l'IA : fautes, lourdeurs, registre académique.</a:t>
            </a:r>
          </a:p>
          <a:p>
            <a:pPr>
              <a:defRPr sz="2000"/>
            </a:pPr>
            <a:r>
              <a:t>Traduire FR ↔ EN ↔ AR en gardant le sens et en signalant les doutes.</a:t>
            </a:r>
          </a:p>
          <a:p>
            <a:pPr>
              <a:defRPr sz="2000"/>
            </a:pPr>
            <a:r>
              <a:t>Distinguer aider à écrire et faire écrire : la règle des 3 couches.</a:t>
            </a:r>
          </a:p>
          <a:p>
            <a:pPr>
              <a:defRPr sz="2000"/>
            </a:pPr>
            <a:r>
              <a:t>Définir le plagiat et le paraphrasage, et savoir citer une source.</a:t>
            </a:r>
          </a:p>
          <a:p>
            <a:pPr>
              <a:defRPr sz="2000"/>
            </a:pPr>
            <a:r>
              <a:t>Produire un paragraphe personnel vérifiable : idée + source + formulation.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Have a text proofread by AI: mistakes, heaviness, academic register.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Translate FR ↔ EN ↔ AR keeping meaning and flagging doubts.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Tell helping to write from writing for you: the 3-layer rule.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Define plagiarism and paraphrasing, and know how to cite a source.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Produce a verifiable personal paragraph: idea + source + wording.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à qui la note ?</a:t>
            </a:r>
          </a:p>
          <a:p>
            <a:pPr>
              <a:defRPr sz="2000"/>
            </a:pPr>
            <a:r>
              <a:t>05–25 — Explication : les 3 couches + le plagiat</a:t>
            </a:r>
          </a:p>
          <a:p>
            <a:pPr>
              <a:defRPr sz="2000"/>
            </a:pPr>
            <a:r>
              <a:t>25–50 — Démo : corriger + traduire un vrai brouillon</a:t>
            </a:r>
          </a:p>
          <a:p>
            <a:pPr>
              <a:defRPr sz="2000"/>
            </a:pPr>
            <a:r>
              <a:t>50–70 — Exercice guidé : mon paragraphe vérifiable</a:t>
            </a:r>
          </a:p>
          <a:p>
            <a:pPr>
              <a:defRPr sz="2000"/>
            </a:pPr>
            <a:r>
              <a:t>70–80 — Démo 2 : détecter le texte 100 % IA</a:t>
            </a:r>
          </a:p>
          <a:p>
            <a:pPr>
              <a:defRPr sz="2000"/>
            </a:pPr>
            <a:r>
              <a:t>80–90 — Synthèse, quiz et annonce de la séance 9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whose grade?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3 layers + plagiarism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fix + translate a real draft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my verifiable paragraph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spot 100% AI text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preview of session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Si l'IA écrit votre introduction à votre place, à qui appartient votre note : à vous ou à la machine ? Et si elle se contente de corriger vos fautes ?</a:t>
            </a:r>
          </a:p>
          <a:p>
            <a:pPr>
              <a:defRPr sz="2000"/>
            </a:pPr>
            <a:r>
              <a:t>🍳 🍳 L'IA et votre texte, c'est comme le correcteur et le devoir : le correcteur souligne les fautes au crayon, mais c'est l'élève qui réécrit au propre. Si le correcteur écrit tout le devoir, ce n'est plus le vôtre.</a:t>
            </a:r>
          </a:p>
          <a:p>
            <a:pPr>
              <a:defRPr sz="2000"/>
            </a:pPr>
            <a:r>
              <a:t>💡 💡 Règle des 3 couches : l'IA peut corriger la forme (couche 1) et suggérer le plan (couche 2), mais les idées et les sources (couche 3) restent VOS responsabilités.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3-layer rule: AI may fix the form (layer 1) and suggest the outline (layer 2), but ideas and sources (layer 3) stay YOUR responsibilities.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règle des 3 couches : ce que l'IA peut et ne peut pas</a:t>
            </a:r>
            <a:r>
              <a:t>  ·  The 3-layer rule: what AI can and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Tout texte académique a 3 couches. L'IA est excellente sur les deux premières, interdite sur la troisième sans votre travail.</a:t>
            </a:r>
          </a:p>
          <a:p>
            <a:pPr>
              <a:defRPr sz="2000"/>
            </a:pPr>
            <a:r>
              <a:t>&lt;strong&gt;Couche 1 — Forme (autorisée) :&lt;/strong&gt; orthographe, grammaire, ponctuation, fluidité. « Corrige mes fautes et explique chacune. »</a:t>
            </a:r>
          </a:p>
          <a:p>
            <a:pPr>
              <a:defRPr sz="2000"/>
            </a:pPr>
            <a:r>
              <a:t>&lt;strong&gt;Couche 2 — Plan (autorisée avec contrôle) :&lt;/strong&gt; suggestions d'ordre, transitions, titres. Vous choisissez.</a:t>
            </a:r>
          </a:p>
          <a:p>
            <a:pPr>
              <a:defRPr sz="2000"/>
            </a:pPr>
            <a:r>
              <a:t>&lt;strong&gt;Couche 3 — Idées + sources (VOTRE travail) :&lt;/strong&gt; l'argument, l'exemple, la référence vérifiée. L'IA ne les invente pas pour vous.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Every academic text has 3 layers. AI is excellent on the first two, forbidden on the third without your work.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&lt;strong&gt;Layer 1 — Form (allowed):&lt;/strong&gt; spelling, grammar, punctuation, flow. "Fix my mistakes and explain each."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&lt;strong&gt;Layer 2 — Outline (allowed with control):&lt;/strong&gt; order suggestions, transitions, headings. You choose.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&lt;strong&gt;Layer 3 — Ideas + sources (YOUR work):&lt;/strong&gt; the argument, the example, the verified reference. AI does not invent them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Corriger et améliorer : le crayon, pas la main</a:t>
            </a:r>
            <a:r>
              <a:t>  ·  Fix and improve: the pencil, not the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Envoyez votre brouillon, exigez des explications : chaque correction comprise est une faute en moins pour toujours.</a:t>
            </a:r>
          </a:p>
          <a:p>
            <a:pPr>
              <a:defRPr sz="2000"/>
            </a:pPr>
            <a:r>
              <a:t>&lt;strong&gt;Prompt correction :&lt;/strong&gt; « Corrige ce texte [coller]. Liste chaque faute : règle + correction. Ne réécris pas tout. »</a:t>
            </a:r>
          </a:p>
          <a:p>
            <a:pPr>
              <a:defRPr sz="2000"/>
            </a:pPr>
            <a:r>
              <a:t>&lt;strong&gt;Prompt registre :&lt;/strong&gt; « Transforme ce paragraphe oral en style académique, sans changer les idées : [coller]. »</a:t>
            </a:r>
          </a:p>
          <a:p>
            <a:pPr>
              <a:defRPr sz="2000"/>
            </a:pPr>
            <a:r>
              <a:t>&lt;strong&gt;Prompt concision :&lt;/strong&gt; « Réduis ce texte de moitié en gardant les 3 idées : [coller]. »</a:t>
            </a:r>
          </a:p>
          <a:p>
            <a:pPr>
              <a:defRPr sz="2000"/>
            </a:pPr>
            <a:r>
              <a:t>&lt;strong&gt;En arabe :&lt;/strong&gt; « صحّح الهمزات والتاء المربوطة واشرح كل قاعدة » — l'IA gère bien l'arabe standard.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Send your draft, demand explanations: each understood correction is one less mistake forever.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&lt;strong&gt;Fix prompt:&lt;/strong&gt; "Correct this text [paste]. List each mistake: rule + fix. Do not rewrite everything."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&lt;strong&gt;Register prompt:&lt;/strong&gt; "Turn this oral paragraph into academic style, keeping ideas: [paste]."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&lt;strong&gt;Concision prompt:&lt;/strong&gt; "Halve this text keeping the 3 ideas: [paste]."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Traduire sans trahir : FR ↔ EN ↔ AR</a:t>
            </a:r>
            <a:r>
              <a:t>  ·  Translate without betraying: FR ↔ EN ↔ 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Traduire, c'est décider : mot à mot (fidèle mais lourd) ou sens à sens (fluide mais risqué). L'IA fait les deux — demandez-lui de signaler ses doutes.</a:t>
            </a:r>
          </a:p>
          <a:p>
            <a:pPr>
              <a:defRPr sz="2000"/>
            </a:pPr>
            <a:r>
              <a:t>&lt;strong&gt;Prompt traduction :&lt;/strong&gt; « Traduis en anglais académique. Mets [doute] sur les termes incertains et propose 2 options : [coller]. »</a:t>
            </a:r>
          </a:p>
          <a:p>
            <a:pPr>
              <a:defRPr sz="2000"/>
            </a:pPr>
            <a:r>
              <a:t>&lt;strong&gt;Retour obligatoire :&lt;/strong&gt; retraduire vers la langue d'origine pour vérifier que le sens a survécu.</a:t>
            </a:r>
          </a:p>
          <a:p>
            <a:pPr>
              <a:defRPr sz="2000"/>
            </a:pPr>
            <a:r>
              <a:t>&lt;strong&gt;Termes pédagogiques :&lt;/strong&gt; « différenciation », « étayage », « évaluation formative » — vérifier dans un glossaire, pas seulement l'IA.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Translating is deciding: word for word (faithful but heavy) or sense for sense (fluent but risky). AI does both — ask it to flag doubts.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&lt;strong&gt;Translation prompt:&lt;/strong&gt; "Translate into academic English. Mark [doubt] on uncertain terms and suggest 2 options: [paste]."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&lt;strong&gt;Mandatory back-check:&lt;/strong&gt; translate back to the source language to verify meaning survived.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&lt;strong&gt;Pedagogy terms:&lt;/strong&gt; "differentiation", "scaffolding", "formative assessment" — check a glossary, not only 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Plagiat, paraphrase, citation : les définitions qui protègent</a:t>
            </a:r>
            <a:r>
              <a:t>  ·  Plagiarism, paraphrase, citation: the definitions that protect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plagiat, c'est présenter le travail d'autrui comme le vôtre — y compris un texte 100 % généré par l'IA que vous signez. La parade : paraphraser + citer.</a:t>
            </a:r>
          </a:p>
          <a:p>
            <a:pPr>
              <a:defRPr sz="2000"/>
            </a:pPr>
            <a:r>
              <a:t>&lt;strong&gt;Copier-coller :&lt;/strong&gt; même 3 phrases sans guillemets ni source = plagiat.</a:t>
            </a:r>
          </a:p>
          <a:p>
            <a:pPr>
              <a:defRPr sz="2000"/>
            </a:pPr>
            <a:r>
              <a:t>&lt;strong&gt;Paraphrase honnête :&lt;/strong&gt; redire l'idée avec VOS mots + citer l'auteur (nom, année).</a:t>
            </a:r>
          </a:p>
          <a:p>
            <a:pPr>
              <a:defRPr sz="2000"/>
            </a:pPr>
            <a:r>
              <a:t>&lt;strong&gt;Citation :&lt;/strong&gt; « … » + (Auteur, année, page). Vérifier que la source existe (Scholar).</a:t>
            </a:r>
          </a:p>
          <a:p>
            <a:pPr>
              <a:defRPr sz="2000"/>
            </a:pPr>
            <a:r>
              <a:t>&lt;strong&gt;Texte IA :&lt;/strong&gt; s'il a écrit le paragraphe, ce n'est pas votre formulation — réécrivez et citez vos VRAIES sources.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Plagiarism is presenting others' work as yours — including a 100% AI-generated text you sign. The shield: paraphrase + cite.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&lt;strong&gt;Copy-paste:&lt;/strong&gt; even 3 sentences without quotes or source = plagiarism.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&lt;strong&gt;Honest paraphrase:&lt;/strong&gt; restate the idea in YOUR words + cite the author (name, year).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&lt;strong&gt;Citation:&lt;/strong&gt; "…" + (Author, year, page). Check the source exists (Scholar).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Boucle vertueuse : brouillon personnel → correction expliquée → réécriture → traduction vérifiée → citation des sources.</a:t>
            </a:r>
          </a:p>
          <a:p>
            <a:pPr>
              <a:defRPr sz="2000"/>
            </a:pPr>
            <a:r>
              <a:t>&lt;strong&gt;✅ Brouillon d'abord :&lt;/strong&gt; toujours écrire vous-même avant de solliciter l'IA.</a:t>
            </a:r>
          </a:p>
          <a:p>
            <a:pPr>
              <a:defRPr sz="2000"/>
            </a:pPr>
            <a:r>
              <a:t>&lt;strong&gt;✅ Explications exigées :&lt;/strong&gt; chaque correction doit s'accompagner de sa règle.</a:t>
            </a:r>
          </a:p>
          <a:p>
            <a:pPr>
              <a:defRPr sz="2000"/>
            </a:pPr>
            <a:r>
              <a:t>&lt;strong&gt;✅ Double sens :&lt;/strong&gt; toute traduction est vérifiée par retour.</a:t>
            </a:r>
          </a:p>
          <a:p>
            <a:pPr>
              <a:defRPr sz="2000"/>
            </a:pPr>
            <a:r>
              <a:t>&lt;strong&gt;✅ Sources réelles :&lt;/strong&gt; chaque idée empruntée est citée et vérifiée.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Virtuous loop: personal draft → explained correction → rewrite → verified translation → source citation.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Draft first:&lt;/strong&gt; always write yourself before calling AI.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Explanations required:&lt;/strong&gt; each fix must come with its rule.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Both directions:&lt;/strong&gt; every translation is back-checked.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Éviter le plagiat : citer et paraphraser (tutoriel) (fr)</a:t>
            </a:r>
          </a:p>
          <a:p>
            <a:pPr>
              <a:defRPr sz="2000"/>
            </a:pPr>
            <a:r>
              <a:t>▶️ الكتابة الأكاديمية: كيف تكتب فقرة علمية سليمة (ar)</a:t>
            </a:r>
          </a:p>
          <a:p>
            <a:pPr>
              <a:defRPr sz="2000"/>
            </a:pPr>
            <a:r>
              <a:t>▶️ Traduire avec l'IA sans trahir le sens (méthode)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https://www.youtube.com/results?search_query=eviter+plagiat+universite+citer+paraphraser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https://www.youtube.com/results?search_query=الكتابة+الأكاديمية+الفقرة+العلمية+شرح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https://www.youtube.com/results?search_query=traduire+deepl+chatgpt+sans+erreur+methode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Prenez votre brouillon : 1) faites-le corriger (fautes + règles) ; 2) traduisez un paragraphe avec balises [doute] ; 3) vérifiez par retour ; 4) ajoutez 1 citation réelle vérifiée sur Scholar.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Réussi si : 3 règles notées et comprises, traduction retour identique au sens, 1 citation (auteur, année, page) retrouvée sur Scholar, et le texte final reste le vôtre (vos idées, vos exemples).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Take your draft: 1) have it corrected (mistakes + rules); 2) translate a paragraph with [doubt] tags; 3) back-check; 4) add 1 real citation verified on Scholar.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 if: 3 rules noted and understood, back-translation identical in meaning, 1 citation (author, year, page) found on Scholar, and the final text stays yours (your ideas, your examples).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3 couches : forme (IA corrige), plan (elle suggère), idées-sources (vous).</a:t>
            </a:r>
          </a:p>
          <a:p>
            <a:pPr>
              <a:defRPr sz="2000"/>
            </a:pPr>
            <a:r>
              <a:t>Correction : toujours exiger la règle avec la faute.</a:t>
            </a:r>
          </a:p>
          <a:p>
            <a:pPr>
              <a:defRPr sz="2000"/>
            </a:pPr>
            <a:r>
              <a:t>Traduction : baliser les doutes + vérification retour obligatoire.</a:t>
            </a:r>
          </a:p>
          <a:p>
            <a:pPr>
              <a:defRPr sz="2000"/>
            </a:pPr>
            <a:r>
              <a:t>Paraphrase honnête = vos mots + citation (auteur, année).</a:t>
            </a:r>
          </a:p>
          <a:p>
            <a:pPr>
              <a:defRPr sz="2000"/>
            </a:pPr>
            <a:r>
              <a:t>Texte 100 % IA signé = plagiat = zéro + discipline.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3 layers: form (AI fixes), outline (it suggests), idea-sources (you).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Correction: always demand the rule with the mistake.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Translation: flag doubts + mandatory back-check.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Que permet la couche 1 (forme) ?</a:t>
            </a:r>
            <a:br/>
            <a:r>
              <a:t>   ✅ Corriger fautes et fluidité avec explications</a:t>
            </a:r>
          </a:p>
          <a:p>
            <a:pPr>
              <a:defRPr sz="2000"/>
            </a:pPr>
            <a:r>
              <a:t>Q2. Que faire des termes marqués [doute] en traduction ?</a:t>
            </a:r>
            <a:br/>
            <a:r>
              <a:t>   ✅ Les vérifier en glossaire + traduction retour</a:t>
            </a:r>
          </a:p>
          <a:p>
            <a:pPr>
              <a:defRPr sz="2000"/>
            </a:pPr>
            <a:r>
              <a:t>Q3. Qu'est-ce qu'une paraphrase honnête ?</a:t>
            </a:r>
            <a:br/>
            <a:r>
              <a:t>   ✅ Redire l'idée avec vos mots + citer (auteur, année)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does layer 1 (form) allow?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to do with [doubt]-marked terms in translation?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an honest paraphrase?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3 couches : forme OK, plan contrôlé, idées-sources à vous.</a:t>
            </a:r>
          </a:p>
          <a:p>
            <a:pPr>
              <a:defRPr sz="2000"/>
            </a:pPr>
            <a:r>
              <a:t>Correction = faute + règle, jamais de réécriture totale.</a:t>
            </a:r>
          </a:p>
          <a:p>
            <a:pPr>
              <a:defRPr sz="2000"/>
            </a:pPr>
            <a:r>
              <a:t>Traduction = doutes balisés + retour obligatoire.</a:t>
            </a:r>
          </a:p>
          <a:p>
            <a:pPr>
              <a:defRPr sz="2000"/>
            </a:pPr>
            <a:r>
              <a:t>Paraphrase = vos mots + (auteur, année) vérifiée.</a:t>
            </a:r>
          </a:p>
          <a:p>
            <a:pPr>
              <a:defRPr sz="2000"/>
            </a:pPr>
            <a:r>
              <a:t>100 % IA signé = plagiat = zéro.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3 layers: form OK, outline controlled, idea-sources yours.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Correction = mistake + rule, never total rewrite.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Translation = flagged doubts + mandatory back-check.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Paraphrase = your words + verified (author, year).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100% AI signed = plagiarism =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08 — Rédaction académique, traduction et correction</a:t>
            </a:r>
          </a:p>
          <a:p>
            <a:r>
              <a:rPr sz="2000">
                <a:solidFill>
                  <a:srgbClr val="ECEFF1"/>
                </a:solidFill>
              </a:rPr>
              <a:t>Academic writing, translation and proofreading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