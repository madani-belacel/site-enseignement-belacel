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Séance 10 — Esprit critique + Charte de l'étudiant + Construire son IA</a:t>
            </a:r>
          </a:p>
          <a:p>
            <a:r>
              <a:rPr sz="2000">
                <a:solidFill>
                  <a:srgbClr val="ECEFF1"/>
                </a:solidFill>
              </a:rPr>
              <a:t>Critical thinking + Student charter + Build your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CEFF1"/>
                </a:solidFill>
              </a:rPr>
              <a:t>Module « Intelligence Artificielle » — 2ème année PEP · ENS
Dr. Madani BELACEL — Université de Mostaganem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de la séance</a:t>
            </a:r>
            <a:r>
              <a:t>  · 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Expliquer biais et hallucinations avec un exemple chacun.</a:t>
            </a:r>
          </a:p>
          <a:p>
            <a:pPr>
              <a:defRPr sz="2000"/>
            </a:pPr>
            <a:r>
              <a:t>Appliquer la grille VÉRIF (Vérifier, Évaluer, Recouper, Interroger, Formuler) à une réponse d'IA.</a:t>
            </a:r>
          </a:p>
          <a:p>
            <a:pPr>
              <a:defRPr sz="2000"/>
            </a:pPr>
            <a:r>
              <a:t>Réciter et signer la Charte de l'étudiant en 10 points.</a:t>
            </a:r>
          </a:p>
          <a:p>
            <a:pPr>
              <a:defRPr sz="2000"/>
            </a:pPr>
            <a:r>
              <a:t>Comparer les 3 voies pour construire son IA : Dify, API Python, Ollama.</a:t>
            </a:r>
          </a:p>
          <a:p>
            <a:pPr>
              <a:defRPr sz="2000"/>
            </a:pPr>
            <a:r>
              <a:t>Choisir sa voie et formuler son premier projet personnel d'IA.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Explain bias and hallucinations with one example each.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Apply the VÉRIF grid (Verify, Evaluate, Cross-check, Question, Phrase) to an AI answer.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Recite and sign the 10-point Student Charter.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Compare 3 ways to build your AI: Dify, Python API, Ollama.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Choose your path and phrase your first personal AI project.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Déroulé pédagogique (1 h 30)</a:t>
            </a:r>
            <a:r>
              <a:t>  ·  Session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00–05 — Accroche : le poisson sans odeur</a:t>
            </a:r>
          </a:p>
          <a:p>
            <a:pPr>
              <a:defRPr sz="2000"/>
            </a:pPr>
            <a:r>
              <a:t>05–25 — Explication : biais + hallucinations + grille VÉRIF</a:t>
            </a:r>
          </a:p>
          <a:p>
            <a:pPr>
              <a:defRPr sz="2000"/>
            </a:pPr>
            <a:r>
              <a:t>25–50 — Démo : piéger l'IA puis la vérifier</a:t>
            </a:r>
          </a:p>
          <a:p>
            <a:pPr>
              <a:defRPr sz="2000"/>
            </a:pPr>
            <a:r>
              <a:t>50–70 — Exercice guidé : audit VÉRIF + signature de la Charte</a:t>
            </a:r>
          </a:p>
          <a:p>
            <a:pPr>
              <a:defRPr sz="2000"/>
            </a:pPr>
            <a:r>
              <a:t>70–80 — Démo 2 : les 3 voies pour construire son IA</a:t>
            </a:r>
          </a:p>
          <a:p>
            <a:pPr>
              <a:defRPr sz="2000"/>
            </a:pPr>
            <a:r>
              <a:t>80–90 — Synthèse, quiz et clôture du module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Hook: the unsmelled fish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Explanation: bias + hallucinations + VÉRIF grid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Demo: trap AI then verify it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Guided exercise: VÉRIF audit + Charter signing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Demo 2: 3 ways to build your AI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Wrap-up, quiz and module closing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🎬 Accroche (5 min)</a:t>
            </a:r>
            <a:r>
              <a:t>  · 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❓ L'IA vous a-t-elle déjà affirmé quelque chose de faux… avec un aplomb total ? Aujourd'hui, on apprend à ne plus jamais se faire avoir — puis à construire sa propre machine.</a:t>
            </a:r>
          </a:p>
          <a:p>
            <a:pPr>
              <a:defRPr sz="2000"/>
            </a:pPr>
            <a:r>
              <a:t>🍳 🍳 Croire l'IA sur parole, c'est comme acheter du poisson sans le sentir : parfois c'est frais, parfois non — et c'est votre nez (votre esprit critique) qui décide, pas le vendeur.</a:t>
            </a:r>
          </a:p>
          <a:p>
            <a:pPr>
              <a:defRPr sz="2000"/>
            </a:pPr>
            <a:r>
              <a:t>💡 💡 L'esprit critique, c'est le muscle du diplôme : l'IA propose toujours, vous disposez à la fin — et un jour, vous construirez la machine au lieu de la subir.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💡 Critical thinking is the diploma's muscle: AI always proposes, you decide in the end — and one day, you will build the machine instead of enduring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Biais : l'IA apprend nos préjugés en même temps que nos savoirs</a:t>
            </a:r>
            <a:r>
              <a:t>  ·  Bias: AI learns our prejudices along with our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L'IA apprend sur des textes humains : elle hérite de leurs stéréotypes (métiers genrés, accents moqués, histoire racontée par les vainqueurs). La connaître, c'est pouvoir la contredire.</a:t>
            </a:r>
          </a:p>
          <a:p>
            <a:pPr>
              <a:defRPr sz="2000"/>
            </a:pPr>
            <a:r>
              <a:t>&lt;strong&gt;Exemple métier :&lt;/strong&gt; « donne un prénom à : infirmier, pilote, ministre » — observez les genres choisis, puis demandez la version équilibrée.</a:t>
            </a:r>
          </a:p>
          <a:p>
            <a:pPr>
              <a:defRPr sz="2000"/>
            </a:pPr>
            <a:r>
              <a:t>&lt;strong&gt;Exemple histoire :&lt;/strong&gt; « raconte la colonisation » sans précision : de quel point de vue ? Demandez-en deux.</a:t>
            </a:r>
          </a:p>
          <a:p>
            <a:pPr>
              <a:defRPr sz="2000"/>
            </a:pPr>
            <a:r>
              <a:t>&lt;strong&gt;Contre-prompt :&lt;/strong&gt; « Donne-moi les deux points de vue opposés sur [sujet], avec leurs arguments. »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AI learns from human texts: it inherits their stereotypes (gendered jobs, mocked accents, history told by winners). Knowing this lets you contradict it.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&lt;strong&gt;Job example:&lt;/strong&gt; "give a first name to: nurse, pilot, minister" — watch chosen genders, then ask for the balanced version.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&lt;strong&gt;History example:&lt;/strong&gt; "tell colonisation" with no detail: from whose viewpoint? Ask for two.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&lt;strong&gt;Counter-prompt:&lt;/strong&gt; "Give me both opposite views on [topic], with their arguments."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Hallucinations : pourquoi la machine invente avec aplomb</a:t>
            </a:r>
            <a:r>
              <a:t>  ·  Hallucinations: why the machine invents confidently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Rappel séance 1 : le chatbot prédit des mots plausibles, pas des vérités. Quand il ne sait pas, il ne dit pas « je ne sais pas » : il invente une réponse qui SONNE vrai (fausse référence, fausse date, faux chiffre).</a:t>
            </a:r>
          </a:p>
          <a:p>
            <a:pPr>
              <a:defRPr sz="2000"/>
            </a:pPr>
            <a:r>
              <a:t>&lt;strong&gt;Test piège :&lt;/strong&gt; « Donne-moi 3 articles de 2023 sur X avec liens » → vérifier chaque lien (la moitié mène nulle part).</a:t>
            </a:r>
          </a:p>
          <a:p>
            <a:pPr>
              <a:defRPr sz="2000"/>
            </a:pPr>
            <a:r>
              <a:t>&lt;strong&gt;Test chiffre :&lt;/strong&gt; « Quel est le taux de… ? » → exiger la source exacte, puis l'ouvrir.</a:t>
            </a:r>
          </a:p>
          <a:p>
            <a:pPr>
              <a:defRPr sz="2000"/>
            </a:pPr>
            <a:r>
              <a:t>&lt;strong&gt;Test aveu :&lt;/strong&gt; « Es-tu sûr ? Quelles sont tes sources ? » — une bonne IA cite, une mauvaise s'excuse en boucle.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Reminder from session 1: the chatbot predicts plausible words, not truths. When it does not know, it does not say "I don't know": it invents an answer that SOUNDS true (fake reference, fake date, fake figure).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&lt;strong&gt;Trap test:&lt;/strong&gt; "Give me 3 papers from 2023 on X with links" → check each link (half lead nowhere).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&lt;strong&gt;Figure test:&lt;/strong&gt; "What is the rate of…?" → demand the exact source, then open it.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&lt;strong&gt;Confession test:&lt;/strong&gt; "Are you sure? What are your sources?" — a good AI cites, a bad one apologises in loops.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Charte de l'étudiant : 10 engagements à signer</a:t>
            </a:r>
            <a:r>
              <a:t>  ·  The Student Charter: 10 commitments to 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Le module se termine par un engagement solennel : utiliser l'IA en étudiant responsable. Lisez, discutez, signez — et affichez la charte dans votre chambre.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The module ends with a solemn commitment: using AI as a responsible student. Read, discuss, sign — and display the charter in your room.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Construire son IA : les 3 voies (et la vôtre)</a:t>
            </a:r>
            <a:r>
              <a:t>  ·  Build your AI: 3 paths (and yours)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Après 9 séances à UTILISER l'IA, la dernière étape est de la CONSTRUIRE. Détail complet sur la page « Construire son IA » : voici la carte des 3 voies.</a:t>
            </a:r>
          </a:p>
          <a:p>
            <a:pPr>
              <a:defRPr sz="2000"/>
            </a:pPr>
            <a:r>
              <a:t>&lt;strong&gt;🧩 Voie 1 — Dify, sans code (⭐, 30-45 min) :&lt;/strong&gt; chatbot qui répond depuis VOS PDF de cours. Idéal : « assistant du module de psycho » pour tout le groupe.</a:t>
            </a:r>
          </a:p>
          <a:p>
            <a:pPr>
              <a:defRPr sz="2000"/>
            </a:pPr>
            <a:r>
              <a:t>&lt;strong&gt;🐍 Voie 2 — API Python (⭐⭐, ~1 h, prérequis : séance 7) :&lt;/strong&gt; assistant_chat.py puis mémoire, fonctions, sauvegarde. Idéal : projet personnel noté.</a:t>
            </a:r>
          </a:p>
          <a:p>
            <a:pPr>
              <a:defRPr sz="2000"/>
            </a:pPr>
            <a:r>
              <a:t>&lt;strong&gt;🐋 Voie 3 — Ollama en local (⭐⭐, 45 min) :&lt;/strong&gt; &lt;strong&gt;ollama run llama3.2&lt;/strong&gt;, hors-ligne, gratuit, privé. Idéal : réviser sans connexion.</a:t>
            </a:r>
          </a:p>
          <a:p>
            <a:pPr>
              <a:defRPr sz="2000"/>
            </a:pPr>
            <a:r>
              <a:t>&lt;strong&gt;Futur enseignant :&lt;/strong&gt; imaginez un chatbot entraîné sur VOS fiches pour vos futurs élèves de primaire — c'est le pont entre vos études et votre métier.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After 9 sessions USING AI, the last step is to BUILD it. Full detail on the "Build your AI" page: here is the 3-path map.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&lt;strong&gt;🧩 Path 1 — Dify, no-code (⭐, 30-45 min):&lt;/strong&gt; chatbot answering from YOUR course PDFs. Ideal: a "psycho module assistant" for the whole group.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&lt;strong&gt;🐍 Path 2 — Python API (⭐⭐, ~1h, prerequisite: session 7):&lt;/strong&gt; assistant_chat.py then memory, functions, saving. Ideal: graded personal project.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&lt;strong&gt;🐋 Path 3 — Local Ollama (⭐⭐, 45 min):&lt;/strong&gt; &lt;strong&gt;ollama run llama3.2&lt;/strong&gt;, offline, free, private. Ideal: revise without connection.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Comment en profiter au maximum</a:t>
            </a:r>
            <a:r>
              <a:t>  ·  How to get the most out of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L'étudiant accompli : il vérifie tout, cite tout, écrit d'abord — et construit. La machine propose, l'humain dispose, le diplôme couronne.</a:t>
            </a:r>
          </a:p>
          <a:p>
            <a:pPr>
              <a:defRPr sz="2000"/>
            </a:pPr>
            <a:r>
              <a:t>&lt;strong&gt;✅ Réflexe VÉRIF :&lt;/strong&gt; 5 gestes avant tout usage important d'une réponse.</a:t>
            </a:r>
          </a:p>
          <a:p>
            <a:pPr>
              <a:defRPr sz="2000"/>
            </a:pPr>
            <a:r>
              <a:t>&lt;strong&gt;✅ Charte signée :&lt;/strong&gt; affichée, relue avant chaque devoir.</a:t>
            </a:r>
          </a:p>
          <a:p>
            <a:pPr>
              <a:defRPr sz="2000"/>
            </a:pPr>
            <a:r>
              <a:t>&lt;strong&gt;✅ Une voie choisie :&lt;/strong&gt; Dify, API ou Ollama — avec date de livraison.</a:t>
            </a:r>
          </a:p>
          <a:p>
            <a:pPr>
              <a:defRPr sz="2000"/>
            </a:pPr>
            <a:r>
              <a:t>&lt;strong&gt;✅ Transmission :&lt;/strong&gt; expliquer à un camarade = maîtriser deux fois.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The accomplished student: verifies everything, cites everything, writes first — and builds. The machine proposes, the human decides, the diploma crowns.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&lt;strong&gt;✅ VÉRIF reflex:&lt;/strong&gt; 5 moves before any important use of an answer.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&lt;strong&gt;✅ Signed charter:&lt;/strong&gt; displayed, reread before each assignment.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&lt;strong&gt;✅ One path chosen:&lt;/strong&gt; Dify, API or Ollama — with delivery date.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📺 À regarder pour comprendre</a:t>
            </a:r>
            <a:r>
              <a:t>  ·  Recommended videos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▶️ Biais et hallucinations de l'IA : comprendre pour se protéger (fr)</a:t>
            </a:r>
          </a:p>
          <a:p>
            <a:pPr>
              <a:defRPr sz="2000"/>
            </a:pPr>
            <a:r>
              <a:t>▶️ هل نثق بالذكاء الاصطناعي؟ التفكير النقدي للطلبة (ar)</a:t>
            </a:r>
          </a:p>
          <a:p>
            <a:pPr>
              <a:defRPr sz="2000"/>
            </a:pPr>
            <a:r>
              <a:t>▶️ Créer son chatbot sans coder avec Dify (tutoriel) (fr)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https://www.youtube.com/results?search_query=biais+hallucinations+IA+expliques+simplement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https://www.youtube.com/results?search_query=التفكير+النقدي+الذكاء+الاصطناعي+الطلبة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https://www.youtube.com/results?search_query=dify+tutoriel+creer+chatbot+sans+code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✏️ Exercice guidé (15 min)</a:t>
            </a:r>
            <a:r>
              <a:t>  ·  Guided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En binôme : 1) demandez une référence à l'IA et auditez-la avec VÉRIF (verdict : fiable / douteuse / fausse) ; 2) lisez la Charte à voix haute et signez ; 3) choisissez votre voie de construction + date de livraison.</a:t>
            </a:r>
          </a:p>
          <a:p>
            <a:pPr>
              <a:defRPr sz="2000"/>
            </a:pPr>
            <a:r>
              <a:t>—</a:t>
            </a:r>
          </a:p>
          <a:p>
            <a:pPr>
              <a:defRPr sz="2000"/>
            </a:pPr>
            <a:r>
              <a:t>▶ Solution :</a:t>
            </a:r>
          </a:p>
          <a:p>
            <a:pPr>
              <a:defRPr sz="2000"/>
            </a:pPr>
            <a:r>
              <a:t>Audit réussi : au moins 1 référence démasquée (lien mort ou article inexistant) avec preuve Scholar, verdict écrit, Charte signée par les deux, projet formulé (ex : « Dify : assistant du module d'anglais, livré le 15/12 »).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In pairs: 1) ask AI for a reference and audit it with VÉRIF (verdict: reliable / doubtful / false); 2) read the Charter aloud and sign; 3) choose your build path + delivery date.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Successful audit: at least 1 unmasked reference (dead link or inexistent paper) with Scholar proof, written verdict, Charter signed by both, project phrased (e.g. "Dify: English module assistant, due 15/12").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Fiche de synthèse — points clés</a:t>
            </a:r>
            <a:r>
              <a:t>  ·  Summary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Biais = préjugés hérités des textes humains ; demander l'autre point de vue.</a:t>
            </a:r>
          </a:p>
          <a:p>
            <a:pPr>
              <a:defRPr sz="2000"/>
            </a:pPr>
            <a:r>
              <a:t>Hallucination = invention confiante ; jamais de chiffre sans source ouverte.</a:t>
            </a:r>
          </a:p>
          <a:p>
            <a:pPr>
              <a:defRPr sz="2000"/>
            </a:pPr>
            <a:r>
              <a:t>VÉRIF : Vérifier, Évaluer, Recouper, Interroger, Formuler.</a:t>
            </a:r>
          </a:p>
          <a:p>
            <a:pPr>
              <a:defRPr sz="2000"/>
            </a:pPr>
            <a:r>
              <a:t>Charte 10 points : signée, affichée, relue avant chaque devoir.</a:t>
            </a:r>
          </a:p>
          <a:p>
            <a:pPr>
              <a:defRPr sz="2000"/>
            </a:pPr>
            <a:r>
              <a:t>3 voies : Dify (PDF, sans code), API Python (séance 7), Ollama (local).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Bias = prejudices inherited from human texts; ask for the other viewpoint.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Hallucination = confident invention; never a figure without an opened source.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VÉRIF: Verify, Evaluate, Cross-check, Question, Phrase.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Quiz éclair (3 questions)</a:t>
            </a:r>
            <a:r>
              <a:t>  ·  Quick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Q1. D'où viennent les biais de l'IA ?</a:t>
            </a:r>
            <a:br/>
            <a:r>
              <a:t>   ✅ Des textes humains d'entraînement, avec leurs stéréotypes</a:t>
            </a:r>
          </a:p>
          <a:p>
            <a:pPr>
              <a:defRPr sz="2000"/>
            </a:pPr>
            <a:r>
              <a:t>Q2. Une réponse avec des chiffres mais sans source : que faire ?</a:t>
            </a:r>
            <a:br/>
            <a:r>
              <a:t>   ✅ Exiger la source exacte, l'ouvrir, recouper (VÉRIF)</a:t>
            </a:r>
          </a:p>
          <a:p>
            <a:pPr>
              <a:defRPr sz="2000"/>
            </a:pPr>
            <a:r>
              <a:t>Q3. Que signifie le V de VÉRIF ?</a:t>
            </a:r>
            <a:br/>
            <a:r>
              <a:t>   ✅ Vérifier que la source existe vraiment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Where does AI bias come from?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An answer with figures but no source: what to do?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What does the V of VÉRIF mean?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À retenir</a:t>
            </a:r>
            <a:r>
              <a:t>  · 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Biais hérités : demander l'autre point de vue.</a:t>
            </a:r>
          </a:p>
          <a:p>
            <a:pPr>
              <a:defRPr sz="2000"/>
            </a:pPr>
            <a:r>
              <a:t>Hallucination : aucun chiffre sans source ouverte.</a:t>
            </a:r>
          </a:p>
          <a:p>
            <a:pPr>
              <a:defRPr sz="2000"/>
            </a:pPr>
            <a:r>
              <a:t>VÉRIF : Vérifier, Évaluer, Recouper, Interroger, Formuler.</a:t>
            </a:r>
          </a:p>
          <a:p>
            <a:pPr>
              <a:defRPr sz="2000"/>
            </a:pPr>
            <a:r>
              <a:t>Charte 10 points : signée et affichée.</a:t>
            </a:r>
          </a:p>
          <a:p>
            <a:pPr>
              <a:defRPr sz="2000"/>
            </a:pPr>
            <a:r>
              <a:t>Construire : Dify, API (S07), Ollama — projet daté.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Inherited bias: ask for the other viewpoint.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Hallucination: no figure without opened source.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VÉRIF: Verify, Evaluate, Cross-check, Question, Phrase.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10-point Charter: signed and displayed.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Build: Dify, API (S07), Ollama — dated project.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Séance 10 — Esprit critique + Charte de l'étudiant + Construire son IA</a:t>
            </a:r>
          </a:p>
          <a:p>
            <a:r>
              <a:rPr sz="2000">
                <a:solidFill>
                  <a:srgbClr val="ECEFF1"/>
                </a:solidFill>
              </a:rPr>
              <a:t>Critical thinking + Student charter + Build your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CEFF1"/>
                </a:solidFill>
              </a:rPr>
              <a:t>Module « Intelligence Artificielle » — 2ème année PEP · ENS
Dr. Madani BELACEL — Université de Mostaganem
Prochaine séance : à venir.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