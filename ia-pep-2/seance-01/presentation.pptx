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3238"/>
        </a:solidFill>
        <a:effectLst/>
      </p:bgPr>
    </p:bg>
    <p:spTree>
      <p:nvGrpSpPr>
        <p:cNvPr id="1" name=""/>
        <p:cNvGrpSpPr/>
        <p:nvPr/>
      </p:nvGrpSpPr>
      <p:grpSpPr/>
      <p:sp>
        <p:nvSpPr>
          <p:cNvPr id="2" name="TextBox 1"/>
          <p:cNvSpPr txBox="1"/>
          <p:nvPr/>
        </p:nvSpPr>
        <p:spPr>
          <a:xfrm>
            <a:off x="822960" y="1828800"/>
            <a:ext cx="10515600" cy="1828800"/>
          </a:xfrm>
          <a:prstGeom prst="rect">
            <a:avLst/>
          </a:prstGeom>
          <a:noFill/>
        </p:spPr>
        <p:txBody>
          <a:bodyPr wrap="square">
            <a:spAutoFit/>
          </a:bodyPr>
          <a:lstStyle/>
          <a:p>
            <a:r>
              <a:rPr sz="4000" b="1">
                <a:solidFill>
                  <a:srgbClr val="FFFFFF"/>
                </a:solidFill>
              </a:rPr>
              <a:t>Séance 01 — Qu'est-ce que l'IA ? Introduction et démystification</a:t>
            </a:r>
          </a:p>
          <a:p>
            <a:r>
              <a:rPr sz="2000">
                <a:solidFill>
                  <a:srgbClr val="ECEFF1"/>
                </a:solidFill>
              </a:rPr>
              <a:t>What is AI? Introduction and demystification</a:t>
            </a:r>
          </a:p>
        </p:txBody>
      </p:sp>
      <p:sp>
        <p:nvSpPr>
          <p:cNvPr id="3" name="TextBox 2"/>
          <p:cNvSpPr txBox="1"/>
          <p:nvPr/>
        </p:nvSpPr>
        <p:spPr>
          <a:xfrm>
            <a:off x="822960" y="4023360"/>
            <a:ext cx="10515600" cy="1463040"/>
          </a:xfrm>
          <a:prstGeom prst="rect">
            <a:avLst/>
          </a:prstGeom>
          <a:noFill/>
        </p:spPr>
        <p:txBody>
          <a:bodyPr wrap="square">
            <a:spAutoFit/>
          </a:bodyPr>
          <a:lstStyle/>
          <a:p>
            <a:r>
              <a:rPr sz="1500">
                <a:solidFill>
                  <a:srgbClr val="ECEFF1"/>
                </a:solidFill>
              </a:rPr>
              <a:t>Module « Intelligence Artificielle » — 2ème année PEP · ENS
Dr. Madani BELACEL — Université de Mostaganem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Objectifs de la séance</a:t>
            </a:r>
            <a:r>
              <a:t>  ·  Learning objectives</a:t>
            </a:r>
          </a:p>
        </p:txBody>
      </p:sp>
      <p:sp>
        <p:nvSpPr>
          <p:cNvPr id="3" name="Content Placeholder 2"/>
          <p:cNvSpPr>
            <a:spLocks noGrp="1"/>
          </p:cNvSpPr>
          <p:nvPr>
            <p:ph idx="1"/>
          </p:nvPr>
        </p:nvSpPr>
        <p:spPr/>
        <p:txBody>
          <a:bodyPr wrap="square"/>
          <a:lstStyle/>
          <a:p>
            <a:pPr>
              <a:defRPr sz="2000"/>
            </a:pPr>
            <a:r>
              <a:t>Définir avec tes mots : IA, modèle de langage et prompt.</a:t>
            </a:r>
          </a:p>
          <a:p>
            <a:pPr>
              <a:defRPr sz="2000"/>
            </a:pPr>
            <a:r>
              <a:t>Expliquer simplement comment un chatbot répond (il prédit le mot le plus probable à partir d'exemples).</a:t>
            </a:r>
          </a:p>
          <a:p>
            <a:pPr>
              <a:defRPr sz="2000"/>
            </a:pPr>
            <a:r>
              <a:t>Citer 5 usages de l'IA utiles à tes études (rechercher, résumer, rédiger, réviser, organiser).</a:t>
            </a:r>
          </a:p>
          <a:p>
            <a:pPr>
              <a:defRPr sz="2000"/>
            </a:pPr>
            <a:r>
              <a:t>Identifier 3 limites : erreurs, hallucinations, biais.</a:t>
            </a:r>
          </a:p>
          <a:p>
            <a:pPr>
              <a:defRPr sz="2000"/>
            </a:pPr>
            <a:r>
              <a:t>Appliquer les 3 règles d'or : vérifier, citer, garder ton jugement.</a:t>
            </a:r>
          </a:p>
          <a:p/>
          <a:p>
            <a:pPr>
              <a:defRPr sz="1300" i="1">
                <a:solidFill>
                  <a:srgbClr val="78899C"/>
                </a:solidFill>
              </a:defRPr>
            </a:pPr>
            <a:r>
              <a:t>English summary:</a:t>
            </a:r>
          </a:p>
          <a:p>
            <a:pPr lvl="1">
              <a:defRPr sz="1300">
                <a:solidFill>
                  <a:srgbClr val="546E7A"/>
                </a:solidFill>
              </a:defRPr>
            </a:pPr>
            <a:r>
              <a:t>• Define in your own words: AI, language model and prompt.</a:t>
            </a:r>
          </a:p>
          <a:p>
            <a:pPr lvl="1">
              <a:defRPr sz="1300">
                <a:solidFill>
                  <a:srgbClr val="546E7A"/>
                </a:solidFill>
              </a:defRPr>
            </a:pPr>
            <a:r>
              <a:t>• Explain simply how a chatbot answers (it predicts the most probable word from examples).</a:t>
            </a:r>
          </a:p>
          <a:p>
            <a:pPr lvl="1">
              <a:defRPr sz="1300">
                <a:solidFill>
                  <a:srgbClr val="546E7A"/>
                </a:solidFill>
              </a:defRPr>
            </a:pPr>
            <a:r>
              <a:t>• List 5 AI uses helpful for your studies (search, summarise, write, revise, organise).</a:t>
            </a:r>
          </a:p>
          <a:p>
            <a:pPr lvl="1">
              <a:defRPr sz="1300">
                <a:solidFill>
                  <a:srgbClr val="546E7A"/>
                </a:solidFill>
              </a:defRPr>
            </a:pPr>
            <a:r>
              <a:t>• Identify 3 limits: errors, hallucinations, biases.</a:t>
            </a:r>
          </a:p>
          <a:p>
            <a:pPr lvl="1">
              <a:defRPr sz="1300">
                <a:solidFill>
                  <a:srgbClr val="546E7A"/>
                </a:solidFill>
              </a:defRPr>
            </a:pPr>
            <a:r>
              <a:t>• Apply the 3 golden rules: verify, cite, keep your judgement.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Déroulé pédagogique (1 h 30)</a:t>
            </a:r>
            <a:r>
              <a:t>  ·  Session plan</a:t>
            </a:r>
          </a:p>
        </p:txBody>
      </p:sp>
      <p:sp>
        <p:nvSpPr>
          <p:cNvPr id="3" name="Content Placeholder 2"/>
          <p:cNvSpPr>
            <a:spLocks noGrp="1"/>
          </p:cNvSpPr>
          <p:nvPr>
            <p:ph idx="1"/>
          </p:nvPr>
        </p:nvSpPr>
        <p:spPr/>
        <p:txBody>
          <a:bodyPr wrap="square"/>
          <a:lstStyle/>
          <a:p>
            <a:pPr>
              <a:defRPr sz="2000"/>
            </a:pPr>
            <a:r>
              <a:t>00–05 — Accroche et sondage</a:t>
            </a:r>
          </a:p>
          <a:p>
            <a:pPr>
              <a:defRPr sz="2000"/>
            </a:pPr>
            <a:r>
              <a:t>05–20 — Explication pas à pas : 3 idées clés</a:t>
            </a:r>
          </a:p>
          <a:p>
            <a:pPr>
              <a:defRPr sz="2000"/>
            </a:pPr>
            <a:r>
              <a:t>20–40 — Démonstration : un résumé de cours</a:t>
            </a:r>
          </a:p>
          <a:p>
            <a:pPr>
              <a:defRPr sz="2000"/>
            </a:pPr>
            <a:r>
              <a:t>40–55 — Exercice guidé : vrai ou faux ?</a:t>
            </a:r>
          </a:p>
          <a:p>
            <a:pPr>
              <a:defRPr sz="2000"/>
            </a:pPr>
            <a:r>
              <a:t>55–60 — Résumé visuel et quiz éclair</a:t>
            </a:r>
          </a:p>
          <a:p>
            <a:pPr>
              <a:defRPr sz="2000"/>
            </a:pPr>
            <a:r>
              <a:t>60–90 — Atelier : dialogues et rôles</a:t>
            </a:r>
          </a:p>
          <a:p/>
          <a:p>
            <a:pPr>
              <a:defRPr sz="1300" i="1">
                <a:solidFill>
                  <a:srgbClr val="78899C"/>
                </a:solidFill>
              </a:defRPr>
            </a:pPr>
            <a:r>
              <a:t>English summary:</a:t>
            </a:r>
          </a:p>
          <a:p>
            <a:pPr lvl="1">
              <a:defRPr sz="1300">
                <a:solidFill>
                  <a:srgbClr val="546E7A"/>
                </a:solidFill>
              </a:defRPr>
            </a:pPr>
            <a:r>
              <a:t>• Hook and survey</a:t>
            </a:r>
          </a:p>
          <a:p>
            <a:pPr lvl="1">
              <a:defRPr sz="1300">
                <a:solidFill>
                  <a:srgbClr val="546E7A"/>
                </a:solidFill>
              </a:defRPr>
            </a:pPr>
            <a:r>
              <a:t>• Step-by-step: 3 key ideas</a:t>
            </a:r>
          </a:p>
          <a:p>
            <a:pPr lvl="1">
              <a:defRPr sz="1300">
                <a:solidFill>
                  <a:srgbClr val="546E7A"/>
                </a:solidFill>
              </a:defRPr>
            </a:pPr>
            <a:r>
              <a:t>• Demonstration: a lesson summary</a:t>
            </a:r>
          </a:p>
          <a:p>
            <a:pPr lvl="1">
              <a:defRPr sz="1300">
                <a:solidFill>
                  <a:srgbClr val="546E7A"/>
                </a:solidFill>
              </a:defRPr>
            </a:pPr>
            <a:r>
              <a:t>• Guided exercise: true or false?</a:t>
            </a:r>
          </a:p>
          <a:p>
            <a:pPr lvl="1">
              <a:defRPr sz="1300">
                <a:solidFill>
                  <a:srgbClr val="546E7A"/>
                </a:solidFill>
              </a:defRPr>
            </a:pPr>
            <a:r>
              <a:t>• Visual summary and quick quiz</a:t>
            </a:r>
          </a:p>
          <a:p>
            <a:pPr lvl="1">
              <a:defRPr sz="1300">
                <a:solidFill>
                  <a:srgbClr val="546E7A"/>
                </a:solidFill>
              </a:defRPr>
            </a:pPr>
            <a:r>
              <a:t>• Workshop: dialogues and role-play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Accroche (5 min)</a:t>
            </a:r>
            <a:r>
              <a:t>  ·  Hook</a:t>
            </a:r>
          </a:p>
        </p:txBody>
      </p:sp>
      <p:sp>
        <p:nvSpPr>
          <p:cNvPr id="3" name="Content Placeholder 2"/>
          <p:cNvSpPr>
            <a:spLocks noGrp="1"/>
          </p:cNvSpPr>
          <p:nvPr>
            <p:ph idx="1"/>
          </p:nvPr>
        </p:nvSpPr>
        <p:spPr/>
        <p:txBody>
          <a:bodyPr wrap="square"/>
          <a:lstStyle/>
          <a:p>
            <a:pPr>
              <a:defRPr sz="2000"/>
            </a:pPr>
            <a:r>
              <a:t>❓ Savez-vous que votre téléphone utilise l'IA des dizaines de fois par jour, sans que vous vous en rendiez compte ? Verrouillage du visage, traduction, correction du clavier, recommandation de vidéos…</a:t>
            </a:r>
          </a:p>
          <a:p>
            <a:pPr>
              <a:defRPr sz="2000"/>
            </a:pPr>
            <a:r>
              <a:t>🍳 🍳 L'IA, c'est comme un apprenti cuisinier : il goûte des milliers de plats (les exemples), remarque des régularités (le sucre c'est sucré, le citron c'est acide) et finit par pouvoir créer sa propre recette. Il ne sait pas POURQUOI ça marche, il a appris QUE ça marche.</a:t>
            </a:r>
          </a:p>
          <a:p>
            <a:pPr>
              <a:defRPr sz="2000"/>
            </a:pPr>
            <a:r>
              <a:t>💡 💡 L'IA, c'est un programme informatique qui apprend à partir d'exemples pour imiter certaines capacités humaines : comprendre, parler, traduire, voir, décider.</a:t>
            </a:r>
          </a:p>
          <a:p/>
          <a:p>
            <a:pPr>
              <a:defRPr sz="1300" i="1">
                <a:solidFill>
                  <a:srgbClr val="78899C"/>
                </a:solidFill>
              </a:defRPr>
            </a:pPr>
            <a:r>
              <a:t>English summary:</a:t>
            </a:r>
          </a:p>
          <a:p>
            <a:pPr lvl="1">
              <a:defRPr sz="1300">
                <a:solidFill>
                  <a:srgbClr val="546E7A"/>
                </a:solidFill>
              </a:defRPr>
            </a:pPr>
            <a:r>
              <a:t>• 💡 AI is a computer program that learns from examples to imitate certain human abilities: understanding, speaking, translating, seeing, deciding.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Idée clé 1 — L'IA apprend sur des exemples</a:t>
            </a:r>
            <a:r>
              <a:t>  ·  Key idea 1 — AI learns from examples</a:t>
            </a:r>
          </a:p>
        </p:txBody>
      </p:sp>
      <p:sp>
        <p:nvSpPr>
          <p:cNvPr id="3" name="Content Placeholder 2"/>
          <p:cNvSpPr>
            <a:spLocks noGrp="1"/>
          </p:cNvSpPr>
          <p:nvPr>
            <p:ph idx="1"/>
          </p:nvPr>
        </p:nvSpPr>
        <p:spPr/>
        <p:txBody>
          <a:bodyPr wrap="square"/>
          <a:lstStyle/>
          <a:p>
            <a:pPr>
              <a:defRPr sz="2000"/>
            </a:pPr>
            <a:r>
              <a:t>Une IA n'est pas programmée « à la main » comme une calculatrice. On lui montre des milliers d'exemples, et elle en tire des régularités. C'est une énorme machine à généraliser.</a:t>
            </a:r>
          </a:p>
          <a:p>
            <a:pPr>
              <a:defRPr sz="2000"/>
            </a:pPr>
            <a:r>
              <a:t>&lt;strong&gt;Données d'entraînement :&lt;/strong&gt; les exemples qu'on montre à l'IA (textes, images, sons).</a:t>
            </a:r>
          </a:p>
          <a:p>
            <a:pPr>
              <a:defRPr sz="2000"/>
            </a:pPr>
            <a:r>
              <a:t>&lt;strong&gt;Modèle :&lt;/strong&gt; le résultat de l'apprentissage — un « cerveau » numérique qui généralise à partir des exemples.</a:t>
            </a:r>
          </a:p>
          <a:p>
            <a:pPr>
              <a:defRPr sz="2000"/>
            </a:pPr>
            <a:r>
              <a:t>&lt;strong&gt;Prédiction :&lt;/strong&gt; quand tu lui poses une question, il ne « cherche » pas la réponse : il la reconstruit à partir de ce qu'il a appris.</a:t>
            </a:r>
          </a:p>
          <a:p/>
          <a:p>
            <a:pPr>
              <a:defRPr sz="1300" i="1">
                <a:solidFill>
                  <a:srgbClr val="78899C"/>
                </a:solidFill>
              </a:defRPr>
            </a:pPr>
            <a:r>
              <a:t>English summary:</a:t>
            </a:r>
          </a:p>
          <a:p>
            <a:pPr lvl="1">
              <a:defRPr sz="1300">
                <a:solidFill>
                  <a:srgbClr val="546E7A"/>
                </a:solidFill>
              </a:defRPr>
            </a:pPr>
            <a:r>
              <a:t>• AI is not hand-programmed like a calculator. We show it thousands of examples, and it extracts patterns. It is a huge generalisation machine.</a:t>
            </a:r>
          </a:p>
          <a:p>
            <a:pPr lvl="1">
              <a:defRPr sz="1300">
                <a:solidFill>
                  <a:srgbClr val="546E7A"/>
                </a:solidFill>
              </a:defRPr>
            </a:pPr>
            <a:r>
              <a:t>• &lt;strong&gt;Training data:&lt;/strong&gt; the examples shown to AI (texts, images, sounds).</a:t>
            </a:r>
          </a:p>
          <a:p>
            <a:pPr lvl="1">
              <a:defRPr sz="1300">
                <a:solidFill>
                  <a:srgbClr val="546E7A"/>
                </a:solidFill>
              </a:defRPr>
            </a:pPr>
            <a:r>
              <a:t>• &lt;strong&gt;Model:&lt;/strong&gt; the result of learning — a digital "brain" that generalises from examples.</a:t>
            </a:r>
          </a:p>
          <a:p>
            <a:pPr lvl="1">
              <a:defRPr sz="1300">
                <a:solidFill>
                  <a:srgbClr val="546E7A"/>
                </a:solidFill>
              </a:defRPr>
            </a:pPr>
            <a:r>
              <a:t>• &lt;strong&gt;Prediction:&lt;/strong&gt; when you ask a question, it does not "look up" the answer: it rebuilds it from what it learned.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Idée clé 2 — Un chatbot prédit le mot suivant</a:t>
            </a:r>
            <a:r>
              <a:t>  ·  Key idea 2 — A chatbot predicts the next word</a:t>
            </a:r>
          </a:p>
        </p:txBody>
      </p:sp>
      <p:sp>
        <p:nvSpPr>
          <p:cNvPr id="3" name="Content Placeholder 2"/>
          <p:cNvSpPr>
            <a:spLocks noGrp="1"/>
          </p:cNvSpPr>
          <p:nvPr>
            <p:ph idx="1"/>
          </p:nvPr>
        </p:nvSpPr>
        <p:spPr/>
        <p:txBody>
          <a:bodyPr wrap="square"/>
          <a:lstStyle/>
          <a:p>
            <a:pPr>
              <a:defRPr sz="2000"/>
            </a:pPr>
            <a:r>
              <a:t>ChatGPT, Gemini ou Copilot sont des « modèles de langage » (LLM). Leur secret : ils ont été entraînés sur des milliards de phrases, et ils ont appris une seule chose — quel mot vient le plus probablement après celui-ci.</a:t>
            </a:r>
          </a:p>
          <a:p>
            <a:pPr>
              <a:defRPr sz="2000"/>
            </a:pPr>
            <a:r>
              <a:t>« Hier, je suis allé … » → le modèle propose « au marché » parce que c'est très fréquent dans ses données.</a:t>
            </a:r>
          </a:p>
          <a:p>
            <a:pPr>
              <a:defRPr sz="2000"/>
            </a:pPr>
            <a:r>
              <a:t>Il génère mot après mot, jusqu'à former une phrase entière. Résultat : un texte qui paraît très naturel.</a:t>
            </a:r>
          </a:p>
          <a:p>
            <a:pPr>
              <a:defRPr sz="2000"/>
            </a:pPr>
            <a:r>
              <a:t>Il est entraîné à être &lt;strong&gt;convaincant&lt;/strong&gt;, pas à être &lt;strong&gt;vrai&lt;/strong&gt;. D'où les erreurs et les hallucinations.</a:t>
            </a:r>
          </a:p>
          <a:p/>
          <a:p>
            <a:pPr>
              <a:defRPr sz="1300" i="1">
                <a:solidFill>
                  <a:srgbClr val="78899C"/>
                </a:solidFill>
              </a:defRPr>
            </a:pPr>
            <a:r>
              <a:t>English summary:</a:t>
            </a:r>
          </a:p>
          <a:p>
            <a:pPr lvl="1">
              <a:defRPr sz="1300">
                <a:solidFill>
                  <a:srgbClr val="546E7A"/>
                </a:solidFill>
              </a:defRPr>
            </a:pPr>
            <a:r>
              <a:t>• ChatGPT, Gemini or Copilot are "language models" (LLMs). Their secret: they were trained on billions of sentences, and they learned one thing — which word most probably comes after this one.</a:t>
            </a:r>
          </a:p>
          <a:p>
            <a:pPr lvl="1">
              <a:defRPr sz="1300">
                <a:solidFill>
                  <a:srgbClr val="546E7A"/>
                </a:solidFill>
              </a:defRPr>
            </a:pPr>
            <a:r>
              <a:t>• "Yesterday I went to …" → the model suggests "the market" because it is very frequent in its data.</a:t>
            </a:r>
          </a:p>
          <a:p>
            <a:pPr lvl="1">
              <a:defRPr sz="1300">
                <a:solidFill>
                  <a:srgbClr val="546E7A"/>
                </a:solidFill>
              </a:defRPr>
            </a:pPr>
            <a:r>
              <a:t>• It generates word after word, until a whole sentence forms. Result: text that looks very natural.</a:t>
            </a:r>
          </a:p>
          <a:p>
            <a:pPr lvl="1">
              <a:defRPr sz="1300">
                <a:solidFill>
                  <a:srgbClr val="546E7A"/>
                </a:solidFill>
              </a:defRPr>
            </a:pPr>
            <a:r>
              <a:t>• It is trained to be &lt;strong&gt;convincing&lt;/strong&gt;, not &lt;strong&gt;true&lt;/strong&gt;. Hence errors and hallucinations.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Idée clé 3 — Trois familles d'IA</a:t>
            </a:r>
            <a:r>
              <a:t>  ·  Key idea 3 — Three families of AI</a:t>
            </a:r>
          </a:p>
        </p:txBody>
      </p:sp>
      <p:sp>
        <p:nvSpPr>
          <p:cNvPr id="3" name="Content Placeholder 2"/>
          <p:cNvSpPr>
            <a:spLocks noGrp="1"/>
          </p:cNvSpPr>
          <p:nvPr>
            <p:ph idx="1"/>
          </p:nvPr>
        </p:nvSpPr>
        <p:spPr/>
        <p:txBody>
          <a:bodyPr wrap="square"/>
          <a:lstStyle/>
          <a:p>
            <a:pPr>
              <a:defRPr sz="2000"/>
            </a:pPr>
            <a:r>
              <a:t>Il faut savoir classer ce dont on parle : tout ce que tu utilises aujourd'hui appartient à la première famille.</a:t>
            </a:r>
          </a:p>
          <a:p>
            <a:pPr>
              <a:defRPr sz="2000"/>
            </a:pPr>
            <a:r>
              <a:t>&lt;strong&gt;1. IA faible (étroite)&lt;/strong&gt; : excellente dans UNE tâche (traduire, trier, générer du texte). → Tout ce qui existe aujourd'hui.</a:t>
            </a:r>
          </a:p>
          <a:p>
            <a:pPr>
              <a:defRPr sz="2000"/>
            </a:pPr>
            <a:r>
              <a:t>&lt;strong&gt;2. IA générale&lt;/strong&gt; : égalerait l'humain dans TOUTES les tâches. → N'existe pas encore.</a:t>
            </a:r>
          </a:p>
          <a:p>
            <a:pPr>
              <a:defRPr sz="2000"/>
            </a:pPr>
            <a:r>
              <a:t>&lt;strong&gt;3. Super-IA&lt;/strong&gt; : dépasserait l'humain. → Scénario hypothétique qui alimente les films et les débats.</a:t>
            </a:r>
          </a:p>
          <a:p/>
          <a:p>
            <a:pPr>
              <a:defRPr sz="1300" i="1">
                <a:solidFill>
                  <a:srgbClr val="78899C"/>
                </a:solidFill>
              </a:defRPr>
            </a:pPr>
            <a:r>
              <a:t>English summary:</a:t>
            </a:r>
          </a:p>
          <a:p>
            <a:pPr lvl="1">
              <a:defRPr sz="1300">
                <a:solidFill>
                  <a:srgbClr val="546E7A"/>
                </a:solidFill>
              </a:defRPr>
            </a:pPr>
            <a:r>
              <a:t>• You should know how to classify what we talk about: everything you use today belongs to the first family.</a:t>
            </a:r>
          </a:p>
          <a:p>
            <a:pPr lvl="1">
              <a:defRPr sz="1300">
                <a:solidFill>
                  <a:srgbClr val="546E7A"/>
                </a:solidFill>
              </a:defRPr>
            </a:pPr>
            <a:r>
              <a:t>• &lt;strong&gt;1. Narrow AI&lt;/strong&gt;: excellent at ONE task (translating, sorting, generating text). → Everything that exists today.</a:t>
            </a:r>
          </a:p>
          <a:p>
            <a:pPr lvl="1">
              <a:defRPr sz="1300">
                <a:solidFill>
                  <a:srgbClr val="546E7A"/>
                </a:solidFill>
              </a:defRPr>
            </a:pPr>
            <a:r>
              <a:t>• &lt;strong&gt;2. General AI&lt;/strong&gt;: would equal humans at ALL tasks. → Does not exist yet.</a:t>
            </a:r>
          </a:p>
          <a:p>
            <a:pPr lvl="1">
              <a:defRPr sz="1300">
                <a:solidFill>
                  <a:srgbClr val="546E7A"/>
                </a:solidFill>
              </a:defRPr>
            </a:pPr>
            <a:r>
              <a:t>• &lt;strong&gt;3. Super-intelligence&lt;/strong&gt;: would surpass humans. → Hypothetical scenario that fuels films and debates.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Démonstration — un résumé de cours, du mauvais au bon prompt</a:t>
            </a:r>
            <a:r>
              <a:t>  ·  Demonstration — a course summary, from bad to good prompt</a:t>
            </a:r>
          </a:p>
        </p:txBody>
      </p:sp>
      <p:sp>
        <p:nvSpPr>
          <p:cNvPr id="3" name="Content Placeholder 2"/>
          <p:cNvSpPr>
            <a:spLocks noGrp="1"/>
          </p:cNvSpPr>
          <p:nvPr>
            <p:ph idx="1"/>
          </p:nvPr>
        </p:nvSpPr>
        <p:spPr/>
        <p:txBody>
          <a:bodyPr wrap="square"/>
          <a:lstStyle/>
          <a:p>
            <a:pPr>
              <a:defRPr sz="2000"/>
            </a:pPr>
            <a:r>
              <a:t>Étudiant : « Je dois préparer mon exposé de psychologie de l'enfant. Je colle mon cours et je demande à l'IA de l'aider. » Regardons la différence entre une question paresseuse et une question qui guide.</a:t>
            </a:r>
          </a:p>
          <a:p/>
          <a:p>
            <a:pPr>
              <a:defRPr sz="1300" i="1">
                <a:solidFill>
                  <a:srgbClr val="78899C"/>
                </a:solidFill>
              </a:defRPr>
            </a:pPr>
            <a:r>
              <a:t>English summary:</a:t>
            </a:r>
          </a:p>
          <a:p>
            <a:pPr lvl="1">
              <a:defRPr sz="1300">
                <a:solidFill>
                  <a:srgbClr val="546E7A"/>
                </a:solidFill>
              </a:defRPr>
            </a:pPr>
            <a:r>
              <a:t>• Student: "I must prepare my child-psychology presentation. I paste my lesson and ask AI to help." Look at the difference between a lazy question and a guiding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Comment en profiter au maximum</a:t>
            </a:r>
            <a:r>
              <a:t>  ·  How to get the most out of it</a:t>
            </a:r>
          </a:p>
        </p:txBody>
      </p:sp>
      <p:sp>
        <p:nvSpPr>
          <p:cNvPr id="3" name="Content Placeholder 2"/>
          <p:cNvSpPr>
            <a:spLocks noGrp="1"/>
          </p:cNvSpPr>
          <p:nvPr>
            <p:ph idx="1"/>
          </p:nvPr>
        </p:nvSpPr>
        <p:spPr/>
        <p:txBody>
          <a:bodyPr wrap="square"/>
          <a:lstStyle/>
          <a:p>
            <a:pPr>
              <a:defRPr sz="2000"/>
            </a:pPr>
            <a:r>
              <a:t>Dès la première séance, retenez l'essentiel : l'IA vaut ce que vaut la question posée, et la réponse vaut ce que vaut la vérification. Utilisée ainsi, elle devient un tuteur personnel disponible 24 h/24 — jamais un remplaçant de ta mémoire.</a:t>
            </a:r>
          </a:p>
          <a:p>
            <a:pPr>
              <a:defRPr sz="2000"/>
            </a:pPr>
            <a:r>
              <a:t>&lt;strong&gt;✅ Commencez petit :&lt;/strong&gt; une tâche précise (résumer, expliquer, reformuler), jamais « fais tout mon travail ».</a:t>
            </a:r>
          </a:p>
          <a:p>
            <a:pPr>
              <a:defRPr sz="2000"/>
            </a:pPr>
            <a:r>
              <a:t>&lt;strong&gt;✅ Donnez du contexte :&lt;/strong&gt; matière, niveau, objectif, format attendu et longueur.</a:t>
            </a:r>
          </a:p>
          <a:p>
            <a:pPr>
              <a:defRPr sz="2000"/>
            </a:pPr>
            <a:r>
              <a:t>&lt;strong&gt;✅ Vérifiez systématiquement :&lt;/strong&gt; chaque date, chiffre et référence doit être confirmé dans ton cours.</a:t>
            </a:r>
          </a:p>
          <a:p>
            <a:pPr>
              <a:defRPr sz="2000"/>
            </a:pPr>
            <a:r>
              <a:t>&lt;strong&gt;✅ Demandez la méthode :&lt;/strong&gt; « explique comment tu arrives à cette conclusion » pour apprendre, pas seulement subir.</a:t>
            </a:r>
          </a:p>
          <a:p/>
          <a:p>
            <a:pPr>
              <a:defRPr sz="1300" i="1">
                <a:solidFill>
                  <a:srgbClr val="78899C"/>
                </a:solidFill>
              </a:defRPr>
            </a:pPr>
            <a:r>
              <a:t>English summary:</a:t>
            </a:r>
          </a:p>
          <a:p>
            <a:pPr lvl="1">
              <a:defRPr sz="1300">
                <a:solidFill>
                  <a:srgbClr val="546E7A"/>
                </a:solidFill>
              </a:defRPr>
            </a:pPr>
            <a:r>
              <a:t>• From the very first session, remember the key idea: AI is only as good as the question you ask, and the answer is only as good as your verification. Used this way, it becomes a personal tutor available 24/7 — never a substitute for your memory.</a:t>
            </a:r>
          </a:p>
          <a:p>
            <a:pPr lvl="1">
              <a:defRPr sz="1300">
                <a:solidFill>
                  <a:srgbClr val="546E7A"/>
                </a:solidFill>
              </a:defRPr>
            </a:pPr>
            <a:r>
              <a:t>• &lt;strong&gt;✅ Start small:&lt;/strong&gt; one precise task (summarise, explain, rephrase), never "do all my work".</a:t>
            </a:r>
          </a:p>
          <a:p>
            <a:pPr lvl="1">
              <a:defRPr sz="1300">
                <a:solidFill>
                  <a:srgbClr val="546E7A"/>
                </a:solidFill>
              </a:defRPr>
            </a:pPr>
            <a:r>
              <a:t>• &lt;strong&gt;✅ Give context:&lt;/strong&gt; subject, level, goal, expected format and length.</a:t>
            </a:r>
          </a:p>
          <a:p>
            <a:pPr lvl="1">
              <a:defRPr sz="1300">
                <a:solidFill>
                  <a:srgbClr val="546E7A"/>
                </a:solidFill>
              </a:defRPr>
            </a:pPr>
            <a:r>
              <a:t>• &lt;strong&gt;✅ Check systematically:&lt;/strong&gt; every date, figure and reference must be confirmed in your lesson.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À regarder pour comprendre</a:t>
            </a:r>
            <a:r>
              <a:t>  ·  Recommended videos</a:t>
            </a:r>
          </a:p>
        </p:txBody>
      </p:sp>
      <p:sp>
        <p:nvSpPr>
          <p:cNvPr id="3" name="Content Placeholder 2"/>
          <p:cNvSpPr>
            <a:spLocks noGrp="1"/>
          </p:cNvSpPr>
          <p:nvPr>
            <p:ph idx="1"/>
          </p:nvPr>
        </p:nvSpPr>
        <p:spPr/>
        <p:txBody>
          <a:bodyPr wrap="square"/>
          <a:lstStyle/>
          <a:p>
            <a:pPr>
              <a:defRPr sz="2000"/>
            </a:pPr>
            <a:r>
              <a:t>▶️ ما هو الذكاء الاصطناعي؟ شرح مبسط للمبتدئين (AI بالعربي) (ar)</a:t>
            </a:r>
          </a:p>
          <a:p>
            <a:pPr>
              <a:defRPr sz="2000"/>
            </a:pPr>
            <a:r>
              <a:t>▶️ ما هو الذكاء الاصطناعي؟ شرح مبسط (ar)</a:t>
            </a:r>
          </a:p>
          <a:p>
            <a:pPr>
              <a:defRPr sz="2000"/>
            </a:pPr>
            <a:r>
              <a:t>▶️ The Age of A.I. (Kurzgesagt) (en)</a:t>
            </a:r>
          </a:p>
          <a:p/>
          <a:p>
            <a:pPr>
              <a:defRPr sz="1300" i="1">
                <a:solidFill>
                  <a:srgbClr val="78899C"/>
                </a:solidFill>
              </a:defRPr>
            </a:pPr>
            <a:r>
              <a:t>English summary:</a:t>
            </a:r>
          </a:p>
          <a:p>
            <a:pPr lvl="1">
              <a:defRPr sz="1300">
                <a:solidFill>
                  <a:srgbClr val="546E7A"/>
                </a:solidFill>
              </a:defRPr>
            </a:pPr>
            <a:r>
              <a:t>• https://www.youtube.com/watch?v=wdbb-X5qH4w</a:t>
            </a:r>
          </a:p>
          <a:p>
            <a:pPr lvl="1">
              <a:defRPr sz="1300">
                <a:solidFill>
                  <a:srgbClr val="546E7A"/>
                </a:solidFill>
              </a:defRPr>
            </a:pPr>
            <a:r>
              <a:t>• https://www.youtube.com/watch?v=vCKHeYQp8nk</a:t>
            </a:r>
          </a:p>
          <a:p>
            <a:pPr lvl="1">
              <a:defRPr sz="1300">
                <a:solidFill>
                  <a:srgbClr val="546E7A"/>
                </a:solidFill>
              </a:defRPr>
            </a:pPr>
            <a:r>
              <a:t>• https://www.youtube.com/watch?v=UwsrzCVZAb8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Exercice guidé (15 min)</a:t>
            </a:r>
            <a:r>
              <a:t>  ·  Guided exercise</a:t>
            </a:r>
          </a:p>
        </p:txBody>
      </p:sp>
      <p:sp>
        <p:nvSpPr>
          <p:cNvPr id="3" name="Content Placeholder 2"/>
          <p:cNvSpPr>
            <a:spLocks noGrp="1"/>
          </p:cNvSpPr>
          <p:nvPr>
            <p:ph idx="1"/>
          </p:nvPr>
        </p:nvSpPr>
        <p:spPr/>
        <p:txBody>
          <a:bodyPr wrap="square"/>
          <a:lstStyle/>
          <a:p>
            <a:pPr>
              <a:defRPr sz="2000"/>
            </a:pPr>
            <a:r>
              <a:t>Classe les 6 affirmations suivantes en Vrai (V) ou Faux (F), puis justifie en une ligne : 1) L'IA pense comme un humain. 2) L'IA a été entraînée sur des textes. 3) L'IA donne toujours des bonnes réponses. 4) L'IA peut inventer une référence. 5) L'IA remplace le professeur. 6) L'IA peut t'aider à réviser si tu vérifies.</a:t>
            </a:r>
          </a:p>
          <a:p>
            <a:pPr>
              <a:defRPr sz="2000"/>
            </a:pPr>
            <a:r>
              <a:t>—</a:t>
            </a:r>
          </a:p>
          <a:p>
            <a:pPr>
              <a:defRPr sz="2000"/>
            </a:pPr>
            <a:r>
              <a:t>▶ Solution :</a:t>
            </a:r>
          </a:p>
          <a:p>
            <a:pPr>
              <a:defRPr sz="2000"/>
            </a:pPr>
            <a:r>
              <a:t>1) F — l'IA calcule des probabilités, elle n'a ni conscience ni pensées. 2) V — c'est son apprentissage. 3) F — elle peut se tromper et même inventer (halluciner). 4) V — c'est très fréquent, d'où la règle « vérifie ». 5) F — elle assiste l'étudiant, l'évaluation et le dialogue restent humains. 6) V — à condition de vérifier le contenu avec ton cours et tes sources.</a:t>
            </a:r>
          </a:p>
          <a:p/>
          <a:p>
            <a:pPr>
              <a:defRPr sz="1300" i="1">
                <a:solidFill>
                  <a:srgbClr val="78899C"/>
                </a:solidFill>
              </a:defRPr>
            </a:pPr>
            <a:r>
              <a:t>English summary:</a:t>
            </a:r>
          </a:p>
          <a:p>
            <a:pPr lvl="1">
              <a:defRPr sz="1300">
                <a:solidFill>
                  <a:srgbClr val="546E7A"/>
                </a:solidFill>
              </a:defRPr>
            </a:pPr>
            <a:r>
              <a:t>• Classify the 6 statements as True (T) or False (F), then justify in one line: 1) AI thinks like a human. 2) AI was trained on texts. 3) AI always gives good answers. 4) AI can invent a reference. 5) AI replaces the teacher. 6) AI can help you revise if you check.</a:t>
            </a:r>
          </a:p>
          <a:p>
            <a:pPr lvl="1">
              <a:defRPr sz="1300">
                <a:solidFill>
                  <a:srgbClr val="546E7A"/>
                </a:solidFill>
              </a:defRPr>
            </a:pPr>
            <a:r>
              <a:t>• 1) F — AI computes probabilities; it has neither consciousness nor thoughts. 2) T — that is its training. 3) F — it can err and even invent (hallucinate). 4) T — very common, hence the "verify" rule. 5) F — it assists the student; assessment and dialogue remain human. 6) T — provided you check the content against your lesson and sources.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Fiche de synthèse — points clés</a:t>
            </a:r>
            <a:r>
              <a:t>  ·  Summary sheet</a:t>
            </a:r>
          </a:p>
        </p:txBody>
      </p:sp>
      <p:sp>
        <p:nvSpPr>
          <p:cNvPr id="3" name="Content Placeholder 2"/>
          <p:cNvSpPr>
            <a:spLocks noGrp="1"/>
          </p:cNvSpPr>
          <p:nvPr>
            <p:ph idx="1"/>
          </p:nvPr>
        </p:nvSpPr>
        <p:spPr/>
        <p:txBody>
          <a:bodyPr wrap="square"/>
          <a:lstStyle/>
          <a:p>
            <a:pPr>
              <a:defRPr sz="2000"/>
            </a:pPr>
            <a:r>
              <a:t>L'IA est un programme qui apprend à partir d'exemples pour imiter des capacités humaines.</a:t>
            </a:r>
          </a:p>
          <a:p>
            <a:pPr>
              <a:defRPr sz="2000"/>
            </a:pPr>
            <a:r>
              <a:t>Un chatbot est une machine à prédire le mot suivant, entraînée à être convaincante — pas vraie.</a:t>
            </a:r>
          </a:p>
          <a:p>
            <a:pPr>
              <a:defRPr sz="2000"/>
            </a:pPr>
            <a:r>
              <a:t>Hallucination = invention confiante. C'est fréquent, pas un bug.</a:t>
            </a:r>
          </a:p>
          <a:p>
            <a:pPr>
              <a:defRPr sz="2000"/>
            </a:pPr>
            <a:r>
              <a:t>3 familles : IA faible (tout ce qu'on utilise), générale (future), super-IA (films).</a:t>
            </a:r>
          </a:p>
          <a:p>
            <a:pPr>
              <a:defRPr sz="2000"/>
            </a:pPr>
            <a:r>
              <a:t>3 règles d'or : vérifier, citer, garder ton jugement.</a:t>
            </a:r>
          </a:p>
          <a:p/>
          <a:p>
            <a:pPr>
              <a:defRPr sz="1300" i="1">
                <a:solidFill>
                  <a:srgbClr val="78899C"/>
                </a:solidFill>
              </a:defRPr>
            </a:pPr>
            <a:r>
              <a:t>English summary:</a:t>
            </a:r>
          </a:p>
          <a:p>
            <a:pPr lvl="1">
              <a:defRPr sz="1300">
                <a:solidFill>
                  <a:srgbClr val="546E7A"/>
                </a:solidFill>
              </a:defRPr>
            </a:pPr>
            <a:r>
              <a:t>• AI is a program that learns from examples to imitate human abilities.</a:t>
            </a:r>
          </a:p>
          <a:p>
            <a:pPr lvl="1">
              <a:defRPr sz="1300">
                <a:solidFill>
                  <a:srgbClr val="546E7A"/>
                </a:solidFill>
              </a:defRPr>
            </a:pPr>
            <a:r>
              <a:t>• A chatbot is a next-word prediction machine, trained to be convincing — not true.</a:t>
            </a:r>
          </a:p>
          <a:p>
            <a:pPr lvl="1">
              <a:defRPr sz="1300">
                <a:solidFill>
                  <a:srgbClr val="546E7A"/>
                </a:solidFill>
              </a:defRPr>
            </a:pPr>
            <a:r>
              <a:t>• Hallucination = confident invention. It is common, not a bug.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Quiz éclair (3 questions)</a:t>
            </a:r>
            <a:r>
              <a:t>  ·  Quick quiz</a:t>
            </a:r>
          </a:p>
        </p:txBody>
      </p:sp>
      <p:sp>
        <p:nvSpPr>
          <p:cNvPr id="3" name="Content Placeholder 2"/>
          <p:cNvSpPr>
            <a:spLocks noGrp="1"/>
          </p:cNvSpPr>
          <p:nvPr>
            <p:ph idx="1"/>
          </p:nvPr>
        </p:nvSpPr>
        <p:spPr/>
        <p:txBody>
          <a:bodyPr wrap="square"/>
          <a:lstStyle/>
          <a:p>
            <a:pPr>
              <a:defRPr sz="2000"/>
            </a:pPr>
            <a:r>
              <a:t>Q1. Comment un chatbot produit-il sa réponse ?</a:t>
            </a:r>
            <a:br/>
            <a:r>
              <a:t>   ✅ Il prédit le mot le plus probable, mot après mot</a:t>
            </a:r>
          </a:p>
          <a:p>
            <a:pPr>
              <a:defRPr sz="2000"/>
            </a:pPr>
            <a:r>
              <a:t>Q2. Qu'est-ce qu'une « hallucination » d'IA ?</a:t>
            </a:r>
            <a:br/>
            <a:r>
              <a:t>   ✅ Une information inventée dite avec assurance</a:t>
            </a:r>
          </a:p>
          <a:p>
            <a:pPr>
              <a:defRPr sz="2000"/>
            </a:pPr>
            <a:r>
              <a:t>Q3. ChatGPT, aujourd'hui, c'est…</a:t>
            </a:r>
            <a:br/>
            <a:r>
              <a:t>   ✅ Une IA faible (étroite)</a:t>
            </a:r>
          </a:p>
          <a:p/>
          <a:p>
            <a:pPr>
              <a:defRPr sz="1300" i="1">
                <a:solidFill>
                  <a:srgbClr val="78899C"/>
                </a:solidFill>
              </a:defRPr>
            </a:pPr>
            <a:r>
              <a:t>English summary:</a:t>
            </a:r>
          </a:p>
          <a:p>
            <a:pPr lvl="1">
              <a:defRPr sz="1300">
                <a:solidFill>
                  <a:srgbClr val="546E7A"/>
                </a:solidFill>
              </a:defRPr>
            </a:pPr>
            <a:r>
              <a:t>• How does a chatbot produce its answer?</a:t>
            </a:r>
          </a:p>
          <a:p>
            <a:pPr lvl="1">
              <a:defRPr sz="1300">
                <a:solidFill>
                  <a:srgbClr val="546E7A"/>
                </a:solidFill>
              </a:defRPr>
            </a:pPr>
            <a:r>
              <a:t>• What is an AI "hallucination"?</a:t>
            </a:r>
          </a:p>
          <a:p>
            <a:pPr lvl="1">
              <a:defRPr sz="1300">
                <a:solidFill>
                  <a:srgbClr val="546E7A"/>
                </a:solidFill>
              </a:defRPr>
            </a:pPr>
            <a:r>
              <a:t>• ChatGPT, today, 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À retenir</a:t>
            </a:r>
            <a:r>
              <a:t>  ·  Key takeaways</a:t>
            </a:r>
          </a:p>
        </p:txBody>
      </p:sp>
      <p:sp>
        <p:nvSpPr>
          <p:cNvPr id="3" name="Content Placeholder 2"/>
          <p:cNvSpPr>
            <a:spLocks noGrp="1"/>
          </p:cNvSpPr>
          <p:nvPr>
            <p:ph idx="1"/>
          </p:nvPr>
        </p:nvSpPr>
        <p:spPr/>
        <p:txBody>
          <a:bodyPr wrap="square"/>
          <a:lstStyle/>
          <a:p>
            <a:pPr>
              <a:defRPr sz="2000"/>
            </a:pPr>
            <a:r>
              <a:t>L'IA = programme qui apprend à partir d'exemples pour imiter des capacités humaines.</a:t>
            </a:r>
          </a:p>
          <a:p>
            <a:pPr>
              <a:defRPr sz="2000"/>
            </a:pPr>
            <a:r>
              <a:t>Un chatbot prédit le mot suivant ; il peut être convaincant sans être vrai. Hallucinations : fréquentes.</a:t>
            </a:r>
          </a:p>
          <a:p>
            <a:pPr>
              <a:defRPr sz="2000"/>
            </a:pPr>
            <a:r>
              <a:t>5 usages pour tes études : rechercher, résumer, rédiger, réviser, organiser.</a:t>
            </a:r>
          </a:p>
          <a:p>
            <a:pPr>
              <a:defRPr sz="2000"/>
            </a:pPr>
            <a:r>
              <a:t>L'IA ne pense pas, ne ressent pas, n'apprend rien à ta place : la compréhension reste ton travail.</a:t>
            </a:r>
          </a:p>
          <a:p>
            <a:pPr>
              <a:defRPr sz="2000"/>
            </a:pPr>
            <a:r>
              <a:t>3 règles d'or : vérifier, citer, garder ton jugement.</a:t>
            </a:r>
          </a:p>
          <a:p/>
          <a:p>
            <a:pPr>
              <a:defRPr sz="1300" i="1">
                <a:solidFill>
                  <a:srgbClr val="78899C"/>
                </a:solidFill>
              </a:defRPr>
            </a:pPr>
            <a:r>
              <a:t>English summary:</a:t>
            </a:r>
          </a:p>
          <a:p>
            <a:pPr lvl="1">
              <a:defRPr sz="1300">
                <a:solidFill>
                  <a:srgbClr val="546E7A"/>
                </a:solidFill>
              </a:defRPr>
            </a:pPr>
            <a:r>
              <a:t>• AI = a program that learns from examples to imitate human abilities.</a:t>
            </a:r>
          </a:p>
          <a:p>
            <a:pPr lvl="1">
              <a:defRPr sz="1300">
                <a:solidFill>
                  <a:srgbClr val="546E7A"/>
                </a:solidFill>
              </a:defRPr>
            </a:pPr>
            <a:r>
              <a:t>• A chatbot predicts the next word; it can be convincing without being true. Hallucinations: common.</a:t>
            </a:r>
          </a:p>
          <a:p>
            <a:pPr lvl="1">
              <a:defRPr sz="1300">
                <a:solidFill>
                  <a:srgbClr val="546E7A"/>
                </a:solidFill>
              </a:defRPr>
            </a:pPr>
            <a:r>
              <a:t>• 5 uses for your studies: search, summarise, write, revise, organise.</a:t>
            </a:r>
          </a:p>
          <a:p>
            <a:pPr lvl="1">
              <a:defRPr sz="1300">
                <a:solidFill>
                  <a:srgbClr val="546E7A"/>
                </a:solidFill>
              </a:defRPr>
            </a:pPr>
            <a:r>
              <a:t>• AI does not think, does not feel, learns nothing for you: understanding remains your work.</a:t>
            </a:r>
          </a:p>
          <a:p>
            <a:pPr lvl="1">
              <a:defRPr sz="1300">
                <a:solidFill>
                  <a:srgbClr val="546E7A"/>
                </a:solidFill>
              </a:defRPr>
            </a:pPr>
            <a:r>
              <a:t>• 3 golden rules: verify, cite, keep your judgement.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63238"/>
        </a:solidFill>
        <a:effectLst/>
      </p:bgPr>
    </p:bg>
    <p:spTree>
      <p:nvGrpSpPr>
        <p:cNvPr id="1" name=""/>
        <p:cNvGrpSpPr/>
        <p:nvPr/>
      </p:nvGrpSpPr>
      <p:grpSpPr/>
      <p:sp>
        <p:nvSpPr>
          <p:cNvPr id="2" name="TextBox 1"/>
          <p:cNvSpPr txBox="1"/>
          <p:nvPr/>
        </p:nvSpPr>
        <p:spPr>
          <a:xfrm>
            <a:off x="822960" y="1828800"/>
            <a:ext cx="10515600" cy="1828800"/>
          </a:xfrm>
          <a:prstGeom prst="rect">
            <a:avLst/>
          </a:prstGeom>
          <a:noFill/>
        </p:spPr>
        <p:txBody>
          <a:bodyPr wrap="square">
            <a:spAutoFit/>
          </a:bodyPr>
          <a:lstStyle/>
          <a:p>
            <a:r>
              <a:rPr sz="4000" b="1">
                <a:solidFill>
                  <a:srgbClr val="FFFFFF"/>
                </a:solidFill>
              </a:rPr>
              <a:t>Séance 01 — Qu'est-ce que l'IA ? Introduction et démystification</a:t>
            </a:r>
          </a:p>
          <a:p>
            <a:r>
              <a:rPr sz="2000">
                <a:solidFill>
                  <a:srgbClr val="ECEFF1"/>
                </a:solidFill>
              </a:rPr>
              <a:t>What is AI? Introduction and demystification</a:t>
            </a:r>
          </a:p>
        </p:txBody>
      </p:sp>
      <p:sp>
        <p:nvSpPr>
          <p:cNvPr id="3" name="TextBox 2"/>
          <p:cNvSpPr txBox="1"/>
          <p:nvPr/>
        </p:nvSpPr>
        <p:spPr>
          <a:xfrm>
            <a:off x="822960" y="4023360"/>
            <a:ext cx="10515600" cy="1463040"/>
          </a:xfrm>
          <a:prstGeom prst="rect">
            <a:avLst/>
          </a:prstGeom>
          <a:noFill/>
        </p:spPr>
        <p:txBody>
          <a:bodyPr wrap="square">
            <a:spAutoFit/>
          </a:bodyPr>
          <a:lstStyle/>
          <a:p>
            <a:r>
              <a:rPr sz="1500">
                <a:solidFill>
                  <a:srgbClr val="ECEFF1"/>
                </a:solidFill>
              </a:rPr>
              <a:t>Module « Intelligence Artificielle » — 2ème année PEP · ENS
Dr. Madani BELACEL — Université de Mostaganem
Prochaine séance : à venir.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