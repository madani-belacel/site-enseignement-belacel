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5156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7040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FFD700"/>
                </a:solidFill>
                <a:latin typeface="Calibri"/>
              </a:rPr>
              <a:t>TIC COURSE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31720"/>
            <a:ext cx="75895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Computer Science and Hardware: Architecture and Operation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4680" y="3703320"/>
            <a:ext cx="2377440" cy="2286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977639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52628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BBBBBB"/>
                </a:solidFill>
                <a:latin typeface="Calibri"/>
              </a:rPr>
              <a:t>Année universitaire 2026-2027 / Academic Year 2026-2027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806440"/>
            <a:ext cx="7040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BBBBBB"/>
                </a:solidFill>
                <a:latin typeface="Calibri"/>
              </a:rPr>
              <a:t>Université de Mostaganem - Département Mathématiques et Informatique</a:t>
            </a:r>
          </a:p>
        </p:txBody>
      </p:sp>
      <p:pic>
        <p:nvPicPr>
          <p:cNvPr id="13" name="Picture 12" descr="Université_de_Mostagan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00000"/>
            <a:ext cx="1400000" cy="140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200" b="1" i="0">
                <a:solidFill>
                  <a:srgbClr val="FFD700"/>
                </a:solidFill>
                <a:latin typeface="Calibri"/>
              </a:rPr>
              <a:t>Course Outline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002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1. Computing: Definition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2. Generations of Computers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3. Von Neumann Architecture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4. Hardware: The System Unit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5. Peripherals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6. Software: System and Application</a:t>
            </a:r>
          </a:p>
          <a:p>
            <a:pPr>
              <a:spcAft>
                <a:spcPts val="1200"/>
              </a:spcAft>
            </a:pPr>
            <a:r>
              <a:rPr sz="1900">
                <a:solidFill>
                  <a:srgbClr val="FFFFFF"/>
                </a:solidFill>
                <a:latin typeface="Calibri"/>
              </a:rPr>
              <a:t>▪  7. Getting Started with a Computer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Computing: Definition</a:t>
            </a:r>
          </a:p>
        </p:txBody>
      </p:sp>
      <p:pic>
        <p:nvPicPr>
          <p:cNvPr id="9" name="Picture 8" descr="c02_01_vonneuma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1 - Computing: Definition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Computer science = INFORMATION + AUTOMATIC.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 science of automatic and rational processing of information.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Fields: programming, networks, databases, AI.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Based on algorithms: finite sequences of precise instructions.</a:t>
            </a:r>
          </a:p>
        </p:txBody>
      </p:sp>
      <p:pic>
        <p:nvPicPr>
          <p:cNvPr id="9" name="Picture 8" descr="c02_02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Generations of Computers</a:t>
            </a:r>
          </a:p>
        </p:txBody>
      </p:sp>
      <p:pic>
        <p:nvPicPr>
          <p:cNvPr id="9" name="Picture 8" descr="c02_03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2 - Generations of Computers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1st generation (1945-1955): vacuum tubes, very bulky.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2nd generation (1955-1965): transistors.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3rd generation (1965-1975): integrated circuits.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4th generation (1975-...): microprocessors, PCs.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5th generation: artificial intelligence and parallelism.</a:t>
            </a:r>
          </a:p>
        </p:txBody>
      </p:sp>
      <p:pic>
        <p:nvPicPr>
          <p:cNvPr id="9" name="Picture 8" descr="c02_04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Von Neumann Architecture</a:t>
            </a:r>
          </a:p>
        </p:txBody>
      </p:sp>
      <p:pic>
        <p:nvPicPr>
          <p:cNvPr id="9" name="Picture 8" descr="c02_05_peripher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3 - Von Neumann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Central Processing Unit (CPU): executes instructions.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Main memory: stores programs and data.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Input/output units: communication with the outside.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Buses: transfer channels between components.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Stored-program model: both data and instructions in memory.</a:t>
            </a:r>
          </a:p>
        </p:txBody>
      </p:sp>
      <p:pic>
        <p:nvPicPr>
          <p:cNvPr id="9" name="Picture 8" descr="c02_06_b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Hardware: The System Unit</a:t>
            </a:r>
          </a:p>
        </p:txBody>
      </p:sp>
      <p:pic>
        <p:nvPicPr>
          <p:cNvPr id="9" name="Picture 8" descr="c02_07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4 - Hardware: The System Unit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Motherboard: hosts and connects all components.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Processor (CPU): frequency in GHz, multiple cores.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RAM: volatile fast working memory.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Hard disk / SSD: permanent data storage.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Power supply, fans and case.</a:t>
            </a:r>
          </a:p>
        </p:txBody>
      </p:sp>
      <p:pic>
        <p:nvPicPr>
          <p:cNvPr id="9" name="Picture 8" descr="c02_08_b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Peripherals</a:t>
            </a:r>
          </a:p>
        </p:txBody>
      </p:sp>
      <p:pic>
        <p:nvPicPr>
          <p:cNvPr id="9" name="Picture 8" descr="c02_09_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5 - Peripherals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Input: keyboard, mouse, scanner, microphone, camera.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Output: monitor, printer, speakers, projector.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Input/Output: touch screens, external drives, modems.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Selection criteria: resolution, speed, connectors (USB, HDMI).</a:t>
            </a:r>
          </a:p>
        </p:txBody>
      </p:sp>
      <p:pic>
        <p:nvPicPr>
          <p:cNvPr id="9" name="Picture 8" descr="c02_10_assemb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Software: System and Application</a:t>
            </a:r>
          </a:p>
        </p:txBody>
      </p:sp>
      <p:pic>
        <p:nvPicPr>
          <p:cNvPr id="9" name="Picture 8" descr="c02_11_bi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6 - Software: System and Application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System software: the operating system (Windows, Linux, macOS).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Role of the OS: manages resources, files and devices.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Application software: Word, Excel, browsers, games.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Programming languages: Python, C, Java.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Compiler and interpreter: translating source code.</a:t>
            </a:r>
          </a:p>
        </p:txBody>
      </p:sp>
      <p:pic>
        <p:nvPicPr>
          <p:cNvPr id="9" name="Picture 8" descr="c02_12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2651760"/>
            <a:ext cx="9144000" cy="1143000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6858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1" i="0">
                <a:solidFill>
                  <a:srgbClr val="BBBBBB"/>
                </a:solidFill>
                <a:latin typeface="Calibri"/>
              </a:rPr>
              <a:t>Section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88920"/>
            <a:ext cx="74066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800" b="1" i="0">
                <a:solidFill>
                  <a:srgbClr val="FFD700"/>
                </a:solidFill>
                <a:latin typeface="Calibri"/>
              </a:rPr>
              <a:t>Getting Started with a Computer</a:t>
            </a:r>
          </a:p>
        </p:txBody>
      </p:sp>
      <p:pic>
        <p:nvPicPr>
          <p:cNvPr id="9" name="Picture 8" descr="c02_01_vonneuma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57200"/>
            <a:ext cx="74066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 i="0">
                <a:solidFill>
                  <a:srgbClr val="FFD700"/>
                </a:solidFill>
                <a:latin typeface="Calibri"/>
              </a:rPr>
              <a:t>7 - Getting Started with a Computer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Power-on and boot sequence.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User session: login and password.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Desktop: icons, taskbar, start menu.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Correct shutdown: avoid data loss.</a:t>
            </a:r>
          </a:p>
          <a:p>
            <a:pPr>
              <a:spcAft>
                <a:spcPts val="11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Basic maintenance: cleaning, updates, antivirus.</a:t>
            </a:r>
          </a:p>
        </p:txBody>
      </p:sp>
      <p:pic>
        <p:nvPicPr>
          <p:cNvPr id="9" name="Picture 8" descr="c02_02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8C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0B3D2E"/>
                </a:solidFill>
                <a:latin typeface="Calibri"/>
              </a:rPr>
              <a:t>Practical Interest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Choose a PC rationally according to needs (study, office, gaming).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Diagnose a simple problem: insufficient RAM, full disk.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Read and compare computer technical specifications.</a:t>
            </a:r>
          </a:p>
          <a:p>
            <a:pPr>
              <a:spcAft>
                <a:spcPts val="1100"/>
              </a:spcAft>
            </a:pPr>
            <a:r>
              <a:rPr sz="1700">
                <a:solidFill>
                  <a:srgbClr val="0B3D2E"/>
                </a:solidFill>
                <a:latin typeface="Calibri"/>
              </a:rPr>
              <a:t>▪  Install and use the software needed for studies.</a:t>
            </a:r>
          </a:p>
        </p:txBody>
      </p:sp>
      <p:pic>
        <p:nvPicPr>
          <p:cNvPr id="8" name="Picture 7" descr="c02_03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57200"/>
            <a:ext cx="72237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D700"/>
                </a:solidFill>
                <a:latin typeface="Calibri"/>
              </a:rPr>
              <a:t>Self-Assessment (MCQ)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7223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1. What does CPU stand for?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Central Process Unit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Central Processing Unit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Both answers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2. Which memory is volatile?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Hard disk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RAM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SSD</a:t>
            </a:r>
          </a:p>
          <a:p>
            <a:pPr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3. Windows is a(n):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a) Application software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b) Operating system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BBBBBB"/>
                </a:solidFill>
                <a:latin typeface="Calibri"/>
              </a:rPr>
              <a:t>      c) Programming language</a:t>
            </a:r>
          </a:p>
        </p:txBody>
      </p:sp>
      <p:pic>
        <p:nvPicPr>
          <p:cNvPr id="9" name="Picture 8" descr="c02_04_sto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FFD700"/>
                </a:solidFill>
                <a:latin typeface="Calibri"/>
              </a:rPr>
              <a:t>Conclusion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154680" y="1371600"/>
            <a:ext cx="237744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72237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The computer follows the von Neumann architecture: CPU, memory, I/O.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Hardware and software are inseparable in information processing.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Knowing the components helps use and maintain your machine.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FFFFFF"/>
                </a:solidFill>
                <a:latin typeface="Calibri"/>
              </a:rPr>
              <a:t>▪  Next course: the Windows operating system.</a:t>
            </a:r>
          </a:p>
        </p:txBody>
      </p:sp>
      <p:pic>
        <p:nvPicPr>
          <p:cNvPr id="9" name="Picture 8" descr="c02_05_peripher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02920"/>
            <a:ext cx="7223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D700"/>
                </a:solidFill>
                <a:latin typeface="Calibri"/>
              </a:rPr>
              <a:t>References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298448"/>
            <a:ext cx="7360920" cy="27432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691640"/>
            <a:ext cx="7223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A. Tanenbaum, "Structured Computer Organization", Pearson.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J. Fayn and P. Legars, "Micro-computing", Dunod.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ICT Course materials, University of Mostaganem.</a:t>
            </a:r>
          </a:p>
          <a:p>
            <a:pPr>
              <a:spcAft>
                <a:spcPts val="1300"/>
              </a:spcAft>
            </a:pPr>
            <a:r>
              <a:rPr sz="1500">
                <a:solidFill>
                  <a:srgbClr val="BBBBBB"/>
                </a:solidFill>
                <a:latin typeface="Calibri"/>
              </a:rPr>
              <a:t>- www.ccmbench.com - hardware basics.</a:t>
            </a:r>
          </a:p>
        </p:txBody>
      </p:sp>
      <p:pic>
        <p:nvPicPr>
          <p:cNvPr id="9" name="Picture 8" descr="c02_06_bin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3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8016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84264"/>
            <a:ext cx="9144000" cy="4572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29984"/>
            <a:ext cx="9144000" cy="128016"/>
          </a:xfrm>
          <a:prstGeom prst="rect">
            <a:avLst/>
          </a:prstGeom>
          <a:solidFill>
            <a:srgbClr val="14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63040"/>
            <a:ext cx="7040880" cy="27432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800" b="1" i="0">
                <a:solidFill>
                  <a:srgbClr val="FFD700"/>
                </a:solidFill>
                <a:latin typeface="Calibri"/>
              </a:rPr>
              <a:t>Thank you for your attention!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6616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120640"/>
            <a:ext cx="7040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BBBBBB"/>
                </a:solidFill>
                <a:latin typeface="Calibri"/>
              </a:rPr>
              <a:t>Dr. BELACEL Madani</a:t>
            </a:r>
          </a:p>
        </p:txBody>
      </p:sp>
      <p:pic>
        <p:nvPicPr>
          <p:cNvPr id="10" name="Picture 9" descr="c02_07_cl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200400"/>
            <a:ext cx="32004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