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TIC COURSE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The Internet: Principles and Usage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Course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What Is the Internet?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History of the Internet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Connecting to the Internet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Web Browsers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Electronic Mail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Searching for Information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Internet Security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What Is the Internet?</a:t>
            </a:r>
          </a:p>
        </p:txBody>
      </p:sp>
      <p:pic>
        <p:nvPicPr>
          <p:cNvPr id="9" name="Picture 8" descr="c07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What Is the Internet?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 worldwide network connecting millions of networks.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Physical infrastructure: cables, fiber, satellites, routers.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Built on the TCP/IP protocol family.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Services: Web, email, messaging, streaming, cloud.</a:t>
            </a:r>
          </a:p>
        </p:txBody>
      </p:sp>
      <p:pic>
        <p:nvPicPr>
          <p:cNvPr id="9" name="Picture 8" descr="c07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History of the Internet</a:t>
            </a:r>
          </a:p>
        </p:txBody>
      </p:sp>
      <p:pic>
        <p:nvPicPr>
          <p:cNvPr id="9" name="Picture 8" descr="c07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History of the Internet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1969: ARPANET, an American military project.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1983: TCP/IP adoption, the technical birth of the Internet.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1991: opening to the general public and commerce.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Today: over 5 billion users worldwide.</a:t>
            </a:r>
          </a:p>
        </p:txBody>
      </p:sp>
      <p:pic>
        <p:nvPicPr>
          <p:cNvPr id="9" name="Picture 8" descr="c07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Connecting to the Internet</a:t>
            </a:r>
          </a:p>
        </p:txBody>
      </p:sp>
      <p:pic>
        <p:nvPicPr>
          <p:cNvPr id="9" name="Picture 8" descr="c07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Connecting to the Internet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Internet Service Provider (ISP): telecom operator.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Connection types: ADSL, fiber optics, 4G/5G, satellite.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Equipment: modem, router, Wi-Fi box.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IP address: unique identifier of every machine.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DNS: directory translating domain names into IPs.</a:t>
            </a:r>
          </a:p>
        </p:txBody>
      </p:sp>
      <p:pic>
        <p:nvPicPr>
          <p:cNvPr id="9" name="Picture 8" descr="c07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Web Browsers</a:t>
            </a:r>
          </a:p>
        </p:txBody>
      </p:sp>
      <p:pic>
        <p:nvPicPr>
          <p:cNvPr id="9" name="Picture 8" descr="c07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Web Browsers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Software to access websites: Chrome, Firefox, Edge, Safari.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Address bar: URL of the visited site.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Tabs, bookmarks and history.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Downloads and settings (language, security).</a:t>
            </a:r>
          </a:p>
        </p:txBody>
      </p:sp>
      <p:pic>
        <p:nvPicPr>
          <p:cNvPr id="9" name="Picture 8" descr="c07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Electronic Mail</a:t>
            </a:r>
          </a:p>
        </p:txBody>
      </p:sp>
      <p:pic>
        <p:nvPicPr>
          <p:cNvPr id="9" name="Picture 8" descr="c07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Electronic Mail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Email address: user@domain (e.g., name@univ-bechar.dz).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Composition: recipient, subject, body, attachments.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Protocols: SMTP (sending), POP3/IMAP (receiving).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Webmail vs desktop clients (Outlook, Thunderbird).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Netiquette: politeness, clear subject, Bcc for groups.</a:t>
            </a:r>
          </a:p>
        </p:txBody>
      </p:sp>
      <p:pic>
        <p:nvPicPr>
          <p:cNvPr id="9" name="Picture 8" descr="c07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Searching for Information</a:t>
            </a:r>
          </a:p>
        </p:txBody>
      </p:sp>
      <p:pic>
        <p:nvPicPr>
          <p:cNvPr id="9" name="Picture 8" descr="c07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Searching for Information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Search engines: Google, Bing, Qwant.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Effective keywords: quotes, minus sign, site: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Assess reliability: source, date, author.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Academic databases: Google Scholar, ScienceDirect.</a:t>
            </a:r>
          </a:p>
        </p:txBody>
      </p:sp>
      <p:pic>
        <p:nvPicPr>
          <p:cNvPr id="9" name="Picture 8" descr="c07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Internet Security</a:t>
            </a:r>
          </a:p>
        </p:txBody>
      </p:sp>
      <p:pic>
        <p:nvPicPr>
          <p:cNvPr id="9" name="Picture 8" descr="c07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Internet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Strong passwords and password managers.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Phishing: spotting fake emails and suspicious links.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HTTPS: encrypted connection (padlock in the bar).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Antivirus, firewall and updates.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Protecting personal data.</a:t>
            </a:r>
          </a:p>
        </p:txBody>
      </p:sp>
      <p:pic>
        <p:nvPicPr>
          <p:cNvPr id="9" name="Picture 8" descr="c07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Practical Interest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Communicate freely anywhere in the world.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Access a global library of knowledge.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Handle administrative tasks and online shopping.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Work remotely: video conferencing, collaborative cloud.</a:t>
            </a:r>
          </a:p>
        </p:txBody>
      </p:sp>
      <p:pic>
        <p:nvPicPr>
          <p:cNvPr id="8" name="Picture 7" descr="c07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Self-Assessment (MCQ)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Which protocol is the foundation of the Internet?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HTTP only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TCP/IP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USB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What does DNS do?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It encrypts data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It translates domain names into IP addresses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It stores emails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A secure website starts with: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http://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https://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ftp://</a:t>
            </a:r>
          </a:p>
        </p:txBody>
      </p:sp>
      <p:pic>
        <p:nvPicPr>
          <p:cNvPr id="9" name="Picture 8" descr="c07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The Internet connects people and machines worldwide.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TCP/IP, ISPs, DNS and browsers are its essential building blocks.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Vigilance is essential: security and data protection.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Next course: the World Wide Web in detail.</a:t>
            </a:r>
          </a:p>
        </p:txBody>
      </p:sp>
      <p:pic>
        <p:nvPicPr>
          <p:cNvPr id="9" name="Picture 8" descr="c07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O. Martinot, "Understanding the Internet", Ellipses.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CNIL - practical privacy guides online.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ICT Course materials, University of Mostaganem.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www.internetlivestats.com</a:t>
            </a:r>
          </a:p>
        </p:txBody>
      </p:sp>
      <p:pic>
        <p:nvPicPr>
          <p:cNvPr id="9" name="Picture 8" descr="c07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Thank you for your attention!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07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