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val="F0B429"/&gt;</a:solidFill>
                <a:latin typeface="Poppins"/>
              </a:rPr>
              <a:t>COURS TIC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7589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val="FFFFFF"/&gt;</a:solidFill>
                <a:latin typeface="Poppins"/>
              </a:rPr>
              <a:t>Le World Wide Web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3703320"/>
            <a:ext cx="2377440" cy="2286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val="9AA7B6"/&gt;</a:solidFill>
                <a:latin typeface="Poppins"/>
              </a:rPr>
              <a:t>Dr. BELACEL Madani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val="9AA7B6"/&gt;</a:solidFill>
                <a:latin typeface="Poppins"/>
              </a:rPr>
              <a:t>Année universitaire 2026-2027 / Academic Year 2026-2027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val="9AA7B6"/&gt;</a:solidFill>
                <a:latin typeface="Poppins"/>
              </a:rPr>
              <a:t>Université de Mostaganem - Département Mathématiques et Informatique</a:t>
            </a:r>
          </a:p>
        </p:txBody>
      </p:sp>
      <p:pic>
        <p:nvPicPr>
          <p:cNvPr id="13" name="Picture 12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val="F0B429"/&gt;</a:solidFill>
                <a:latin typeface="Poppins"/>
              </a:rPr>
              <a:t>Plan du cours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1. Web ≠ Internet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2. Concepts fondamentaux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3. Langages du Web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4. Hébergement et publication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5. Du Web 1.0 au Web 3.0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6. Navigation efficace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7. Qualité et fiabilité des contenus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Web ≠ Internet</a:t>
            </a:r>
          </a:p>
        </p:txBody>
      </p:sp>
      <p:pic>
        <p:nvPicPr>
          <p:cNvPr id="9" name="Picture 8" descr="c08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1 - Web ≠ Internet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Internet = infrastructure réseau mondiale.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Web = service fonctionnant SUR Internet (hypertexte).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Autres services : e-mail, FTP, messagerie instantanée.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Inventé par Tim Berners-Lee au CERN en 1989-1991.</a:t>
            </a:r>
          </a:p>
        </p:txBody>
      </p:sp>
      <p:pic>
        <p:nvPicPr>
          <p:cNvPr id="9" name="Picture 8" descr="c08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Concepts fondamentaux</a:t>
            </a:r>
          </a:p>
        </p:txBody>
      </p:sp>
      <p:pic>
        <p:nvPicPr>
          <p:cNvPr id="9" name="Picture 8" descr="c08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2 - Concepts fondamentaux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Site web : ensemble de pages reliées par des liens hypertextes.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URL : adresse d'une ressource (protocole://domaine/chemin).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HTTP/HTTPS : protocole de transfert des pages web.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Client (navigateur) / serveur web : modèle requête-réponse.</a:t>
            </a:r>
          </a:p>
        </p:txBody>
      </p:sp>
      <p:pic>
        <p:nvPicPr>
          <p:cNvPr id="9" name="Picture 8" descr="c08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Langages du Web</a:t>
            </a:r>
          </a:p>
        </p:txBody>
      </p:sp>
      <p:pic>
        <p:nvPicPr>
          <p:cNvPr id="9" name="Picture 8" descr="c08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3 - Langages du Web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HTML : structure et contenu des pages.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CSS : mise en forme et style visuel.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JavaScript : interactivité côté navigateur.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PHP, Python, ASP.NET : programmation côté serveur.</a:t>
            </a:r>
          </a:p>
        </p:txBody>
      </p:sp>
      <p:pic>
        <p:nvPicPr>
          <p:cNvPr id="9" name="Picture 8" descr="c08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Hébergement et publication</a:t>
            </a:r>
          </a:p>
        </p:txBody>
      </p:sp>
      <p:pic>
        <p:nvPicPr>
          <p:cNvPr id="9" name="Picture 8" descr="c08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4 - Hébergement et publication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Nom de domaine : enregistrement (.dz, .com, .org...).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Hébergeur : serveur permanent connecté 24h/24.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Transfert des fichiers via FTP/SFTP.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CMS : WordPress, Joomla pour créer sans coder.</a:t>
            </a:r>
          </a:p>
        </p:txBody>
      </p:sp>
      <p:pic>
        <p:nvPicPr>
          <p:cNvPr id="9" name="Picture 8" descr="c08_08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Du Web 1.0 au Web 3.0</a:t>
            </a:r>
          </a:p>
        </p:txBody>
      </p:sp>
      <p:pic>
        <p:nvPicPr>
          <p:cNvPr id="9" name="Picture 8" descr="c08_09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5 - Du Web 1.0 au Web 3.0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Web 1.0 : pages statiques en lecture seule.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Web 2.0 : participatif, réseaux sociaux, wikis, blogs.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Web sémantique (3.0) : données structurées, IA.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Applications riches : SPA, cloud, temps réel.</a:t>
            </a:r>
          </a:p>
        </p:txBody>
      </p:sp>
      <p:pic>
        <p:nvPicPr>
          <p:cNvPr id="9" name="Picture 8" descr="c08_10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Navigation efficace</a:t>
            </a:r>
          </a:p>
        </p:txBody>
      </p:sp>
      <p:pic>
        <p:nvPicPr>
          <p:cNvPr id="9" name="Picture 8" descr="c08_1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6 - Navigation efficace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Onglets et favoris pour gérer plusieurs sources.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Recherche avancée et filtres.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Extensions utiles : bloqueur de pub, traducteur.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Mode privé et effacement de l'historique.</a:t>
            </a:r>
          </a:p>
        </p:txBody>
      </p:sp>
      <p:pic>
        <p:nvPicPr>
          <p:cNvPr id="9" name="Picture 8" descr="c08_1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Qualité et fiabilité des contenus</a:t>
            </a:r>
          </a:p>
        </p:txBody>
      </p:sp>
      <p:pic>
        <p:nvPicPr>
          <p:cNvPr id="9" name="Picture 8" descr="c08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7 - Qualité et fiabilité des contenus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Vérifier l'auteur, la date et la source du site.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Croiser l'information avec plusieurs références.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Attention aux fausses informations (fake news).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Citer ses sources : respect du droit d'auteur.</a:t>
            </a:r>
          </a:p>
        </p:txBody>
      </p:sp>
      <p:pic>
        <p:nvPicPr>
          <p:cNvPr id="9" name="Picture 8" descr="c08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val="F0B429"/&gt;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val="004A38"/&gt;</a:solidFill>
                <a:latin typeface="Poppins"/>
              </a:rPr>
              <a:t>Intérêt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Créer son propre site ou portfolio professionnel en ligne.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Utiliser le Web comme outil de veille scientifique.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Comprendre le fonctionnement derrière chaque clic.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Base indispensable pour apprendre le développement web.</a:t>
            </a:r>
          </a:p>
        </p:txBody>
      </p:sp>
      <p:pic>
        <p:nvPicPr>
          <p:cNvPr id="8" name="Picture 7" descr="c08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223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val="F0B429"/&gt;</a:solidFill>
                <a:latin typeface="Poppins"/>
              </a:rPr>
              <a:t>Auto-évaluation (QCM)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7223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1. Qui a inventé le Web 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Bill Gates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Tim Berners-Lee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Steve Jobs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2. HTML sert à 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Styliser la page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Structurer le contenu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Gérer la base de données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3. Le Web 2.0 se caractérise par 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Des pages statiques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La participation des utilisateurs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L'absence de liens</a:t>
            </a:r>
          </a:p>
        </p:txBody>
      </p:sp>
      <p:pic>
        <p:nvPicPr>
          <p:cNvPr id="9" name="Picture 8" descr="c08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val="F0B429"/&gt;</a:solidFill>
                <a:latin typeface="Poppin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371600"/>
            <a:ext cx="237744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Le Web est le service le plus utilisé d'Internet.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URL, HTTP, HTML/CSS forment le socle technique.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L'esprit critique reste essentiel face à l'information en ligne.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Prochain cours : les réseaux informatiques.</a:t>
            </a:r>
          </a:p>
        </p:txBody>
      </p:sp>
      <p:pic>
        <p:nvPicPr>
          <p:cNvPr id="9" name="Picture 8" descr="c08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val="F0B429"/&gt;</a:solidFill>
                <a:latin typeface="Poppins"/>
              </a:rPr>
              <a:t>Références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223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T. Berners-Lee, « Weaving the Web », HarperBusiness.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MDN Web Docs (developer.mozilla.org).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Supports de cours Module TIC, Université de Mostaganem.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www.w3.org - consortium du Web.</a:t>
            </a:r>
          </a:p>
        </p:txBody>
      </p:sp>
      <p:pic>
        <p:nvPicPr>
          <p:cNvPr id="9" name="Picture 8" descr="c08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7040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val="F0B429"/&gt;</a:solidFill>
                <a:latin typeface="Poppins"/>
              </a:rPr>
              <a:t>Merci de votre attention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 i="0">
                <a:solidFill>val="FFFFFF"/&gt;</a:solidFill>
                <a:latin typeface="Poppins"/>
              </a:rPr>
              <a:t>Des questions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val="9AA7B6"/&gt;</a:solidFill>
                <a:latin typeface="Poppins"/>
              </a:rPr>
              <a:t>Dr. BELACEL Madani</a:t>
            </a:r>
          </a:p>
        </p:txBody>
      </p:sp>
      <p:pic>
        <p:nvPicPr>
          <p:cNvPr id="10" name="Picture 9" descr="c08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