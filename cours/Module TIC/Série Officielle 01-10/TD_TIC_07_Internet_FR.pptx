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3D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E86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0" y="1097280"/>
            <a:ext cx="2743200" cy="548640"/>
          </a:xfrm>
          <a:prstGeom prst="rect">
            <a:avLst/>
          </a:prstGeom>
          <a:solidFill>
            <a:srgbClr val="2E86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0" y="109728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COURS TIC 07 - TD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011680"/>
            <a:ext cx="76809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TD TIC 07 — Introduction à Internet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84048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D4EDDA"/>
                </a:solidFill>
              </a:defRPr>
            </a:pPr>
            <a:r>
              <a:t>Module TIC · Licence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846320"/>
            <a:ext cx="7680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8BC39A"/>
                </a:solidFill>
              </a:defRPr>
            </a:pPr>
            <a:r>
              <a:t>Dr. BELACEL Madani</a:t>
            </a:r>
            <a:br/>
            <a:r>
              <a:t>Université de Mostaganem</a:t>
            </a:r>
            <a:br/>
            <a:r>
              <a:t>madani.belacel@univ-mosta.dz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9144000" cy="54864"/>
          </a:xfrm>
          <a:prstGeom prst="rect">
            <a:avLst/>
          </a:prstGeom>
          <a:solidFill>
            <a:srgbClr val="2E86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Université_de_Mostagan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0000" y="200000"/>
            <a:ext cx="1400000" cy="1400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1A6B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A6B3C"/>
                </a:solidFill>
              </a:defRPr>
            </a:pPr>
            <a:r>
              <a:t>Plan du cours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05840"/>
            <a:ext cx="2743200" cy="36576"/>
          </a:xfrm>
          <a:prstGeom prst="rect">
            <a:avLst/>
          </a:prstGeom>
          <a:solidFill>
            <a:srgbClr val="2E86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7772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1A1A1A"/>
                </a:solidFill>
              </a:defRPr>
            </a:pPr>
            <a:r>
              <a:t>  1.  Exercice 1 — Définition et acronymes</a:t>
            </a:r>
          </a:p>
          <a:p>
            <a:pPr>
              <a:spcAft>
                <a:spcPts val="1000"/>
              </a:spcAft>
              <a:defRPr sz="1600">
                <a:solidFill>
                  <a:srgbClr val="1A1A1A"/>
                </a:solidFill>
              </a:defRPr>
            </a:pPr>
            <a:r>
              <a:t>  2.  Exercice 2 — Internet vs Web</a:t>
            </a:r>
          </a:p>
          <a:p>
            <a:pPr>
              <a:spcAft>
                <a:spcPts val="1000"/>
              </a:spcAft>
              <a:defRPr sz="1600">
                <a:solidFill>
                  <a:srgbClr val="1A1A1A"/>
                </a:solidFill>
              </a:defRPr>
            </a:pPr>
            <a:r>
              <a:t>  3.  Exercice 3 — Connexion à Internet</a:t>
            </a:r>
          </a:p>
          <a:p>
            <a:pPr>
              <a:spcAft>
                <a:spcPts val="1000"/>
              </a:spcAft>
              <a:defRPr sz="1600">
                <a:solidFill>
                  <a:srgbClr val="1A1A1A"/>
                </a:solidFill>
              </a:defRPr>
            </a:pPr>
            <a:r>
              <a:t>  4.  Exercice 4 — Adresse IP</a:t>
            </a:r>
          </a:p>
          <a:p>
            <a:pPr>
              <a:spcAft>
                <a:spcPts val="1000"/>
              </a:spcAft>
              <a:defRPr sz="1600">
                <a:solidFill>
                  <a:srgbClr val="1A1A1A"/>
                </a:solidFill>
              </a:defRPr>
            </a:pPr>
            <a:r>
              <a:t>  5.  Exercice 5 — Usages et sécurité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1A6B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7772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6B3C"/>
                </a:solidFill>
              </a:defRPr>
            </a:pPr>
            <a:r>
              <a:t>Exercice 1 — Définition et acronymes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51560"/>
            <a:ext cx="2286000" cy="36576"/>
          </a:xfrm>
          <a:prstGeom prst="rect">
            <a:avLst/>
          </a:prstGeom>
          <a:solidFill>
            <a:srgbClr val="2E86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011680"/>
            <a:ext cx="7863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</a:defRPr>
            </a:pPr>
            <a:r>
              <a:t>•  Énoncé :Définir Internet en une phrase et expliquer la signification de TCP/IP.</a:t>
            </a:r>
          </a:p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</a:defRPr>
            </a:pPr>
            <a:r>
              <a:t>•  Corrigé détaillé :- Internet = réseau mondial interconnectant des réseaux locaux/régionaux/internationaux.</a:t>
            </a:r>
            <a:br/>
            <a:r>
              <a:t>- TCP = Transmission Control Protocol (fiabilité de transmission).</a:t>
            </a:r>
            <a:br/>
            <a:r>
              <a:t>- IP = Internet Protocol (adressage et routage des paquets).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59" y="5715000"/>
            <a:ext cx="7955279" cy="86868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59" y="5715000"/>
            <a:ext cx="73152" cy="868680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5760720"/>
            <a:ext cx="76809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E86C00"/>
                </a:solidFill>
              </a:rPr>
              <a:t>🎯 Intérêt pratique :  </a:t>
            </a:r>
            <a:r>
              <a:rPr sz="1100">
                <a:solidFill>
                  <a:srgbClr val="1A1A1A"/>
                </a:solidFill>
              </a:rPr>
              <a:t>Comprendre la définition des TIC vous aide à parler le même langage que vos futurs collègues enseignants.</a:t>
            </a:r>
          </a:p>
        </p:txBody>
      </p:sp>
      <p:pic>
        <p:nvPicPr>
          <p:cNvPr id="9" name="Picture 8" descr="c07_01_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1A6B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7772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6B3C"/>
                </a:solidFill>
              </a:defRPr>
            </a:pPr>
            <a:r>
              <a:t>Exercice 2 — Internet vs Web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51560"/>
            <a:ext cx="2286000" cy="36576"/>
          </a:xfrm>
          <a:prstGeom prst="rect">
            <a:avLst/>
          </a:prstGeom>
          <a:solidFill>
            <a:srgbClr val="2E86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011680"/>
            <a:ext cx="7863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</a:defRPr>
            </a:pPr>
            <a:r>
              <a:t>•  Énoncé :Pour chaque élément, indiquer s'il relève d'Internet, du Web, ou des deux : navigateur Chrome, câble fibre, page HTML, protocole HTTP, routeur.</a:t>
            </a:r>
          </a:p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</a:defRPr>
            </a:pPr>
            <a:r>
              <a:t>•  Corrigé détaillé :- Chrome : Web (client) + Internet (infrastructure).</a:t>
            </a:r>
            <a:br/>
            <a:r>
              <a:t>- Fibre : Internet.</a:t>
            </a:r>
            <a:br/>
            <a:r>
              <a:t>- Page HTML : Web.</a:t>
            </a:r>
            <a:br/>
            <a:r>
              <a:t>- HTTP : Web (service sur Internet).</a:t>
            </a:r>
            <a:br/>
            <a:r>
              <a:t>- Routeur : Internet.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59" y="5715000"/>
            <a:ext cx="7955279" cy="86868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59" y="5715000"/>
            <a:ext cx="73152" cy="868680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5760720"/>
            <a:ext cx="76809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E86C00"/>
                </a:solidFill>
              </a:rPr>
              <a:t>🎯 Intérêt pratique :  </a:t>
            </a:r>
            <a:r>
              <a:rPr sz="1100">
                <a:solidFill>
                  <a:srgbClr val="1A1A1A"/>
                </a:solidFill>
              </a:rPr>
              <a:t>Internet est votre principale source de ressources pédagogiques et de recherche documentaire.</a:t>
            </a:r>
          </a:p>
        </p:txBody>
      </p:sp>
      <p:pic>
        <p:nvPicPr>
          <p:cNvPr id="9" name="Picture 8" descr="c07_02_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1A6B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7772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6B3C"/>
                </a:solidFill>
              </a:defRPr>
            </a:pPr>
            <a:r>
              <a:t>Exercice 3 — Connexion à Internet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51560"/>
            <a:ext cx="2286000" cy="36576"/>
          </a:xfrm>
          <a:prstGeom prst="rect">
            <a:avLst/>
          </a:prstGeom>
          <a:solidFill>
            <a:srgbClr val="2E86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011680"/>
            <a:ext cx="7863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</a:defRPr>
            </a:pPr>
            <a:r>
              <a:t>•  Énoncé :Décrire les étapes pour connecter un portable au Wi-Fi du campus.</a:t>
            </a:r>
          </a:p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</a:defRPr>
            </a:pPr>
            <a:r>
              <a:t>•  Corrigé détaillé :1. Activer le Wi-Fi (icône barre des tâches).</a:t>
            </a:r>
            <a:br/>
            <a:r>
              <a:t>2. Sélectionner le réseau institutionnel.</a:t>
            </a:r>
            <a:br/>
            <a:r>
              <a:t>3. S'authentifier (identifiants universitaires).</a:t>
            </a:r>
            <a:br/>
            <a:r>
              <a:t>4. Vérifier l'accès (ouvrir un site ou Moodle).</a:t>
            </a:r>
            <a:br/>
            <a:r>
              <a:t>5. Verrouiller la session en quittant la salle (Windows+L).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59" y="5715000"/>
            <a:ext cx="7955279" cy="86868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59" y="5715000"/>
            <a:ext cx="73152" cy="868680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5760720"/>
            <a:ext cx="76809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E86C00"/>
                </a:solidFill>
              </a:rPr>
              <a:t>🎯 Intérêt pratique :  </a:t>
            </a:r>
            <a:r>
              <a:rPr sz="1100">
                <a:solidFill>
                  <a:srgbClr val="1A1A1A"/>
                </a:solidFill>
              </a:rPr>
              <a:t>Internet est votre principale source de ressources pédagogiques et de recherche documentaire.</a:t>
            </a:r>
          </a:p>
        </p:txBody>
      </p:sp>
      <p:pic>
        <p:nvPicPr>
          <p:cNvPr id="9" name="Picture 8" descr="c07_03_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1A6B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7772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6B3C"/>
                </a:solidFill>
              </a:defRPr>
            </a:pPr>
            <a:r>
              <a:t>Exercice 4 — Adresse IP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51560"/>
            <a:ext cx="2286000" cy="36576"/>
          </a:xfrm>
          <a:prstGeom prst="rect">
            <a:avLst/>
          </a:prstGeom>
          <a:solidFill>
            <a:srgbClr val="2E86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011680"/>
            <a:ext cx="7863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</a:defRPr>
            </a:pPr>
            <a:r>
              <a:t>•  Énoncé :Quelle est la différence entre IPv4 et le rôle du DHCP ? Donner un exemple d'adresse IP.</a:t>
            </a:r>
          </a:p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</a:defRPr>
            </a:pPr>
            <a:r>
              <a:t>•  Corrigé détaillé :- IPv4 : format 4 octets décimaux (ex.192.168.1.10), identifiant unique sur le réseau.</a:t>
            </a:r>
            <a:br/>
            <a:r>
              <a:t>- DHCP : attribue automatiquement IP, masque et passerelle au poste client.</a:t>
            </a:r>
            <a:br/>
            <a:r>
              <a:t>- Sans DHCP, configuration manuelle nécessaire.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59" y="5715000"/>
            <a:ext cx="7955279" cy="86868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59" y="5715000"/>
            <a:ext cx="73152" cy="868680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5760720"/>
            <a:ext cx="76809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E86C00"/>
                </a:solidFill>
              </a:rPr>
              <a:t>🎯 Intérêt pratique :  </a:t>
            </a:r>
            <a:r>
              <a:rPr sz="1100">
                <a:solidFill>
                  <a:srgbClr val="1A1A1A"/>
                </a:solidFill>
              </a:rPr>
              <a:t>Cette compétence vous servira dans votre vie universitaire et professionnelle.</a:t>
            </a:r>
          </a:p>
        </p:txBody>
      </p:sp>
      <p:pic>
        <p:nvPicPr>
          <p:cNvPr id="9" name="Picture 8" descr="c07_04_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1A6B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7772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6B3C"/>
                </a:solidFill>
              </a:defRPr>
            </a:pPr>
            <a:r>
              <a:t>Exercice 5 — Usages et sécurité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51560"/>
            <a:ext cx="2286000" cy="36576"/>
          </a:xfrm>
          <a:prstGeom prst="rect">
            <a:avLst/>
          </a:prstGeom>
          <a:solidFill>
            <a:srgbClr val="2E86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011680"/>
            <a:ext cx="7863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</a:defRPr>
            </a:pPr>
            <a:r>
              <a:t>•  Énoncé :Citer trois usages académiques d'Internet et deux précautions de sécurité sur réseau public.</a:t>
            </a:r>
          </a:p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</a:defRPr>
            </a:pPr>
            <a:r>
              <a:t>•  Corrigé détaillé :- Usages : Moodle, bibliothèque numérique, visioconférence, dépôt de devoirs.</a:t>
            </a:r>
            <a:br/>
            <a:r>
              <a:t>- Sécurité : éviter transactions sensibles ; utiliser HTTPS ; ne pas partager mots de passe ; VPN si disponible.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59" y="5715000"/>
            <a:ext cx="7955279" cy="86868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59" y="5715000"/>
            <a:ext cx="73152" cy="868680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5760720"/>
            <a:ext cx="76809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E86C00"/>
                </a:solidFill>
              </a:rPr>
              <a:t>🎯 Intérêt pratique :  </a:t>
            </a:r>
            <a:r>
              <a:rPr sz="1100">
                <a:solidFill>
                  <a:srgbClr val="1A1A1A"/>
                </a:solidFill>
              </a:rPr>
              <a:t>Protéger vos données personnelles et académiques est une responsabilité numérique essentielle.</a:t>
            </a:r>
          </a:p>
        </p:txBody>
      </p:sp>
      <p:pic>
        <p:nvPicPr>
          <p:cNvPr id="9" name="Picture 8" descr="c07_05_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7772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E86C00"/>
                </a:solidFill>
              </a:defRPr>
            </a:pPr>
            <a:r>
              <a:t>Application concrète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51560"/>
            <a:ext cx="2743200" cy="36576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011680"/>
            <a:ext cx="7863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</a:defRPr>
            </a:pPr>
            <a:r>
              <a:t>•  Appliquez ces concepts dans vos travaux</a:t>
            </a:r>
          </a:p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</a:defRPr>
            </a:pPr>
            <a:r>
              <a:t>•  Pratiquez lors des TD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4572000"/>
            <a:ext cx="8229600" cy="2011680"/>
          </a:xfrm>
          <a:prstGeom prst="rect">
            <a:avLst/>
          </a:prstGeom>
          <a:solidFill>
            <a:srgbClr val="FFF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4572000"/>
            <a:ext cx="91440" cy="2011680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4663440"/>
            <a:ext cx="7772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E86C00"/>
                </a:solidFill>
              </a:rPr>
              <a:t>Intérêt pratique pour vous
</a:t>
            </a:r>
            <a:r>
              <a:rPr sz="1200">
                <a:solidFill>
                  <a:srgbClr val="1A1A1A"/>
                </a:solidFill>
              </a:rPr>
              <a:t>Cette compétence vous servira dans votre vie universitaire et professionnelle.</a:t>
            </a:r>
          </a:p>
        </p:txBody>
      </p:sp>
      <p:pic>
        <p:nvPicPr>
          <p:cNvPr id="9" name="Picture 8" descr="c07_06_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7772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E86C00"/>
                </a:solidFill>
              </a:defRPr>
            </a:pPr>
            <a:r>
              <a:t>Application concrète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51560"/>
            <a:ext cx="2743200" cy="36576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011680"/>
            <a:ext cx="7863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</a:defRPr>
            </a:pPr>
            <a:r>
              <a:t>•  Appliquez ces concepts dans vos travaux</a:t>
            </a:r>
          </a:p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</a:defRPr>
            </a:pPr>
            <a:r>
              <a:t>•  Pratiquez lors des TD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4572000"/>
            <a:ext cx="8229600" cy="2011680"/>
          </a:xfrm>
          <a:prstGeom prst="rect">
            <a:avLst/>
          </a:prstGeom>
          <a:solidFill>
            <a:srgbClr val="FFF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4572000"/>
            <a:ext cx="91440" cy="2011680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4663440"/>
            <a:ext cx="7772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E86C00"/>
                </a:solidFill>
              </a:rPr>
              <a:t>Intérêt pratique pour vous
</a:t>
            </a:r>
            <a:r>
              <a:rPr sz="1200">
                <a:solidFill>
                  <a:srgbClr val="1A1A1A"/>
                </a:solidFill>
              </a:rPr>
              <a:t>Cette compétence vous servira dans votre vie universitaire et professionnelle.</a:t>
            </a:r>
          </a:p>
        </p:txBody>
      </p:sp>
      <p:pic>
        <p:nvPicPr>
          <p:cNvPr id="9" name="Picture 8" descr="c07_07_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7772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E86C00"/>
                </a:solidFill>
              </a:defRPr>
            </a:pPr>
            <a:r>
              <a:t>Application concrète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51560"/>
            <a:ext cx="2743200" cy="36576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011680"/>
            <a:ext cx="7863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</a:defRPr>
            </a:pPr>
            <a:r>
              <a:t>•  Appliquez ces concepts dans vos travaux</a:t>
            </a:r>
          </a:p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</a:defRPr>
            </a:pPr>
            <a:r>
              <a:t>•  Pratiquez lors des TD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4572000"/>
            <a:ext cx="8229600" cy="2011680"/>
          </a:xfrm>
          <a:prstGeom prst="rect">
            <a:avLst/>
          </a:prstGeom>
          <a:solidFill>
            <a:srgbClr val="FFF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4572000"/>
            <a:ext cx="91440" cy="2011680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4663440"/>
            <a:ext cx="7772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E86C00"/>
                </a:solidFill>
              </a:rPr>
              <a:t>Intérêt pratique pour vous
</a:t>
            </a:r>
            <a:r>
              <a:rPr sz="1200">
                <a:solidFill>
                  <a:srgbClr val="1A1A1A"/>
                </a:solidFill>
              </a:rPr>
              <a:t>Cette compétence vous servira dans votre vie universitaire et professionnelle.</a:t>
            </a:r>
          </a:p>
        </p:txBody>
      </p:sp>
      <p:pic>
        <p:nvPicPr>
          <p:cNvPr id="9" name="Picture 8" descr="c07_08_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7772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E86C00"/>
                </a:solidFill>
              </a:defRPr>
            </a:pPr>
            <a:r>
              <a:t>Application concrète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51560"/>
            <a:ext cx="2743200" cy="36576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011680"/>
            <a:ext cx="7863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</a:defRPr>
            </a:pPr>
            <a:r>
              <a:t>•  Appliquez ces concepts dans vos travaux</a:t>
            </a:r>
          </a:p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</a:defRPr>
            </a:pPr>
            <a:r>
              <a:t>•  Pratiquez lors des TD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4572000"/>
            <a:ext cx="8229600" cy="2011680"/>
          </a:xfrm>
          <a:prstGeom prst="rect">
            <a:avLst/>
          </a:prstGeom>
          <a:solidFill>
            <a:srgbClr val="FFF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4572000"/>
            <a:ext cx="91440" cy="2011680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4663440"/>
            <a:ext cx="7772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E86C00"/>
                </a:solidFill>
              </a:rPr>
              <a:t>Intérêt pratique pour vous
</a:t>
            </a:r>
            <a:r>
              <a:rPr sz="1200">
                <a:solidFill>
                  <a:srgbClr val="1A1A1A"/>
                </a:solidFill>
              </a:rPr>
              <a:t>Cette compétence vous servira dans votre vie universitaire et professionnelle.</a:t>
            </a:r>
          </a:p>
        </p:txBody>
      </p:sp>
      <p:pic>
        <p:nvPicPr>
          <p:cNvPr id="9" name="Picture 8" descr="c07_09_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7772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E86C00"/>
                </a:solidFill>
              </a:defRPr>
            </a:pPr>
            <a:r>
              <a:t>Application concrète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51560"/>
            <a:ext cx="2743200" cy="36576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011680"/>
            <a:ext cx="7863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</a:defRPr>
            </a:pPr>
            <a:r>
              <a:t>•  Appliquez ces concepts dans vos travaux</a:t>
            </a:r>
          </a:p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</a:defRPr>
            </a:pPr>
            <a:r>
              <a:t>•  Pratiquez lors des TD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4572000"/>
            <a:ext cx="8229600" cy="2011680"/>
          </a:xfrm>
          <a:prstGeom prst="rect">
            <a:avLst/>
          </a:prstGeom>
          <a:solidFill>
            <a:srgbClr val="FFF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4572000"/>
            <a:ext cx="91440" cy="2011680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4663440"/>
            <a:ext cx="7772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E86C00"/>
                </a:solidFill>
              </a:rPr>
              <a:t>Intérêt pratique pour vous
</a:t>
            </a:r>
            <a:r>
              <a:rPr sz="1200">
                <a:solidFill>
                  <a:srgbClr val="1A1A1A"/>
                </a:solidFill>
              </a:rPr>
              <a:t>Cette compétence vous servira dans votre vie universitaire et professionnelle.</a:t>
            </a:r>
          </a:p>
        </p:txBody>
      </p:sp>
      <p:pic>
        <p:nvPicPr>
          <p:cNvPr id="9" name="Picture 8" descr="c07_10_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7772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E86C00"/>
                </a:solidFill>
              </a:defRPr>
            </a:pPr>
            <a:r>
              <a:t>Application concrète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51560"/>
            <a:ext cx="2743200" cy="36576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011680"/>
            <a:ext cx="7863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</a:defRPr>
            </a:pPr>
            <a:r>
              <a:t>•  Appliquez ces concepts dans vos travaux</a:t>
            </a:r>
          </a:p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</a:defRPr>
            </a:pPr>
            <a:r>
              <a:t>•  Pratiquez lors des TD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4572000"/>
            <a:ext cx="8229600" cy="2011680"/>
          </a:xfrm>
          <a:prstGeom prst="rect">
            <a:avLst/>
          </a:prstGeom>
          <a:solidFill>
            <a:srgbClr val="FFF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4572000"/>
            <a:ext cx="91440" cy="2011680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4663440"/>
            <a:ext cx="7772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E86C00"/>
                </a:solidFill>
              </a:rPr>
              <a:t>Intérêt pratique pour vous
</a:t>
            </a:r>
            <a:r>
              <a:rPr sz="1200">
                <a:solidFill>
                  <a:srgbClr val="1A1A1A"/>
                </a:solidFill>
              </a:rPr>
              <a:t>Cette compétence vous servira dans votre vie universitaire et professionnelle.</a:t>
            </a:r>
          </a:p>
        </p:txBody>
      </p:sp>
      <p:pic>
        <p:nvPicPr>
          <p:cNvPr id="9" name="Picture 8" descr="c07_11_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7772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E86C00"/>
                </a:solidFill>
              </a:defRPr>
            </a:pPr>
            <a:r>
              <a:t>Synthèse : Intérêt pratique global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51560"/>
            <a:ext cx="2743200" cy="36576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011680"/>
            <a:ext cx="7863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</a:defRPr>
            </a:pPr>
            <a:r>
              <a:t>•  Exercice 1 — Définition et acronymes</a:t>
            </a:r>
          </a:p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</a:defRPr>
            </a:pPr>
            <a:r>
              <a:t>•  Exercice 2 — Internet vs Web</a:t>
            </a:r>
          </a:p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</a:defRPr>
            </a:pPr>
            <a:r>
              <a:t>•  Exercice 3 — Connexion à Internet</a:t>
            </a:r>
          </a:p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</a:defRPr>
            </a:pPr>
            <a:r>
              <a:t>•  Exercice 4 — Adresse IP</a:t>
            </a:r>
          </a:p>
          <a:p>
            <a:pPr>
              <a:spcAft>
                <a:spcPts val="600"/>
              </a:spcAft>
              <a:defRPr sz="1500">
                <a:solidFill>
                  <a:srgbClr val="1A1A1A"/>
                </a:solidFill>
              </a:defRPr>
            </a:pPr>
            <a:r>
              <a:t>•  Exercice 5 — Usages et sécurité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4572000"/>
            <a:ext cx="8229600" cy="2011680"/>
          </a:xfrm>
          <a:prstGeom prst="rect">
            <a:avLst/>
          </a:prstGeom>
          <a:solidFill>
            <a:srgbClr val="FFF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4572000"/>
            <a:ext cx="91440" cy="2011680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4663440"/>
            <a:ext cx="7772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E86C00"/>
                </a:solidFill>
              </a:rPr>
              <a:t>Intérêt pratique pour vous
</a:t>
            </a:r>
            <a:r>
              <a:rPr sz="1200">
                <a:solidFill>
                  <a:srgbClr val="1A1A1A"/>
                </a:solidFill>
              </a:rPr>
              <a:t>Ensemble, ces compétences numériques vous permettent de travailler efficacement, communiquer professionnellement et résoudre les problèmes courants de la vie universitaire.</a:t>
            </a:r>
          </a:p>
        </p:txBody>
      </p:sp>
      <p:pic>
        <p:nvPicPr>
          <p:cNvPr id="9" name="Picture 8" descr="c07_12_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3D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E86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7863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D4EDDA"/>
                </a:solidFill>
              </a:defRPr>
            </a:pPr>
            <a:r>
              <a:t>•  Exercice 1 — Définition et acronymes</a:t>
            </a:r>
          </a:p>
          <a:p>
            <a:pPr>
              <a:spcAft>
                <a:spcPts val="600"/>
              </a:spcAft>
              <a:defRPr sz="1600">
                <a:solidFill>
                  <a:srgbClr val="D4EDDA"/>
                </a:solidFill>
              </a:defRPr>
            </a:pPr>
            <a:r>
              <a:t>•  Exercice 2 — Internet vs Web</a:t>
            </a:r>
          </a:p>
          <a:p>
            <a:pPr>
              <a:spcAft>
                <a:spcPts val="600"/>
              </a:spcAft>
              <a:defRPr sz="1600">
                <a:solidFill>
                  <a:srgbClr val="D4EDDA"/>
                </a:solidFill>
              </a:defRPr>
            </a:pPr>
            <a:r>
              <a:t>•  Exercice 3 — Connexion à Internet</a:t>
            </a:r>
          </a:p>
          <a:p>
            <a:pPr>
              <a:spcAft>
                <a:spcPts val="600"/>
              </a:spcAft>
              <a:defRPr sz="1600">
                <a:solidFill>
                  <a:srgbClr val="D4EDDA"/>
                </a:solidFill>
              </a:defRPr>
            </a:pPr>
            <a:r>
              <a:t>•  Exercice 4 — Adresse IP</a:t>
            </a:r>
          </a:p>
          <a:p>
            <a:pPr>
              <a:spcAft>
                <a:spcPts val="600"/>
              </a:spcAft>
              <a:defRPr sz="1600">
                <a:solidFill>
                  <a:srgbClr val="D4EDDA"/>
                </a:solidFill>
              </a:defRPr>
            </a:pPr>
            <a:r>
              <a:t>•  Exercice 5 — Usages et sécurité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5029200"/>
            <a:ext cx="7680960" cy="36576"/>
          </a:xfrm>
          <a:prstGeom prst="rect">
            <a:avLst/>
          </a:prstGeom>
          <a:solidFill>
            <a:srgbClr val="2E86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5303520"/>
            <a:ext cx="7680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8BC39A"/>
                </a:solidFill>
              </a:defRPr>
            </a:pPr>
            <a:r>
              <a:t>Dr. BELACEL Madani</a:t>
            </a:r>
            <a:br/>
            <a:r>
              <a:t>Université de Mostaganem</a:t>
            </a:r>
            <a:br/>
            <a:r>
              <a:t>madani.belacel@univ-mosta.dz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803136"/>
            <a:ext cx="9144000" cy="54864"/>
          </a:xfrm>
          <a:prstGeom prst="rect">
            <a:avLst/>
          </a:prstGeom>
          <a:solidFill>
            <a:srgbClr val="2E86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c07_01_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555555"/>
                </a:solidFill>
              </a:defRPr>
            </a:pPr>
            <a:r>
              <a:t>Références et ressources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7863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555555"/>
                </a:solidFill>
              </a:defRPr>
            </a:pPr>
            <a:r>
              <a:t>•  Programme national TIC - Ministère</a:t>
            </a:r>
          </a:p>
          <a:p>
            <a:pPr>
              <a:spcAft>
                <a:spcPts val="600"/>
              </a:spcAft>
              <a:defRPr sz="1400">
                <a:solidFill>
                  <a:srgbClr val="555555"/>
                </a:solidFill>
              </a:defRPr>
            </a:pPr>
            <a:r>
              <a:t>•  UIT - Définitions TIC</a:t>
            </a:r>
          </a:p>
          <a:p>
            <a:pPr>
              <a:spcAft>
                <a:spcPts val="600"/>
              </a:spcAft>
              <a:defRPr sz="1400">
                <a:solidFill>
                  <a:srgbClr val="555555"/>
                </a:solidFill>
              </a:defRPr>
            </a:pPr>
            <a:r>
              <a:t>•  UNESCO - Compétences numériques</a:t>
            </a:r>
          </a:p>
          <a:p>
            <a:pPr>
              <a:spcAft>
                <a:spcPts val="600"/>
              </a:spcAft>
              <a:defRPr sz="1400">
                <a:solidFill>
                  <a:srgbClr val="555555"/>
                </a:solidFill>
              </a:defRPr>
            </a:pPr>
            <a:r>
              <a:t>•  Guide Moodle Univ-Mosta</a:t>
            </a:r>
          </a:p>
        </p:txBody>
      </p:sp>
      <p:pic>
        <p:nvPicPr>
          <p:cNvPr id="5" name="Picture 4" descr="c07_02_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