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051560"/>
            <a:ext cx="7040880" cy="27432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7040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 i="0">
                <a:solidFill>val="F0B429"/&gt;</a:solidFill>
                <a:latin typeface="Poppins"/>
              </a:rPr>
              <a:t>COURS TIC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75895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val="FFFFFF"/&gt;</a:solidFill>
                <a:latin typeface="Poppins"/>
              </a:rPr>
              <a:t>Introduction aux Technologies de l'Information et de la Communication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154680" y="3703320"/>
            <a:ext cx="2377440" cy="2286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977639"/>
            <a:ext cx="7040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 i="0">
                <a:solidFill>val="9AA7B6"/&gt;</a:solidFill>
                <a:latin typeface="Poppins"/>
              </a:rPr>
              <a:t>Dr. BELACEL Madani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526280"/>
            <a:ext cx="7040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1">
                <a:solidFill>val="9AA7B6"/&gt;</a:solidFill>
                <a:latin typeface="Poppins"/>
              </a:rPr>
              <a:t>Année universitaire 2026-2027 / Academic Year 2026-2027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806440"/>
            <a:ext cx="7040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1">
                <a:solidFill>val="9AA7B6"/&gt;</a:solidFill>
                <a:latin typeface="Poppins"/>
              </a:rPr>
              <a:t>Université de Mostaganem - Département Mathématiques et Informatique</a:t>
            </a:r>
          </a:p>
        </p:txBody>
      </p:sp>
      <p:pic>
        <p:nvPicPr>
          <p:cNvPr id="13" name="Picture 12" descr="Université_de_Mostagan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00000"/>
            <a:ext cx="1400000" cy="14000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7223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 i="0">
                <a:solidFill>val="F0B429"/&gt;</a:solidFill>
                <a:latin typeface="Poppins"/>
              </a:rPr>
              <a:t>Plan du cours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1. Définition des TIC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2. Historique et évolution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3. Composantes des TIC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4. Impact des TIC sur la société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5. TIC dans l'éducation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6. Numérique : concepts de base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7. Perspectives et tendances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Définition des TIC</a:t>
            </a:r>
          </a:p>
        </p:txBody>
      </p:sp>
      <p:pic>
        <p:nvPicPr>
          <p:cNvPr id="9" name="Picture 8" descr="c01_01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1 - Définition des TIC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TIC = ensemble des technologies de traitement et transmission de l'information.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Comprend : informatique, électronique, télécommunications et réseaux.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Outils : ordinateurs, smartphones, Internet, logiciels et applications.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Objectif : collecter, traiter, stocker et diffuser l'information.</a:t>
            </a:r>
          </a:p>
        </p:txBody>
      </p:sp>
      <p:pic>
        <p:nvPicPr>
          <p:cNvPr id="9" name="Picture 8" descr="c01_02_compon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Historique et évolution</a:t>
            </a:r>
          </a:p>
        </p:txBody>
      </p:sp>
      <p:pic>
        <p:nvPicPr>
          <p:cNvPr id="9" name="Picture 8" descr="c01_03_edu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2 - Historique et évolution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Écriture et imprimerie : premières révolutions de l'information.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Télégraphe (1837), téléphone (1876), radio et télévision.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Premier ordinateur électronique ENIAC (1946).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Invention du transistor (1947) puis des microprocesseurs (1971).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Naissance d'Internet (ARPANET, 1969) et du Web (1990).</a:t>
            </a:r>
          </a:p>
        </p:txBody>
      </p:sp>
      <p:pic>
        <p:nvPicPr>
          <p:cNvPr id="9" name="Picture 8" descr="c01_04_elear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Composantes des TIC</a:t>
            </a:r>
          </a:p>
        </p:txBody>
      </p:sp>
      <p:pic>
        <p:nvPicPr>
          <p:cNvPr id="9" name="Picture 8" descr="c01_05_too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3 - Composantes des TIC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Matériel (hardware) : machines et périphériques.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Logiciel (software) : programmes et systèmes d'exploitation.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Réseaux : infrastructures de communication filaires et sans fil.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Données : information numérisée et structurée.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Ressources humaines : utilisateurs et spécialistes.</a:t>
            </a:r>
          </a:p>
        </p:txBody>
      </p:sp>
      <p:pic>
        <p:nvPicPr>
          <p:cNvPr id="9" name="Picture 8" descr="c01_06_l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Impact des TIC sur la société</a:t>
            </a:r>
          </a:p>
        </p:txBody>
      </p:sp>
      <p:pic>
        <p:nvPicPr>
          <p:cNvPr id="9" name="Picture 8" descr="c01_07_advant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4 - Impact des TIC sur la société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Communication instantanée à l'échelle mondiale.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Accès au savoir : bibliothèques numériques, cours en ligne (MOOC).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Transformation du travail : télétravail, bureautique, automatisation.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Nouveaux métiers : développeur, administrateur réseau, data scientist.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Défis : fracture numérique, protection des données, dépendance.</a:t>
            </a:r>
          </a:p>
        </p:txBody>
      </p:sp>
      <p:pic>
        <p:nvPicPr>
          <p:cNvPr id="9" name="Picture 8" descr="c01_08_div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TIC dans l'éducation</a:t>
            </a:r>
          </a:p>
        </p:txBody>
      </p:sp>
      <p:pic>
        <p:nvPicPr>
          <p:cNvPr id="9" name="Picture 8" descr="c01_09_pedag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5 - TIC dans l'éducation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Tableaux interactifs et vidéoprojections en classe.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Plateformes e-learning : Moodle, Google Classroom, Teams.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Ressources pédagogiques numériques : vidéos, simulations, quiz.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Enseignement à distance et classes hybrides.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Suivi individualisé des apprentissages grâce aux outils numériques.</a:t>
            </a:r>
          </a:p>
        </p:txBody>
      </p:sp>
      <p:pic>
        <p:nvPicPr>
          <p:cNvPr id="9" name="Picture 8" descr="c01_10_v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Numérique : concepts de base</a:t>
            </a:r>
          </a:p>
        </p:txBody>
      </p:sp>
      <p:pic>
        <p:nvPicPr>
          <p:cNvPr id="9" name="Picture 8" descr="c01_11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6 - Numérique : concepts de base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Information analogique vs numérique.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Le bit (0 ou 1) : unité élémentaire d'information.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Octet (byte) = 8 bits ; multiples : Ko, Mo, Go, To.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Codage binaire de toutes les données : textes, images, sons.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Capacité de stockage et vitesse de traitement.</a:t>
            </a:r>
          </a:p>
        </p:txBody>
      </p:sp>
      <p:pic>
        <p:nvPicPr>
          <p:cNvPr id="9" name="Picture 8" descr="c01_12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Perspectives et tendances</a:t>
            </a:r>
          </a:p>
        </p:txBody>
      </p:sp>
      <p:pic>
        <p:nvPicPr>
          <p:cNvPr id="9" name="Picture 8" descr="c01_01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7 - Perspectives et tendances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Intelligence artificielle et apprentissage automatique.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Cloud computing : stockage et services en ligne.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Objets connectés (IoT) et villes intelligentes.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Big data : analyse de masses de données.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Cybersécurité : un enjeu majeur du numérique.</a:t>
            </a:r>
          </a:p>
        </p:txBody>
      </p:sp>
      <p:pic>
        <p:nvPicPr>
          <p:cNvPr id="9" name="Picture 8" descr="c01_02_compon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val="F0B429"/&gt;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7223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val="004A38"/&gt;</a:solidFill>
                <a:latin typeface="Poppins"/>
              </a:rPr>
              <a:t>Intérêt pratique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700">
                <a:solidFill>val="004A38"/&gt;</a:solidFill>
                <a:latin typeface="Poppins"/>
              </a:rPr>
              <a:t>▪  Les TIC sont présentes dans tous les domaines : santé, banque, commerce, éducation.</a:t>
            </a:r>
          </a:p>
          <a:p>
            <a:pPr>
              <a:spcAft>
                <a:spcPts val="1100"/>
              </a:spcAft>
            </a:pPr>
            <a:r>
              <a:rPr sz="1700">
                <a:solidFill>val="004A38"/&gt;</a:solidFill>
                <a:latin typeface="Poppins"/>
              </a:rPr>
              <a:t>▪  Maîtriser les TIC est une compétence professionnelle indispensable.</a:t>
            </a:r>
          </a:p>
          <a:p>
            <a:pPr>
              <a:spcAft>
                <a:spcPts val="1100"/>
              </a:spcAft>
            </a:pPr>
            <a:r>
              <a:rPr sz="1700">
                <a:solidFill>val="004A38"/&gt;</a:solidFill>
                <a:latin typeface="Poppins"/>
              </a:rPr>
              <a:t>▪  Elles permettent de gagner du temps, réduire les coûts et améliorer la qualité.</a:t>
            </a:r>
          </a:p>
          <a:p>
            <a:pPr>
              <a:spcAft>
                <a:spcPts val="1100"/>
              </a:spcAft>
            </a:pPr>
            <a:r>
              <a:rPr sz="1700">
                <a:solidFill>val="004A38"/&gt;</a:solidFill>
                <a:latin typeface="Poppins"/>
              </a:rPr>
              <a:t>▪  Exemples : paiement en ligne, télémédecine, e-gouvernement, e-learning.</a:t>
            </a:r>
          </a:p>
        </p:txBody>
      </p:sp>
      <p:pic>
        <p:nvPicPr>
          <p:cNvPr id="8" name="Picture 7" descr="c01_03_edu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72237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val="F0B429"/&gt;</a:solidFill>
                <a:latin typeface="Poppins"/>
              </a:rPr>
              <a:t>Auto-évaluation (QCM)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188720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7223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 b="1">
                <a:solidFill>val="FFFFFF"/&gt;</a:solidFill>
                <a:latin typeface="Poppins"/>
              </a:rPr>
              <a:t>1. Que signifie TIC ?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a) Techniques Industriels et Commerciaux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b) Technologies de l'Information et de la Communication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c) Traitement Informatique des Calculs</a:t>
            </a:r>
          </a:p>
          <a:p>
            <a:pPr>
              <a:spcAft>
                <a:spcPts val="200"/>
              </a:spcAft>
            </a:pPr>
            <a:r>
              <a:rPr sz="1500" b="1">
                <a:solidFill>val="FFFFFF"/&gt;</a:solidFill>
                <a:latin typeface="Poppins"/>
              </a:rPr>
              <a:t>2. Quel événement a marqué la naissance d'Internet ?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a) L'invention du transistor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b) La création d'ARPANET en 1969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c) L'apparition du Web en 1990</a:t>
            </a:r>
          </a:p>
          <a:p>
            <a:pPr>
              <a:spcAft>
                <a:spcPts val="200"/>
              </a:spcAft>
            </a:pPr>
            <a:r>
              <a:rPr sz="1500" b="1">
                <a:solidFill>val="FFFFFF"/&gt;</a:solidFill>
                <a:latin typeface="Poppins"/>
              </a:rPr>
              <a:t>3. Un octet contient :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a) 4 bits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b) 8 bits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c) 16 bits</a:t>
            </a:r>
          </a:p>
        </p:txBody>
      </p:sp>
      <p:pic>
        <p:nvPicPr>
          <p:cNvPr id="9" name="Picture 8" descr="c01_04_elear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7223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val="F0B429"/&gt;</a:solidFill>
                <a:latin typeface="Poppins"/>
              </a:rPr>
              <a:t>Conclusion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154680" y="1371600"/>
            <a:ext cx="237744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val="FFFFFF"/&gt;</a:solidFill>
                <a:latin typeface="Poppins"/>
              </a:rPr>
              <a:t>▪  Les TIC regroupent l'informatique, les réseaux et les télécommunications.</a:t>
            </a:r>
          </a:p>
          <a:p>
            <a:pPr>
              <a:spcAft>
                <a:spcPts val="1200"/>
              </a:spcAft>
            </a:pPr>
            <a:r>
              <a:rPr sz="1800">
                <a:solidFill>val="FFFFFF"/&gt;</a:solidFill>
                <a:latin typeface="Poppins"/>
              </a:rPr>
              <a:t>▪  Elles ont transformé profondément la société, le travail et l'éducation.</a:t>
            </a:r>
          </a:p>
          <a:p>
            <a:pPr>
              <a:spcAft>
                <a:spcPts val="1200"/>
              </a:spcAft>
            </a:pPr>
            <a:r>
              <a:rPr sz="1800">
                <a:solidFill>val="FFFFFF"/&gt;</a:solidFill>
                <a:latin typeface="Poppins"/>
              </a:rPr>
              <a:t>▪  Comprendre leurs fondements est la première étape vers la maîtrise du numérique.</a:t>
            </a:r>
          </a:p>
          <a:p>
            <a:pPr>
              <a:spcAft>
                <a:spcPts val="1200"/>
              </a:spcAft>
            </a:pPr>
            <a:r>
              <a:rPr sz="1800">
                <a:solidFill>val="FFFFFF"/&gt;</a:solidFill>
                <a:latin typeface="Poppins"/>
              </a:rPr>
              <a:t>▪  Prochain cours : l'ordinateur et ses composants.</a:t>
            </a:r>
          </a:p>
        </p:txBody>
      </p:sp>
      <p:pic>
        <p:nvPicPr>
          <p:cNvPr id="9" name="Picture 8" descr="c01_05_too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7223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val="F0B429"/&gt;</a:solidFill>
                <a:latin typeface="Poppins"/>
              </a:rPr>
              <a:t>Références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7223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500">
                <a:solidFill>val="9AA7B6"/&gt;</a:solidFill>
                <a:latin typeface="Poppins"/>
              </a:rPr>
              <a:t>- C. Balpe et al., « Initiation à l'informatique », Ellipses.</a:t>
            </a:r>
          </a:p>
          <a:p>
            <a:pPr>
              <a:spcAft>
                <a:spcPts val="1300"/>
              </a:spcAft>
            </a:pPr>
            <a:r>
              <a:rPr sz="1500">
                <a:solidFill>val="9AA7B6"/&gt;</a:solidFill>
                <a:latin typeface="Poppins"/>
              </a:rPr>
              <a:t>- J. Baudouin, « Introduction aux sciences de l'information », Armand Colin.</a:t>
            </a:r>
          </a:p>
          <a:p>
            <a:pPr>
              <a:spcAft>
                <a:spcPts val="1300"/>
              </a:spcAft>
            </a:pPr>
            <a:r>
              <a:rPr sz="1500">
                <a:solidFill>val="9AA7B6"/&gt;</a:solidFill>
                <a:latin typeface="Poppins"/>
              </a:rPr>
              <a:t>- Supports de cours Module TIC, Département MI, Université de Mostaganem.</a:t>
            </a:r>
          </a:p>
          <a:p>
            <a:pPr>
              <a:spcAft>
                <a:spcPts val="1300"/>
              </a:spcAft>
            </a:pPr>
            <a:r>
              <a:rPr sz="1500">
                <a:solidFill>val="9AA7B6"/&gt;</a:solidFill>
                <a:latin typeface="Poppins"/>
              </a:rPr>
              <a:t>- Sites officiels : www.education.dz, www.w3schools.com.</a:t>
            </a:r>
          </a:p>
        </p:txBody>
      </p:sp>
      <p:pic>
        <p:nvPicPr>
          <p:cNvPr id="9" name="Picture 8" descr="c01_06_l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463040"/>
            <a:ext cx="7040880" cy="27432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70408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800" b="1" i="0">
                <a:solidFill>val="F0B429"/&gt;</a:solidFill>
                <a:latin typeface="Poppins"/>
              </a:rPr>
              <a:t>Merci de votre attention 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66160"/>
            <a:ext cx="7040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0" i="0">
                <a:solidFill>val="FFFFFF"/&gt;</a:solidFill>
                <a:latin typeface="Poppins"/>
              </a:rPr>
              <a:t>Des questions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20640"/>
            <a:ext cx="7040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val="9AA7B6"/&gt;</a:solidFill>
                <a:latin typeface="Poppins"/>
              </a:rPr>
              <a:t>Dr. BELACEL Madani</a:t>
            </a:r>
          </a:p>
        </p:txBody>
      </p:sp>
      <p:pic>
        <p:nvPicPr>
          <p:cNvPr id="10" name="Picture 9" descr="c01_07_advant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