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05156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7040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1" i="0">
                <a:solidFill>val="F0B429"/&gt;</a:solidFill>
                <a:latin typeface="Poppins"/>
              </a:rPr>
              <a:t>COURS TIC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7589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val="FFFFFF"/&gt;</a:solidFill>
                <a:latin typeface="Poppins"/>
              </a:rPr>
              <a:t>Internet : Principes et Utilisation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3703320"/>
            <a:ext cx="2377440" cy="2286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977639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 i="0">
                <a:solidFill>val="9AA7B6"/&gt;</a:solidFill>
                <a:latin typeface="Poppins"/>
              </a:rPr>
              <a:t>Dr. BELACEL Madani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2628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1">
                <a:solidFill>val="9AA7B6"/&gt;</a:solidFill>
                <a:latin typeface="Poppins"/>
              </a:rPr>
              <a:t>Année universitaire 2026-2027 / Academic Year 2026-2027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06440"/>
            <a:ext cx="7040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1">
                <a:solidFill>val="9AA7B6"/&gt;</a:solidFill>
                <a:latin typeface="Poppins"/>
              </a:rPr>
              <a:t>Université de Mostaganem - Département Mathématiques et Informatique</a:t>
            </a:r>
          </a:p>
        </p:txBody>
      </p:sp>
      <p:pic>
        <p:nvPicPr>
          <p:cNvPr id="13" name="Picture 12" descr="Université_de_Mostagan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00000"/>
            <a:ext cx="1400000" cy="14000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val="F0B429"/&gt;</a:solidFill>
                <a:latin typeface="Poppins"/>
              </a:rPr>
              <a:t>Plan du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002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1. Définition d'Internet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2. Historique d'Internet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3. Se connecter à Internet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4. Les navigateurs web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5. Courrier électronique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6. Recherche d'information</a:t>
            </a:r>
          </a:p>
          <a:p>
            <a:pPr>
              <a:spcAft>
                <a:spcPts val="1200"/>
              </a:spcAft>
            </a:pPr>
            <a:r>
              <a:rPr sz="1900">
                <a:solidFill>val="FFFFFF"/&gt;</a:solidFill>
                <a:latin typeface="Poppins"/>
              </a:rPr>
              <a:t>▪  7. Sécurité sur Internet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Définition d'Internet</a:t>
            </a:r>
          </a:p>
        </p:txBody>
      </p:sp>
      <p:pic>
        <p:nvPicPr>
          <p:cNvPr id="9" name="Picture 8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1 - Définition d'Internet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Réseau mondial interconnectant des millions de réseaux.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Infrastructure physique : câbles, fibres, satellites, routeurs.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Basé sur la famille de protocoles TCP/IP.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Services : Web, courrier, messagerie, streaming, cloud.</a:t>
            </a:r>
          </a:p>
        </p:txBody>
      </p:sp>
      <p:pic>
        <p:nvPicPr>
          <p:cNvPr id="9" name="Picture 8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Historique d'Internet</a:t>
            </a:r>
          </a:p>
        </p:txBody>
      </p:sp>
      <p:pic>
        <p:nvPicPr>
          <p:cNvPr id="9" name="Picture 8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2 - Historique d'Internet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1969 : ARPANET, projet militaire américain.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1983 : adoption de TCP/IP, naissance technique d'Internet.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1991 : ouverture au grand public et au commerce.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Aujourd'hui : plus de 5 milliards d'utilisateurs dans le monde.</a:t>
            </a:r>
          </a:p>
        </p:txBody>
      </p:sp>
      <p:pic>
        <p:nvPicPr>
          <p:cNvPr id="9" name="Picture 8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Se connecter à Internet</a:t>
            </a:r>
          </a:p>
        </p:txBody>
      </p:sp>
      <p:pic>
        <p:nvPicPr>
          <p:cNvPr id="9" name="Picture 8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3 - Se connecter à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Fournisseur d'accès (FAI) : opérateur télécom.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Modes de connexion : ADSL, fibre optique, 4G/5G, satellite.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Équipements : modem, routeur, box Wi-Fi.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Adresse IP : identifiant unique de chaque machine.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DNS : annuaire traduisant les noms de domaines en IP.</a:t>
            </a:r>
          </a:p>
        </p:txBody>
      </p:sp>
      <p:pic>
        <p:nvPicPr>
          <p:cNvPr id="9" name="Picture 8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Les navigateurs web</a:t>
            </a:r>
          </a:p>
        </p:txBody>
      </p:sp>
      <p:pic>
        <p:nvPicPr>
          <p:cNvPr id="9" name="Picture 8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4 - Les navigateurs web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Logiciels d'accès aux sites : Chrome, Firefox, Edge, Safari.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Barre d'adresse : URL du site visité.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Onglets, favoris et historique.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Téléchargements et paramétrage (langue, sécurité).</a:t>
            </a:r>
          </a:p>
        </p:txBody>
      </p:sp>
      <p:pic>
        <p:nvPicPr>
          <p:cNvPr id="9" name="Picture 8" descr="c07_08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Courrier électronique</a:t>
            </a:r>
          </a:p>
        </p:txBody>
      </p:sp>
      <p:pic>
        <p:nvPicPr>
          <p:cNvPr id="9" name="Picture 8" descr="c07_09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5 - Courrier électronique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Adresse e-mail : utilisateur@domaine (ex : nom@univ-bechar.dz).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Composition : destinataire, objet, corps, pièces jointes.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Protocoles : SMTP (envoi), POP3/IMAP (réception).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Webmail vs client lourd (Outlook, Thunderbird).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Netiquette : politesse, objet clair, Cci pour groupes.</a:t>
            </a:r>
          </a:p>
        </p:txBody>
      </p:sp>
      <p:pic>
        <p:nvPicPr>
          <p:cNvPr id="9" name="Picture 8" descr="c07_10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Recherche d'information</a:t>
            </a:r>
          </a:p>
        </p:txBody>
      </p:sp>
      <p:pic>
        <p:nvPicPr>
          <p:cNvPr id="9" name="Picture 8" descr="c07_1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6 - Recherche d'information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Moteurs de recherche : Google, Bing, Qwant.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Mots-clés efficaces : guillemets, signe -, site: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Évaluer la fiabilité : source, date, auteur.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Bases académiques : Google Scholar, ScienceDirect.</a:t>
            </a:r>
          </a:p>
        </p:txBody>
      </p:sp>
      <p:pic>
        <p:nvPicPr>
          <p:cNvPr id="9" name="Picture 8" descr="c07_1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651760"/>
            <a:ext cx="9144000" cy="1143000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54480"/>
            <a:ext cx="6858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i="0">
                <a:solidFill>val="9AA7B6"/&gt;</a:solidFill>
                <a:latin typeface="Poppins"/>
              </a:rPr>
              <a:t>Section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7406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i="0">
                <a:solidFill>val="F0B429"/&gt;</a:solidFill>
                <a:latin typeface="Poppins"/>
              </a:rPr>
              <a:t>Sécurité sur Internet</a:t>
            </a:r>
          </a:p>
        </p:txBody>
      </p:sp>
      <p:pic>
        <p:nvPicPr>
          <p:cNvPr id="9" name="Picture 8" descr="c07_01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457200"/>
            <a:ext cx="74066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i="0">
                <a:solidFill>val="F0B429"/&gt;</a:solidFill>
                <a:latin typeface="Poppins"/>
              </a:rPr>
              <a:t>7 - Sécurité sur Internet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Mots de passe robustes et gestionnaires de mots de passe.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Phishing : repérer les faux messages et liens suspects.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HTTPS : connexion chiffrée (cadenas dans la barre).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Antivirus, pare-feu et mises à jour.</a:t>
            </a:r>
          </a:p>
          <a:p>
            <a:pPr>
              <a:spcAft>
                <a:spcPts val="1100"/>
              </a:spcAft>
            </a:pPr>
            <a:r>
              <a:rPr sz="1800">
                <a:solidFill>val="FFFFFF"/&gt;</a:solidFill>
                <a:latin typeface="Poppins"/>
              </a:rPr>
              <a:t>▪  Protection des données personnelles.</a:t>
            </a:r>
          </a:p>
        </p:txBody>
      </p:sp>
      <p:pic>
        <p:nvPicPr>
          <p:cNvPr id="9" name="Picture 8" descr="c07_02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val="F0B429"/&gt;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val="004A38"/&gt;</a:solidFill>
                <a:latin typeface="Poppins"/>
              </a:rPr>
              <a:t>Intérêt pratique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Communiquer gratuitement partout dans le monde.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Accéder à une bibliothèque mondiale de savoirs.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Effectuer démarches administratives et achats en ligne.</a:t>
            </a:r>
          </a:p>
          <a:p>
            <a:pPr>
              <a:spcAft>
                <a:spcPts val="1100"/>
              </a:spcAft>
            </a:pPr>
            <a:r>
              <a:rPr sz="1700">
                <a:solidFill>val="004A38"/&gt;</a:solidFill>
                <a:latin typeface="Poppins"/>
              </a:rPr>
              <a:t>▪  Travailler à distance : visioconférence, cloud collaboratif.</a:t>
            </a:r>
          </a:p>
        </p:txBody>
      </p:sp>
      <p:pic>
        <p:nvPicPr>
          <p:cNvPr id="8" name="Picture 7" descr="c07_03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57200"/>
            <a:ext cx="7223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val="F0B429"/&gt;</a:solidFill>
                <a:latin typeface="Poppins"/>
              </a:rPr>
              <a:t>Auto-évaluation (QCM)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188720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72237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1. Quel protocole est le fondement d'Internet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HTTP uniquement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TCP/IP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USB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2. Que fait le DNS ?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Il chiffre les données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Il traduit les noms de domaine en adresses IP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Il stocke les e-mails</a:t>
            </a:r>
          </a:p>
          <a:p>
            <a:pPr>
              <a:spcAft>
                <a:spcPts val="200"/>
              </a:spcAft>
            </a:pPr>
            <a:r>
              <a:rPr sz="1500" b="1">
                <a:solidFill>val="FFFFFF"/&gt;</a:solidFill>
                <a:latin typeface="Poppins"/>
              </a:rPr>
              <a:t>3. Un site sécurisé commence par :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a) http://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b) https://</a:t>
            </a:r>
          </a:p>
          <a:p>
            <a:pPr>
              <a:spcAft>
                <a:spcPts val="1000"/>
              </a:spcAft>
            </a:pPr>
            <a:r>
              <a:rPr sz="1400">
                <a:solidFill>val="9AA7B6"/&gt;</a:solidFill>
                <a:latin typeface="Poppins"/>
              </a:rPr>
              <a:t>      c) ftp://</a:t>
            </a:r>
          </a:p>
        </p:txBody>
      </p:sp>
      <p:pic>
        <p:nvPicPr>
          <p:cNvPr id="9" name="Picture 8" descr="c07_04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000" b="1" i="0">
                <a:solidFill>val="F0B429"/&gt;</a:solidFill>
                <a:latin typeface="Poppins"/>
              </a:rPr>
              <a:t>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4680" y="1371600"/>
            <a:ext cx="237744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7223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Internet relie les hommes et les machines à l'échelle planétaire.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TCP/IP, FAI, DNS et navigateurs en sont les briques essentielles.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La vigilance est indispensable : sécurité et protection des données.</a:t>
            </a:r>
          </a:p>
          <a:p>
            <a:pPr>
              <a:spcAft>
                <a:spcPts val="1200"/>
              </a:spcAft>
            </a:pPr>
            <a:r>
              <a:rPr sz="1800">
                <a:solidFill>val="FFFFFF"/&gt;</a:solidFill>
                <a:latin typeface="Poppins"/>
              </a:rPr>
              <a:t>▪  Prochain cours : le World Wide Web en détail.</a:t>
            </a:r>
          </a:p>
        </p:txBody>
      </p:sp>
      <p:pic>
        <p:nvPicPr>
          <p:cNvPr id="9" name="Picture 8" descr="c07_05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"/>
            <a:ext cx="72237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val="F0B429"/&gt;</a:solidFill>
                <a:latin typeface="Poppins"/>
              </a:rPr>
              <a:t>Références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98448"/>
            <a:ext cx="7360920" cy="27432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7223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O. Martinot, « Comprendre Internet », Ellipses.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CNIL - guides pratiques sur la vie privée en ligne.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Supports de cours Module TIC, Université de Mostaganem.</a:t>
            </a:r>
          </a:p>
          <a:p>
            <a:pPr>
              <a:spcAft>
                <a:spcPts val="1300"/>
              </a:spcAft>
            </a:pPr>
            <a:r>
              <a:rPr sz="1500">
                <a:solidFill>val="9AA7B6"/&gt;</a:solidFill>
                <a:latin typeface="Poppins"/>
              </a:rPr>
              <a:t>- www.internetlivestats.com</a:t>
            </a:r>
          </a:p>
        </p:txBody>
      </p:sp>
      <p:pic>
        <p:nvPicPr>
          <p:cNvPr id="9" name="Picture 8" descr="c07_06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val="004A38"/&gt;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84264"/>
            <a:ext cx="9144000" cy="45720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29984"/>
            <a:ext cx="9144000" cy="128016"/>
          </a:xfrm>
          <a:prstGeom prst="rect">
            <a:avLst/>
          </a:prstGeom>
          <a:solidFill>val="007A55"/&gt;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463040"/>
            <a:ext cx="7040880" cy="27432"/>
          </a:xfrm>
          <a:prstGeom prst="rect">
            <a:avLst/>
          </a:prstGeom>
          <a:solidFill>val="F0B429"/&gt;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03120"/>
            <a:ext cx="7040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 i="0">
                <a:solidFill>val="F0B429"/&gt;</a:solidFill>
                <a:latin typeface="Poppins"/>
              </a:rPr>
              <a:t>Merci de votre attention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70408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 i="0">
                <a:solidFill>val="FFFFFF"/&gt;</a:solidFill>
                <a:latin typeface="Poppins"/>
              </a:rPr>
              <a:t>Des questions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70408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val="9AA7B6"/&gt;</a:solidFill>
                <a:latin typeface="Poppins"/>
              </a:rPr>
              <a:t>Dr. BELACEL Madani</a:t>
            </a:r>
          </a:p>
        </p:txBody>
      </p:sp>
      <p:pic>
        <p:nvPicPr>
          <p:cNvPr id="10" name="Picture 9" descr="c07_07_f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200400"/>
            <a:ext cx="3200400" cy="1828800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29184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