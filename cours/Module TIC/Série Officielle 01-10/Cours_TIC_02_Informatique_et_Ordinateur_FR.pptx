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05156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7040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val="F0B429"/&gt;</a:solidFill>
                <a:latin typeface="Poppins"/>
              </a:rPr>
              <a:t>COURS TIC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7589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val="FFFFFF"/&gt;</a:solidFill>
                <a:latin typeface="Poppins"/>
              </a:rPr>
              <a:t>Informatique et Ordinateur : Architecture et Fonctionnement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3703320"/>
            <a:ext cx="2377440" cy="2286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val="9AA7B6"/&gt;</a:solidFill>
                <a:latin typeface="Poppins"/>
              </a:rPr>
              <a:t>Dr. BELACEL Madani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val="9AA7B6"/&gt;</a:solidFill>
                <a:latin typeface="Poppins"/>
              </a:rPr>
              <a:t>Année universitaire 2026-2027 / Academic Year 2026-2027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7040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val="9AA7B6"/&gt;</a:solidFill>
                <a:latin typeface="Poppins"/>
              </a:rPr>
              <a:t>Université de Mostaganem - Département Mathématiques et Informatique</a:t>
            </a:r>
          </a:p>
        </p:txBody>
      </p:sp>
      <p:pic>
        <p:nvPicPr>
          <p:cNvPr id="13" name="Picture 12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val="F0B429"/&gt;</a:solidFill>
                <a:latin typeface="Poppins"/>
              </a:rPr>
              <a:t>Plan du cours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1. L'informatique : définition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2. Génération d'ordinateurs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3. Architecture de von Neumann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4. Le matériel : unité centrale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5. Les périphériques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6. Logiciels : système et application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7. Démarrer avec un ordinateur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L'informatique : définition</a:t>
            </a:r>
          </a:p>
        </p:txBody>
      </p:sp>
      <p:pic>
        <p:nvPicPr>
          <p:cNvPr id="9" name="Picture 8" descr="c02_01_vonneum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1 - L'informatique : définition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Informatique = INFORmation + autoMATIQUE.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Science du traitement automatique et rationnel de l'information.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Domaines : programmation, réseaux, bases de données, IA.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Basée sur l'algorithme : suite finie d'instructions précises.</a:t>
            </a:r>
          </a:p>
        </p:txBody>
      </p:sp>
      <p:pic>
        <p:nvPicPr>
          <p:cNvPr id="9" name="Picture 8" descr="c02_02_c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Génération d'ordinateurs</a:t>
            </a:r>
          </a:p>
        </p:txBody>
      </p:sp>
      <p:pic>
        <p:nvPicPr>
          <p:cNvPr id="9" name="Picture 8" descr="c02_03_mem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2 - Génération d'ordinateurs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1ère génération (1945-1955) : tubes à vide, très volumineux.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2ème génération (1955-1965) : transistors.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3ème génération (1965-1975) : circuits intégrés.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4ème génération (1975-...) : microprocesseurs, PC.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5ème génération : intelligence artificielle et parallélisme.</a:t>
            </a:r>
          </a:p>
        </p:txBody>
      </p:sp>
      <p:pic>
        <p:nvPicPr>
          <p:cNvPr id="9" name="Picture 8" descr="c02_04_sto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Architecture de von Neumann</a:t>
            </a:r>
          </a:p>
        </p:txBody>
      </p:sp>
      <p:pic>
        <p:nvPicPr>
          <p:cNvPr id="9" name="Picture 8" descr="c02_05_peripher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3 - Architecture de von Neumann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Unité Centrale de Traitement (UCP/CPU) : exécute les instructions.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Mémoire centrale : stocke programmes et données.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Unités d'entrée/sortie : communication avec l'extérieur.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Bus : canaux de transfert entre les composants.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Modèle programme stocké : données et instructions en mémoire.</a:t>
            </a:r>
          </a:p>
        </p:txBody>
      </p:sp>
      <p:pic>
        <p:nvPicPr>
          <p:cNvPr id="9" name="Picture 8" descr="c02_06_bi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Le matériel : unité centrale</a:t>
            </a:r>
          </a:p>
        </p:txBody>
      </p:sp>
      <p:pic>
        <p:nvPicPr>
          <p:cNvPr id="9" name="Picture 8" descr="c02_07_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4 - Le matériel : unité centrale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Carte mère : supporte et relie tous les composants.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Processeur (CPU) : fréquence en GHz, cœurs multiples.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RAM : mémoire vive volatile, rapide.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Disque dur / SSD : stockage permanent des données.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Alimentation, ventilateurs et boîtier.</a:t>
            </a:r>
          </a:p>
        </p:txBody>
      </p:sp>
      <p:pic>
        <p:nvPicPr>
          <p:cNvPr id="9" name="Picture 8" descr="c02_08_b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Les périphériques</a:t>
            </a:r>
          </a:p>
        </p:txBody>
      </p:sp>
      <p:pic>
        <p:nvPicPr>
          <p:cNvPr id="9" name="Picture 8" descr="c02_09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5 - Les périphériques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Entrée : clavier, souris, scanner, microphone, caméra.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Sortie : écran, imprimante, haut-parleurs, vidéoprojecteur.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Entrée/Sortie : écrans tactiles, disques externes, modems.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Critères de choix : résolution, vitesse, connectique (USB, HDMI).</a:t>
            </a:r>
          </a:p>
        </p:txBody>
      </p:sp>
      <p:pic>
        <p:nvPicPr>
          <p:cNvPr id="9" name="Picture 8" descr="c02_10_assemb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Logiciels : système et application</a:t>
            </a:r>
          </a:p>
        </p:txBody>
      </p:sp>
      <p:pic>
        <p:nvPicPr>
          <p:cNvPr id="9" name="Picture 8" descr="c02_11_b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6 - Logiciels : système et 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Logiciel système : système d'exploitation (Windows, Linux, macOS).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Rôle de l'OS : gérer ressources, fichiers et périphériques.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Logiciels applicatifs : Word, Excel, navigateurs, jeux.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Langages de programmation : Python, C, Java.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Compilateur et interpréteur : traduction du code source.</a:t>
            </a:r>
          </a:p>
        </p:txBody>
      </p:sp>
      <p:pic>
        <p:nvPicPr>
          <p:cNvPr id="9" name="Picture 8" descr="c02_12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Démarrer avec un ordinateur</a:t>
            </a:r>
          </a:p>
        </p:txBody>
      </p:sp>
      <p:pic>
        <p:nvPicPr>
          <p:cNvPr id="9" name="Picture 8" descr="c02_01_vonneum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7 - Démarrer avec un ordinateur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Mise sous tension et séquence de démarrage (boot).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Session utilisateur : identifiant et mot de passe.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Bureau (desktop) : icônes, barre des tâches, menu démarrer.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Extinction correcte : éviter la perte de données.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Entretien de base : nettoyage, mises à jour, antivirus.</a:t>
            </a:r>
          </a:p>
        </p:txBody>
      </p:sp>
      <p:pic>
        <p:nvPicPr>
          <p:cNvPr id="9" name="Picture 8" descr="c02_02_c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val="F0B429"/&gt;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val="004A38"/&gt;</a:solidFill>
                <a:latin typeface="Poppins"/>
              </a:rPr>
              <a:t>Intérêt pratique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Choisir rationnellement un PC selon ses besoins (études, bureau, gaming).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Diagnostiquer un problème simple : RAM insuffisante, disque plein.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Lire et comparer les fiches techniques des ordinateurs.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Installer et utiliser les logiciels nécessaires aux études.</a:t>
            </a:r>
          </a:p>
        </p:txBody>
      </p:sp>
      <p:pic>
        <p:nvPicPr>
          <p:cNvPr id="8" name="Picture 7" descr="c02_03_mem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7223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val="F0B429"/&gt;</a:solidFill>
                <a:latin typeface="Poppins"/>
              </a:rPr>
              <a:t>Auto-évaluation (QCM)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7223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1. Que signifie CPU ?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Central Process Unit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Unité Centrale de Traitement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Les deux réponses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2. Quelle mémoire est volatile ?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Le disque dur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La RAM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Le SSD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3. Windows est un :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Logiciel applicatif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Système d'exploitation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Langage de programmation</a:t>
            </a:r>
          </a:p>
        </p:txBody>
      </p:sp>
      <p:pic>
        <p:nvPicPr>
          <p:cNvPr id="9" name="Picture 8" descr="c02_04_sto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val="F0B429"/&gt;</a:solidFill>
                <a:latin typeface="Poppins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1371600"/>
            <a:ext cx="237744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L'ordinateur suit l'architecture de von Neumann : CPU, mémoire, E/S.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Matériel et logiciel sont indissociables pour traiter l'information.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Connaître les composants aide à utiliser et maintenir sa machine.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Prochain cours : le système d'exploitation Windows.</a:t>
            </a:r>
          </a:p>
        </p:txBody>
      </p:sp>
      <p:pic>
        <p:nvPicPr>
          <p:cNvPr id="9" name="Picture 8" descr="c02_05_peripher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val="F0B429"/&gt;</a:solidFill>
                <a:latin typeface="Poppins"/>
              </a:rPr>
              <a:t>Références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7223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A. Tanenbaum, « Structured Computer Organization », Pearson.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J. Fayn et P. Legars, « Micro-informatique », Dunod.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Supports de cours Module TIC, Université de Mostaganem.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www.commentcamarche.net - notions de matériel.</a:t>
            </a:r>
          </a:p>
        </p:txBody>
      </p:sp>
      <p:pic>
        <p:nvPicPr>
          <p:cNvPr id="9" name="Picture 8" descr="c02_06_bi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7040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 i="0">
                <a:solidFill>val="F0B429"/&gt;</a:solidFill>
                <a:latin typeface="Poppins"/>
              </a:rPr>
              <a:t>Merci de votre attention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7040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 i="0">
                <a:solidFill>val="FFFFFF"/&gt;</a:solidFill>
                <a:latin typeface="Poppins"/>
              </a:rPr>
              <a:t>Des questions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val="9AA7B6"/&gt;</a:solidFill>
                <a:latin typeface="Poppins"/>
              </a:rPr>
              <a:t>Dr. BELACEL Madani</a:t>
            </a:r>
          </a:p>
        </p:txBody>
      </p:sp>
      <p:pic>
        <p:nvPicPr>
          <p:cNvPr id="10" name="Picture 9" descr="c02_07_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