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 TIC 01 — Introduction aux Technologies de l'Information et de la Communication.</a:t>
            </a:r>
          </a:p>
          <a:p>
            <a:r>
              <a:t>Dr. Madani BELACEL — MCB — Université de Mostaganem.</a:t>
            </a:r>
          </a:p>
          <a:p>
            <a:r>
              <a:t>9 sections, durée indicative 105 minutes.</a:t>
            </a:r>
          </a:p>
          <a:p>
            <a:r>
              <a:t>Les QCM d'auto-évaluation sont en fin de présentation.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 Introduction et Importance des TIC  (10 min)</a:t>
            </a:r>
          </a:p>
          <a:p/>
          <a:p>
            <a:r>
              <a:t>   Les Techniques de l'Information et de la Communication (TIC) désignent l'ensemble des outils numériques qui permettent de créer, traiter, stocker, transmettre et partager l'information. Elles incluent ordinateurs, smartphones, réseaux sans fil et plateformes en ligne.</a:t>
            </a:r>
          </a:p>
          <a:p>
            <a:r>
              <a:t>   Pourquoi ce cours en Licence 1 ? Dès la première année, vous utilisez les TIC pour :</a:t>
            </a:r>
          </a:p>
          <a:p>
            <a:r>
              <a:t>   - Accéder aux ressources : Moodle, bibliothèque numérique, polycopiés PDF</a:t>
            </a:r>
          </a:p>
          <a:p>
            <a:r>
              <a:t>   - Communiquer : courriel institutionnel, forums de TD</a:t>
            </a:r>
          </a:p>
          <a:p>
            <a:r>
              <a:t>   - Rechercher : bases documentaires, corpus linguistiques multilingues</a:t>
            </a:r>
          </a:p>
          <a:p>
            <a:r>
              <a:t>   - Produire : devoirs Word, présentations PowerPoint, exposés</a:t>
            </a:r>
          </a:p>
          <a:p>
            <a:r>
              <a:t>   Objectif pédagogique : développer une culture numérique solide — savoir utiliser les outils, mais aussi comprendre leurs limites (fiabilité des sources, plagiat, vie privée).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Introduction et Importance des TIC</a:t>
            </a:r>
          </a:p>
          <a:p/>
          <a:p>
            <a:r>
              <a:t>• Pourquoi les TIC sont-elles incontournables aujourd'hui ?</a:t>
            </a:r>
          </a:p>
          <a:p>
            <a:r>
              <a:t>   Les TIC ont transformé en profondeur tous les secteurs de la société : éducation, santé, administration, communication, commerce, culture. Dans le monde professionnel, la maîtrise des outils numériques est devenue une compétence transversale indispensable, au même titre que la lecture et l'écriture.</a:t>
            </a:r>
          </a:p>
          <a:p>
            <a:r>
              <a:t>   Dans le contexte universitaire algérien, la généralisation des plateformes e-learning (Moodle, Google Classroom) et l'obligation de dépôt des devoirs en ligne rendent la culture TIC indispensable dès la première année. Les universités algériennes ont massivement investi dans les infrastructures numériques : salles informatiques, connexion fibre optique, plateformes pédagogiques, bibliothèques numériques.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Introduction et Importance des TIC</a:t>
            </a:r>
          </a:p>
          <a:p/>
          <a:p>
            <a:r>
              <a:t>• À quoi ça sert concrètement ?</a:t>
            </a:r>
          </a:p>
          <a:p>
            <a:r>
              <a:t>   Les TIC ne sont pas seulement des outils techniques : elles permettent de mieux apprendre, mieux travailler, mieux communiquer et mieux produire. Pour un étudiant, cela signifie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Introduction et Importance des TIC</a:t>
            </a:r>
          </a:p>
          <a:p/>
          <a:p>
            <a:r>
              <a:t>   - Accéder aux cours via Moodle, PDF, vidéos, capsules pédagogiques et bibliothèques numériques.</a:t>
            </a:r>
          </a:p>
          <a:p>
            <a:r>
              <a:t>   - Organiser son travail grâce aux dossiers, fichiers, sauvegardes, documents partagés et classeurs numériques.</a:t>
            </a:r>
          </a:p>
          <a:p>
            <a:r>
              <a:t>   - Rechercher de l'information de manière plus rapide et plus fiable, avec des mots-clés et des sources fiables.</a:t>
            </a:r>
          </a:p>
          <a:p>
            <a:r>
              <a:t>   - Communiquer avec l'enseignant, les camarades et l'administration par e-mail, forum ou plateforme.</a:t>
            </a:r>
          </a:p>
          <a:p>
            <a:r>
              <a:t>   - Créer des productions : exposés, fiches de lecture, présentations, synthèses, devoirs de recherche.</a:t>
            </a:r>
          </a:p>
          <a:p>
            <a:r>
              <a:t>   - Développer des compétences utiles dans la vie quotidienne et dans la carrière future, notamment la gestion digitale, la collaboration et la sécurité informatique.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Introduction et Importance des TIC</a:t>
            </a:r>
          </a:p>
          <a:p/>
          <a:p>
            <a:r>
              <a:t>   En une phrase : les TIC servent à transformer l'information en savoir exploitable, puis en action utile.</a:t>
            </a:r>
          </a:p>
          <a:p>
            <a:r>
              <a:t>• Statistiques clés sur le numérique en Algérie</a:t>
            </a:r>
          </a:p>
          <a:p>
            <a:r>
              <a:t>   - Plus de 50 universités et centres universitaires connectés à Internet par fibre optique</a:t>
            </a:r>
          </a:p>
          <a:p>
            <a:r>
              <a:t>   - Plus d'un million d'étudiants utilisent des plateformes e-learning</a:t>
            </a:r>
          </a:p>
          <a:p>
            <a:r>
              <a:t>   - Le taux de pénétration d'Internet dépasse 70 % de la population</a:t>
            </a:r>
          </a:p>
          <a:p>
            <a:r>
              <a:t>   - Le programme e-learning Algérie 2025 vise la numérisation complète des cursus universitaires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 Définition Détaillée des TIC  (15 min)</a:t>
            </a:r>
          </a:p>
          <a:p/>
          <a:p>
            <a:r>
              <a:t>• Convergence de trois domaines</a:t>
            </a:r>
          </a:p>
          <a:p>
            <a:r>
              <a:t>   - Informatique — traitement automatique de l'information (logiciels, bases de données)</a:t>
            </a:r>
          </a:p>
          <a:p>
            <a:r>
              <a:t>   - Télécommunications — transmission à distance (Internet, fibre, Wi-Fi)</a:t>
            </a:r>
          </a:p>
          <a:p>
            <a:r>
              <a:t>   - Audiovisuel et multimédia — texte, image, son, vidéo combinés</a:t>
            </a:r>
          </a:p>
          <a:p>
            <a:r>
              <a:t>• Définitions de référence</a:t>
            </a:r>
          </a:p>
          <a:p>
            <a:r>
              <a:t>   - UIT : « Les TIC englobent tous les outils et systèmes qui permettent de manipuler, stocker et transmettre l'information sous forme numérique. »</a:t>
            </a:r>
          </a:p>
          <a:p>
            <a:r>
              <a:t>   - UNESCO : informatique, audiovisuel, multimédia, Internet et télécommunications.</a:t>
            </a:r>
          </a:p>
          <a:p>
            <a:r>
              <a:t>   - En anglais : Information and Communication Technologies (ICT).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Définition Détaillée des TIC</a:t>
            </a:r>
          </a:p>
          <a:p/>
          <a:p>
            <a:r>
              <a:t>   A RETENIR : une TIC est un système (matériel + logiciel + réseau) qui rend l'information utilisable et partageable.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Définition Détaillée des TIC</a:t>
            </a:r>
          </a:p>
          <a:p/>
          <a:p>
            <a:r>
              <a:t>• Exemples concrets par domaine</a:t>
            </a:r>
          </a:p>
          <a:p>
            <a:r>
              <a:t>   Tableau : Domaine | Outil TIC | Fonction</a:t>
            </a:r>
          </a:p>
          <a:p>
            <a:r>
              <a:t>      Éducation | Moodle | Diffusion de cours, dépôt de devoirs</a:t>
            </a:r>
          </a:p>
          <a:p>
            <a:r>
              <a:t>      Communication | WhatsApp, Telegram | Messagerie instantanée</a:t>
            </a:r>
          </a:p>
          <a:p>
            <a:r>
              <a:t>      Recherche | Google Scholar | Accès aux publications scientifiques</a:t>
            </a:r>
          </a:p>
          <a:p>
            <a:r>
              <a:t>      Administration | Progis | Gestion des notes et inscriptions</a:t>
            </a:r>
          </a:p>
          <a:p>
            <a:r>
              <a:t>      Création | Canva, PowerPoint | Conception de supports visuels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Définition Détaillée des TIC</a:t>
            </a:r>
          </a:p>
          <a:p/>
          <a:p>
            <a:r>
              <a:t>• Distinction entre données, information et connaissance</a:t>
            </a:r>
          </a:p>
          <a:p>
            <a:r>
              <a:t>   - Donnée : élément brut, non contextualisé (ex. : 15)</a:t>
            </a:r>
          </a:p>
          <a:p>
            <a:r>
              <a:t>   - Information : donnée mise en contexte (ex. : 15 étudiants présents)</a:t>
            </a:r>
          </a:p>
          <a:p>
            <a:r>
              <a:t>   - Connaissance : information intégrée et comprise (ex. : le taux de présence en TD est de 75 %)</a:t>
            </a:r>
          </a:p>
          <a:p>
            <a:r>
              <a:t>   Les TIC permettent de passer rapidement de la donnée à l'information, mais la transformation en connaissance reste une activité humaine.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 Évolution Historique et Terminologique (NTIC → TIC)  (10 min)</a:t>
            </a:r>
          </a:p>
          <a:p/>
          <a:p>
            <a:r>
              <a:t>   Tableau : Période | Terme | Signification</a:t>
            </a:r>
          </a:p>
          <a:p>
            <a:r>
              <a:t>      1960–1990 | Informatique | Ère des premiers ordinateurs et réseaux</a:t>
            </a:r>
          </a:p>
          <a:p>
            <a:r>
              <a:t>      1990–2005 | NTIC | Accent sur la nouveauté : Internet, courriel, GSM</a:t>
            </a:r>
          </a:p>
          <a:p>
            <a:r>
              <a:t>      Depuis ~2005 | TIC / ICT | Technologies banalisées, intégrées au quotidien</a:t>
            </a:r>
          </a:p>
          <a:p>
            <a:r>
              <a:t>   Concepts associés :</a:t>
            </a:r>
          </a:p>
          <a:p>
            <a:r>
              <a:t>   - Numérisation : conversion en fichiers numériques (PDF, MP3, JPEG)</a:t>
            </a:r>
          </a:p>
          <a:p>
            <a:r>
              <a:t>   - Transformation digitale : réorganisation des activités grâce au numérique</a:t>
            </a:r>
          </a:p>
          <a:p>
            <a:r>
              <a:t>   - Société de l'information : l'information devient une ressource centrale</a:t>
            </a:r>
          </a:p>
          <a:p>
            <a:r>
              <a:t>   Exemple : cours sur Moodle + vidéo enregistrée + devoir PDF + correction en ligne.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 Les Trois Dimensions Fondamentales  (15 min)</a:t>
            </a:r>
          </a:p>
          <a:p/>
          <a:p>
            <a:r>
              <a:t>   - Dimension technique — moyens matériels et logiciels (PC, smartphone, Word, navigateur)</a:t>
            </a:r>
          </a:p>
          <a:p>
            <a:r>
              <a:t>   - Dimension information — contenu manipulé (texte, image, son, vidéo ; formats PDF, DOCX, MP4)</a:t>
            </a:r>
          </a:p>
          <a:p>
            <a:r>
              <a:t>   - Dimension communication — échange entre personnes (courriel, forum, visioconférence)</a:t>
            </a:r>
          </a:p>
          <a:p>
            <a:r>
              <a:t>   Exercice mental : pour un devoir sur Moodle — technique = PC + plateforme ; information = fichier Word ; communication = dépôt visible par l'enseignant.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Les Trois Dimensions Fondamentales</a:t>
            </a:r>
          </a:p>
          <a:p/>
          <a:p>
            <a:r>
              <a:t>• Approfondissement des trois dimensions</a:t>
            </a:r>
          </a:p>
          <a:p>
            <a:r>
              <a:t>   Dimension technique : elle comprend l'infrastructure matérielle (ordinateurs, serveurs, câbles, antennes) et les logiciels (systèmes d'exploitation, applications, protocoles). C'est le socle sur lequel reposent les deux autres dimensions. Sans dimension technique, aucune information ne peut être traitée ni communiquée.</a:t>
            </a:r>
          </a:p>
          <a:p>
            <a:r>
              <a:t>   Dimension information : elle concerne le contenu lui-même — sa création, son format, son stockage, son organisation. La numérisation a permis de représenter toute information (texte, image, son, vidéo) sous forme binaire, facilitant son traitement et sa duplication sans perte de qualité.</a:t>
            </a:r>
          </a:p>
          <a:p>
            <a:r>
              <a:t>   Dimension communication : elle couvre les échanges entre individus ou systèmes. Les TIC ont aboli les distances et le temps de transmission : un message envoyé depuis Alger arrive à Tamanrasset en quelques millisecondes. Cette dimension inclut les aspects sociaux et relationnels de la communication médiatisée.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 Rôle et Fonctions des TIC  (15 min)</a:t>
            </a:r>
          </a:p>
          <a:p/>
          <a:p>
            <a:r>
              <a:t>   Tableau : Fonction | Description | Exemples</a:t>
            </a:r>
          </a:p>
          <a:p>
            <a:r>
              <a:t>      Traitement | Saisie, mise en forme, calcul | Word, Excel, retouche d'image</a:t>
            </a:r>
          </a:p>
          <a:p>
            <a:r>
              <a:t>      Transmission | Envoi ou partage à distance | Courriel, Teams, lien Drive</a:t>
            </a:r>
          </a:p>
          <a:p>
            <a:r>
              <a:t>      Sauvegarde | Conservation durable | Clé USB, cloud, serveur universitaire</a:t>
            </a:r>
          </a:p>
          <a:p>
            <a:r>
              <a:t>   Scénario complet : rédaction Word → envoi par courriel → copie sur clé USB et cloud. Les trois fonctions se complètent.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Rôle et Fonctions des TIC</a:t>
            </a:r>
          </a:p>
          <a:p/>
          <a:p>
            <a:r>
              <a:t>• Cycle de vie de l'information numérique</a:t>
            </a:r>
          </a:p>
          <a:p>
            <a:r>
              <a:t>   - Création : production de l'information (saisie, enregistrement audio/vidéo)</a:t>
            </a:r>
          </a:p>
          <a:p>
            <a:r>
              <a:t>   - Traitement : modification, mise en forme, analyse (Word, Excel, Photoshop)</a:t>
            </a:r>
          </a:p>
          <a:p>
            <a:r>
              <a:t>   - Stockage : conservation sur un support (disque dur, cloud, clé USB)</a:t>
            </a:r>
          </a:p>
          <a:p>
            <a:r>
              <a:t>   - Transmission : partage via un réseau (courriel, téléchargement, streaming)</a:t>
            </a:r>
          </a:p>
          <a:p>
            <a:r>
              <a:t>   - Archivage : conservation à long terme (serveur, backup)</a:t>
            </a:r>
          </a:p>
          <a:p>
            <a:r>
              <a:t>   - Destruction : suppression sécurisée (effacement définitif)</a:t>
            </a:r>
          </a:p>
          <a:p>
            <a:r>
              <a:t>   Chaque étape de ce cycle fait appel à des compétences numériques spécifiques que vous développerez au fil des séances.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6 — Services Principaux des TIC  (10 min)</a:t>
            </a:r>
          </a:p>
          <a:p/>
          <a:p>
            <a:r>
              <a:t>   - Courrier électronique (@univ-mosta.dz)</a:t>
            </a:r>
          </a:p>
          <a:p>
            <a:r>
              <a:t>   - Navigation et recherche Web</a:t>
            </a:r>
          </a:p>
          <a:p>
            <a:r>
              <a:t>   - Visioconférence (Teams, Zoom)</a:t>
            </a:r>
          </a:p>
          <a:p>
            <a:r>
              <a:t>   - Plateformes d'apprentissage (Moodle, Google Classroom)</a:t>
            </a:r>
          </a:p>
          <a:p>
            <a:r>
              <a:t>   - Stockage et partage en ligne (Drive, OneDrive)</a:t>
            </a:r>
          </a:p>
          <a:p>
            <a:r>
              <a:t>   Distinction : un service (Moodle) s'appuie sur des technologies (serveur, réseau) pour une fonction pédagogique.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Services Principaux des TIC</a:t>
            </a:r>
          </a:p>
          <a:p/>
          <a:p>
            <a:r>
              <a:t>• Services spécifiques au contexte universitaire algérien</a:t>
            </a:r>
          </a:p>
          <a:p>
            <a:r>
              <a:t>   Tableau : Service | Usage | Outil recommandé</a:t>
            </a:r>
          </a:p>
          <a:p>
            <a:r>
              <a:t>      Dépôt de devoirs | Remise des travaux | Moodle Univ-Mosta / Mostaganem</a:t>
            </a:r>
          </a:p>
          <a:p>
            <a:r>
              <a:t>      Communication administrative | Annonces, convocations | Courriel institutionnel</a:t>
            </a:r>
          </a:p>
          <a:p>
            <a:r>
              <a:t>      Bibliothèque numérique | Accès aux ressources | SNDL (Système National de Documentation en Ligne)</a:t>
            </a:r>
          </a:p>
          <a:p>
            <a:r>
              <a:t>      Visioconférence | Cours à distance | BigBlueButton, Zoom</a:t>
            </a:r>
          </a:p>
          <a:p>
            <a:r>
              <a:t>      Stockage | Sauvegarde de travaux | OneDrive (Office 365)</a:t>
            </a:r>
          </a:p>
          <a:p>
            <a:r>
              <a:t>      Évaluation | QCM en ligne | Moodle Quiz</a:t>
            </a:r>
          </a:p>
          <a:p>
            <a:r>
              <a:t>      Collaboration | Travaux de groupe | Google Docs, Padlet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7 — Applications dans l'Éducation  (10 min)</a:t>
            </a:r>
          </a:p>
          <a:p/>
          <a:p>
            <a:r>
              <a:t>   - E-learning et enseignement hybride</a:t>
            </a:r>
          </a:p>
          <a:p>
            <a:r>
              <a:t>   - Bibliothèques numériques (accès 24h/24)</a:t>
            </a:r>
          </a:p>
          <a:p>
            <a:r>
              <a:t>   - Travail collaboratif à distance</a:t>
            </a:r>
          </a:p>
          <a:p>
            <a:r>
              <a:t>   - Évaluation en ligne (QCM, anti-plagiat)</a:t>
            </a:r>
          </a:p>
          <a:p>
            <a:r>
              <a:t>   - Recherche documentaire multilingue</a:t>
            </a:r>
          </a:p>
          <a:p>
            <a:r>
              <a:t>   Pour les étudiants en langues : corpus linguistiques, échanges avec locuteurs natifs, podcasts, veille sur sources fiables en langue cible.</a:t>
            </a:r>
          </a:p>
          <a:p>
            <a:r>
              <a:t>   Enjeu : multiplier les ressources exige un esprit critique (vérifier la source, citer correctement).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Applications dans l'Éducation</a:t>
            </a:r>
          </a:p>
          <a:p/>
          <a:p>
            <a:r>
              <a:t>• Les TIC dans les quatre compétences linguistiques</a:t>
            </a:r>
          </a:p>
          <a:p>
            <a:r>
              <a:t>   Tableau : Compétence | Outils TIC | Bénéfices</a:t>
            </a:r>
          </a:p>
          <a:p>
            <a:r>
              <a:t>      Compréhension orale | Podcasts, vidéos YouTube, RFI, TV5Monde | Accès à des contenus authentiques</a:t>
            </a:r>
          </a:p>
          <a:p>
            <a:r>
              <a:t>      Compréhension écrite | Articles en ligne, corpus, dictionnaires numériques | Variété de supports et registres</a:t>
            </a:r>
          </a:p>
          <a:p>
            <a:r>
              <a:t>      Production orale | Enregistrement vocal, visioconférence | Auto-évaluation et pratique</a:t>
            </a:r>
          </a:p>
          <a:p>
            <a:r>
              <a:t>      Production écrite | Traitement de texte, correcteurs orthographiques | Amélioration linguistique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Applications dans l'Éducation</a:t>
            </a:r>
          </a:p>
          <a:p/>
          <a:p>
            <a:r>
              <a:t>• Exemples de ressources numériques pour les étudiants en langues</a:t>
            </a:r>
          </a:p>
          <a:p>
            <a:r>
              <a:t>   - TV5Monde : exercices de français langue étrangère (FLE) par niveau</a:t>
            </a:r>
          </a:p>
          <a:p>
            <a:r>
              <a:t>   - RFI Savoirs : journal en français facile avec transcriptions</a:t>
            </a:r>
          </a:p>
          <a:p>
            <a:r>
              <a:t>   - Linguee / Reverso : dictionnaires contextuels et corpus bilingues</a:t>
            </a:r>
          </a:p>
          <a:p>
            <a:r>
              <a:t>   - WordReference : dictionnaire collaboratif avec forums linguistiques</a:t>
            </a:r>
          </a:p>
          <a:p>
            <a:r>
              <a:t>   - Google Scholar : recherche d'articles académiques en plusieurs langues</a:t>
            </a:r>
          </a:p>
          <a:p>
            <a:r>
              <a:t>   - Cairn.info : revues universitaires francophones en texte intégral</a:t>
            </a:r>
          </a:p>
          <a:p>
            <a:r>
              <a:t>   - Projet Gutenberg : livres gratuits dans plus de 50 langues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8 — Compétences Numériques Attendues  (10 min)</a:t>
            </a:r>
          </a:p>
          <a:p/>
          <a:p>
            <a:r>
              <a:t>   - Bureautique académique (Word, PowerPoint)</a:t>
            </a:r>
          </a:p>
          <a:p>
            <a:r>
              <a:t>   - Recherche documentaire (mots-clés, crédibilité des sites)</a:t>
            </a:r>
          </a:p>
          <a:p>
            <a:r>
              <a:t>   - Gestion des fichiers (nommage, formats PDF/DOCX)</a:t>
            </a:r>
          </a:p>
          <a:p>
            <a:r>
              <a:t>   - Communication professionnelle par courriel</a:t>
            </a:r>
          </a:p>
          <a:p>
            <a:r>
              <a:t>   - Sécurité et éthique (mots de passe, plagiat, vie privée)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Compétences Numériques Attendues</a:t>
            </a:r>
          </a:p>
          <a:p/>
          <a:p>
            <a:r>
              <a:t>• Les 5 domaines du cadre DigComp (adapté)</a:t>
            </a:r>
          </a:p>
          <a:p>
            <a:r>
              <a:t>   Tableau : Domaine | Compétence clé | Application en Licence Langues</a:t>
            </a:r>
          </a:p>
          <a:p>
            <a:r>
              <a:t>      1. Information | Rechercher, évaluer, gérer | Trouver des sources fiables en langue cible</a:t>
            </a:r>
          </a:p>
          <a:p>
            <a:r>
              <a:t>      2. Communication | Interagir, partager, collaborer | Forums Moodle, courriel, visio</a:t>
            </a:r>
          </a:p>
          <a:p>
            <a:r>
              <a:t>      3. Création de contenu | Développer, intégrer, produire | Rédiger des devoirs, créer des présentations</a:t>
            </a:r>
          </a:p>
          <a:p>
            <a:r>
              <a:t>      4. Sécurité | Protéger appareils, données, santé | Gérer mots de passe, éviter phishing</a:t>
            </a:r>
          </a:p>
          <a:p>
            <a:r>
              <a:t>      5. Résolution de problèmes | Besoins techniques, innovation | Diagnostiquer un problème simple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 Compétences Numériques Attendues</a:t>
            </a:r>
          </a:p>
          <a:p/>
          <a:p>
            <a:r>
              <a:t>• Niveau attendu en fin de Licence</a:t>
            </a:r>
          </a:p>
          <a:p>
            <a:r>
              <a:t>   - Niveau 3 (Indépendant) sur l'échelle DigComp : capable d'utiliser les outils numériques de manière autonome pour ses besoins d'apprentissage</a:t>
            </a:r>
          </a:p>
          <a:p>
            <a:r>
              <a:t>   - Certification complémentaire possible : PIX (projet de généralisation en Algérie)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9 — Conclusion  (5 min)</a:t>
            </a:r>
          </a:p>
          <a:p/>
          <a:p>
            <a:r>
              <a:t>   - TIC = convergence informatique, télécoms et multimédia</a:t>
            </a:r>
          </a:p>
          <a:p>
            <a:r>
              <a:t>   - Trois dimensions : technique, information, communication</a:t>
            </a:r>
          </a:p>
          <a:p>
            <a:r>
              <a:t>   - Trois fonctions : traitement, transmission, sauvegarde</a:t>
            </a:r>
          </a:p>
          <a:p>
            <a:r>
              <a:t>   - Compétence transversale indispensable</a:t>
            </a:r>
          </a:p>
          <a:p>
            <a:r>
              <a:t>   TD 01 (1h30) — exercices d'application. Prochain cours : Informatique et Architecture de l'Ordinateur.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5 minutes de redaction, puis corriger a l'oral : chaque reponse se justifie par le contenu de la section concernee (definition, trois dimensions, NTIC vs TIC, dimension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5 minutes de redaction, puis corriger a l'oral : chaque reponse se justifie par le contenu de la section concernee (definition, trois dimensions, NTIC vs TIC, dimension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5 minutes de redaction, puis corriger a l'oral : chaque reponse se justifie par le contenu de la section concernee (definition, trois dimensions, NTIC vs TIC, dimension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5 minutes de redaction, puis corriger a l'oral : chaque reponse se justifie par le contenu de la section concernee (definition, trois dimensions, NTIC vs TIC, dimension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5 minutes de redaction, puis corriger a l'oral : chaque reponse se justifie par le contenu de la section concernee (definition, trois dimensions, NTIC vs TIC, dimension communication).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91695" cy="41148"/>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niversité_de_Mostaganem.png"/>
          <p:cNvPicPr>
            <a:picLocks noChangeAspect="1"/>
          </p:cNvPicPr>
          <p:nvPr/>
        </p:nvPicPr>
        <p:blipFill>
          <a:blip r:embed="rId2"/>
          <a:stretch>
            <a:fillRect/>
          </a:stretch>
        </p:blipFill>
        <p:spPr>
          <a:xfrm>
            <a:off x="731520" y="201167"/>
            <a:ext cx="999743" cy="969264"/>
          </a:xfrm>
          <a:prstGeom prst="rect">
            <a:avLst/>
          </a:prstGeom>
        </p:spPr>
      </p:pic>
      <p:pic>
        <p:nvPicPr>
          <p:cNvPr id="5" name="Picture 4" descr="LOGO-FLE-UNIV-Mosta.jpeg"/>
          <p:cNvPicPr>
            <a:picLocks noChangeAspect="1"/>
          </p:cNvPicPr>
          <p:nvPr/>
        </p:nvPicPr>
        <p:blipFill>
          <a:blip r:embed="rId3"/>
          <a:stretch>
            <a:fillRect/>
          </a:stretch>
        </p:blipFill>
        <p:spPr>
          <a:xfrm>
            <a:off x="2042160" y="201167"/>
            <a:ext cx="825669" cy="969264"/>
          </a:xfrm>
          <a:prstGeom prst="rect">
            <a:avLst/>
          </a:prstGeom>
        </p:spPr>
      </p:pic>
      <p:sp>
        <p:nvSpPr>
          <p:cNvPr id="6" name="Rectangle 5"/>
          <p:cNvSpPr/>
          <p:nvPr/>
        </p:nvSpPr>
        <p:spPr>
          <a:xfrm>
            <a:off x="3288453" y="438912"/>
            <a:ext cx="10972" cy="493776"/>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2773" y="384048"/>
            <a:ext cx="7897401" cy="621792"/>
          </a:xfrm>
          <a:prstGeom prst="rect">
            <a:avLst/>
          </a:prstGeom>
          <a:noFill/>
        </p:spPr>
        <p:txBody>
          <a:bodyPr wrap="square" lIns="0" rIns="0" tIns="0" bIns="0" anchor="ctr">
            <a:spAutoFit/>
          </a:bodyPr>
          <a:lstStyle/>
          <a:p>
            <a:pPr algn="l">
              <a:lnSpc>
                <a:spcPct val="112000"/>
              </a:lnSpc>
              <a:spcBef>
                <a:spcPts val="0"/>
              </a:spcBef>
              <a:spcAft>
                <a:spcPts val="200"/>
              </a:spcAft>
            </a:pPr>
            <a:r>
              <a:rPr sz="1250" b="1" i="0">
                <a:solidFill>
                  <a:srgbClr val="122A4F"/>
                </a:solidFill>
                <a:latin typeface="Calibri"/>
              </a:rPr>
              <a:t>Université de Mostaganem  ·  Faculté des Langues Étrangères</a:t>
            </a:r>
          </a:p>
          <a:p>
            <a:pPr algn="l">
              <a:lnSpc>
                <a:spcPct val="112000"/>
              </a:lnSpc>
              <a:spcBef>
                <a:spcPts val="0"/>
              </a:spcBef>
              <a:spcAft>
                <a:spcPts val="0"/>
              </a:spcAft>
            </a:pPr>
            <a:r>
              <a:rPr sz="1100" b="0" i="0">
                <a:solidFill>
                  <a:srgbClr val="5B6879"/>
                </a:solidFill>
                <a:latin typeface="Calibri"/>
              </a:rPr>
              <a:t>Année universitaire 2026 – 2027</a:t>
            </a:r>
          </a:p>
        </p:txBody>
      </p:sp>
      <p:sp>
        <p:nvSpPr>
          <p:cNvPr id="8" name="Rectangle 7"/>
          <p:cNvSpPr/>
          <p:nvPr/>
        </p:nvSpPr>
        <p:spPr>
          <a:xfrm>
            <a:off x="0" y="1412748"/>
            <a:ext cx="12191695" cy="5445252"/>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412748"/>
            <a:ext cx="164592" cy="5445252"/>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212848"/>
            <a:ext cx="1463040" cy="64008"/>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87168"/>
            <a:ext cx="10332720" cy="100584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FFFFFF"/>
                </a:solidFill>
                <a:latin typeface="Calibri"/>
              </a:rPr>
              <a:t>Introduction aux TIC</a:t>
            </a:r>
          </a:p>
        </p:txBody>
      </p:sp>
      <p:sp>
        <p:nvSpPr>
          <p:cNvPr id="12" name="TextBox 11"/>
          <p:cNvSpPr txBox="1"/>
          <p:nvPr/>
        </p:nvSpPr>
        <p:spPr>
          <a:xfrm>
            <a:off x="914400" y="3621024"/>
            <a:ext cx="9966960" cy="566928"/>
          </a:xfrm>
          <a:prstGeom prst="rect">
            <a:avLst/>
          </a:prstGeom>
          <a:noFill/>
        </p:spPr>
        <p:txBody>
          <a:bodyPr wrap="square" lIns="0" rIns="0" tIns="0" bIns="0" anchor="t">
            <a:spAutoFit/>
          </a:bodyPr>
          <a:lstStyle/>
          <a:p>
            <a:pPr algn="l">
              <a:lnSpc>
                <a:spcPct val="112000"/>
              </a:lnSpc>
              <a:spcBef>
                <a:spcPts val="0"/>
              </a:spcBef>
              <a:spcAft>
                <a:spcPts val="0"/>
              </a:spcAft>
            </a:pPr>
            <a:r>
              <a:rPr sz="1700" b="0" i="1">
                <a:solidFill>
                  <a:srgbClr val="9EBADA"/>
                </a:solidFill>
                <a:latin typeface="Calibri"/>
              </a:rPr>
              <a:t>Technologies de l'Information et de la Communication — définitions, évolution, usages</a:t>
            </a:r>
          </a:p>
        </p:txBody>
      </p:sp>
      <p:sp>
        <p:nvSpPr>
          <p:cNvPr id="13" name="Rounded Rectangle 12"/>
          <p:cNvSpPr/>
          <p:nvPr/>
        </p:nvSpPr>
        <p:spPr>
          <a:xfrm>
            <a:off x="914400" y="4315968"/>
            <a:ext cx="4937760" cy="530352"/>
          </a:xfrm>
          <a:prstGeom prst="roundRect">
            <a:avLst>
              <a:gd name="adj" fmla="val 3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15968"/>
            <a:ext cx="4937760" cy="530352"/>
          </a:xfrm>
          <a:prstGeom prst="rect">
            <a:avLst/>
          </a:prstGeom>
          <a:noFill/>
        </p:spPr>
        <p:txBody>
          <a:bodyPr wrap="square" lIns="0" rIns="0" tIns="0" bIns="0" anchor="ctr">
            <a:spAutoFit/>
          </a:bodyPr>
          <a:lstStyle/>
          <a:p>
            <a:pPr algn="ctr">
              <a:lnSpc>
                <a:spcPct val="112000"/>
              </a:lnSpc>
              <a:spcBef>
                <a:spcPts val="0"/>
              </a:spcBef>
              <a:spcAft>
                <a:spcPts val="0"/>
              </a:spcAft>
            </a:pPr>
            <a:r>
              <a:rPr sz="1500" b="1" i="0">
                <a:solidFill>
                  <a:srgbClr val="122A4F"/>
                </a:solidFill>
                <a:latin typeface="Calibri"/>
              </a:rPr>
              <a:t>Cours TIC 01</a:t>
            </a:r>
          </a:p>
        </p:txBody>
      </p:sp>
      <p:sp>
        <p:nvSpPr>
          <p:cNvPr id="15" name="Rectangle 14"/>
          <p:cNvSpPr/>
          <p:nvPr/>
        </p:nvSpPr>
        <p:spPr>
          <a:xfrm>
            <a:off x="914400" y="5230368"/>
            <a:ext cx="10360152" cy="10972"/>
          </a:xfrm>
          <a:prstGeom prst="rect">
            <a:avLst/>
          </a:prstGeom>
          <a:solidFill>
            <a:srgbClr val="2C45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449824"/>
            <a:ext cx="10332720" cy="914400"/>
          </a:xfrm>
          <a:prstGeom prst="rect">
            <a:avLst/>
          </a:prstGeom>
          <a:noFill/>
        </p:spPr>
        <p:txBody>
          <a:bodyPr wrap="square" lIns="0" rIns="0" tIns="0" bIns="0" anchor="t">
            <a:spAutoFit/>
          </a:bodyPr>
          <a:lstStyle/>
          <a:p>
            <a:pPr algn="l">
              <a:lnSpc>
                <a:spcPct val="112000"/>
              </a:lnSpc>
              <a:spcBef>
                <a:spcPts val="0"/>
              </a:spcBef>
              <a:spcAft>
                <a:spcPts val="300"/>
              </a:spcAft>
            </a:pPr>
            <a:r>
              <a:rPr sz="1600" b="1" i="0">
                <a:solidFill>
                  <a:srgbClr val="FFFFFF"/>
                </a:solidFill>
                <a:latin typeface="Calibri"/>
              </a:rPr>
              <a:t>Dr. Madani BELACEL — MCB</a:t>
            </a:r>
          </a:p>
          <a:p>
            <a:pPr algn="l">
              <a:lnSpc>
                <a:spcPct val="112000"/>
              </a:lnSpc>
              <a:spcBef>
                <a:spcPts val="0"/>
              </a:spcBef>
              <a:spcAft>
                <a:spcPts val="0"/>
              </a:spcAft>
            </a:pPr>
            <a:r>
              <a:rPr sz="1000" b="0" i="0">
                <a:solidFill>
                  <a:srgbClr val="7E93AD"/>
                </a:solidFill>
                <a:latin typeface="Calibri"/>
              </a:rPr>
              <a:t>Cours en ligne : madani-belacel.github.io/site-enseignement-belacel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972800"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Plan du cours</a:t>
            </a:r>
          </a:p>
        </p:txBody>
      </p:sp>
      <p:sp>
        <p:nvSpPr>
          <p:cNvPr id="3" name="Rounded Rectangle 2"/>
          <p:cNvSpPr/>
          <p:nvPr/>
        </p:nvSpPr>
        <p:spPr>
          <a:xfrm>
            <a:off x="777240" y="1417320"/>
            <a:ext cx="10634472" cy="420624"/>
          </a:xfrm>
          <a:prstGeom prst="roundRect">
            <a:avLst>
              <a:gd name="adj" fmla="val 10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6112" y="1458468"/>
            <a:ext cx="365760" cy="365760"/>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a:t>
            </a:r>
          </a:p>
        </p:txBody>
      </p:sp>
      <p:sp>
        <p:nvSpPr>
          <p:cNvPr id="5" name="TextBox 4"/>
          <p:cNvSpPr txBox="1"/>
          <p:nvPr/>
        </p:nvSpPr>
        <p:spPr>
          <a:xfrm>
            <a:off x="1353312" y="1417320"/>
            <a:ext cx="7863840" cy="420624"/>
          </a:xfrm>
          <a:prstGeom prst="rect">
            <a:avLst/>
          </a:prstGeom>
          <a:noFill/>
        </p:spPr>
        <p:txBody>
          <a:bodyPr wrap="square" lIns="0" rIns="0" tIns="0" bIns="0" anchor="ctr">
            <a:spAutoFit/>
          </a:bodyPr>
          <a:lstStyle/>
          <a:p>
            <a:pPr algn="l">
              <a:lnSpc>
                <a:spcPct val="112000"/>
              </a:lnSpc>
              <a:spcBef>
                <a:spcPts val="0"/>
              </a:spcBef>
              <a:spcAft>
                <a:spcPts val="0"/>
              </a:spcAft>
            </a:pPr>
            <a:r>
              <a:rPr sz="1700" b="0" i="0">
                <a:solidFill>
                  <a:srgbClr val="1B2433"/>
                </a:solidFill>
                <a:latin typeface="Calibri"/>
              </a:rPr>
              <a:t>Introduction et Importance des TIC</a:t>
            </a:r>
          </a:p>
        </p:txBody>
      </p:sp>
      <p:sp>
        <p:nvSpPr>
          <p:cNvPr id="6" name="TextBox 5"/>
          <p:cNvSpPr txBox="1"/>
          <p:nvPr/>
        </p:nvSpPr>
        <p:spPr>
          <a:xfrm>
            <a:off x="9418320" y="1417320"/>
            <a:ext cx="1920240" cy="420624"/>
          </a:xfrm>
          <a:prstGeom prst="rect">
            <a:avLst/>
          </a:prstGeom>
          <a:noFill/>
        </p:spPr>
        <p:txBody>
          <a:bodyPr wrap="square" lIns="0" rIns="0" tIns="0" bIns="0" anchor="ctr">
            <a:spAutoFit/>
          </a:bodyPr>
          <a:lstStyle/>
          <a:p>
            <a:pPr algn="r">
              <a:lnSpc>
                <a:spcPct val="112000"/>
              </a:lnSpc>
              <a:spcBef>
                <a:spcPts val="0"/>
              </a:spcBef>
              <a:spcAft>
                <a:spcPts val="0"/>
              </a:spcAft>
            </a:pPr>
            <a:r>
              <a:rPr sz="1300" b="1" i="0">
                <a:solidFill>
                  <a:srgbClr val="C26A0A"/>
                </a:solidFill>
                <a:latin typeface="Calibri"/>
              </a:rPr>
              <a:t>10 min</a:t>
            </a:r>
          </a:p>
        </p:txBody>
      </p:sp>
      <p:sp>
        <p:nvSpPr>
          <p:cNvPr id="7" name="Rounded Rectangle 6"/>
          <p:cNvSpPr/>
          <p:nvPr/>
        </p:nvSpPr>
        <p:spPr>
          <a:xfrm>
            <a:off x="777240" y="1901952"/>
            <a:ext cx="10634472" cy="420624"/>
          </a:xfrm>
          <a:prstGeom prst="roundRect">
            <a:avLst>
              <a:gd name="adj" fmla="val 10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943100"/>
            <a:ext cx="365760" cy="365760"/>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2</a:t>
            </a:r>
          </a:p>
        </p:txBody>
      </p:sp>
      <p:sp>
        <p:nvSpPr>
          <p:cNvPr id="9" name="TextBox 8"/>
          <p:cNvSpPr txBox="1"/>
          <p:nvPr/>
        </p:nvSpPr>
        <p:spPr>
          <a:xfrm>
            <a:off x="1353312" y="1901952"/>
            <a:ext cx="7863840" cy="420624"/>
          </a:xfrm>
          <a:prstGeom prst="rect">
            <a:avLst/>
          </a:prstGeom>
          <a:noFill/>
        </p:spPr>
        <p:txBody>
          <a:bodyPr wrap="square" lIns="0" rIns="0" tIns="0" bIns="0" anchor="ctr">
            <a:spAutoFit/>
          </a:bodyPr>
          <a:lstStyle/>
          <a:p>
            <a:pPr algn="l">
              <a:lnSpc>
                <a:spcPct val="112000"/>
              </a:lnSpc>
              <a:spcBef>
                <a:spcPts val="0"/>
              </a:spcBef>
              <a:spcAft>
                <a:spcPts val="0"/>
              </a:spcAft>
            </a:pPr>
            <a:r>
              <a:rPr sz="1700" b="0" i="0">
                <a:solidFill>
                  <a:srgbClr val="1B2433"/>
                </a:solidFill>
                <a:latin typeface="Calibri"/>
              </a:rPr>
              <a:t>Définition Détaillée des TIC</a:t>
            </a:r>
          </a:p>
        </p:txBody>
      </p:sp>
      <p:sp>
        <p:nvSpPr>
          <p:cNvPr id="10" name="TextBox 9"/>
          <p:cNvSpPr txBox="1"/>
          <p:nvPr/>
        </p:nvSpPr>
        <p:spPr>
          <a:xfrm>
            <a:off x="9418320" y="1901952"/>
            <a:ext cx="1920240" cy="420624"/>
          </a:xfrm>
          <a:prstGeom prst="rect">
            <a:avLst/>
          </a:prstGeom>
          <a:noFill/>
        </p:spPr>
        <p:txBody>
          <a:bodyPr wrap="square" lIns="0" rIns="0" tIns="0" bIns="0" anchor="ctr">
            <a:spAutoFit/>
          </a:bodyPr>
          <a:lstStyle/>
          <a:p>
            <a:pPr algn="r">
              <a:lnSpc>
                <a:spcPct val="112000"/>
              </a:lnSpc>
              <a:spcBef>
                <a:spcPts val="0"/>
              </a:spcBef>
              <a:spcAft>
                <a:spcPts val="0"/>
              </a:spcAft>
            </a:pPr>
            <a:r>
              <a:rPr sz="1300" b="1" i="0">
                <a:solidFill>
                  <a:srgbClr val="C26A0A"/>
                </a:solidFill>
                <a:latin typeface="Calibri"/>
              </a:rPr>
              <a:t>15 min</a:t>
            </a:r>
          </a:p>
        </p:txBody>
      </p:sp>
      <p:sp>
        <p:nvSpPr>
          <p:cNvPr id="11" name="Rounded Rectangle 10"/>
          <p:cNvSpPr/>
          <p:nvPr/>
        </p:nvSpPr>
        <p:spPr>
          <a:xfrm>
            <a:off x="777240" y="2386584"/>
            <a:ext cx="10634472" cy="420624"/>
          </a:xfrm>
          <a:prstGeom prst="roundRect">
            <a:avLst>
              <a:gd name="adj" fmla="val 10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96112" y="2427732"/>
            <a:ext cx="365760" cy="365760"/>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3</a:t>
            </a:r>
          </a:p>
        </p:txBody>
      </p:sp>
      <p:sp>
        <p:nvSpPr>
          <p:cNvPr id="13" name="TextBox 12"/>
          <p:cNvSpPr txBox="1"/>
          <p:nvPr/>
        </p:nvSpPr>
        <p:spPr>
          <a:xfrm>
            <a:off x="1353312" y="2386584"/>
            <a:ext cx="7863840" cy="420624"/>
          </a:xfrm>
          <a:prstGeom prst="rect">
            <a:avLst/>
          </a:prstGeom>
          <a:noFill/>
        </p:spPr>
        <p:txBody>
          <a:bodyPr wrap="square" lIns="0" rIns="0" tIns="0" bIns="0" anchor="ctr">
            <a:spAutoFit/>
          </a:bodyPr>
          <a:lstStyle/>
          <a:p>
            <a:pPr algn="l">
              <a:lnSpc>
                <a:spcPct val="112000"/>
              </a:lnSpc>
              <a:spcBef>
                <a:spcPts val="0"/>
              </a:spcBef>
              <a:spcAft>
                <a:spcPts val="0"/>
              </a:spcAft>
            </a:pPr>
            <a:r>
              <a:rPr sz="1700" b="0" i="0">
                <a:solidFill>
                  <a:srgbClr val="1B2433"/>
                </a:solidFill>
                <a:latin typeface="Calibri"/>
              </a:rPr>
              <a:t>Évolution Historique et Terminologique (NTIC → TIC)</a:t>
            </a:r>
          </a:p>
        </p:txBody>
      </p:sp>
      <p:sp>
        <p:nvSpPr>
          <p:cNvPr id="14" name="TextBox 13"/>
          <p:cNvSpPr txBox="1"/>
          <p:nvPr/>
        </p:nvSpPr>
        <p:spPr>
          <a:xfrm>
            <a:off x="9418320" y="2386584"/>
            <a:ext cx="1920240" cy="420624"/>
          </a:xfrm>
          <a:prstGeom prst="rect">
            <a:avLst/>
          </a:prstGeom>
          <a:noFill/>
        </p:spPr>
        <p:txBody>
          <a:bodyPr wrap="square" lIns="0" rIns="0" tIns="0" bIns="0" anchor="ctr">
            <a:spAutoFit/>
          </a:bodyPr>
          <a:lstStyle/>
          <a:p>
            <a:pPr algn="r">
              <a:lnSpc>
                <a:spcPct val="112000"/>
              </a:lnSpc>
              <a:spcBef>
                <a:spcPts val="0"/>
              </a:spcBef>
              <a:spcAft>
                <a:spcPts val="0"/>
              </a:spcAft>
            </a:pPr>
            <a:r>
              <a:rPr sz="1300" b="1" i="0">
                <a:solidFill>
                  <a:srgbClr val="C26A0A"/>
                </a:solidFill>
                <a:latin typeface="Calibri"/>
              </a:rPr>
              <a:t>10 min</a:t>
            </a:r>
          </a:p>
        </p:txBody>
      </p:sp>
      <p:sp>
        <p:nvSpPr>
          <p:cNvPr id="15" name="Rounded Rectangle 14"/>
          <p:cNvSpPr/>
          <p:nvPr/>
        </p:nvSpPr>
        <p:spPr>
          <a:xfrm>
            <a:off x="777240" y="2871216"/>
            <a:ext cx="10634472" cy="420624"/>
          </a:xfrm>
          <a:prstGeom prst="roundRect">
            <a:avLst>
              <a:gd name="adj" fmla="val 10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96112" y="2912364"/>
            <a:ext cx="365760" cy="365760"/>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4</a:t>
            </a:r>
          </a:p>
        </p:txBody>
      </p:sp>
      <p:sp>
        <p:nvSpPr>
          <p:cNvPr id="17" name="TextBox 16"/>
          <p:cNvSpPr txBox="1"/>
          <p:nvPr/>
        </p:nvSpPr>
        <p:spPr>
          <a:xfrm>
            <a:off x="1353312" y="2871216"/>
            <a:ext cx="7863840" cy="420624"/>
          </a:xfrm>
          <a:prstGeom prst="rect">
            <a:avLst/>
          </a:prstGeom>
          <a:noFill/>
        </p:spPr>
        <p:txBody>
          <a:bodyPr wrap="square" lIns="0" rIns="0" tIns="0" bIns="0" anchor="ctr">
            <a:spAutoFit/>
          </a:bodyPr>
          <a:lstStyle/>
          <a:p>
            <a:pPr algn="l">
              <a:lnSpc>
                <a:spcPct val="112000"/>
              </a:lnSpc>
              <a:spcBef>
                <a:spcPts val="0"/>
              </a:spcBef>
              <a:spcAft>
                <a:spcPts val="0"/>
              </a:spcAft>
            </a:pPr>
            <a:r>
              <a:rPr sz="1700" b="0" i="0">
                <a:solidFill>
                  <a:srgbClr val="1B2433"/>
                </a:solidFill>
                <a:latin typeface="Calibri"/>
              </a:rPr>
              <a:t>Les Trois Dimensions Fondamentales</a:t>
            </a:r>
          </a:p>
        </p:txBody>
      </p:sp>
      <p:sp>
        <p:nvSpPr>
          <p:cNvPr id="18" name="TextBox 17"/>
          <p:cNvSpPr txBox="1"/>
          <p:nvPr/>
        </p:nvSpPr>
        <p:spPr>
          <a:xfrm>
            <a:off x="9418320" y="2871216"/>
            <a:ext cx="1920240" cy="420624"/>
          </a:xfrm>
          <a:prstGeom prst="rect">
            <a:avLst/>
          </a:prstGeom>
          <a:noFill/>
        </p:spPr>
        <p:txBody>
          <a:bodyPr wrap="square" lIns="0" rIns="0" tIns="0" bIns="0" anchor="ctr">
            <a:spAutoFit/>
          </a:bodyPr>
          <a:lstStyle/>
          <a:p>
            <a:pPr algn="r">
              <a:lnSpc>
                <a:spcPct val="112000"/>
              </a:lnSpc>
              <a:spcBef>
                <a:spcPts val="0"/>
              </a:spcBef>
              <a:spcAft>
                <a:spcPts val="0"/>
              </a:spcAft>
            </a:pPr>
            <a:r>
              <a:rPr sz="1300" b="1" i="0">
                <a:solidFill>
                  <a:srgbClr val="C26A0A"/>
                </a:solidFill>
                <a:latin typeface="Calibri"/>
              </a:rPr>
              <a:t>15 min</a:t>
            </a:r>
          </a:p>
        </p:txBody>
      </p:sp>
      <p:sp>
        <p:nvSpPr>
          <p:cNvPr id="19" name="Rounded Rectangle 18"/>
          <p:cNvSpPr/>
          <p:nvPr/>
        </p:nvSpPr>
        <p:spPr>
          <a:xfrm>
            <a:off x="777240" y="3355848"/>
            <a:ext cx="10634472" cy="420624"/>
          </a:xfrm>
          <a:prstGeom prst="roundRect">
            <a:avLst>
              <a:gd name="adj" fmla="val 10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96996"/>
            <a:ext cx="365760" cy="365760"/>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5</a:t>
            </a:r>
          </a:p>
        </p:txBody>
      </p:sp>
      <p:sp>
        <p:nvSpPr>
          <p:cNvPr id="21" name="TextBox 20"/>
          <p:cNvSpPr txBox="1"/>
          <p:nvPr/>
        </p:nvSpPr>
        <p:spPr>
          <a:xfrm>
            <a:off x="1353312" y="3355848"/>
            <a:ext cx="7863840" cy="420624"/>
          </a:xfrm>
          <a:prstGeom prst="rect">
            <a:avLst/>
          </a:prstGeom>
          <a:noFill/>
        </p:spPr>
        <p:txBody>
          <a:bodyPr wrap="square" lIns="0" rIns="0" tIns="0" bIns="0" anchor="ctr">
            <a:spAutoFit/>
          </a:bodyPr>
          <a:lstStyle/>
          <a:p>
            <a:pPr algn="l">
              <a:lnSpc>
                <a:spcPct val="112000"/>
              </a:lnSpc>
              <a:spcBef>
                <a:spcPts val="0"/>
              </a:spcBef>
              <a:spcAft>
                <a:spcPts val="0"/>
              </a:spcAft>
            </a:pPr>
            <a:r>
              <a:rPr sz="1700" b="0" i="0">
                <a:solidFill>
                  <a:srgbClr val="1B2433"/>
                </a:solidFill>
                <a:latin typeface="Calibri"/>
              </a:rPr>
              <a:t>Rôle et Fonctions des TIC</a:t>
            </a:r>
          </a:p>
        </p:txBody>
      </p:sp>
      <p:sp>
        <p:nvSpPr>
          <p:cNvPr id="22" name="TextBox 21"/>
          <p:cNvSpPr txBox="1"/>
          <p:nvPr/>
        </p:nvSpPr>
        <p:spPr>
          <a:xfrm>
            <a:off x="9418320" y="3355848"/>
            <a:ext cx="1920240" cy="420624"/>
          </a:xfrm>
          <a:prstGeom prst="rect">
            <a:avLst/>
          </a:prstGeom>
          <a:noFill/>
        </p:spPr>
        <p:txBody>
          <a:bodyPr wrap="square" lIns="0" rIns="0" tIns="0" bIns="0" anchor="ctr">
            <a:spAutoFit/>
          </a:bodyPr>
          <a:lstStyle/>
          <a:p>
            <a:pPr algn="r">
              <a:lnSpc>
                <a:spcPct val="112000"/>
              </a:lnSpc>
              <a:spcBef>
                <a:spcPts val="0"/>
              </a:spcBef>
              <a:spcAft>
                <a:spcPts val="0"/>
              </a:spcAft>
            </a:pPr>
            <a:r>
              <a:rPr sz="1300" b="1" i="0">
                <a:solidFill>
                  <a:srgbClr val="C26A0A"/>
                </a:solidFill>
                <a:latin typeface="Calibri"/>
              </a:rPr>
              <a:t>15 min</a:t>
            </a:r>
          </a:p>
        </p:txBody>
      </p:sp>
      <p:sp>
        <p:nvSpPr>
          <p:cNvPr id="23" name="Rounded Rectangle 22"/>
          <p:cNvSpPr/>
          <p:nvPr/>
        </p:nvSpPr>
        <p:spPr>
          <a:xfrm>
            <a:off x="777240" y="3840480"/>
            <a:ext cx="10634472" cy="420624"/>
          </a:xfrm>
          <a:prstGeom prst="roundRect">
            <a:avLst>
              <a:gd name="adj" fmla="val 10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3881628"/>
            <a:ext cx="365760" cy="365760"/>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6</a:t>
            </a:r>
          </a:p>
        </p:txBody>
      </p:sp>
      <p:sp>
        <p:nvSpPr>
          <p:cNvPr id="25" name="TextBox 24"/>
          <p:cNvSpPr txBox="1"/>
          <p:nvPr/>
        </p:nvSpPr>
        <p:spPr>
          <a:xfrm>
            <a:off x="1353312" y="3840480"/>
            <a:ext cx="7863840" cy="420624"/>
          </a:xfrm>
          <a:prstGeom prst="rect">
            <a:avLst/>
          </a:prstGeom>
          <a:noFill/>
        </p:spPr>
        <p:txBody>
          <a:bodyPr wrap="square" lIns="0" rIns="0" tIns="0" bIns="0" anchor="ctr">
            <a:spAutoFit/>
          </a:bodyPr>
          <a:lstStyle/>
          <a:p>
            <a:pPr algn="l">
              <a:lnSpc>
                <a:spcPct val="112000"/>
              </a:lnSpc>
              <a:spcBef>
                <a:spcPts val="0"/>
              </a:spcBef>
              <a:spcAft>
                <a:spcPts val="0"/>
              </a:spcAft>
            </a:pPr>
            <a:r>
              <a:rPr sz="1700" b="0" i="0">
                <a:solidFill>
                  <a:srgbClr val="1B2433"/>
                </a:solidFill>
                <a:latin typeface="Calibri"/>
              </a:rPr>
              <a:t>Services Principaux des TIC</a:t>
            </a:r>
          </a:p>
        </p:txBody>
      </p:sp>
      <p:sp>
        <p:nvSpPr>
          <p:cNvPr id="26" name="TextBox 25"/>
          <p:cNvSpPr txBox="1"/>
          <p:nvPr/>
        </p:nvSpPr>
        <p:spPr>
          <a:xfrm>
            <a:off x="9418320" y="3840480"/>
            <a:ext cx="1920240" cy="420624"/>
          </a:xfrm>
          <a:prstGeom prst="rect">
            <a:avLst/>
          </a:prstGeom>
          <a:noFill/>
        </p:spPr>
        <p:txBody>
          <a:bodyPr wrap="square" lIns="0" rIns="0" tIns="0" bIns="0" anchor="ctr">
            <a:spAutoFit/>
          </a:bodyPr>
          <a:lstStyle/>
          <a:p>
            <a:pPr algn="r">
              <a:lnSpc>
                <a:spcPct val="112000"/>
              </a:lnSpc>
              <a:spcBef>
                <a:spcPts val="0"/>
              </a:spcBef>
              <a:spcAft>
                <a:spcPts val="0"/>
              </a:spcAft>
            </a:pPr>
            <a:r>
              <a:rPr sz="1300" b="1" i="0">
                <a:solidFill>
                  <a:srgbClr val="C26A0A"/>
                </a:solidFill>
                <a:latin typeface="Calibri"/>
              </a:rPr>
              <a:t>10 min</a:t>
            </a:r>
          </a:p>
        </p:txBody>
      </p:sp>
      <p:sp>
        <p:nvSpPr>
          <p:cNvPr id="27" name="Rounded Rectangle 26"/>
          <p:cNvSpPr/>
          <p:nvPr/>
        </p:nvSpPr>
        <p:spPr>
          <a:xfrm>
            <a:off x="777240" y="4325112"/>
            <a:ext cx="10634472" cy="420624"/>
          </a:xfrm>
          <a:prstGeom prst="roundRect">
            <a:avLst>
              <a:gd name="adj" fmla="val 10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96112" y="4366260"/>
            <a:ext cx="365760" cy="365760"/>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7</a:t>
            </a:r>
          </a:p>
        </p:txBody>
      </p:sp>
      <p:sp>
        <p:nvSpPr>
          <p:cNvPr id="29" name="TextBox 28"/>
          <p:cNvSpPr txBox="1"/>
          <p:nvPr/>
        </p:nvSpPr>
        <p:spPr>
          <a:xfrm>
            <a:off x="1353312" y="4325112"/>
            <a:ext cx="7863840" cy="420624"/>
          </a:xfrm>
          <a:prstGeom prst="rect">
            <a:avLst/>
          </a:prstGeom>
          <a:noFill/>
        </p:spPr>
        <p:txBody>
          <a:bodyPr wrap="square" lIns="0" rIns="0" tIns="0" bIns="0" anchor="ctr">
            <a:spAutoFit/>
          </a:bodyPr>
          <a:lstStyle/>
          <a:p>
            <a:pPr algn="l">
              <a:lnSpc>
                <a:spcPct val="112000"/>
              </a:lnSpc>
              <a:spcBef>
                <a:spcPts val="0"/>
              </a:spcBef>
              <a:spcAft>
                <a:spcPts val="0"/>
              </a:spcAft>
            </a:pPr>
            <a:r>
              <a:rPr sz="1700" b="0" i="0">
                <a:solidFill>
                  <a:srgbClr val="1B2433"/>
                </a:solidFill>
                <a:latin typeface="Calibri"/>
              </a:rPr>
              <a:t>Applications dans l'Éducation</a:t>
            </a:r>
          </a:p>
        </p:txBody>
      </p:sp>
      <p:sp>
        <p:nvSpPr>
          <p:cNvPr id="30" name="TextBox 29"/>
          <p:cNvSpPr txBox="1"/>
          <p:nvPr/>
        </p:nvSpPr>
        <p:spPr>
          <a:xfrm>
            <a:off x="9418320" y="4325112"/>
            <a:ext cx="1920240" cy="420624"/>
          </a:xfrm>
          <a:prstGeom prst="rect">
            <a:avLst/>
          </a:prstGeom>
          <a:noFill/>
        </p:spPr>
        <p:txBody>
          <a:bodyPr wrap="square" lIns="0" rIns="0" tIns="0" bIns="0" anchor="ctr">
            <a:spAutoFit/>
          </a:bodyPr>
          <a:lstStyle/>
          <a:p>
            <a:pPr algn="r">
              <a:lnSpc>
                <a:spcPct val="112000"/>
              </a:lnSpc>
              <a:spcBef>
                <a:spcPts val="0"/>
              </a:spcBef>
              <a:spcAft>
                <a:spcPts val="0"/>
              </a:spcAft>
            </a:pPr>
            <a:r>
              <a:rPr sz="1300" b="1" i="0">
                <a:solidFill>
                  <a:srgbClr val="C26A0A"/>
                </a:solidFill>
                <a:latin typeface="Calibri"/>
              </a:rPr>
              <a:t>10 min</a:t>
            </a:r>
          </a:p>
        </p:txBody>
      </p:sp>
      <p:sp>
        <p:nvSpPr>
          <p:cNvPr id="31" name="Rounded Rectangle 30"/>
          <p:cNvSpPr/>
          <p:nvPr/>
        </p:nvSpPr>
        <p:spPr>
          <a:xfrm>
            <a:off x="777240" y="4809744"/>
            <a:ext cx="10634472" cy="420624"/>
          </a:xfrm>
          <a:prstGeom prst="roundRect">
            <a:avLst>
              <a:gd name="adj" fmla="val 10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96112" y="4850892"/>
            <a:ext cx="365760" cy="365760"/>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8</a:t>
            </a:r>
          </a:p>
        </p:txBody>
      </p:sp>
      <p:sp>
        <p:nvSpPr>
          <p:cNvPr id="33" name="TextBox 32"/>
          <p:cNvSpPr txBox="1"/>
          <p:nvPr/>
        </p:nvSpPr>
        <p:spPr>
          <a:xfrm>
            <a:off x="1353312" y="4809744"/>
            <a:ext cx="7863840" cy="420624"/>
          </a:xfrm>
          <a:prstGeom prst="rect">
            <a:avLst/>
          </a:prstGeom>
          <a:noFill/>
        </p:spPr>
        <p:txBody>
          <a:bodyPr wrap="square" lIns="0" rIns="0" tIns="0" bIns="0" anchor="ctr">
            <a:spAutoFit/>
          </a:bodyPr>
          <a:lstStyle/>
          <a:p>
            <a:pPr algn="l">
              <a:lnSpc>
                <a:spcPct val="112000"/>
              </a:lnSpc>
              <a:spcBef>
                <a:spcPts val="0"/>
              </a:spcBef>
              <a:spcAft>
                <a:spcPts val="0"/>
              </a:spcAft>
            </a:pPr>
            <a:r>
              <a:rPr sz="1700" b="0" i="0">
                <a:solidFill>
                  <a:srgbClr val="1B2433"/>
                </a:solidFill>
                <a:latin typeface="Calibri"/>
              </a:rPr>
              <a:t>Compétences Numériques Attendues</a:t>
            </a:r>
          </a:p>
        </p:txBody>
      </p:sp>
      <p:sp>
        <p:nvSpPr>
          <p:cNvPr id="34" name="TextBox 33"/>
          <p:cNvSpPr txBox="1"/>
          <p:nvPr/>
        </p:nvSpPr>
        <p:spPr>
          <a:xfrm>
            <a:off x="9418320" y="4809744"/>
            <a:ext cx="1920240" cy="420624"/>
          </a:xfrm>
          <a:prstGeom prst="rect">
            <a:avLst/>
          </a:prstGeom>
          <a:noFill/>
        </p:spPr>
        <p:txBody>
          <a:bodyPr wrap="square" lIns="0" rIns="0" tIns="0" bIns="0" anchor="ctr">
            <a:spAutoFit/>
          </a:bodyPr>
          <a:lstStyle/>
          <a:p>
            <a:pPr algn="r">
              <a:lnSpc>
                <a:spcPct val="112000"/>
              </a:lnSpc>
              <a:spcBef>
                <a:spcPts val="0"/>
              </a:spcBef>
              <a:spcAft>
                <a:spcPts val="0"/>
              </a:spcAft>
            </a:pPr>
            <a:r>
              <a:rPr sz="1300" b="1" i="0">
                <a:solidFill>
                  <a:srgbClr val="C26A0A"/>
                </a:solidFill>
                <a:latin typeface="Calibri"/>
              </a:rPr>
              <a:t>10 min</a:t>
            </a:r>
          </a:p>
        </p:txBody>
      </p:sp>
      <p:sp>
        <p:nvSpPr>
          <p:cNvPr id="35" name="Rounded Rectangle 34"/>
          <p:cNvSpPr/>
          <p:nvPr/>
        </p:nvSpPr>
        <p:spPr>
          <a:xfrm>
            <a:off x="777240" y="5294376"/>
            <a:ext cx="10634472" cy="420624"/>
          </a:xfrm>
          <a:prstGeom prst="roundRect">
            <a:avLst>
              <a:gd name="adj" fmla="val 10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96112" y="5335524"/>
            <a:ext cx="365760" cy="365760"/>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9</a:t>
            </a:r>
          </a:p>
        </p:txBody>
      </p:sp>
      <p:sp>
        <p:nvSpPr>
          <p:cNvPr id="37" name="TextBox 36"/>
          <p:cNvSpPr txBox="1"/>
          <p:nvPr/>
        </p:nvSpPr>
        <p:spPr>
          <a:xfrm>
            <a:off x="1353312" y="5294376"/>
            <a:ext cx="7863840" cy="420624"/>
          </a:xfrm>
          <a:prstGeom prst="rect">
            <a:avLst/>
          </a:prstGeom>
          <a:noFill/>
        </p:spPr>
        <p:txBody>
          <a:bodyPr wrap="square" lIns="0" rIns="0" tIns="0" bIns="0" anchor="ctr">
            <a:spAutoFit/>
          </a:bodyPr>
          <a:lstStyle/>
          <a:p>
            <a:pPr algn="l">
              <a:lnSpc>
                <a:spcPct val="112000"/>
              </a:lnSpc>
              <a:spcBef>
                <a:spcPts val="0"/>
              </a:spcBef>
              <a:spcAft>
                <a:spcPts val="0"/>
              </a:spcAft>
            </a:pPr>
            <a:r>
              <a:rPr sz="1700" b="0" i="0">
                <a:solidFill>
                  <a:srgbClr val="1B2433"/>
                </a:solidFill>
                <a:latin typeface="Calibri"/>
              </a:rPr>
              <a:t>Conclusion</a:t>
            </a:r>
          </a:p>
        </p:txBody>
      </p:sp>
      <p:sp>
        <p:nvSpPr>
          <p:cNvPr id="38" name="TextBox 37"/>
          <p:cNvSpPr txBox="1"/>
          <p:nvPr/>
        </p:nvSpPr>
        <p:spPr>
          <a:xfrm>
            <a:off x="9418320" y="5294376"/>
            <a:ext cx="1920240" cy="420624"/>
          </a:xfrm>
          <a:prstGeom prst="rect">
            <a:avLst/>
          </a:prstGeom>
          <a:noFill/>
        </p:spPr>
        <p:txBody>
          <a:bodyPr wrap="square" lIns="0" rIns="0" tIns="0" bIns="0" anchor="ctr">
            <a:spAutoFit/>
          </a:bodyPr>
          <a:lstStyle/>
          <a:p>
            <a:pPr algn="r">
              <a:lnSpc>
                <a:spcPct val="112000"/>
              </a:lnSpc>
              <a:spcBef>
                <a:spcPts val="0"/>
              </a:spcBef>
              <a:spcAft>
                <a:spcPts val="0"/>
              </a:spcAft>
            </a:pPr>
            <a:r>
              <a:rPr sz="1300" b="1" i="0">
                <a:solidFill>
                  <a:srgbClr val="C26A0A"/>
                </a:solidFill>
                <a:latin typeface="Calibri"/>
              </a:rPr>
              <a:t>5 min</a:t>
            </a:r>
          </a:p>
        </p:txBody>
      </p:sp>
      <p:sp>
        <p:nvSpPr>
          <p:cNvPr id="39" name="TextBox 38"/>
          <p:cNvSpPr txBox="1"/>
          <p:nvPr/>
        </p:nvSpPr>
        <p:spPr>
          <a:xfrm>
            <a:off x="777240" y="5824728"/>
            <a:ext cx="10634472" cy="365760"/>
          </a:xfrm>
          <a:prstGeom prst="rect">
            <a:avLst/>
          </a:prstGeom>
          <a:noFill/>
        </p:spPr>
        <p:txBody>
          <a:bodyPr wrap="square" lIns="0" rIns="0" tIns="0" bIns="0" anchor="t">
            <a:spAutoFit/>
          </a:bodyPr>
          <a:lstStyle/>
          <a:p>
            <a:pPr algn="l">
              <a:lnSpc>
                <a:spcPct val="112000"/>
              </a:lnSpc>
              <a:spcBef>
                <a:spcPts val="0"/>
              </a:spcBef>
              <a:spcAft>
                <a:spcPts val="0"/>
              </a:spcAft>
            </a:pPr>
            <a:r>
              <a:rPr sz="1300" b="1" i="0">
                <a:solidFill>
                  <a:srgbClr val="122A4F"/>
                </a:solidFill>
                <a:latin typeface="Calibri"/>
              </a:rPr>
              <a:t>Durée indicative totale : 100 minutes</a:t>
            </a:r>
          </a:p>
        </p:txBody>
      </p:sp>
      <p:sp>
        <p:nvSpPr>
          <p:cNvPr id="40" name="Rectangle 39"/>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42" name="TextBox 41"/>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Introduction et Importance des TIC</a:t>
            </a:r>
          </a:p>
        </p:txBody>
      </p:sp>
      <p:sp>
        <p:nvSpPr>
          <p:cNvPr id="3" name="Rounded Rectangle 2"/>
          <p:cNvSpPr/>
          <p:nvPr/>
        </p:nvSpPr>
        <p:spPr>
          <a:xfrm>
            <a:off x="10195560" y="593598"/>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95560" y="593598"/>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50" b="1" i="0">
                <a:solidFill>
                  <a:srgbClr val="122A4F"/>
                </a:solidFill>
                <a:latin typeface="Calibri"/>
              </a:rPr>
              <a:t>10 min</a:t>
            </a:r>
          </a:p>
        </p:txBody>
      </p:sp>
      <p:sp>
        <p:nvSpPr>
          <p:cNvPr id="5" name="TextBox 4"/>
          <p:cNvSpPr txBox="1"/>
          <p:nvPr/>
        </p:nvSpPr>
        <p:spPr>
          <a:xfrm>
            <a:off x="777240" y="1150620"/>
            <a:ext cx="10634472" cy="1175512"/>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Les Techniques de l'Information et de la Communication (TIC) désignent l'ensemble des outils numériques qui permettent de créer, traiter, stocker, transmettre et partager l'information. Elles incluent ordinateurs, smartphones, réseaux sans fil et plateformes en ligne.</a:t>
            </a:r>
          </a:p>
        </p:txBody>
      </p:sp>
      <p:sp>
        <p:nvSpPr>
          <p:cNvPr id="6" name="TextBox 5"/>
          <p:cNvSpPr txBox="1"/>
          <p:nvPr/>
        </p:nvSpPr>
        <p:spPr>
          <a:xfrm>
            <a:off x="777240" y="2454148"/>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Pourquoi ce cours en Licence 1 ? Dès la première année, vous utilisez les TIC pour :</a:t>
            </a:r>
          </a:p>
        </p:txBody>
      </p:sp>
      <p:sp>
        <p:nvSpPr>
          <p:cNvPr id="7" name="TextBox 6"/>
          <p:cNvSpPr txBox="1"/>
          <p:nvPr/>
        </p:nvSpPr>
        <p:spPr>
          <a:xfrm>
            <a:off x="777240" y="3188207"/>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Accéder aux ressources : Moodle, bibliothèque numérique, polycopiés PDF</a:t>
            </a:r>
          </a:p>
        </p:txBody>
      </p:sp>
      <p:sp>
        <p:nvSpPr>
          <p:cNvPr id="8" name="TextBox 7"/>
          <p:cNvSpPr txBox="1"/>
          <p:nvPr/>
        </p:nvSpPr>
        <p:spPr>
          <a:xfrm>
            <a:off x="777240" y="3555238"/>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Communiquer : courriel institutionnel, forums de TD</a:t>
            </a:r>
          </a:p>
        </p:txBody>
      </p:sp>
      <p:sp>
        <p:nvSpPr>
          <p:cNvPr id="9" name="TextBox 8"/>
          <p:cNvSpPr txBox="1"/>
          <p:nvPr/>
        </p:nvSpPr>
        <p:spPr>
          <a:xfrm>
            <a:off x="777240" y="3922268"/>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Rechercher : bases documentaires, corpus linguistiques multilingues</a:t>
            </a:r>
          </a:p>
        </p:txBody>
      </p:sp>
      <p:sp>
        <p:nvSpPr>
          <p:cNvPr id="10" name="TextBox 9"/>
          <p:cNvSpPr txBox="1"/>
          <p:nvPr/>
        </p:nvSpPr>
        <p:spPr>
          <a:xfrm>
            <a:off x="777240" y="4289298"/>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Produire : devoirs Word, présentations PowerPoint, exposés</a:t>
            </a:r>
          </a:p>
        </p:txBody>
      </p:sp>
      <p:sp>
        <p:nvSpPr>
          <p:cNvPr id="11" name="TextBox 10"/>
          <p:cNvSpPr txBox="1"/>
          <p:nvPr/>
        </p:nvSpPr>
        <p:spPr>
          <a:xfrm>
            <a:off x="777240" y="4656328"/>
            <a:ext cx="10634472" cy="890778"/>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Objectif pédagogique : développer une culture numérique solide — savoir utiliser les outils, mais aussi comprendre leurs limites (fiabilité des sources, plagiat, vie privée).</a:t>
            </a:r>
          </a:p>
        </p:txBody>
      </p:sp>
      <p:sp>
        <p:nvSpPr>
          <p:cNvPr id="12" name="Rectangle 11"/>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4" name="TextBox 13"/>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Introduction et Importance des TIC (suite)</a:t>
            </a:r>
          </a:p>
        </p:txBody>
      </p:sp>
      <p:sp>
        <p:nvSpPr>
          <p:cNvPr id="3" name="TextBox 2"/>
          <p:cNvSpPr txBox="1"/>
          <p:nvPr/>
        </p:nvSpPr>
        <p:spPr>
          <a:xfrm>
            <a:off x="777240" y="109474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Pourquoi les TIC sont-elles incontournables aujourd'hui ?</a:t>
            </a:r>
          </a:p>
        </p:txBody>
      </p:sp>
      <p:sp>
        <p:nvSpPr>
          <p:cNvPr id="4" name="TextBox 3"/>
          <p:cNvSpPr txBox="1"/>
          <p:nvPr/>
        </p:nvSpPr>
        <p:spPr>
          <a:xfrm>
            <a:off x="777240" y="1527556"/>
            <a:ext cx="10634472" cy="1175512"/>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Les TIC ont transformé en profondeur tous les secteurs de la société : éducation, santé, administration, communication, commerce, culture. Dans le monde professionnel, la maîtrise des outils numériques est devenue une compétence transversale indispensable, au même titre que la lecture et l'écriture.</a:t>
            </a:r>
          </a:p>
        </p:txBody>
      </p:sp>
      <p:sp>
        <p:nvSpPr>
          <p:cNvPr id="5" name="TextBox 4"/>
          <p:cNvSpPr txBox="1"/>
          <p:nvPr/>
        </p:nvSpPr>
        <p:spPr>
          <a:xfrm>
            <a:off x="777240" y="2831084"/>
            <a:ext cx="10634472" cy="1744980"/>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Dans le contexte universitaire algérien, la généralisation des plateformes e-learning (Moodle, Google Classroom) et l'obligation de dépôt des devoirs en ligne rendent la culture TIC indispensable dès la première année. Les universités algériennes ont massivement investi dans les infrastructures numériques : salles informatiques, connexion fibre optique, plateformes pédagogiques, bibliothèques numériques.</a:t>
            </a:r>
          </a:p>
        </p:txBody>
      </p:sp>
      <p:sp>
        <p:nvSpPr>
          <p:cNvPr id="6" name="Rectangle 5"/>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8" name="TextBox 7"/>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Introduction et Importance des TIC (suite)</a:t>
            </a:r>
          </a:p>
        </p:txBody>
      </p:sp>
      <p:sp>
        <p:nvSpPr>
          <p:cNvPr id="3" name="TextBox 2"/>
          <p:cNvSpPr txBox="1"/>
          <p:nvPr/>
        </p:nvSpPr>
        <p:spPr>
          <a:xfrm>
            <a:off x="777240" y="109474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À quoi ça sert concrètement ?</a:t>
            </a:r>
          </a:p>
        </p:txBody>
      </p:sp>
      <p:sp>
        <p:nvSpPr>
          <p:cNvPr id="4" name="TextBox 3"/>
          <p:cNvSpPr txBox="1"/>
          <p:nvPr/>
        </p:nvSpPr>
        <p:spPr>
          <a:xfrm>
            <a:off x="777240" y="1527556"/>
            <a:ext cx="10634472" cy="890778"/>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Les TIC ne sont pas seulement des outils techniques : elles permettent de mieux apprendre, mieux travailler, mieux communiquer et mieux produire. Pour un étudiant, cela signifie :</a:t>
            </a:r>
          </a:p>
        </p:txBody>
      </p:sp>
      <p:sp>
        <p:nvSpPr>
          <p:cNvPr id="5" name="Rectangle 4"/>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7" name="TextBox 6"/>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Introduction et Importance des TIC (suite)</a:t>
            </a:r>
          </a:p>
        </p:txBody>
      </p:sp>
      <p:sp>
        <p:nvSpPr>
          <p:cNvPr id="3" name="TextBox 2"/>
          <p:cNvSpPr txBox="1"/>
          <p:nvPr/>
        </p:nvSpPr>
        <p:spPr>
          <a:xfrm>
            <a:off x="777240" y="109474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Accéder aux cours via Moodle, PDF, vidéos, capsules pédagogiques et bibliothèques numériques.</a:t>
            </a:r>
          </a:p>
        </p:txBody>
      </p:sp>
      <p:sp>
        <p:nvSpPr>
          <p:cNvPr id="4" name="TextBox 3"/>
          <p:cNvSpPr txBox="1"/>
          <p:nvPr/>
        </p:nvSpPr>
        <p:spPr>
          <a:xfrm>
            <a:off x="777240" y="1746504"/>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Organiser son travail grâce aux dossiers, fichiers, sauvegardes, documents partagés et classeurs numériques.</a:t>
            </a:r>
          </a:p>
        </p:txBody>
      </p:sp>
      <p:sp>
        <p:nvSpPr>
          <p:cNvPr id="5" name="TextBox 4"/>
          <p:cNvSpPr txBox="1"/>
          <p:nvPr/>
        </p:nvSpPr>
        <p:spPr>
          <a:xfrm>
            <a:off x="777240" y="2398267"/>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Rechercher de l'information de manière plus rapide et plus fiable, avec des mots-clés et des sources fiables.</a:t>
            </a:r>
          </a:p>
        </p:txBody>
      </p:sp>
      <p:sp>
        <p:nvSpPr>
          <p:cNvPr id="6" name="TextBox 5"/>
          <p:cNvSpPr txBox="1"/>
          <p:nvPr/>
        </p:nvSpPr>
        <p:spPr>
          <a:xfrm>
            <a:off x="777240" y="3050031"/>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Communiquer avec l'enseignant, les camarades et l'administration par e-mail, forum ou plateforme.</a:t>
            </a:r>
          </a:p>
        </p:txBody>
      </p:sp>
      <p:sp>
        <p:nvSpPr>
          <p:cNvPr id="7" name="TextBox 6"/>
          <p:cNvSpPr txBox="1"/>
          <p:nvPr/>
        </p:nvSpPr>
        <p:spPr>
          <a:xfrm>
            <a:off x="777240" y="3701795"/>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Créer des productions : exposés, fiches de lecture, présentations, synthèses, devoirs de recherche.</a:t>
            </a:r>
          </a:p>
        </p:txBody>
      </p:sp>
      <p:sp>
        <p:nvSpPr>
          <p:cNvPr id="8" name="TextBox 7"/>
          <p:cNvSpPr txBox="1"/>
          <p:nvPr/>
        </p:nvSpPr>
        <p:spPr>
          <a:xfrm>
            <a:off x="777240" y="4353560"/>
            <a:ext cx="10634472" cy="890778"/>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Développer des compétences utiles dans la vie quotidienne et dans la carrière future, notamment la gestion digitale, la collaboration et la sécurité informatique.</a:t>
            </a:r>
          </a:p>
        </p:txBody>
      </p:sp>
      <p:sp>
        <p:nvSpPr>
          <p:cNvPr id="9" name="Rectangle 8"/>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1" name="TextBox 10"/>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Introduction et Importance des TIC (suite)</a:t>
            </a:r>
          </a:p>
        </p:txBody>
      </p:sp>
      <p:sp>
        <p:nvSpPr>
          <p:cNvPr id="3" name="TextBox 2"/>
          <p:cNvSpPr txBox="1"/>
          <p:nvPr/>
        </p:nvSpPr>
        <p:spPr>
          <a:xfrm>
            <a:off x="777240" y="109474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En une phrase : les TIC servent à transformer l'information en savoir exploitable, puis en action utile.</a:t>
            </a:r>
          </a:p>
        </p:txBody>
      </p:sp>
      <p:sp>
        <p:nvSpPr>
          <p:cNvPr id="4" name="TextBox 3"/>
          <p:cNvSpPr txBox="1"/>
          <p:nvPr/>
        </p:nvSpPr>
        <p:spPr>
          <a:xfrm>
            <a:off x="777240" y="182880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Statistiques clés sur le numérique en Algérie</a:t>
            </a:r>
          </a:p>
        </p:txBody>
      </p:sp>
      <p:sp>
        <p:nvSpPr>
          <p:cNvPr id="5" name="TextBox 4"/>
          <p:cNvSpPr txBox="1"/>
          <p:nvPr/>
        </p:nvSpPr>
        <p:spPr>
          <a:xfrm>
            <a:off x="777240" y="2261616"/>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Plus de 50 universités et centres universitaires connectés à Internet par fibre optique</a:t>
            </a:r>
          </a:p>
        </p:txBody>
      </p:sp>
      <p:sp>
        <p:nvSpPr>
          <p:cNvPr id="6" name="TextBox 5"/>
          <p:cNvSpPr txBox="1"/>
          <p:nvPr/>
        </p:nvSpPr>
        <p:spPr>
          <a:xfrm>
            <a:off x="777240" y="291338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Plus d'un million d'étudiants utilisent des plateformes e-learning</a:t>
            </a:r>
          </a:p>
        </p:txBody>
      </p:sp>
      <p:sp>
        <p:nvSpPr>
          <p:cNvPr id="7" name="TextBox 6"/>
          <p:cNvSpPr txBox="1"/>
          <p:nvPr/>
        </p:nvSpPr>
        <p:spPr>
          <a:xfrm>
            <a:off x="777240" y="328041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Le taux de pénétration d'Internet dépasse 70 % de la population</a:t>
            </a:r>
          </a:p>
        </p:txBody>
      </p:sp>
      <p:sp>
        <p:nvSpPr>
          <p:cNvPr id="8" name="TextBox 7"/>
          <p:cNvSpPr txBox="1"/>
          <p:nvPr/>
        </p:nvSpPr>
        <p:spPr>
          <a:xfrm>
            <a:off x="777240" y="364744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Le programme e-learning Algérie 2025 vise la numérisation complète des cursus universitaires</a:t>
            </a:r>
          </a:p>
        </p:txBody>
      </p:sp>
      <p:sp>
        <p:nvSpPr>
          <p:cNvPr id="9" name="Rectangle 8"/>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1" name="TextBox 10"/>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Définition Détaillée des TIC</a:t>
            </a:r>
          </a:p>
        </p:txBody>
      </p:sp>
      <p:sp>
        <p:nvSpPr>
          <p:cNvPr id="3" name="Rounded Rectangle 2"/>
          <p:cNvSpPr/>
          <p:nvPr/>
        </p:nvSpPr>
        <p:spPr>
          <a:xfrm>
            <a:off x="10195560" y="593598"/>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95560" y="593598"/>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50" b="1" i="0">
                <a:solidFill>
                  <a:srgbClr val="122A4F"/>
                </a:solidFill>
                <a:latin typeface="Calibri"/>
              </a:rPr>
              <a:t>15 min</a:t>
            </a:r>
          </a:p>
        </p:txBody>
      </p:sp>
      <p:sp>
        <p:nvSpPr>
          <p:cNvPr id="5" name="TextBox 4"/>
          <p:cNvSpPr txBox="1"/>
          <p:nvPr/>
        </p:nvSpPr>
        <p:spPr>
          <a:xfrm>
            <a:off x="777240" y="115062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Convergence de trois domaines</a:t>
            </a:r>
          </a:p>
        </p:txBody>
      </p:sp>
      <p:sp>
        <p:nvSpPr>
          <p:cNvPr id="6" name="TextBox 5"/>
          <p:cNvSpPr txBox="1"/>
          <p:nvPr/>
        </p:nvSpPr>
        <p:spPr>
          <a:xfrm>
            <a:off x="777240" y="1583436"/>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1.  </a:t>
            </a:r>
            <a:r>
              <a:rPr sz="1900" b="0" i="0">
                <a:solidFill>
                  <a:srgbClr val="1B2433"/>
                </a:solidFill>
                <a:latin typeface="Calibri"/>
              </a:rPr>
              <a:t>Informatique — traitement automatique de l'information (logiciels, bases de données)</a:t>
            </a:r>
          </a:p>
        </p:txBody>
      </p:sp>
      <p:sp>
        <p:nvSpPr>
          <p:cNvPr id="7" name="TextBox 6"/>
          <p:cNvSpPr txBox="1"/>
          <p:nvPr/>
        </p:nvSpPr>
        <p:spPr>
          <a:xfrm>
            <a:off x="777240" y="223520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2.  </a:t>
            </a:r>
            <a:r>
              <a:rPr sz="1900" b="0" i="0">
                <a:solidFill>
                  <a:srgbClr val="1B2433"/>
                </a:solidFill>
                <a:latin typeface="Calibri"/>
              </a:rPr>
              <a:t>Télécommunications — transmission à distance (Internet, fibre, Wi-Fi)</a:t>
            </a:r>
          </a:p>
        </p:txBody>
      </p:sp>
      <p:sp>
        <p:nvSpPr>
          <p:cNvPr id="8" name="TextBox 7"/>
          <p:cNvSpPr txBox="1"/>
          <p:nvPr/>
        </p:nvSpPr>
        <p:spPr>
          <a:xfrm>
            <a:off x="777240" y="260223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3.  </a:t>
            </a:r>
            <a:r>
              <a:rPr sz="1900" b="0" i="0">
                <a:solidFill>
                  <a:srgbClr val="1B2433"/>
                </a:solidFill>
                <a:latin typeface="Calibri"/>
              </a:rPr>
              <a:t>Audiovisuel et multimédia — texte, image, son, vidéo combinés</a:t>
            </a:r>
          </a:p>
        </p:txBody>
      </p:sp>
      <p:sp>
        <p:nvSpPr>
          <p:cNvPr id="9" name="TextBox 8"/>
          <p:cNvSpPr txBox="1"/>
          <p:nvPr/>
        </p:nvSpPr>
        <p:spPr>
          <a:xfrm>
            <a:off x="777240" y="296926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Définitions de référence</a:t>
            </a:r>
          </a:p>
        </p:txBody>
      </p:sp>
      <p:sp>
        <p:nvSpPr>
          <p:cNvPr id="10" name="TextBox 9"/>
          <p:cNvSpPr txBox="1"/>
          <p:nvPr/>
        </p:nvSpPr>
        <p:spPr>
          <a:xfrm>
            <a:off x="777240" y="3402076"/>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UIT : « Les TIC englobent tous les outils et systèmes qui permettent de manipuler, stocker et transmettre l'information sous forme numérique. »</a:t>
            </a:r>
          </a:p>
        </p:txBody>
      </p:sp>
      <p:sp>
        <p:nvSpPr>
          <p:cNvPr id="11" name="TextBox 10"/>
          <p:cNvSpPr txBox="1"/>
          <p:nvPr/>
        </p:nvSpPr>
        <p:spPr>
          <a:xfrm>
            <a:off x="777240" y="405384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UNESCO : informatique, audiovisuel, multimédia, Internet et télécommunications.</a:t>
            </a:r>
          </a:p>
        </p:txBody>
      </p:sp>
      <p:sp>
        <p:nvSpPr>
          <p:cNvPr id="12" name="TextBox 11"/>
          <p:cNvSpPr txBox="1"/>
          <p:nvPr/>
        </p:nvSpPr>
        <p:spPr>
          <a:xfrm>
            <a:off x="777240" y="4705604"/>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En anglais : Information and Communication Technologies (ICT).</a:t>
            </a:r>
          </a:p>
        </p:txBody>
      </p:sp>
      <p:sp>
        <p:nvSpPr>
          <p:cNvPr id="13" name="Rectangle 12"/>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5" name="TextBox 14"/>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Définition Détaillée des TIC (suite)</a:t>
            </a:r>
          </a:p>
        </p:txBody>
      </p:sp>
      <p:sp>
        <p:nvSpPr>
          <p:cNvPr id="3" name="Rounded Rectangle 2"/>
          <p:cNvSpPr/>
          <p:nvPr/>
        </p:nvSpPr>
        <p:spPr>
          <a:xfrm>
            <a:off x="777240" y="1094740"/>
            <a:ext cx="10634472" cy="813815"/>
          </a:xfrm>
          <a:prstGeom prst="roundRect">
            <a:avLst>
              <a:gd name="adj" fmla="val 6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1094740"/>
            <a:ext cx="54864" cy="813815"/>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5" y="1231900"/>
            <a:ext cx="10232136" cy="539495"/>
          </a:xfrm>
          <a:prstGeom prst="rect">
            <a:avLst/>
          </a:prstGeom>
          <a:noFill/>
        </p:spPr>
        <p:txBody>
          <a:bodyPr wrap="square" lIns="0" rIns="0" tIns="0" bIns="0" anchor="t">
            <a:spAutoFit/>
          </a:bodyPr>
          <a:lstStyle/>
          <a:p>
            <a:pPr>
              <a:lnSpc>
                <a:spcPct val="118000"/>
              </a:lnSpc>
            </a:pPr>
            <a:r>
              <a:rPr sz="1800" b="1">
                <a:solidFill>
                  <a:srgbClr val="7A4205"/>
                </a:solidFill>
                <a:latin typeface="Calibri"/>
              </a:rPr>
              <a:t>À retenir — </a:t>
            </a:r>
            <a:r>
              <a:rPr sz="1800">
                <a:solidFill>
                  <a:srgbClr val="1B2433"/>
                </a:solidFill>
                <a:latin typeface="Calibri"/>
              </a:rPr>
              <a:t>une TIC est un système (matériel + logiciel + réseau) qui rend l'information utilisable et partageable.</a:t>
            </a:r>
          </a:p>
        </p:txBody>
      </p:sp>
      <p:sp>
        <p:nvSpPr>
          <p:cNvPr id="6" name="Rectangle 5"/>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8" name="TextBox 7"/>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Définition Détaillée des TIC (suite)</a:t>
            </a:r>
          </a:p>
        </p:txBody>
      </p:sp>
      <p:sp>
        <p:nvSpPr>
          <p:cNvPr id="3" name="TextBox 2"/>
          <p:cNvSpPr txBox="1"/>
          <p:nvPr/>
        </p:nvSpPr>
        <p:spPr>
          <a:xfrm>
            <a:off x="777240" y="109474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Exemples concrets par domaine</a:t>
            </a:r>
          </a:p>
        </p:txBody>
      </p:sp>
      <p:graphicFrame>
        <p:nvGraphicFramePr>
          <p:cNvPr id="4" name="Table 3"/>
          <p:cNvGraphicFramePr>
            <a:graphicFrameLocks noGrp="1"/>
          </p:cNvGraphicFramePr>
          <p:nvPr/>
        </p:nvGraphicFramePr>
        <p:xfrm>
          <a:off x="777240" y="1527556"/>
          <a:ext cx="10634471" cy="3076448"/>
        </p:xfrm>
        <a:graphic>
          <a:graphicData uri="http://schemas.openxmlformats.org/drawingml/2006/table">
            <a:tbl>
              <a:tblPr firstRow="1" bandRow="1">
                <a:tableStyleId>{5C22544A-7EE6-4342-B048-85BDC9FD1C3A}</a:tableStyleId>
              </a:tblPr>
              <a:tblGrid>
                <a:gridCol w="3190341"/>
                <a:gridCol w="3722065"/>
                <a:gridCol w="3722065"/>
              </a:tblGrid>
              <a:tr h="351536">
                <a:tc>
                  <a:txBody>
                    <a:bodyPr/>
                    <a:lstStyle/>
                    <a:p>
                      <a:pPr>
                        <a:lnSpc>
                          <a:spcPct val="100000"/>
                        </a:lnSpc>
                      </a:pPr>
                      <a:r>
                        <a:rPr sz="1700" b="1">
                          <a:solidFill>
                            <a:srgbClr val="FFFFFF"/>
                          </a:solidFill>
                          <a:latin typeface="Calibri"/>
                        </a:rPr>
                        <a:t>Domaine</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Outil TIC</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Fonction</a:t>
                      </a:r>
                    </a:p>
                  </a:txBody>
                  <a:tcPr marL="64008" marR="64008" marT="27432" marB="27432" anchor="ctr">
                    <a:solidFill>
                      <a:srgbClr val="122A4F"/>
                    </a:solidFill>
                  </a:tcPr>
                </a:tc>
              </a:tr>
              <a:tr h="593344">
                <a:tc>
                  <a:txBody>
                    <a:bodyPr/>
                    <a:lstStyle/>
                    <a:p>
                      <a:pPr>
                        <a:lnSpc>
                          <a:spcPct val="100000"/>
                        </a:lnSpc>
                      </a:pPr>
                      <a:r>
                        <a:rPr sz="1700" b="0">
                          <a:solidFill>
                            <a:srgbClr val="1B2433"/>
                          </a:solidFill>
                          <a:latin typeface="Calibri"/>
                        </a:rPr>
                        <a:t>Éducation</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Moodle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Diffusion de cours, dépôt de devoirs</a:t>
                      </a:r>
                    </a:p>
                  </a:txBody>
                  <a:tcPr marL="64008" marR="64008" marT="27432" marB="27432" anchor="ctr">
                    <a:solidFill>
                      <a:srgbClr val="FFFFFF"/>
                    </a:solidFill>
                  </a:tcPr>
                </a:tc>
              </a:tr>
              <a:tr h="351536">
                <a:tc>
                  <a:txBody>
                    <a:bodyPr/>
                    <a:lstStyle/>
                    <a:p>
                      <a:pPr>
                        <a:lnSpc>
                          <a:spcPct val="100000"/>
                        </a:lnSpc>
                      </a:pPr>
                      <a:r>
                        <a:rPr sz="1700" b="0">
                          <a:solidFill>
                            <a:srgbClr val="1B2433"/>
                          </a:solidFill>
                          <a:latin typeface="Calibri"/>
                        </a:rPr>
                        <a:t>Communication</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WhatsApp, Telegram</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Messagerie instantanée</a:t>
                      </a:r>
                    </a:p>
                  </a:txBody>
                  <a:tcPr marL="64008" marR="64008" marT="27432" marB="27432" anchor="ctr">
                    <a:solidFill>
                      <a:srgbClr val="F3F6FA"/>
                    </a:solidFill>
                  </a:tcPr>
                </a:tc>
              </a:tr>
              <a:tr h="593344">
                <a:tc>
                  <a:txBody>
                    <a:bodyPr/>
                    <a:lstStyle/>
                    <a:p>
                      <a:pPr>
                        <a:lnSpc>
                          <a:spcPct val="100000"/>
                        </a:lnSpc>
                      </a:pPr>
                      <a:r>
                        <a:rPr sz="1700" b="0">
                          <a:solidFill>
                            <a:srgbClr val="1B2433"/>
                          </a:solidFill>
                          <a:latin typeface="Calibri"/>
                        </a:rPr>
                        <a:t>Recherche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Google Scholar</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Accès aux publications scientifiques</a:t>
                      </a:r>
                    </a:p>
                  </a:txBody>
                  <a:tcPr marL="64008" marR="64008" marT="27432" marB="27432" anchor="ctr">
                    <a:solidFill>
                      <a:srgbClr val="FFFFFF"/>
                    </a:solidFill>
                  </a:tcPr>
                </a:tc>
              </a:tr>
              <a:tr h="593344">
                <a:tc>
                  <a:txBody>
                    <a:bodyPr/>
                    <a:lstStyle/>
                    <a:p>
                      <a:pPr>
                        <a:lnSpc>
                          <a:spcPct val="100000"/>
                        </a:lnSpc>
                      </a:pPr>
                      <a:r>
                        <a:rPr sz="1700" b="0">
                          <a:solidFill>
                            <a:srgbClr val="1B2433"/>
                          </a:solidFill>
                          <a:latin typeface="Calibri"/>
                        </a:rPr>
                        <a:t>Administration</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Progis</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Gestion des notes et inscriptions</a:t>
                      </a:r>
                    </a:p>
                  </a:txBody>
                  <a:tcPr marL="64008" marR="64008" marT="27432" marB="27432" anchor="ctr">
                    <a:solidFill>
                      <a:srgbClr val="F3F6FA"/>
                    </a:solidFill>
                  </a:tcPr>
                </a:tc>
              </a:tr>
              <a:tr h="593344">
                <a:tc>
                  <a:txBody>
                    <a:bodyPr/>
                    <a:lstStyle/>
                    <a:p>
                      <a:pPr>
                        <a:lnSpc>
                          <a:spcPct val="100000"/>
                        </a:lnSpc>
                      </a:pPr>
                      <a:r>
                        <a:rPr sz="1700" b="0">
                          <a:solidFill>
                            <a:srgbClr val="1B2433"/>
                          </a:solidFill>
                          <a:latin typeface="Calibri"/>
                        </a:rPr>
                        <a:t>Création</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Canva, PowerPoint</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Conception de supports visuels</a:t>
                      </a:r>
                    </a:p>
                  </a:txBody>
                  <a:tcPr marL="64008" marR="64008" marT="27432" marB="27432" anchor="ctr">
                    <a:solidFill>
                      <a:srgbClr val="FFFFFF"/>
                    </a:solidFill>
                  </a:tcPr>
                </a:tc>
              </a:tr>
            </a:tbl>
          </a:graphicData>
        </a:graphic>
      </p:graphicFrame>
      <p:sp>
        <p:nvSpPr>
          <p:cNvPr id="5" name="Rectangle 4"/>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7" name="TextBox 6"/>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Définition Détaillée des TIC (suite)</a:t>
            </a:r>
          </a:p>
        </p:txBody>
      </p:sp>
      <p:sp>
        <p:nvSpPr>
          <p:cNvPr id="3" name="TextBox 2"/>
          <p:cNvSpPr txBox="1"/>
          <p:nvPr/>
        </p:nvSpPr>
        <p:spPr>
          <a:xfrm>
            <a:off x="777240" y="109474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Distinction entre données, information et connaissance</a:t>
            </a:r>
          </a:p>
        </p:txBody>
      </p:sp>
      <p:sp>
        <p:nvSpPr>
          <p:cNvPr id="4" name="TextBox 3"/>
          <p:cNvSpPr txBox="1"/>
          <p:nvPr/>
        </p:nvSpPr>
        <p:spPr>
          <a:xfrm>
            <a:off x="777240" y="1527556"/>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Donnée : élément brut, non contextualisé (ex. : 15)</a:t>
            </a:r>
          </a:p>
        </p:txBody>
      </p:sp>
      <p:sp>
        <p:nvSpPr>
          <p:cNvPr id="5" name="TextBox 4"/>
          <p:cNvSpPr txBox="1"/>
          <p:nvPr/>
        </p:nvSpPr>
        <p:spPr>
          <a:xfrm>
            <a:off x="777240" y="1894586"/>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Information : donnée mise en contexte (ex. : 15 étudiants présents)</a:t>
            </a:r>
          </a:p>
        </p:txBody>
      </p:sp>
      <p:sp>
        <p:nvSpPr>
          <p:cNvPr id="6" name="TextBox 5"/>
          <p:cNvSpPr txBox="1"/>
          <p:nvPr/>
        </p:nvSpPr>
        <p:spPr>
          <a:xfrm>
            <a:off x="777240" y="2261616"/>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Connaissance : information intégrée et comprise (ex. : le taux de présence en TD est de 75 %)</a:t>
            </a:r>
          </a:p>
        </p:txBody>
      </p:sp>
      <p:sp>
        <p:nvSpPr>
          <p:cNvPr id="7" name="TextBox 6"/>
          <p:cNvSpPr txBox="1"/>
          <p:nvPr/>
        </p:nvSpPr>
        <p:spPr>
          <a:xfrm>
            <a:off x="777240" y="291338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Les TIC permettent de passer rapidement de la donnée à l'information, mais la transformation en connaissance reste une activité humaine.</a:t>
            </a:r>
          </a:p>
        </p:txBody>
      </p:sp>
      <p:sp>
        <p:nvSpPr>
          <p:cNvPr id="8" name="Rectangle 7"/>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0" name="TextBox 9"/>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82600"/>
          </a:xfrm>
          <a:prstGeom prst="rect">
            <a:avLst/>
          </a:prstGeom>
          <a:noFill/>
        </p:spPr>
        <p:txBody>
          <a:bodyPr wrap="square" lIns="0" rIns="0" tIns="0" bIns="0" anchor="t">
            <a:spAutoFit/>
          </a:bodyPr>
          <a:lstStyle/>
          <a:p>
            <a:pPr algn="l">
              <a:lnSpc>
                <a:spcPct val="100000"/>
              </a:lnSpc>
              <a:spcBef>
                <a:spcPts val="0"/>
              </a:spcBef>
              <a:spcAft>
                <a:spcPts val="0"/>
              </a:spcAft>
            </a:pPr>
            <a:r>
              <a:rPr sz="2800" b="1" i="0">
                <a:solidFill>
                  <a:srgbClr val="122A4F"/>
                </a:solidFill>
                <a:latin typeface="Calibri"/>
              </a:rPr>
              <a:t>Évolution Historique et Terminologique (NTIC → TIC)</a:t>
            </a:r>
          </a:p>
        </p:txBody>
      </p:sp>
      <p:sp>
        <p:nvSpPr>
          <p:cNvPr id="3" name="Rounded Rectangle 2"/>
          <p:cNvSpPr/>
          <p:nvPr/>
        </p:nvSpPr>
        <p:spPr>
          <a:xfrm>
            <a:off x="10195560" y="579628"/>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95560" y="579628"/>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50" b="1" i="0">
                <a:solidFill>
                  <a:srgbClr val="122A4F"/>
                </a:solidFill>
                <a:latin typeface="Calibri"/>
              </a:rPr>
              <a:t>10 min</a:t>
            </a:r>
          </a:p>
        </p:txBody>
      </p:sp>
      <p:graphicFrame>
        <p:nvGraphicFramePr>
          <p:cNvPr id="5" name="Table 4"/>
          <p:cNvGraphicFramePr>
            <a:graphicFrameLocks noGrp="1"/>
          </p:cNvGraphicFramePr>
          <p:nvPr/>
        </p:nvGraphicFramePr>
        <p:xfrm>
          <a:off x="777240" y="1122680"/>
          <a:ext cx="10634471" cy="2131568"/>
        </p:xfrm>
        <a:graphic>
          <a:graphicData uri="http://schemas.openxmlformats.org/drawingml/2006/table">
            <a:tbl>
              <a:tblPr firstRow="1" bandRow="1">
                <a:tableStyleId>{5C22544A-7EE6-4342-B048-85BDC9FD1C3A}</a:tableStyleId>
              </a:tblPr>
              <a:tblGrid>
                <a:gridCol w="3190341"/>
                <a:gridCol w="3722065"/>
                <a:gridCol w="3722065"/>
              </a:tblGrid>
              <a:tr h="351536">
                <a:tc>
                  <a:txBody>
                    <a:bodyPr/>
                    <a:lstStyle/>
                    <a:p>
                      <a:pPr>
                        <a:lnSpc>
                          <a:spcPct val="100000"/>
                        </a:lnSpc>
                      </a:pPr>
                      <a:r>
                        <a:rPr sz="1700" b="1">
                          <a:solidFill>
                            <a:srgbClr val="FFFFFF"/>
                          </a:solidFill>
                          <a:latin typeface="Calibri"/>
                        </a:rPr>
                        <a:t>Période</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Terme</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Signification</a:t>
                      </a:r>
                    </a:p>
                  </a:txBody>
                  <a:tcPr marL="64008" marR="64008" marT="27432" marB="27432" anchor="ctr">
                    <a:solidFill>
                      <a:srgbClr val="122A4F"/>
                    </a:solidFill>
                  </a:tcPr>
                </a:tc>
              </a:tr>
              <a:tr h="593344">
                <a:tc>
                  <a:txBody>
                    <a:bodyPr/>
                    <a:lstStyle/>
                    <a:p>
                      <a:pPr>
                        <a:lnSpc>
                          <a:spcPct val="100000"/>
                        </a:lnSpc>
                      </a:pPr>
                      <a:r>
                        <a:rPr sz="1700" b="0">
                          <a:solidFill>
                            <a:srgbClr val="1B2433"/>
                          </a:solidFill>
                          <a:latin typeface="Calibri"/>
                        </a:rPr>
                        <a:t>1960–1990</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Informatique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Ère des premiers ordinateurs et réseaux</a:t>
                      </a:r>
                    </a:p>
                  </a:txBody>
                  <a:tcPr marL="64008" marR="64008" marT="27432" marB="27432" anchor="ctr">
                    <a:solidFill>
                      <a:srgbClr val="FFFFFF"/>
                    </a:solidFill>
                  </a:tcPr>
                </a:tc>
              </a:tr>
              <a:tr h="593344">
                <a:tc>
                  <a:txBody>
                    <a:bodyPr/>
                    <a:lstStyle/>
                    <a:p>
                      <a:pPr>
                        <a:lnSpc>
                          <a:spcPct val="100000"/>
                        </a:lnSpc>
                      </a:pPr>
                      <a:r>
                        <a:rPr sz="1700" b="0">
                          <a:solidFill>
                            <a:srgbClr val="1B2433"/>
                          </a:solidFill>
                          <a:latin typeface="Calibri"/>
                        </a:rPr>
                        <a:t>1990–2005</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NTIC</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Accent sur la nouveauté : Internet, courriel, GSM</a:t>
                      </a:r>
                    </a:p>
                  </a:txBody>
                  <a:tcPr marL="64008" marR="64008" marT="27432" marB="27432" anchor="ctr">
                    <a:solidFill>
                      <a:srgbClr val="F3F6FA"/>
                    </a:solidFill>
                  </a:tcPr>
                </a:tc>
              </a:tr>
              <a:tr h="593344">
                <a:tc>
                  <a:txBody>
                    <a:bodyPr/>
                    <a:lstStyle/>
                    <a:p>
                      <a:pPr>
                        <a:lnSpc>
                          <a:spcPct val="100000"/>
                        </a:lnSpc>
                      </a:pPr>
                      <a:r>
                        <a:rPr sz="1700" b="0">
                          <a:solidFill>
                            <a:srgbClr val="1B2433"/>
                          </a:solidFill>
                          <a:latin typeface="Calibri"/>
                        </a:rPr>
                        <a:t>Depuis ~2005</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TIC / ICT</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Technologies banalisées, intégrées au quotidien</a:t>
                      </a:r>
                    </a:p>
                  </a:txBody>
                  <a:tcPr marL="64008" marR="64008" marT="27432" marB="27432" anchor="ctr">
                    <a:solidFill>
                      <a:srgbClr val="FFFFFF"/>
                    </a:solidFill>
                  </a:tcPr>
                </a:tc>
              </a:tr>
            </a:tbl>
          </a:graphicData>
        </a:graphic>
      </p:graphicFrame>
      <p:sp>
        <p:nvSpPr>
          <p:cNvPr id="6" name="TextBox 5"/>
          <p:cNvSpPr txBox="1"/>
          <p:nvPr/>
        </p:nvSpPr>
        <p:spPr>
          <a:xfrm>
            <a:off x="777240" y="3437128"/>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Concepts associés :</a:t>
            </a:r>
          </a:p>
        </p:txBody>
      </p:sp>
      <p:sp>
        <p:nvSpPr>
          <p:cNvPr id="7" name="TextBox 6"/>
          <p:cNvSpPr txBox="1"/>
          <p:nvPr/>
        </p:nvSpPr>
        <p:spPr>
          <a:xfrm>
            <a:off x="777240" y="3886454"/>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Numérisation : conversion en fichiers numériques (PDF, MP3, JPEG)</a:t>
            </a:r>
          </a:p>
        </p:txBody>
      </p:sp>
      <p:sp>
        <p:nvSpPr>
          <p:cNvPr id="8" name="TextBox 7"/>
          <p:cNvSpPr txBox="1"/>
          <p:nvPr/>
        </p:nvSpPr>
        <p:spPr>
          <a:xfrm>
            <a:off x="777240" y="4253484"/>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Transformation digitale : réorganisation des activités grâce au numérique</a:t>
            </a:r>
          </a:p>
        </p:txBody>
      </p:sp>
      <p:sp>
        <p:nvSpPr>
          <p:cNvPr id="9" name="TextBox 8"/>
          <p:cNvSpPr txBox="1"/>
          <p:nvPr/>
        </p:nvSpPr>
        <p:spPr>
          <a:xfrm>
            <a:off x="777240" y="4620514"/>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Société de l'information : l'information devient une ressource centrale</a:t>
            </a:r>
          </a:p>
        </p:txBody>
      </p:sp>
      <p:sp>
        <p:nvSpPr>
          <p:cNvPr id="10" name="TextBox 9"/>
          <p:cNvSpPr txBox="1"/>
          <p:nvPr/>
        </p:nvSpPr>
        <p:spPr>
          <a:xfrm>
            <a:off x="777240" y="4987544"/>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Exemple : cours sur Moodle + vidéo enregistrée + devoir PDF + correction en ligne.</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Les Trois Dimensions Fondamentales</a:t>
            </a:r>
          </a:p>
        </p:txBody>
      </p:sp>
      <p:sp>
        <p:nvSpPr>
          <p:cNvPr id="3" name="Rounded Rectangle 2"/>
          <p:cNvSpPr/>
          <p:nvPr/>
        </p:nvSpPr>
        <p:spPr>
          <a:xfrm>
            <a:off x="10195560" y="593598"/>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95560" y="593598"/>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50" b="1" i="0">
                <a:solidFill>
                  <a:srgbClr val="122A4F"/>
                </a:solidFill>
                <a:latin typeface="Calibri"/>
              </a:rPr>
              <a:t>15 min</a:t>
            </a:r>
          </a:p>
        </p:txBody>
      </p:sp>
      <p:sp>
        <p:nvSpPr>
          <p:cNvPr id="5" name="TextBox 4"/>
          <p:cNvSpPr txBox="1"/>
          <p:nvPr/>
        </p:nvSpPr>
        <p:spPr>
          <a:xfrm>
            <a:off x="777240" y="115062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1.  </a:t>
            </a:r>
            <a:r>
              <a:rPr sz="1900" b="0" i="0">
                <a:solidFill>
                  <a:srgbClr val="1B2433"/>
                </a:solidFill>
                <a:latin typeface="Calibri"/>
              </a:rPr>
              <a:t>Dimension technique — moyens matériels et logiciels (PC, smartphone, Word, navigateur)</a:t>
            </a:r>
          </a:p>
        </p:txBody>
      </p:sp>
      <p:sp>
        <p:nvSpPr>
          <p:cNvPr id="6" name="TextBox 5"/>
          <p:cNvSpPr txBox="1"/>
          <p:nvPr/>
        </p:nvSpPr>
        <p:spPr>
          <a:xfrm>
            <a:off x="777240" y="1802384"/>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2.  </a:t>
            </a:r>
            <a:r>
              <a:rPr sz="1900" b="0" i="0">
                <a:solidFill>
                  <a:srgbClr val="1B2433"/>
                </a:solidFill>
                <a:latin typeface="Calibri"/>
              </a:rPr>
              <a:t>Dimension information — contenu manipulé (texte, image, son, vidéo ; formats PDF, DOCX, MP4)</a:t>
            </a:r>
          </a:p>
        </p:txBody>
      </p:sp>
      <p:sp>
        <p:nvSpPr>
          <p:cNvPr id="7" name="TextBox 6"/>
          <p:cNvSpPr txBox="1"/>
          <p:nvPr/>
        </p:nvSpPr>
        <p:spPr>
          <a:xfrm>
            <a:off x="777240" y="2454148"/>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3.  </a:t>
            </a:r>
            <a:r>
              <a:rPr sz="1900" b="0" i="0">
                <a:solidFill>
                  <a:srgbClr val="1B2433"/>
                </a:solidFill>
                <a:latin typeface="Calibri"/>
              </a:rPr>
              <a:t>Dimension communication — échange entre personnes (courriel, forum, visioconférence)</a:t>
            </a:r>
          </a:p>
        </p:txBody>
      </p:sp>
      <p:sp>
        <p:nvSpPr>
          <p:cNvPr id="8" name="TextBox 7"/>
          <p:cNvSpPr txBox="1"/>
          <p:nvPr/>
        </p:nvSpPr>
        <p:spPr>
          <a:xfrm>
            <a:off x="777240" y="3105912"/>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Exercice mental : pour un devoir sur Moodle — technique = PC + plateforme ; information = fichier Word ; communication = dépôt visible par l'enseignant.</a:t>
            </a:r>
          </a:p>
        </p:txBody>
      </p:sp>
      <p:sp>
        <p:nvSpPr>
          <p:cNvPr id="9" name="Rectangle 8"/>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1" name="TextBox 10"/>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Les Trois Dimensions Fondamentales (suite)</a:t>
            </a:r>
          </a:p>
        </p:txBody>
      </p:sp>
      <p:sp>
        <p:nvSpPr>
          <p:cNvPr id="3" name="TextBox 2"/>
          <p:cNvSpPr txBox="1"/>
          <p:nvPr/>
        </p:nvSpPr>
        <p:spPr>
          <a:xfrm>
            <a:off x="777240" y="109474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Approfondissement des trois dimensions</a:t>
            </a:r>
          </a:p>
        </p:txBody>
      </p:sp>
      <p:sp>
        <p:nvSpPr>
          <p:cNvPr id="4" name="TextBox 3"/>
          <p:cNvSpPr txBox="1"/>
          <p:nvPr/>
        </p:nvSpPr>
        <p:spPr>
          <a:xfrm>
            <a:off x="777240" y="1527556"/>
            <a:ext cx="10634472" cy="1460246"/>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Dimension technique : elle comprend l'infrastructure matérielle (ordinateurs, serveurs, câbles, antennes) et les logiciels (systèmes d'exploitation, applications, protocoles). C'est le socle sur lequel reposent les deux autres dimensions. Sans dimension technique, aucune information ne peut être traitée ni communiquée.</a:t>
            </a:r>
          </a:p>
        </p:txBody>
      </p:sp>
      <p:sp>
        <p:nvSpPr>
          <p:cNvPr id="5" name="TextBox 4"/>
          <p:cNvSpPr txBox="1"/>
          <p:nvPr/>
        </p:nvSpPr>
        <p:spPr>
          <a:xfrm>
            <a:off x="777240" y="3115818"/>
            <a:ext cx="10634472" cy="1175512"/>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Dimension information : elle concerne le contenu lui-même — sa création, son format, son stockage, son organisation. La numérisation a permis de représenter toute information (texte, image, son, vidéo) sous forme binaire, facilitant son traitement et sa duplication sans perte de qualité.</a:t>
            </a:r>
          </a:p>
        </p:txBody>
      </p:sp>
      <p:sp>
        <p:nvSpPr>
          <p:cNvPr id="6" name="TextBox 5"/>
          <p:cNvSpPr txBox="1"/>
          <p:nvPr/>
        </p:nvSpPr>
        <p:spPr>
          <a:xfrm>
            <a:off x="777240" y="4419346"/>
            <a:ext cx="10634472" cy="1175512"/>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Dimension communication : elle couvre les échanges entre individus ou systèmes. Les TIC ont aboli les distances et le temps de transmission : un message envoyé depuis Alger arrive à Tamanrasset en quelques millisecondes. Cette dimension inclut les aspects sociaux et relationnels de la communication médiatisée.</a:t>
            </a: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Rôle et Fonctions des TIC</a:t>
            </a:r>
          </a:p>
        </p:txBody>
      </p:sp>
      <p:sp>
        <p:nvSpPr>
          <p:cNvPr id="3" name="Rounded Rectangle 2"/>
          <p:cNvSpPr/>
          <p:nvPr/>
        </p:nvSpPr>
        <p:spPr>
          <a:xfrm>
            <a:off x="10195560" y="593598"/>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95560" y="593598"/>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50" b="1" i="0">
                <a:solidFill>
                  <a:srgbClr val="122A4F"/>
                </a:solidFill>
                <a:latin typeface="Calibri"/>
              </a:rPr>
              <a:t>15 min</a:t>
            </a:r>
          </a:p>
        </p:txBody>
      </p:sp>
      <p:graphicFrame>
        <p:nvGraphicFramePr>
          <p:cNvPr id="5" name="Table 4"/>
          <p:cNvGraphicFramePr>
            <a:graphicFrameLocks noGrp="1"/>
          </p:cNvGraphicFramePr>
          <p:nvPr/>
        </p:nvGraphicFramePr>
        <p:xfrm>
          <a:off x="777240" y="1150620"/>
          <a:ext cx="10634471" cy="1647952"/>
        </p:xfrm>
        <a:graphic>
          <a:graphicData uri="http://schemas.openxmlformats.org/drawingml/2006/table">
            <a:tbl>
              <a:tblPr firstRow="1" bandRow="1">
                <a:tableStyleId>{5C22544A-7EE6-4342-B048-85BDC9FD1C3A}</a:tableStyleId>
              </a:tblPr>
              <a:tblGrid>
                <a:gridCol w="3190341"/>
                <a:gridCol w="3722065"/>
                <a:gridCol w="3722065"/>
              </a:tblGrid>
              <a:tr h="351536">
                <a:tc>
                  <a:txBody>
                    <a:bodyPr/>
                    <a:lstStyle/>
                    <a:p>
                      <a:pPr>
                        <a:lnSpc>
                          <a:spcPct val="100000"/>
                        </a:lnSpc>
                      </a:pPr>
                      <a:r>
                        <a:rPr sz="1700" b="1">
                          <a:solidFill>
                            <a:srgbClr val="FFFFFF"/>
                          </a:solidFill>
                          <a:latin typeface="Calibri"/>
                        </a:rPr>
                        <a:t>Fonction</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Description</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Exemples</a:t>
                      </a:r>
                    </a:p>
                  </a:txBody>
                  <a:tcPr marL="64008" marR="64008" marT="27432" marB="27432" anchor="ctr">
                    <a:solidFill>
                      <a:srgbClr val="122A4F"/>
                    </a:solidFill>
                  </a:tcPr>
                </a:tc>
              </a:tr>
              <a:tr h="351536">
                <a:tc>
                  <a:txBody>
                    <a:bodyPr/>
                    <a:lstStyle/>
                    <a:p>
                      <a:pPr>
                        <a:lnSpc>
                          <a:spcPct val="100000"/>
                        </a:lnSpc>
                      </a:pPr>
                      <a:r>
                        <a:rPr sz="1700" b="0">
                          <a:solidFill>
                            <a:srgbClr val="1B2433"/>
                          </a:solidFill>
                          <a:latin typeface="Calibri"/>
                        </a:rPr>
                        <a:t>Traitement</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Saisie, mise en forme, calcul</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Word, Excel, retouche d'image</a:t>
                      </a:r>
                    </a:p>
                  </a:txBody>
                  <a:tcPr marL="64008" marR="64008" marT="27432" marB="27432" anchor="ctr">
                    <a:solidFill>
                      <a:srgbClr val="FFFFFF"/>
                    </a:solidFill>
                  </a:tcPr>
                </a:tc>
              </a:tr>
              <a:tr h="351536">
                <a:tc>
                  <a:txBody>
                    <a:bodyPr/>
                    <a:lstStyle/>
                    <a:p>
                      <a:pPr>
                        <a:lnSpc>
                          <a:spcPct val="100000"/>
                        </a:lnSpc>
                      </a:pPr>
                      <a:r>
                        <a:rPr sz="1700" b="0">
                          <a:solidFill>
                            <a:srgbClr val="1B2433"/>
                          </a:solidFill>
                          <a:latin typeface="Calibri"/>
                        </a:rPr>
                        <a:t>Transmission</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Envoi ou partage à distance</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Courriel, Teams, lien Drive</a:t>
                      </a:r>
                    </a:p>
                  </a:txBody>
                  <a:tcPr marL="64008" marR="64008" marT="27432" marB="27432" anchor="ctr">
                    <a:solidFill>
                      <a:srgbClr val="F3F6FA"/>
                    </a:solidFill>
                  </a:tcPr>
                </a:tc>
              </a:tr>
              <a:tr h="593344">
                <a:tc>
                  <a:txBody>
                    <a:bodyPr/>
                    <a:lstStyle/>
                    <a:p>
                      <a:pPr>
                        <a:lnSpc>
                          <a:spcPct val="100000"/>
                        </a:lnSpc>
                      </a:pPr>
                      <a:r>
                        <a:rPr sz="1700" b="0">
                          <a:solidFill>
                            <a:srgbClr val="1B2433"/>
                          </a:solidFill>
                          <a:latin typeface="Calibri"/>
                        </a:rPr>
                        <a:t>Sauvegarde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Conservation durable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Clé USB, cloud, serveur universitaire</a:t>
                      </a:r>
                    </a:p>
                  </a:txBody>
                  <a:tcPr marL="64008" marR="64008" marT="27432" marB="27432" anchor="ctr">
                    <a:solidFill>
                      <a:srgbClr val="FFFFFF"/>
                    </a:solidFill>
                  </a:tcPr>
                </a:tc>
              </a:tr>
            </a:tbl>
          </a:graphicData>
        </a:graphic>
      </p:graphicFrame>
      <p:sp>
        <p:nvSpPr>
          <p:cNvPr id="6" name="TextBox 5"/>
          <p:cNvSpPr txBox="1"/>
          <p:nvPr/>
        </p:nvSpPr>
        <p:spPr>
          <a:xfrm>
            <a:off x="777240" y="2981452"/>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Scénario complet : rédaction Word → envoi par courriel → copie sur clé USB et cloud. Les trois fonctions se complètent.</a:t>
            </a: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Rôle et Fonctions des TIC (suite)</a:t>
            </a:r>
          </a:p>
        </p:txBody>
      </p:sp>
      <p:sp>
        <p:nvSpPr>
          <p:cNvPr id="3" name="TextBox 2"/>
          <p:cNvSpPr txBox="1"/>
          <p:nvPr/>
        </p:nvSpPr>
        <p:spPr>
          <a:xfrm>
            <a:off x="777240" y="109474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Cycle de vie de l'information numérique</a:t>
            </a:r>
          </a:p>
        </p:txBody>
      </p:sp>
      <p:sp>
        <p:nvSpPr>
          <p:cNvPr id="4" name="TextBox 3"/>
          <p:cNvSpPr txBox="1"/>
          <p:nvPr/>
        </p:nvSpPr>
        <p:spPr>
          <a:xfrm>
            <a:off x="777240" y="1527556"/>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1.  </a:t>
            </a:r>
            <a:r>
              <a:rPr sz="1900" b="0" i="0">
                <a:solidFill>
                  <a:srgbClr val="1B2433"/>
                </a:solidFill>
                <a:latin typeface="Calibri"/>
              </a:rPr>
              <a:t>Création : production de l'information (saisie, enregistrement audio/vidéo)</a:t>
            </a:r>
          </a:p>
        </p:txBody>
      </p:sp>
      <p:sp>
        <p:nvSpPr>
          <p:cNvPr id="5" name="TextBox 4"/>
          <p:cNvSpPr txBox="1"/>
          <p:nvPr/>
        </p:nvSpPr>
        <p:spPr>
          <a:xfrm>
            <a:off x="777240" y="217932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2.  </a:t>
            </a:r>
            <a:r>
              <a:rPr sz="1900" b="0" i="0">
                <a:solidFill>
                  <a:srgbClr val="1B2433"/>
                </a:solidFill>
                <a:latin typeface="Calibri"/>
              </a:rPr>
              <a:t>Traitement : modification, mise en forme, analyse (Word, Excel, Photoshop)</a:t>
            </a:r>
          </a:p>
        </p:txBody>
      </p:sp>
      <p:sp>
        <p:nvSpPr>
          <p:cNvPr id="6" name="TextBox 5"/>
          <p:cNvSpPr txBox="1"/>
          <p:nvPr/>
        </p:nvSpPr>
        <p:spPr>
          <a:xfrm>
            <a:off x="777240" y="254635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3.  </a:t>
            </a:r>
            <a:r>
              <a:rPr sz="1900" b="0" i="0">
                <a:solidFill>
                  <a:srgbClr val="1B2433"/>
                </a:solidFill>
                <a:latin typeface="Calibri"/>
              </a:rPr>
              <a:t>Stockage : conservation sur un support (disque dur, cloud, clé USB)</a:t>
            </a:r>
          </a:p>
        </p:txBody>
      </p:sp>
      <p:sp>
        <p:nvSpPr>
          <p:cNvPr id="7" name="TextBox 6"/>
          <p:cNvSpPr txBox="1"/>
          <p:nvPr/>
        </p:nvSpPr>
        <p:spPr>
          <a:xfrm>
            <a:off x="777240" y="291338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4.  </a:t>
            </a:r>
            <a:r>
              <a:rPr sz="1900" b="0" i="0">
                <a:solidFill>
                  <a:srgbClr val="1B2433"/>
                </a:solidFill>
                <a:latin typeface="Calibri"/>
              </a:rPr>
              <a:t>Transmission : partage via un réseau (courriel, téléchargement, streaming)</a:t>
            </a:r>
          </a:p>
        </p:txBody>
      </p:sp>
      <p:sp>
        <p:nvSpPr>
          <p:cNvPr id="8" name="TextBox 7"/>
          <p:cNvSpPr txBox="1"/>
          <p:nvPr/>
        </p:nvSpPr>
        <p:spPr>
          <a:xfrm>
            <a:off x="777240" y="328041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5.  </a:t>
            </a:r>
            <a:r>
              <a:rPr sz="1900" b="0" i="0">
                <a:solidFill>
                  <a:srgbClr val="1B2433"/>
                </a:solidFill>
                <a:latin typeface="Calibri"/>
              </a:rPr>
              <a:t>Archivage : conservation à long terme (serveur, backup)</a:t>
            </a:r>
          </a:p>
        </p:txBody>
      </p:sp>
      <p:sp>
        <p:nvSpPr>
          <p:cNvPr id="9" name="TextBox 8"/>
          <p:cNvSpPr txBox="1"/>
          <p:nvPr/>
        </p:nvSpPr>
        <p:spPr>
          <a:xfrm>
            <a:off x="777240" y="364744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6.  </a:t>
            </a:r>
            <a:r>
              <a:rPr sz="1900" b="0" i="0">
                <a:solidFill>
                  <a:srgbClr val="1B2433"/>
                </a:solidFill>
                <a:latin typeface="Calibri"/>
              </a:rPr>
              <a:t>Destruction : suppression sécurisée (effacement définitif)</a:t>
            </a:r>
          </a:p>
        </p:txBody>
      </p:sp>
      <p:sp>
        <p:nvSpPr>
          <p:cNvPr id="10" name="TextBox 9"/>
          <p:cNvSpPr txBox="1"/>
          <p:nvPr/>
        </p:nvSpPr>
        <p:spPr>
          <a:xfrm>
            <a:off x="777240" y="401447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Chaque étape de ce cycle fait appel à des compétences numériques spécifiques que vous développerez au fil des séances.</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Services Principaux des TIC</a:t>
            </a:r>
          </a:p>
        </p:txBody>
      </p:sp>
      <p:sp>
        <p:nvSpPr>
          <p:cNvPr id="3" name="Rounded Rectangle 2"/>
          <p:cNvSpPr/>
          <p:nvPr/>
        </p:nvSpPr>
        <p:spPr>
          <a:xfrm>
            <a:off x="10195560" y="593598"/>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95560" y="593598"/>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50" b="1" i="0">
                <a:solidFill>
                  <a:srgbClr val="122A4F"/>
                </a:solidFill>
                <a:latin typeface="Calibri"/>
              </a:rPr>
              <a:t>10 min</a:t>
            </a:r>
          </a:p>
        </p:txBody>
      </p:sp>
      <p:sp>
        <p:nvSpPr>
          <p:cNvPr id="5" name="TextBox 4"/>
          <p:cNvSpPr txBox="1"/>
          <p:nvPr/>
        </p:nvSpPr>
        <p:spPr>
          <a:xfrm>
            <a:off x="777240" y="115062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Courrier électronique (@univ-mosta.dz)</a:t>
            </a:r>
          </a:p>
        </p:txBody>
      </p:sp>
      <p:sp>
        <p:nvSpPr>
          <p:cNvPr id="6" name="TextBox 5"/>
          <p:cNvSpPr txBox="1"/>
          <p:nvPr/>
        </p:nvSpPr>
        <p:spPr>
          <a:xfrm>
            <a:off x="777240" y="151765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Navigation et recherche Web</a:t>
            </a:r>
          </a:p>
        </p:txBody>
      </p:sp>
      <p:sp>
        <p:nvSpPr>
          <p:cNvPr id="7" name="TextBox 6"/>
          <p:cNvSpPr txBox="1"/>
          <p:nvPr/>
        </p:nvSpPr>
        <p:spPr>
          <a:xfrm>
            <a:off x="777240" y="188468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Visioconférence (Teams, Zoom)</a:t>
            </a:r>
          </a:p>
        </p:txBody>
      </p:sp>
      <p:sp>
        <p:nvSpPr>
          <p:cNvPr id="8" name="TextBox 7"/>
          <p:cNvSpPr txBox="1"/>
          <p:nvPr/>
        </p:nvSpPr>
        <p:spPr>
          <a:xfrm>
            <a:off x="777240" y="225171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Plateformes d'apprentissage (Moodle, Google Classroom)</a:t>
            </a:r>
          </a:p>
        </p:txBody>
      </p:sp>
      <p:sp>
        <p:nvSpPr>
          <p:cNvPr id="9" name="TextBox 8"/>
          <p:cNvSpPr txBox="1"/>
          <p:nvPr/>
        </p:nvSpPr>
        <p:spPr>
          <a:xfrm>
            <a:off x="777240" y="261874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Stockage et partage en ligne (Drive, OneDrive)</a:t>
            </a:r>
          </a:p>
        </p:txBody>
      </p:sp>
      <p:sp>
        <p:nvSpPr>
          <p:cNvPr id="10" name="TextBox 9"/>
          <p:cNvSpPr txBox="1"/>
          <p:nvPr/>
        </p:nvSpPr>
        <p:spPr>
          <a:xfrm>
            <a:off x="777240" y="298577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Distinction : un service (Moodle) s'appuie sur des technologies (serveur, réseau) pour une fonction pédagogique.</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Services Principaux des TIC (suite)</a:t>
            </a:r>
          </a:p>
        </p:txBody>
      </p:sp>
      <p:sp>
        <p:nvSpPr>
          <p:cNvPr id="3" name="TextBox 2"/>
          <p:cNvSpPr txBox="1"/>
          <p:nvPr/>
        </p:nvSpPr>
        <p:spPr>
          <a:xfrm>
            <a:off x="777240" y="109474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Services spécifiques au contexte universitaire algérien</a:t>
            </a:r>
          </a:p>
        </p:txBody>
      </p:sp>
      <p:graphicFrame>
        <p:nvGraphicFramePr>
          <p:cNvPr id="4" name="Table 3"/>
          <p:cNvGraphicFramePr>
            <a:graphicFrameLocks noGrp="1"/>
          </p:cNvGraphicFramePr>
          <p:nvPr/>
        </p:nvGraphicFramePr>
        <p:xfrm>
          <a:off x="777240" y="1527556"/>
          <a:ext cx="10634471" cy="3537712"/>
        </p:xfrm>
        <a:graphic>
          <a:graphicData uri="http://schemas.openxmlformats.org/drawingml/2006/table">
            <a:tbl>
              <a:tblPr firstRow="1" bandRow="1">
                <a:tableStyleId>{5C22544A-7EE6-4342-B048-85BDC9FD1C3A}</a:tableStyleId>
              </a:tblPr>
              <a:tblGrid>
                <a:gridCol w="3190341"/>
                <a:gridCol w="3722065"/>
                <a:gridCol w="3722065"/>
              </a:tblGrid>
              <a:tr h="351536">
                <a:tc>
                  <a:txBody>
                    <a:bodyPr/>
                    <a:lstStyle/>
                    <a:p>
                      <a:pPr>
                        <a:lnSpc>
                          <a:spcPct val="100000"/>
                        </a:lnSpc>
                      </a:pPr>
                      <a:r>
                        <a:rPr sz="1700" b="1">
                          <a:solidFill>
                            <a:srgbClr val="FFFFFF"/>
                          </a:solidFill>
                          <a:latin typeface="Calibri"/>
                        </a:rPr>
                        <a:t>Service</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Usage</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Outil recommandé</a:t>
                      </a:r>
                    </a:p>
                  </a:txBody>
                  <a:tcPr marL="64008" marR="64008" marT="27432" marB="27432" anchor="ctr">
                    <a:solidFill>
                      <a:srgbClr val="122A4F"/>
                    </a:solidFill>
                  </a:tcPr>
                </a:tc>
              </a:tr>
              <a:tr h="593344">
                <a:tc>
                  <a:txBody>
                    <a:bodyPr/>
                    <a:lstStyle/>
                    <a:p>
                      <a:pPr>
                        <a:lnSpc>
                          <a:spcPct val="100000"/>
                        </a:lnSpc>
                      </a:pPr>
                      <a:r>
                        <a:rPr sz="1700" b="0">
                          <a:solidFill>
                            <a:srgbClr val="1B2433"/>
                          </a:solidFill>
                          <a:latin typeface="Calibri"/>
                        </a:rPr>
                        <a:t>Dépôt de devoirs</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Remise des travaux</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Moodle Univ-Mosta / Mostaganem</a:t>
                      </a:r>
                    </a:p>
                  </a:txBody>
                  <a:tcPr marL="64008" marR="64008" marT="27432" marB="27432" anchor="ctr">
                    <a:solidFill>
                      <a:srgbClr val="FFFFFF"/>
                    </a:solidFill>
                  </a:tcPr>
                </a:tc>
              </a:tr>
              <a:tr h="593344">
                <a:tc>
                  <a:txBody>
                    <a:bodyPr/>
                    <a:lstStyle/>
                    <a:p>
                      <a:pPr>
                        <a:lnSpc>
                          <a:spcPct val="100000"/>
                        </a:lnSpc>
                      </a:pPr>
                      <a:r>
                        <a:rPr sz="1700" b="0">
                          <a:solidFill>
                            <a:srgbClr val="1B2433"/>
                          </a:solidFill>
                          <a:latin typeface="Calibri"/>
                        </a:rPr>
                        <a:t>Communication administrative</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Annonces, convocations</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Courriel institutionnel</a:t>
                      </a:r>
                    </a:p>
                  </a:txBody>
                  <a:tcPr marL="64008" marR="64008" marT="27432" marB="27432" anchor="ctr">
                    <a:solidFill>
                      <a:srgbClr val="F3F6FA"/>
                    </a:solidFill>
                  </a:tcPr>
                </a:tc>
              </a:tr>
              <a:tr h="593344">
                <a:tc>
                  <a:txBody>
                    <a:bodyPr/>
                    <a:lstStyle/>
                    <a:p>
                      <a:pPr>
                        <a:lnSpc>
                          <a:spcPct val="100000"/>
                        </a:lnSpc>
                      </a:pPr>
                      <a:r>
                        <a:rPr sz="1700" b="0">
                          <a:solidFill>
                            <a:srgbClr val="1B2433"/>
                          </a:solidFill>
                          <a:latin typeface="Calibri"/>
                        </a:rPr>
                        <a:t>Bibliothèque numérique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Accès aux ressources</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SNDL (Système National de Documentation en Ligne)</a:t>
                      </a:r>
                    </a:p>
                  </a:txBody>
                  <a:tcPr marL="64008" marR="64008" marT="27432" marB="27432" anchor="ctr">
                    <a:solidFill>
                      <a:srgbClr val="FFFFFF"/>
                    </a:solidFill>
                  </a:tcPr>
                </a:tc>
              </a:tr>
              <a:tr h="351536">
                <a:tc>
                  <a:txBody>
                    <a:bodyPr/>
                    <a:lstStyle/>
                    <a:p>
                      <a:pPr>
                        <a:lnSpc>
                          <a:spcPct val="100000"/>
                        </a:lnSpc>
                      </a:pPr>
                      <a:r>
                        <a:rPr sz="1700" b="0">
                          <a:solidFill>
                            <a:srgbClr val="1B2433"/>
                          </a:solidFill>
                          <a:latin typeface="Calibri"/>
                        </a:rPr>
                        <a:t>Visioconférence</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Cours à distance</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BigBlueButton, Zoom</a:t>
                      </a:r>
                    </a:p>
                  </a:txBody>
                  <a:tcPr marL="64008" marR="64008" marT="27432" marB="27432" anchor="ctr">
                    <a:solidFill>
                      <a:srgbClr val="F3F6FA"/>
                    </a:solidFill>
                  </a:tcPr>
                </a:tc>
              </a:tr>
              <a:tr h="351536">
                <a:tc>
                  <a:txBody>
                    <a:bodyPr/>
                    <a:lstStyle/>
                    <a:p>
                      <a:pPr>
                        <a:lnSpc>
                          <a:spcPct val="100000"/>
                        </a:lnSpc>
                      </a:pPr>
                      <a:r>
                        <a:rPr sz="1700" b="0">
                          <a:solidFill>
                            <a:srgbClr val="1B2433"/>
                          </a:solidFill>
                          <a:latin typeface="Calibri"/>
                        </a:rPr>
                        <a:t>Stockage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Sauvegarde de travaux</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OneDrive (Office 365)</a:t>
                      </a:r>
                    </a:p>
                  </a:txBody>
                  <a:tcPr marL="64008" marR="64008" marT="27432" marB="27432" anchor="ctr">
                    <a:solidFill>
                      <a:srgbClr val="FFFFFF"/>
                    </a:solidFill>
                  </a:tcPr>
                </a:tc>
              </a:tr>
              <a:tr h="351536">
                <a:tc>
                  <a:txBody>
                    <a:bodyPr/>
                    <a:lstStyle/>
                    <a:p>
                      <a:pPr>
                        <a:lnSpc>
                          <a:spcPct val="100000"/>
                        </a:lnSpc>
                      </a:pPr>
                      <a:r>
                        <a:rPr sz="1700" b="0">
                          <a:solidFill>
                            <a:srgbClr val="1B2433"/>
                          </a:solidFill>
                          <a:latin typeface="Calibri"/>
                        </a:rPr>
                        <a:t>Évaluation</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QCM en ligne</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Moodle Quiz</a:t>
                      </a:r>
                    </a:p>
                  </a:txBody>
                  <a:tcPr marL="64008" marR="64008" marT="27432" marB="27432" anchor="ctr">
                    <a:solidFill>
                      <a:srgbClr val="F3F6FA"/>
                    </a:solidFill>
                  </a:tcPr>
                </a:tc>
              </a:tr>
              <a:tr h="351536">
                <a:tc>
                  <a:txBody>
                    <a:bodyPr/>
                    <a:lstStyle/>
                    <a:p>
                      <a:pPr>
                        <a:lnSpc>
                          <a:spcPct val="100000"/>
                        </a:lnSpc>
                      </a:pPr>
                      <a:r>
                        <a:rPr sz="1700" b="0">
                          <a:solidFill>
                            <a:srgbClr val="1B2433"/>
                          </a:solidFill>
                          <a:latin typeface="Calibri"/>
                        </a:rPr>
                        <a:t>Collaboration</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Travaux de groupe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Google Docs, Padlet</a:t>
                      </a:r>
                    </a:p>
                  </a:txBody>
                  <a:tcPr marL="64008" marR="64008" marT="27432" marB="27432" anchor="ctr">
                    <a:solidFill>
                      <a:srgbClr val="FFFFFF"/>
                    </a:solidFill>
                  </a:tcPr>
                </a:tc>
              </a:tr>
            </a:tbl>
          </a:graphicData>
        </a:graphic>
      </p:graphicFrame>
      <p:sp>
        <p:nvSpPr>
          <p:cNvPr id="5" name="Rectangle 4"/>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7" name="TextBox 6"/>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Applications dans l'Éducation</a:t>
            </a:r>
          </a:p>
        </p:txBody>
      </p:sp>
      <p:sp>
        <p:nvSpPr>
          <p:cNvPr id="3" name="Rounded Rectangle 2"/>
          <p:cNvSpPr/>
          <p:nvPr/>
        </p:nvSpPr>
        <p:spPr>
          <a:xfrm>
            <a:off x="10195560" y="593598"/>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95560" y="593598"/>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50" b="1" i="0">
                <a:solidFill>
                  <a:srgbClr val="122A4F"/>
                </a:solidFill>
                <a:latin typeface="Calibri"/>
              </a:rPr>
              <a:t>10 min</a:t>
            </a:r>
          </a:p>
        </p:txBody>
      </p:sp>
      <p:sp>
        <p:nvSpPr>
          <p:cNvPr id="5" name="TextBox 4"/>
          <p:cNvSpPr txBox="1"/>
          <p:nvPr/>
        </p:nvSpPr>
        <p:spPr>
          <a:xfrm>
            <a:off x="777240" y="115062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E-learning et enseignement hybride</a:t>
            </a:r>
          </a:p>
        </p:txBody>
      </p:sp>
      <p:sp>
        <p:nvSpPr>
          <p:cNvPr id="6" name="TextBox 5"/>
          <p:cNvSpPr txBox="1"/>
          <p:nvPr/>
        </p:nvSpPr>
        <p:spPr>
          <a:xfrm>
            <a:off x="777240" y="151765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Bibliothèques numériques (accès 24h/24)</a:t>
            </a:r>
          </a:p>
        </p:txBody>
      </p:sp>
      <p:sp>
        <p:nvSpPr>
          <p:cNvPr id="7" name="TextBox 6"/>
          <p:cNvSpPr txBox="1"/>
          <p:nvPr/>
        </p:nvSpPr>
        <p:spPr>
          <a:xfrm>
            <a:off x="777240" y="188468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Travail collaboratif à distance</a:t>
            </a:r>
          </a:p>
        </p:txBody>
      </p:sp>
      <p:sp>
        <p:nvSpPr>
          <p:cNvPr id="8" name="TextBox 7"/>
          <p:cNvSpPr txBox="1"/>
          <p:nvPr/>
        </p:nvSpPr>
        <p:spPr>
          <a:xfrm>
            <a:off x="777240" y="225171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Évaluation en ligne (QCM, anti-plagiat)</a:t>
            </a:r>
          </a:p>
        </p:txBody>
      </p:sp>
      <p:sp>
        <p:nvSpPr>
          <p:cNvPr id="9" name="TextBox 8"/>
          <p:cNvSpPr txBox="1"/>
          <p:nvPr/>
        </p:nvSpPr>
        <p:spPr>
          <a:xfrm>
            <a:off x="777240" y="261874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Recherche documentaire multilingue</a:t>
            </a:r>
          </a:p>
        </p:txBody>
      </p:sp>
      <p:sp>
        <p:nvSpPr>
          <p:cNvPr id="10" name="TextBox 9"/>
          <p:cNvSpPr txBox="1"/>
          <p:nvPr/>
        </p:nvSpPr>
        <p:spPr>
          <a:xfrm>
            <a:off x="777240" y="298577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Pour les étudiants en langues : corpus linguistiques, échanges avec locuteurs natifs, podcasts, veille sur sources fiables en langue cible.</a:t>
            </a:r>
          </a:p>
        </p:txBody>
      </p:sp>
      <p:sp>
        <p:nvSpPr>
          <p:cNvPr id="11" name="TextBox 10"/>
          <p:cNvSpPr txBox="1"/>
          <p:nvPr/>
        </p:nvSpPr>
        <p:spPr>
          <a:xfrm>
            <a:off x="777240" y="371983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Enjeu : multiplier les ressources exige un esprit critique (vérifier la source, citer correctement).</a:t>
            </a:r>
          </a:p>
        </p:txBody>
      </p:sp>
      <p:sp>
        <p:nvSpPr>
          <p:cNvPr id="12" name="Rectangle 11"/>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4" name="TextBox 13"/>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Applications dans l'Éducation (suite)</a:t>
            </a:r>
          </a:p>
        </p:txBody>
      </p:sp>
      <p:sp>
        <p:nvSpPr>
          <p:cNvPr id="3" name="TextBox 2"/>
          <p:cNvSpPr txBox="1"/>
          <p:nvPr/>
        </p:nvSpPr>
        <p:spPr>
          <a:xfrm>
            <a:off x="777240" y="109474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Les TIC dans les quatre compétences linguistiques</a:t>
            </a:r>
          </a:p>
        </p:txBody>
      </p:sp>
      <p:graphicFrame>
        <p:nvGraphicFramePr>
          <p:cNvPr id="4" name="Table 3"/>
          <p:cNvGraphicFramePr>
            <a:graphicFrameLocks noGrp="1"/>
          </p:cNvGraphicFramePr>
          <p:nvPr/>
        </p:nvGraphicFramePr>
        <p:xfrm>
          <a:off x="777240" y="1527556"/>
          <a:ext cx="10634471" cy="2724912"/>
        </p:xfrm>
        <a:graphic>
          <a:graphicData uri="http://schemas.openxmlformats.org/drawingml/2006/table">
            <a:tbl>
              <a:tblPr firstRow="1" bandRow="1">
                <a:tableStyleId>{5C22544A-7EE6-4342-B048-85BDC9FD1C3A}</a:tableStyleId>
              </a:tblPr>
              <a:tblGrid>
                <a:gridCol w="3190341"/>
                <a:gridCol w="3722065"/>
                <a:gridCol w="3722065"/>
              </a:tblGrid>
              <a:tr h="351536">
                <a:tc>
                  <a:txBody>
                    <a:bodyPr/>
                    <a:lstStyle/>
                    <a:p>
                      <a:pPr>
                        <a:lnSpc>
                          <a:spcPct val="100000"/>
                        </a:lnSpc>
                      </a:pPr>
                      <a:r>
                        <a:rPr sz="1700" b="1">
                          <a:solidFill>
                            <a:srgbClr val="FFFFFF"/>
                          </a:solidFill>
                          <a:latin typeface="Calibri"/>
                        </a:rPr>
                        <a:t>Compétence</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Outils TIC</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Bénéfices</a:t>
                      </a:r>
                    </a:p>
                  </a:txBody>
                  <a:tcPr marL="64008" marR="64008" marT="27432" marB="27432" anchor="ctr">
                    <a:solidFill>
                      <a:srgbClr val="122A4F"/>
                    </a:solidFill>
                  </a:tcPr>
                </a:tc>
              </a:tr>
              <a:tr h="593344">
                <a:tc>
                  <a:txBody>
                    <a:bodyPr/>
                    <a:lstStyle/>
                    <a:p>
                      <a:pPr>
                        <a:lnSpc>
                          <a:spcPct val="100000"/>
                        </a:lnSpc>
                      </a:pPr>
                      <a:r>
                        <a:rPr sz="1700" b="0">
                          <a:solidFill>
                            <a:srgbClr val="1B2433"/>
                          </a:solidFill>
                          <a:latin typeface="Calibri"/>
                        </a:rPr>
                        <a:t>Compréhension orale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Podcasts, vidéos YouTube, RFI, TV5Monde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Accès à des contenus authentiques</a:t>
                      </a:r>
                    </a:p>
                  </a:txBody>
                  <a:tcPr marL="64008" marR="64008" marT="27432" marB="27432" anchor="ctr">
                    <a:solidFill>
                      <a:srgbClr val="FFFFFF"/>
                    </a:solidFill>
                  </a:tcPr>
                </a:tc>
              </a:tr>
              <a:tr h="593344">
                <a:tc>
                  <a:txBody>
                    <a:bodyPr/>
                    <a:lstStyle/>
                    <a:p>
                      <a:pPr>
                        <a:lnSpc>
                          <a:spcPct val="100000"/>
                        </a:lnSpc>
                      </a:pPr>
                      <a:r>
                        <a:rPr sz="1700" b="0">
                          <a:solidFill>
                            <a:srgbClr val="1B2433"/>
                          </a:solidFill>
                          <a:latin typeface="Calibri"/>
                        </a:rPr>
                        <a:t>Compréhension écrite</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Articles en ligne, corpus, dictionnaires numériques</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Variété de supports et registres</a:t>
                      </a:r>
                    </a:p>
                  </a:txBody>
                  <a:tcPr marL="64008" marR="64008" marT="27432" marB="27432" anchor="ctr">
                    <a:solidFill>
                      <a:srgbClr val="F3F6FA"/>
                    </a:solidFill>
                  </a:tcPr>
                </a:tc>
              </a:tr>
              <a:tr h="593344">
                <a:tc>
                  <a:txBody>
                    <a:bodyPr/>
                    <a:lstStyle/>
                    <a:p>
                      <a:pPr>
                        <a:lnSpc>
                          <a:spcPct val="100000"/>
                        </a:lnSpc>
                      </a:pPr>
                      <a:r>
                        <a:rPr sz="1700" b="0">
                          <a:solidFill>
                            <a:srgbClr val="1B2433"/>
                          </a:solidFill>
                          <a:latin typeface="Calibri"/>
                        </a:rPr>
                        <a:t>Production orale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Enregistrement vocal, visioconférence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Auto-évaluation et pratique</a:t>
                      </a:r>
                    </a:p>
                  </a:txBody>
                  <a:tcPr marL="64008" marR="64008" marT="27432" marB="27432" anchor="ctr">
                    <a:solidFill>
                      <a:srgbClr val="FFFFFF"/>
                    </a:solidFill>
                  </a:tcPr>
                </a:tc>
              </a:tr>
              <a:tr h="593344">
                <a:tc>
                  <a:txBody>
                    <a:bodyPr/>
                    <a:lstStyle/>
                    <a:p>
                      <a:pPr>
                        <a:lnSpc>
                          <a:spcPct val="100000"/>
                        </a:lnSpc>
                      </a:pPr>
                      <a:r>
                        <a:rPr sz="1700" b="0">
                          <a:solidFill>
                            <a:srgbClr val="1B2433"/>
                          </a:solidFill>
                          <a:latin typeface="Calibri"/>
                        </a:rPr>
                        <a:t>Production écrite</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Traitement de texte, correcteurs orthographiques</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Amélioration linguistique</a:t>
                      </a:r>
                    </a:p>
                  </a:txBody>
                  <a:tcPr marL="64008" marR="64008" marT="27432" marB="27432" anchor="ctr">
                    <a:solidFill>
                      <a:srgbClr val="F3F6FA"/>
                    </a:solidFill>
                  </a:tcPr>
                </a:tc>
              </a:tr>
            </a:tbl>
          </a:graphicData>
        </a:graphic>
      </p:graphicFrame>
      <p:sp>
        <p:nvSpPr>
          <p:cNvPr id="5" name="Rectangle 4"/>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7" name="TextBox 6"/>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Applications dans l'Éducation (suite)</a:t>
            </a:r>
          </a:p>
        </p:txBody>
      </p:sp>
      <p:sp>
        <p:nvSpPr>
          <p:cNvPr id="3" name="TextBox 2"/>
          <p:cNvSpPr txBox="1"/>
          <p:nvPr/>
        </p:nvSpPr>
        <p:spPr>
          <a:xfrm>
            <a:off x="777240" y="109474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Exemples de ressources numériques pour les étudiants en langues</a:t>
            </a:r>
          </a:p>
        </p:txBody>
      </p:sp>
      <p:sp>
        <p:nvSpPr>
          <p:cNvPr id="4" name="TextBox 3"/>
          <p:cNvSpPr txBox="1"/>
          <p:nvPr/>
        </p:nvSpPr>
        <p:spPr>
          <a:xfrm>
            <a:off x="777240" y="1527556"/>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TV5Monde : exercices de français langue étrangère (FLE) par niveau</a:t>
            </a:r>
          </a:p>
        </p:txBody>
      </p:sp>
      <p:sp>
        <p:nvSpPr>
          <p:cNvPr id="5" name="TextBox 4"/>
          <p:cNvSpPr txBox="1"/>
          <p:nvPr/>
        </p:nvSpPr>
        <p:spPr>
          <a:xfrm>
            <a:off x="777240" y="1894586"/>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RFI Savoirs : journal en français facile avec transcriptions</a:t>
            </a:r>
          </a:p>
        </p:txBody>
      </p:sp>
      <p:sp>
        <p:nvSpPr>
          <p:cNvPr id="6" name="TextBox 5"/>
          <p:cNvSpPr txBox="1"/>
          <p:nvPr/>
        </p:nvSpPr>
        <p:spPr>
          <a:xfrm>
            <a:off x="777240" y="2261616"/>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Linguee / Reverso : dictionnaires contextuels et corpus bilingues</a:t>
            </a:r>
          </a:p>
        </p:txBody>
      </p:sp>
      <p:sp>
        <p:nvSpPr>
          <p:cNvPr id="7" name="TextBox 6"/>
          <p:cNvSpPr txBox="1"/>
          <p:nvPr/>
        </p:nvSpPr>
        <p:spPr>
          <a:xfrm>
            <a:off x="777240" y="2628646"/>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WordReference : dictionnaire collaboratif avec forums linguistiques</a:t>
            </a:r>
          </a:p>
        </p:txBody>
      </p:sp>
      <p:sp>
        <p:nvSpPr>
          <p:cNvPr id="8" name="TextBox 7"/>
          <p:cNvSpPr txBox="1"/>
          <p:nvPr/>
        </p:nvSpPr>
        <p:spPr>
          <a:xfrm>
            <a:off x="777240" y="2995676"/>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Google Scholar : recherche d'articles académiques en plusieurs langues</a:t>
            </a:r>
          </a:p>
        </p:txBody>
      </p:sp>
      <p:sp>
        <p:nvSpPr>
          <p:cNvPr id="9" name="TextBox 8"/>
          <p:cNvSpPr txBox="1"/>
          <p:nvPr/>
        </p:nvSpPr>
        <p:spPr>
          <a:xfrm>
            <a:off x="777240" y="3362706"/>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Cairn.info : revues universitaires francophones en texte intégral</a:t>
            </a:r>
          </a:p>
        </p:txBody>
      </p:sp>
      <p:sp>
        <p:nvSpPr>
          <p:cNvPr id="10" name="TextBox 9"/>
          <p:cNvSpPr txBox="1"/>
          <p:nvPr/>
        </p:nvSpPr>
        <p:spPr>
          <a:xfrm>
            <a:off x="777240" y="3729736"/>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Projet Gutenberg : livres gratuits dans plus de 50 langues</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Compétences Numériques Attendues</a:t>
            </a:r>
          </a:p>
        </p:txBody>
      </p:sp>
      <p:sp>
        <p:nvSpPr>
          <p:cNvPr id="3" name="Rounded Rectangle 2"/>
          <p:cNvSpPr/>
          <p:nvPr/>
        </p:nvSpPr>
        <p:spPr>
          <a:xfrm>
            <a:off x="10195560" y="593598"/>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95560" y="593598"/>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50" b="1" i="0">
                <a:solidFill>
                  <a:srgbClr val="122A4F"/>
                </a:solidFill>
                <a:latin typeface="Calibri"/>
              </a:rPr>
              <a:t>10 min</a:t>
            </a:r>
          </a:p>
        </p:txBody>
      </p:sp>
      <p:sp>
        <p:nvSpPr>
          <p:cNvPr id="5" name="TextBox 4"/>
          <p:cNvSpPr txBox="1"/>
          <p:nvPr/>
        </p:nvSpPr>
        <p:spPr>
          <a:xfrm>
            <a:off x="777240" y="115062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1.  </a:t>
            </a:r>
            <a:r>
              <a:rPr sz="1900" b="0" i="0">
                <a:solidFill>
                  <a:srgbClr val="1B2433"/>
                </a:solidFill>
                <a:latin typeface="Calibri"/>
              </a:rPr>
              <a:t>Bureautique académique (Word, PowerPoint)</a:t>
            </a:r>
          </a:p>
        </p:txBody>
      </p:sp>
      <p:sp>
        <p:nvSpPr>
          <p:cNvPr id="6" name="TextBox 5"/>
          <p:cNvSpPr txBox="1"/>
          <p:nvPr/>
        </p:nvSpPr>
        <p:spPr>
          <a:xfrm>
            <a:off x="777240" y="151765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2.  </a:t>
            </a:r>
            <a:r>
              <a:rPr sz="1900" b="0" i="0">
                <a:solidFill>
                  <a:srgbClr val="1B2433"/>
                </a:solidFill>
                <a:latin typeface="Calibri"/>
              </a:rPr>
              <a:t>Recherche documentaire (mots-clés, crédibilité des sites)</a:t>
            </a:r>
          </a:p>
        </p:txBody>
      </p:sp>
      <p:sp>
        <p:nvSpPr>
          <p:cNvPr id="7" name="TextBox 6"/>
          <p:cNvSpPr txBox="1"/>
          <p:nvPr/>
        </p:nvSpPr>
        <p:spPr>
          <a:xfrm>
            <a:off x="777240" y="188468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3.  </a:t>
            </a:r>
            <a:r>
              <a:rPr sz="1900" b="0" i="0">
                <a:solidFill>
                  <a:srgbClr val="1B2433"/>
                </a:solidFill>
                <a:latin typeface="Calibri"/>
              </a:rPr>
              <a:t>Gestion des fichiers (nommage, formats PDF/DOCX)</a:t>
            </a:r>
          </a:p>
        </p:txBody>
      </p:sp>
      <p:sp>
        <p:nvSpPr>
          <p:cNvPr id="8" name="TextBox 7"/>
          <p:cNvSpPr txBox="1"/>
          <p:nvPr/>
        </p:nvSpPr>
        <p:spPr>
          <a:xfrm>
            <a:off x="777240" y="225171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4.  </a:t>
            </a:r>
            <a:r>
              <a:rPr sz="1900" b="0" i="0">
                <a:solidFill>
                  <a:srgbClr val="1B2433"/>
                </a:solidFill>
                <a:latin typeface="Calibri"/>
              </a:rPr>
              <a:t>Communication professionnelle par courriel</a:t>
            </a:r>
          </a:p>
        </p:txBody>
      </p:sp>
      <p:sp>
        <p:nvSpPr>
          <p:cNvPr id="9" name="TextBox 8"/>
          <p:cNvSpPr txBox="1"/>
          <p:nvPr/>
        </p:nvSpPr>
        <p:spPr>
          <a:xfrm>
            <a:off x="777240" y="261874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5.  </a:t>
            </a:r>
            <a:r>
              <a:rPr sz="1900" b="0" i="0">
                <a:solidFill>
                  <a:srgbClr val="1B2433"/>
                </a:solidFill>
                <a:latin typeface="Calibri"/>
              </a:rPr>
              <a:t>Sécurité et éthique (mots de passe, plagiat, vie privée)</a:t>
            </a:r>
          </a:p>
        </p:txBody>
      </p:sp>
      <p:sp>
        <p:nvSpPr>
          <p:cNvPr id="10" name="Rectangle 9"/>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2" name="TextBox 11"/>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Compétences Numériques Attendues (suite)</a:t>
            </a:r>
          </a:p>
        </p:txBody>
      </p:sp>
      <p:sp>
        <p:nvSpPr>
          <p:cNvPr id="3" name="TextBox 2"/>
          <p:cNvSpPr txBox="1"/>
          <p:nvPr/>
        </p:nvSpPr>
        <p:spPr>
          <a:xfrm>
            <a:off x="777240" y="109474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Les 5 domaines du cadre DigComp (adapté)</a:t>
            </a:r>
          </a:p>
        </p:txBody>
      </p:sp>
      <p:graphicFrame>
        <p:nvGraphicFramePr>
          <p:cNvPr id="4" name="Table 3"/>
          <p:cNvGraphicFramePr>
            <a:graphicFrameLocks noGrp="1"/>
          </p:cNvGraphicFramePr>
          <p:nvPr/>
        </p:nvGraphicFramePr>
        <p:xfrm>
          <a:off x="777240" y="1527556"/>
          <a:ext cx="10634471" cy="3560064"/>
        </p:xfrm>
        <a:graphic>
          <a:graphicData uri="http://schemas.openxmlformats.org/drawingml/2006/table">
            <a:tbl>
              <a:tblPr firstRow="1" bandRow="1">
                <a:tableStyleId>{5C22544A-7EE6-4342-B048-85BDC9FD1C3A}</a:tableStyleId>
              </a:tblPr>
              <a:tblGrid>
                <a:gridCol w="3190341"/>
                <a:gridCol w="3722065"/>
                <a:gridCol w="3722065"/>
              </a:tblGrid>
              <a:tr h="593344">
                <a:tc>
                  <a:txBody>
                    <a:bodyPr/>
                    <a:lstStyle/>
                    <a:p>
                      <a:pPr>
                        <a:lnSpc>
                          <a:spcPct val="100000"/>
                        </a:lnSpc>
                      </a:pPr>
                      <a:r>
                        <a:rPr sz="1700" b="1">
                          <a:solidFill>
                            <a:srgbClr val="FFFFFF"/>
                          </a:solidFill>
                          <a:latin typeface="Calibri"/>
                        </a:rPr>
                        <a:t>Domaine</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Compétence clé</a:t>
                      </a:r>
                    </a:p>
                  </a:txBody>
                  <a:tcPr marL="64008" marR="64008" marT="27432" marB="27432" anchor="ctr">
                    <a:solidFill>
                      <a:srgbClr val="122A4F"/>
                    </a:solidFill>
                  </a:tcPr>
                </a:tc>
                <a:tc>
                  <a:txBody>
                    <a:bodyPr/>
                    <a:lstStyle/>
                    <a:p>
                      <a:pPr>
                        <a:lnSpc>
                          <a:spcPct val="100000"/>
                        </a:lnSpc>
                      </a:pPr>
                      <a:r>
                        <a:rPr sz="1700" b="1">
                          <a:solidFill>
                            <a:srgbClr val="FFFFFF"/>
                          </a:solidFill>
                          <a:latin typeface="Calibri"/>
                        </a:rPr>
                        <a:t>Application en Licence Langues</a:t>
                      </a:r>
                    </a:p>
                  </a:txBody>
                  <a:tcPr marL="64008" marR="64008" marT="27432" marB="27432" anchor="ctr">
                    <a:solidFill>
                      <a:srgbClr val="122A4F"/>
                    </a:solidFill>
                  </a:tcPr>
                </a:tc>
              </a:tr>
              <a:tr h="593344">
                <a:tc>
                  <a:txBody>
                    <a:bodyPr/>
                    <a:lstStyle/>
                    <a:p>
                      <a:pPr>
                        <a:lnSpc>
                          <a:spcPct val="100000"/>
                        </a:lnSpc>
                      </a:pPr>
                      <a:r>
                        <a:rPr sz="1700" b="0">
                          <a:solidFill>
                            <a:srgbClr val="1B2433"/>
                          </a:solidFill>
                          <a:latin typeface="Calibri"/>
                        </a:rPr>
                        <a:t>1. Information</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Rechercher, évaluer, gérer</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Trouver des sources fiables en langue cible</a:t>
                      </a:r>
                    </a:p>
                  </a:txBody>
                  <a:tcPr marL="64008" marR="64008" marT="27432" marB="27432" anchor="ctr">
                    <a:solidFill>
                      <a:srgbClr val="FFFFFF"/>
                    </a:solidFill>
                  </a:tcPr>
                </a:tc>
              </a:tr>
              <a:tr h="593344">
                <a:tc>
                  <a:txBody>
                    <a:bodyPr/>
                    <a:lstStyle/>
                    <a:p>
                      <a:pPr>
                        <a:lnSpc>
                          <a:spcPct val="100000"/>
                        </a:lnSpc>
                      </a:pPr>
                      <a:r>
                        <a:rPr sz="1700" b="0">
                          <a:solidFill>
                            <a:srgbClr val="1B2433"/>
                          </a:solidFill>
                          <a:latin typeface="Calibri"/>
                        </a:rPr>
                        <a:t>2. Communication</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Interagir, partager, collaborer</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Forums Moodle, courriel, visio</a:t>
                      </a:r>
                    </a:p>
                  </a:txBody>
                  <a:tcPr marL="64008" marR="64008" marT="27432" marB="27432" anchor="ctr">
                    <a:solidFill>
                      <a:srgbClr val="F3F6FA"/>
                    </a:solidFill>
                  </a:tcPr>
                </a:tc>
              </a:tr>
              <a:tr h="593344">
                <a:tc>
                  <a:txBody>
                    <a:bodyPr/>
                    <a:lstStyle/>
                    <a:p>
                      <a:pPr>
                        <a:lnSpc>
                          <a:spcPct val="100000"/>
                        </a:lnSpc>
                      </a:pPr>
                      <a:r>
                        <a:rPr sz="1700" b="0">
                          <a:solidFill>
                            <a:srgbClr val="1B2433"/>
                          </a:solidFill>
                          <a:latin typeface="Calibri"/>
                        </a:rPr>
                        <a:t>3. Création de contenu</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Développer, intégrer, produire</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Rédiger des devoirs, créer des présentations</a:t>
                      </a:r>
                    </a:p>
                  </a:txBody>
                  <a:tcPr marL="64008" marR="64008" marT="27432" marB="27432" anchor="ctr">
                    <a:solidFill>
                      <a:srgbClr val="FFFFFF"/>
                    </a:solidFill>
                  </a:tcPr>
                </a:tc>
              </a:tr>
              <a:tr h="593344">
                <a:tc>
                  <a:txBody>
                    <a:bodyPr/>
                    <a:lstStyle/>
                    <a:p>
                      <a:pPr>
                        <a:lnSpc>
                          <a:spcPct val="100000"/>
                        </a:lnSpc>
                      </a:pPr>
                      <a:r>
                        <a:rPr sz="1700" b="0">
                          <a:solidFill>
                            <a:srgbClr val="1B2433"/>
                          </a:solidFill>
                          <a:latin typeface="Calibri"/>
                        </a:rPr>
                        <a:t>4. Sécurité</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Protéger appareils, données, santé</a:t>
                      </a:r>
                    </a:p>
                  </a:txBody>
                  <a:tcPr marL="64008" marR="64008" marT="27432" marB="27432" anchor="ctr">
                    <a:solidFill>
                      <a:srgbClr val="F3F6FA"/>
                    </a:solidFill>
                  </a:tcPr>
                </a:tc>
                <a:tc>
                  <a:txBody>
                    <a:bodyPr/>
                    <a:lstStyle/>
                    <a:p>
                      <a:pPr>
                        <a:lnSpc>
                          <a:spcPct val="100000"/>
                        </a:lnSpc>
                      </a:pPr>
                      <a:r>
                        <a:rPr sz="1700" b="0">
                          <a:solidFill>
                            <a:srgbClr val="1B2433"/>
                          </a:solidFill>
                          <a:latin typeface="Calibri"/>
                        </a:rPr>
                        <a:t>Gérer mots de passe, éviter phishing</a:t>
                      </a:r>
                    </a:p>
                  </a:txBody>
                  <a:tcPr marL="64008" marR="64008" marT="27432" marB="27432" anchor="ctr">
                    <a:solidFill>
                      <a:srgbClr val="F3F6FA"/>
                    </a:solidFill>
                  </a:tcPr>
                </a:tc>
              </a:tr>
              <a:tr h="593344">
                <a:tc>
                  <a:txBody>
                    <a:bodyPr/>
                    <a:lstStyle/>
                    <a:p>
                      <a:pPr>
                        <a:lnSpc>
                          <a:spcPct val="100000"/>
                        </a:lnSpc>
                      </a:pPr>
                      <a:r>
                        <a:rPr sz="1700" b="0">
                          <a:solidFill>
                            <a:srgbClr val="1B2433"/>
                          </a:solidFill>
                          <a:latin typeface="Calibri"/>
                        </a:rPr>
                        <a:t>5. Résolution de problèmes</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Besoins techniques, innovation</a:t>
                      </a:r>
                    </a:p>
                  </a:txBody>
                  <a:tcPr marL="64008" marR="64008" marT="27432" marB="27432" anchor="ctr">
                    <a:solidFill>
                      <a:srgbClr val="FFFFFF"/>
                    </a:solidFill>
                  </a:tcPr>
                </a:tc>
                <a:tc>
                  <a:txBody>
                    <a:bodyPr/>
                    <a:lstStyle/>
                    <a:p>
                      <a:pPr>
                        <a:lnSpc>
                          <a:spcPct val="100000"/>
                        </a:lnSpc>
                      </a:pPr>
                      <a:r>
                        <a:rPr sz="1700" b="0">
                          <a:solidFill>
                            <a:srgbClr val="1B2433"/>
                          </a:solidFill>
                          <a:latin typeface="Calibri"/>
                        </a:rPr>
                        <a:t>Diagnostiquer un problème simple</a:t>
                      </a:r>
                    </a:p>
                  </a:txBody>
                  <a:tcPr marL="64008" marR="64008" marT="27432" marB="27432" anchor="ctr">
                    <a:solidFill>
                      <a:srgbClr val="FFFFFF"/>
                    </a:solidFill>
                  </a:tcPr>
                </a:tc>
              </a:tr>
            </a:tbl>
          </a:graphicData>
        </a:graphic>
      </p:graphicFrame>
      <p:sp>
        <p:nvSpPr>
          <p:cNvPr id="5" name="Rectangle 4"/>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7" name="TextBox 6"/>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454660"/>
          </a:xfrm>
          <a:prstGeom prst="rect">
            <a:avLst/>
          </a:prstGeom>
          <a:noFill/>
        </p:spPr>
        <p:txBody>
          <a:bodyPr wrap="square" lIns="0" rIns="0" tIns="0" bIns="0" anchor="t">
            <a:spAutoFit/>
          </a:bodyPr>
          <a:lstStyle/>
          <a:p>
            <a:pPr algn="l">
              <a:lnSpc>
                <a:spcPct val="100000"/>
              </a:lnSpc>
              <a:spcBef>
                <a:spcPts val="0"/>
              </a:spcBef>
              <a:spcAft>
                <a:spcPts val="0"/>
              </a:spcAft>
            </a:pPr>
            <a:r>
              <a:rPr sz="2600" b="1" i="0">
                <a:solidFill>
                  <a:srgbClr val="122A4F"/>
                </a:solidFill>
                <a:latin typeface="Calibri"/>
              </a:rPr>
              <a:t>Compétences Numériques Attendues (suite)</a:t>
            </a:r>
          </a:p>
        </p:txBody>
      </p:sp>
      <p:sp>
        <p:nvSpPr>
          <p:cNvPr id="3" name="TextBox 2"/>
          <p:cNvSpPr txBox="1"/>
          <p:nvPr/>
        </p:nvSpPr>
        <p:spPr>
          <a:xfrm>
            <a:off x="777240" y="1094740"/>
            <a:ext cx="10634472" cy="377952"/>
          </a:xfrm>
          <a:prstGeom prst="rect">
            <a:avLst/>
          </a:prstGeom>
          <a:noFill/>
        </p:spPr>
        <p:txBody>
          <a:bodyPr wrap="square" lIns="0" rIns="0" tIns="0" bIns="0" anchor="t">
            <a:spAutoFit/>
          </a:bodyPr>
          <a:lstStyle/>
          <a:p>
            <a:pPr algn="l">
              <a:lnSpc>
                <a:spcPct val="112000"/>
              </a:lnSpc>
              <a:spcBef>
                <a:spcPts val="0"/>
              </a:spcBef>
              <a:spcAft>
                <a:spcPts val="0"/>
              </a:spcAft>
            </a:pPr>
            <a:r>
              <a:rPr sz="2000" b="1" i="0">
                <a:solidFill>
                  <a:srgbClr val="1F5C99"/>
                </a:solidFill>
                <a:latin typeface="Calibri"/>
              </a:rPr>
              <a:t>Niveau attendu en fin de Licence</a:t>
            </a:r>
          </a:p>
        </p:txBody>
      </p:sp>
      <p:sp>
        <p:nvSpPr>
          <p:cNvPr id="4" name="TextBox 3"/>
          <p:cNvSpPr txBox="1"/>
          <p:nvPr/>
        </p:nvSpPr>
        <p:spPr>
          <a:xfrm>
            <a:off x="777240" y="1527556"/>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Niveau 3 (Indépendant) sur l'échelle DigComp : capable d'utiliser les outils numériques de manière autonome pour ses besoins d'apprentissage</a:t>
            </a:r>
          </a:p>
        </p:txBody>
      </p:sp>
      <p:sp>
        <p:nvSpPr>
          <p:cNvPr id="5" name="TextBox 4"/>
          <p:cNvSpPr txBox="1"/>
          <p:nvPr/>
        </p:nvSpPr>
        <p:spPr>
          <a:xfrm>
            <a:off x="777240" y="217932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Certification complémentaire possible : PIX (projet de généralisation en Algérie)</a:t>
            </a:r>
          </a:p>
        </p:txBody>
      </p:sp>
      <p:sp>
        <p:nvSpPr>
          <p:cNvPr id="6" name="Rectangle 5"/>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8" name="TextBox 7"/>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30352"/>
            <a:ext cx="941832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Conclusion</a:t>
            </a:r>
          </a:p>
        </p:txBody>
      </p:sp>
      <p:sp>
        <p:nvSpPr>
          <p:cNvPr id="3" name="Rounded Rectangle 2"/>
          <p:cNvSpPr/>
          <p:nvPr/>
        </p:nvSpPr>
        <p:spPr>
          <a:xfrm>
            <a:off x="10195560" y="593598"/>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95560" y="593598"/>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50" b="1" i="0">
                <a:solidFill>
                  <a:srgbClr val="122A4F"/>
                </a:solidFill>
                <a:latin typeface="Calibri"/>
              </a:rPr>
              <a:t>5 min</a:t>
            </a:r>
          </a:p>
        </p:txBody>
      </p:sp>
      <p:sp>
        <p:nvSpPr>
          <p:cNvPr id="5" name="TextBox 4"/>
          <p:cNvSpPr txBox="1"/>
          <p:nvPr/>
        </p:nvSpPr>
        <p:spPr>
          <a:xfrm>
            <a:off x="777240" y="115062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TIC = convergence informatique, télécoms et multimédia</a:t>
            </a:r>
          </a:p>
        </p:txBody>
      </p:sp>
      <p:sp>
        <p:nvSpPr>
          <p:cNvPr id="6" name="TextBox 5"/>
          <p:cNvSpPr txBox="1"/>
          <p:nvPr/>
        </p:nvSpPr>
        <p:spPr>
          <a:xfrm>
            <a:off x="777240" y="151765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Trois dimensions : technique, information, communication</a:t>
            </a:r>
          </a:p>
        </p:txBody>
      </p:sp>
      <p:sp>
        <p:nvSpPr>
          <p:cNvPr id="7" name="TextBox 6"/>
          <p:cNvSpPr txBox="1"/>
          <p:nvPr/>
        </p:nvSpPr>
        <p:spPr>
          <a:xfrm>
            <a:off x="777240" y="188468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Trois fonctions : traitement, transmission, sauvegarde</a:t>
            </a:r>
          </a:p>
        </p:txBody>
      </p:sp>
      <p:sp>
        <p:nvSpPr>
          <p:cNvPr id="8" name="TextBox 7"/>
          <p:cNvSpPr txBox="1"/>
          <p:nvPr/>
        </p:nvSpPr>
        <p:spPr>
          <a:xfrm>
            <a:off x="777240" y="2251710"/>
            <a:ext cx="10634472" cy="321310"/>
          </a:xfrm>
          <a:prstGeom prst="rect">
            <a:avLst/>
          </a:prstGeom>
          <a:noFill/>
        </p:spPr>
        <p:txBody>
          <a:bodyPr wrap="square" lIns="0" rIns="0" tIns="0" bIns="0" anchor="t">
            <a:spAutoFit/>
          </a:bodyPr>
          <a:lstStyle/>
          <a:p>
            <a:pPr algn="l">
              <a:lnSpc>
                <a:spcPct val="118000"/>
              </a:lnSpc>
              <a:spcBef>
                <a:spcPts val="0"/>
              </a:spcBef>
              <a:spcAft>
                <a:spcPts val="0"/>
              </a:spcAft>
            </a:pPr>
            <a:r>
              <a:rPr sz="1900" b="1" i="0">
                <a:solidFill>
                  <a:srgbClr val="1F5C99"/>
                </a:solidFill>
                <a:latin typeface="Calibri"/>
              </a:rPr>
              <a:t>▪  </a:t>
            </a:r>
            <a:r>
              <a:rPr sz="1900" b="0" i="0">
                <a:solidFill>
                  <a:srgbClr val="1B2433"/>
                </a:solidFill>
                <a:latin typeface="Calibri"/>
              </a:rPr>
              <a:t>Compétence transversale indispensable</a:t>
            </a:r>
          </a:p>
        </p:txBody>
      </p:sp>
      <p:sp>
        <p:nvSpPr>
          <p:cNvPr id="9" name="TextBox 8"/>
          <p:cNvSpPr txBox="1"/>
          <p:nvPr/>
        </p:nvSpPr>
        <p:spPr>
          <a:xfrm>
            <a:off x="777240" y="2618740"/>
            <a:ext cx="10634472" cy="606044"/>
          </a:xfrm>
          <a:prstGeom prst="rect">
            <a:avLst/>
          </a:prstGeom>
          <a:noFill/>
        </p:spPr>
        <p:txBody>
          <a:bodyPr wrap="square" lIns="0" rIns="0" tIns="0" bIns="0" anchor="t">
            <a:spAutoFit/>
          </a:bodyPr>
          <a:lstStyle/>
          <a:p>
            <a:pPr algn="l">
              <a:lnSpc>
                <a:spcPct val="118000"/>
              </a:lnSpc>
              <a:spcBef>
                <a:spcPts val="0"/>
              </a:spcBef>
              <a:spcAft>
                <a:spcPts val="0"/>
              </a:spcAft>
            </a:pPr>
            <a:r>
              <a:rPr sz="1900" b="0" i="0">
                <a:solidFill>
                  <a:srgbClr val="1B2433"/>
                </a:solidFill>
                <a:latin typeface="Calibri"/>
              </a:rPr>
              <a:t>TD 01 (1h30) — exercices d'application. Prochain cours : Informatique et Architecture de l'Ordinateur.</a:t>
            </a:r>
          </a:p>
        </p:txBody>
      </p:sp>
      <p:sp>
        <p:nvSpPr>
          <p:cNvPr id="10" name="Rectangle 9"/>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2" name="TextBox 11"/>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972800"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Auto-évaluation — QCM (1/2)</a:t>
            </a:r>
          </a:p>
        </p:txBody>
      </p:sp>
      <p:sp>
        <p:nvSpPr>
          <p:cNvPr id="3" name="TextBox 2"/>
          <p:cNvSpPr txBox="1"/>
          <p:nvPr/>
        </p:nvSpPr>
        <p:spPr>
          <a:xfrm>
            <a:off x="777240" y="1371600"/>
            <a:ext cx="10634472" cy="298704"/>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122A4F"/>
                </a:solidFill>
                <a:latin typeface="Calibri"/>
              </a:rPr>
              <a:t>1. Que signifie l'acronyme TIC ?</a:t>
            </a:r>
          </a:p>
        </p:txBody>
      </p:sp>
      <p:sp>
        <p:nvSpPr>
          <p:cNvPr id="4" name="TextBox 3"/>
          <p:cNvSpPr txBox="1"/>
          <p:nvPr/>
        </p:nvSpPr>
        <p:spPr>
          <a:xfrm>
            <a:off x="868680" y="167030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A) Techniques d'Information et de Communication</a:t>
            </a:r>
          </a:p>
        </p:txBody>
      </p:sp>
      <p:sp>
        <p:nvSpPr>
          <p:cNvPr id="5" name="TextBox 4"/>
          <p:cNvSpPr txBox="1"/>
          <p:nvPr/>
        </p:nvSpPr>
        <p:spPr>
          <a:xfrm>
            <a:off x="868680" y="190652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B) Technologies de l'Information et de la Communication</a:t>
            </a:r>
          </a:p>
        </p:txBody>
      </p:sp>
      <p:sp>
        <p:nvSpPr>
          <p:cNvPr id="6" name="TextBox 5"/>
          <p:cNvSpPr txBox="1"/>
          <p:nvPr/>
        </p:nvSpPr>
        <p:spPr>
          <a:xfrm>
            <a:off x="868680" y="214274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C) Traitement Intégral des Connaissances</a:t>
            </a:r>
          </a:p>
        </p:txBody>
      </p:sp>
      <p:sp>
        <p:nvSpPr>
          <p:cNvPr id="7" name="TextBox 6"/>
          <p:cNvSpPr txBox="1"/>
          <p:nvPr/>
        </p:nvSpPr>
        <p:spPr>
          <a:xfrm>
            <a:off x="868680" y="237896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D) Transmission Informatique et Communication</a:t>
            </a:r>
          </a:p>
        </p:txBody>
      </p:sp>
      <p:sp>
        <p:nvSpPr>
          <p:cNvPr id="8" name="TextBox 7"/>
          <p:cNvSpPr txBox="1"/>
          <p:nvPr/>
        </p:nvSpPr>
        <p:spPr>
          <a:xfrm>
            <a:off x="777240" y="2706624"/>
            <a:ext cx="10634472" cy="298704"/>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122A4F"/>
                </a:solidFill>
                <a:latin typeface="Calibri"/>
              </a:rPr>
              <a:t>2. Parmi les propositions suivantes, laquelle n'est PAS une fonction des TIC ?</a:t>
            </a:r>
          </a:p>
        </p:txBody>
      </p:sp>
      <p:sp>
        <p:nvSpPr>
          <p:cNvPr id="9" name="TextBox 8"/>
          <p:cNvSpPr txBox="1"/>
          <p:nvPr/>
        </p:nvSpPr>
        <p:spPr>
          <a:xfrm>
            <a:off x="868680" y="300532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A) Traitement</a:t>
            </a:r>
          </a:p>
        </p:txBody>
      </p:sp>
      <p:sp>
        <p:nvSpPr>
          <p:cNvPr id="10" name="TextBox 9"/>
          <p:cNvSpPr txBox="1"/>
          <p:nvPr/>
        </p:nvSpPr>
        <p:spPr>
          <a:xfrm>
            <a:off x="868680" y="324154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B) Transmission</a:t>
            </a:r>
          </a:p>
        </p:txBody>
      </p:sp>
      <p:sp>
        <p:nvSpPr>
          <p:cNvPr id="11" name="TextBox 10"/>
          <p:cNvSpPr txBox="1"/>
          <p:nvPr/>
        </p:nvSpPr>
        <p:spPr>
          <a:xfrm>
            <a:off x="868680" y="347776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C) Traduction</a:t>
            </a:r>
          </a:p>
        </p:txBody>
      </p:sp>
      <p:sp>
        <p:nvSpPr>
          <p:cNvPr id="12" name="TextBox 11"/>
          <p:cNvSpPr txBox="1"/>
          <p:nvPr/>
        </p:nvSpPr>
        <p:spPr>
          <a:xfrm>
            <a:off x="868680" y="371398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D) Sauvegarde</a:t>
            </a:r>
          </a:p>
        </p:txBody>
      </p:sp>
      <p:sp>
        <p:nvSpPr>
          <p:cNvPr id="13" name="TextBox 12"/>
          <p:cNvSpPr txBox="1"/>
          <p:nvPr/>
        </p:nvSpPr>
        <p:spPr>
          <a:xfrm>
            <a:off x="777240" y="4041648"/>
            <a:ext cx="10634472" cy="298704"/>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122A4F"/>
                </a:solidFill>
                <a:latin typeface="Calibri"/>
              </a:rPr>
              <a:t>3. Les trois dimensions fondamentales des TIC sont :</a:t>
            </a:r>
          </a:p>
        </p:txBody>
      </p:sp>
      <p:sp>
        <p:nvSpPr>
          <p:cNvPr id="14" name="TextBox 13"/>
          <p:cNvSpPr txBox="1"/>
          <p:nvPr/>
        </p:nvSpPr>
        <p:spPr>
          <a:xfrm>
            <a:off x="868680" y="4340351"/>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A) Technique, Information, Communication</a:t>
            </a:r>
          </a:p>
        </p:txBody>
      </p:sp>
      <p:sp>
        <p:nvSpPr>
          <p:cNvPr id="15" name="TextBox 14"/>
          <p:cNvSpPr txBox="1"/>
          <p:nvPr/>
        </p:nvSpPr>
        <p:spPr>
          <a:xfrm>
            <a:off x="868680" y="4576572"/>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B) Matériel, Logiciel, Réseau</a:t>
            </a:r>
          </a:p>
        </p:txBody>
      </p:sp>
      <p:sp>
        <p:nvSpPr>
          <p:cNvPr id="16" name="TextBox 15"/>
          <p:cNvSpPr txBox="1"/>
          <p:nvPr/>
        </p:nvSpPr>
        <p:spPr>
          <a:xfrm>
            <a:off x="868680" y="4812792"/>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C) Traitement, Stockage, Affichage</a:t>
            </a:r>
          </a:p>
        </p:txBody>
      </p:sp>
      <p:sp>
        <p:nvSpPr>
          <p:cNvPr id="17" name="TextBox 16"/>
          <p:cNvSpPr txBox="1"/>
          <p:nvPr/>
        </p:nvSpPr>
        <p:spPr>
          <a:xfrm>
            <a:off x="868680" y="5049012"/>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D) Internet, Web, Courriel</a:t>
            </a:r>
          </a:p>
        </p:txBody>
      </p:sp>
      <p:sp>
        <p:nvSpPr>
          <p:cNvPr id="18" name="Rectangle 17"/>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20" name="TextBox 19"/>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972800"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Auto-évaluation — QCM (2/2)</a:t>
            </a:r>
          </a:p>
        </p:txBody>
      </p:sp>
      <p:sp>
        <p:nvSpPr>
          <p:cNvPr id="3" name="TextBox 2"/>
          <p:cNvSpPr txBox="1"/>
          <p:nvPr/>
        </p:nvSpPr>
        <p:spPr>
          <a:xfrm>
            <a:off x="777240" y="1371600"/>
            <a:ext cx="10634472" cy="298704"/>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122A4F"/>
                </a:solidFill>
                <a:latin typeface="Calibri"/>
              </a:rPr>
              <a:t>4. Quelle différence y a-t-il entre NTIC et TIC ?</a:t>
            </a:r>
          </a:p>
        </p:txBody>
      </p:sp>
      <p:sp>
        <p:nvSpPr>
          <p:cNvPr id="4" name="TextBox 3"/>
          <p:cNvSpPr txBox="1"/>
          <p:nvPr/>
        </p:nvSpPr>
        <p:spPr>
          <a:xfrm>
            <a:off x="868680" y="167030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A) NTIC désigne les technologies des années 1990-2000, TIC le terme actuel</a:t>
            </a:r>
          </a:p>
        </p:txBody>
      </p:sp>
      <p:sp>
        <p:nvSpPr>
          <p:cNvPr id="5" name="TextBox 4"/>
          <p:cNvSpPr txBox="1"/>
          <p:nvPr/>
        </p:nvSpPr>
        <p:spPr>
          <a:xfrm>
            <a:off x="868680" y="190652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B) NTIC est plus moderne que TIC</a:t>
            </a:r>
          </a:p>
        </p:txBody>
      </p:sp>
      <p:sp>
        <p:nvSpPr>
          <p:cNvPr id="6" name="TextBox 5"/>
          <p:cNvSpPr txBox="1"/>
          <p:nvPr/>
        </p:nvSpPr>
        <p:spPr>
          <a:xfrm>
            <a:off x="868680" y="214274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C) Il n'y a aucune différence</a:t>
            </a:r>
          </a:p>
        </p:txBody>
      </p:sp>
      <p:sp>
        <p:nvSpPr>
          <p:cNvPr id="7" name="TextBox 6"/>
          <p:cNvSpPr txBox="1"/>
          <p:nvPr/>
        </p:nvSpPr>
        <p:spPr>
          <a:xfrm>
            <a:off x="868680" y="237896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D) NTIC inclut l'intelligence artificielle</a:t>
            </a:r>
          </a:p>
        </p:txBody>
      </p:sp>
      <p:sp>
        <p:nvSpPr>
          <p:cNvPr id="8" name="TextBox 7"/>
          <p:cNvSpPr txBox="1"/>
          <p:nvPr/>
        </p:nvSpPr>
        <p:spPr>
          <a:xfrm>
            <a:off x="777240" y="2706624"/>
            <a:ext cx="10634472" cy="298704"/>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122A4F"/>
                </a:solidFill>
                <a:latin typeface="Calibri"/>
              </a:rPr>
              <a:t>5. Lequel de ces outils relève de la dimension « communication » des TIC ?</a:t>
            </a:r>
          </a:p>
        </p:txBody>
      </p:sp>
      <p:sp>
        <p:nvSpPr>
          <p:cNvPr id="9" name="TextBox 8"/>
          <p:cNvSpPr txBox="1"/>
          <p:nvPr/>
        </p:nvSpPr>
        <p:spPr>
          <a:xfrm>
            <a:off x="868680" y="300532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A) Microsoft Word</a:t>
            </a:r>
          </a:p>
        </p:txBody>
      </p:sp>
      <p:sp>
        <p:nvSpPr>
          <p:cNvPr id="10" name="TextBox 9"/>
          <p:cNvSpPr txBox="1"/>
          <p:nvPr/>
        </p:nvSpPr>
        <p:spPr>
          <a:xfrm>
            <a:off x="868680" y="324154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B) Un disque dur externe</a:t>
            </a:r>
          </a:p>
        </p:txBody>
      </p:sp>
      <p:sp>
        <p:nvSpPr>
          <p:cNvPr id="11" name="TextBox 10"/>
          <p:cNvSpPr txBox="1"/>
          <p:nvPr/>
        </p:nvSpPr>
        <p:spPr>
          <a:xfrm>
            <a:off x="868680" y="347776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C) Un forum Moodle</a:t>
            </a:r>
          </a:p>
        </p:txBody>
      </p:sp>
      <p:sp>
        <p:nvSpPr>
          <p:cNvPr id="12" name="TextBox 11"/>
          <p:cNvSpPr txBox="1"/>
          <p:nvPr/>
        </p:nvSpPr>
        <p:spPr>
          <a:xfrm>
            <a:off x="868680" y="371398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D) Un navigateur Web</a:t>
            </a:r>
          </a:p>
        </p:txBody>
      </p:sp>
      <p:sp>
        <p:nvSpPr>
          <p:cNvPr id="13" name="Rectangle 12"/>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5" name="TextBox 14"/>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972800"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Corrigé de l'auto-évaluation (1/3)</a:t>
            </a:r>
          </a:p>
        </p:txBody>
      </p:sp>
      <p:sp>
        <p:nvSpPr>
          <p:cNvPr id="3" name="TextBox 2"/>
          <p:cNvSpPr txBox="1"/>
          <p:nvPr/>
        </p:nvSpPr>
        <p:spPr>
          <a:xfrm>
            <a:off x="777240" y="1371600"/>
            <a:ext cx="10634472" cy="298704"/>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122A4F"/>
                </a:solidFill>
                <a:latin typeface="Calibri"/>
              </a:rPr>
              <a:t>1. Que signifie l'acronyme TIC ?</a:t>
            </a:r>
          </a:p>
        </p:txBody>
      </p:sp>
      <p:sp>
        <p:nvSpPr>
          <p:cNvPr id="4" name="TextBox 3"/>
          <p:cNvSpPr txBox="1"/>
          <p:nvPr/>
        </p:nvSpPr>
        <p:spPr>
          <a:xfrm>
            <a:off x="960120" y="1670304"/>
            <a:ext cx="1036015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1B7A52"/>
                </a:solidFill>
                <a:latin typeface="Calibri"/>
              </a:rPr>
              <a:t>Réponse B — Technologies de l'Information et de la Communication (le terme exact)</a:t>
            </a:r>
          </a:p>
        </p:txBody>
      </p:sp>
      <p:sp>
        <p:nvSpPr>
          <p:cNvPr id="5" name="TextBox 4"/>
          <p:cNvSpPr txBox="1"/>
          <p:nvPr/>
        </p:nvSpPr>
        <p:spPr>
          <a:xfrm>
            <a:off x="868680" y="190652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A) Techniques d'Information et de Communication</a:t>
            </a:r>
          </a:p>
        </p:txBody>
      </p:sp>
      <p:sp>
        <p:nvSpPr>
          <p:cNvPr id="6" name="TextBox 5"/>
          <p:cNvSpPr txBox="1"/>
          <p:nvPr/>
        </p:nvSpPr>
        <p:spPr>
          <a:xfrm>
            <a:off x="868680" y="214274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B) Technologies de l'Information et de la Communication</a:t>
            </a:r>
          </a:p>
        </p:txBody>
      </p:sp>
      <p:sp>
        <p:nvSpPr>
          <p:cNvPr id="7" name="TextBox 6"/>
          <p:cNvSpPr txBox="1"/>
          <p:nvPr/>
        </p:nvSpPr>
        <p:spPr>
          <a:xfrm>
            <a:off x="868680" y="237896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C) Traitement Intégral des Connaissances</a:t>
            </a:r>
          </a:p>
        </p:txBody>
      </p:sp>
      <p:sp>
        <p:nvSpPr>
          <p:cNvPr id="8" name="TextBox 7"/>
          <p:cNvSpPr txBox="1"/>
          <p:nvPr/>
        </p:nvSpPr>
        <p:spPr>
          <a:xfrm>
            <a:off x="868680" y="261518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D) Transmission Informatique et Communication</a:t>
            </a:r>
          </a:p>
        </p:txBody>
      </p:sp>
      <p:sp>
        <p:nvSpPr>
          <p:cNvPr id="9" name="TextBox 8"/>
          <p:cNvSpPr txBox="1"/>
          <p:nvPr/>
        </p:nvSpPr>
        <p:spPr>
          <a:xfrm>
            <a:off x="777240" y="2942844"/>
            <a:ext cx="10634472" cy="298704"/>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122A4F"/>
                </a:solidFill>
                <a:latin typeface="Calibri"/>
              </a:rPr>
              <a:t>2. Parmi les propositions suivantes, laquelle n'est PAS une fonction des TIC ?</a:t>
            </a:r>
          </a:p>
        </p:txBody>
      </p:sp>
      <p:sp>
        <p:nvSpPr>
          <p:cNvPr id="10" name="TextBox 9"/>
          <p:cNvSpPr txBox="1"/>
          <p:nvPr/>
        </p:nvSpPr>
        <p:spPr>
          <a:xfrm>
            <a:off x="960120" y="3241548"/>
            <a:ext cx="10360152" cy="426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1B7A52"/>
                </a:solidFill>
                <a:latin typeface="Calibri"/>
              </a:rPr>
              <a:t>Réponse C — La traduction n'est pas une fonction fondamentale ; les trois sont traitement, transmission, sauvegarde</a:t>
            </a:r>
          </a:p>
        </p:txBody>
      </p:sp>
      <p:sp>
        <p:nvSpPr>
          <p:cNvPr id="11" name="TextBox 10"/>
          <p:cNvSpPr txBox="1"/>
          <p:nvPr/>
        </p:nvSpPr>
        <p:spPr>
          <a:xfrm>
            <a:off x="868680" y="366826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A) Traitement</a:t>
            </a:r>
          </a:p>
        </p:txBody>
      </p:sp>
      <p:sp>
        <p:nvSpPr>
          <p:cNvPr id="12" name="TextBox 11"/>
          <p:cNvSpPr txBox="1"/>
          <p:nvPr/>
        </p:nvSpPr>
        <p:spPr>
          <a:xfrm>
            <a:off x="868680" y="390448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B) Transmission</a:t>
            </a:r>
          </a:p>
        </p:txBody>
      </p:sp>
      <p:sp>
        <p:nvSpPr>
          <p:cNvPr id="13" name="TextBox 12"/>
          <p:cNvSpPr txBox="1"/>
          <p:nvPr/>
        </p:nvSpPr>
        <p:spPr>
          <a:xfrm>
            <a:off x="868680" y="414070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C) Traduction</a:t>
            </a:r>
          </a:p>
        </p:txBody>
      </p:sp>
      <p:sp>
        <p:nvSpPr>
          <p:cNvPr id="14" name="TextBox 13"/>
          <p:cNvSpPr txBox="1"/>
          <p:nvPr/>
        </p:nvSpPr>
        <p:spPr>
          <a:xfrm>
            <a:off x="868680" y="437692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D) Sauvegarde</a:t>
            </a:r>
          </a:p>
        </p:txBody>
      </p:sp>
      <p:sp>
        <p:nvSpPr>
          <p:cNvPr id="15" name="Rectangle 14"/>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7" name="TextBox 16"/>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972800"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Corrigé de l'auto-évaluation (2/3)</a:t>
            </a:r>
          </a:p>
        </p:txBody>
      </p:sp>
      <p:sp>
        <p:nvSpPr>
          <p:cNvPr id="3" name="TextBox 2"/>
          <p:cNvSpPr txBox="1"/>
          <p:nvPr/>
        </p:nvSpPr>
        <p:spPr>
          <a:xfrm>
            <a:off x="777240" y="1371600"/>
            <a:ext cx="10634472" cy="298704"/>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122A4F"/>
                </a:solidFill>
                <a:latin typeface="Calibri"/>
              </a:rPr>
              <a:t>3. Les trois dimensions fondamentales des TIC sont :</a:t>
            </a:r>
          </a:p>
        </p:txBody>
      </p:sp>
      <p:sp>
        <p:nvSpPr>
          <p:cNvPr id="4" name="TextBox 3"/>
          <p:cNvSpPr txBox="1"/>
          <p:nvPr/>
        </p:nvSpPr>
        <p:spPr>
          <a:xfrm>
            <a:off x="960120" y="1670304"/>
            <a:ext cx="1036015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1B7A52"/>
                </a:solidFill>
                <a:latin typeface="Calibri"/>
              </a:rPr>
              <a:t>Réponse A — Technique (les outils), Information (le contenu), Communication (l'échange)</a:t>
            </a:r>
          </a:p>
        </p:txBody>
      </p:sp>
      <p:sp>
        <p:nvSpPr>
          <p:cNvPr id="5" name="TextBox 4"/>
          <p:cNvSpPr txBox="1"/>
          <p:nvPr/>
        </p:nvSpPr>
        <p:spPr>
          <a:xfrm>
            <a:off x="868680" y="190652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A) Technique, Information, Communication</a:t>
            </a:r>
          </a:p>
        </p:txBody>
      </p:sp>
      <p:sp>
        <p:nvSpPr>
          <p:cNvPr id="6" name="TextBox 5"/>
          <p:cNvSpPr txBox="1"/>
          <p:nvPr/>
        </p:nvSpPr>
        <p:spPr>
          <a:xfrm>
            <a:off x="868680" y="214274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B) Matériel, Logiciel, Réseau</a:t>
            </a:r>
          </a:p>
        </p:txBody>
      </p:sp>
      <p:sp>
        <p:nvSpPr>
          <p:cNvPr id="7" name="TextBox 6"/>
          <p:cNvSpPr txBox="1"/>
          <p:nvPr/>
        </p:nvSpPr>
        <p:spPr>
          <a:xfrm>
            <a:off x="868680" y="237896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C) Traitement, Stockage, Affichage</a:t>
            </a:r>
          </a:p>
        </p:txBody>
      </p:sp>
      <p:sp>
        <p:nvSpPr>
          <p:cNvPr id="8" name="TextBox 7"/>
          <p:cNvSpPr txBox="1"/>
          <p:nvPr/>
        </p:nvSpPr>
        <p:spPr>
          <a:xfrm>
            <a:off x="868680" y="261518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D) Internet, Web, Courriel</a:t>
            </a:r>
          </a:p>
        </p:txBody>
      </p:sp>
      <p:sp>
        <p:nvSpPr>
          <p:cNvPr id="9" name="TextBox 8"/>
          <p:cNvSpPr txBox="1"/>
          <p:nvPr/>
        </p:nvSpPr>
        <p:spPr>
          <a:xfrm>
            <a:off x="777240" y="2942844"/>
            <a:ext cx="10634472" cy="298704"/>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122A4F"/>
                </a:solidFill>
                <a:latin typeface="Calibri"/>
              </a:rPr>
              <a:t>4. Quelle différence y a-t-il entre NTIC et TIC ?</a:t>
            </a:r>
          </a:p>
        </p:txBody>
      </p:sp>
      <p:sp>
        <p:nvSpPr>
          <p:cNvPr id="10" name="TextBox 9"/>
          <p:cNvSpPr txBox="1"/>
          <p:nvPr/>
        </p:nvSpPr>
        <p:spPr>
          <a:xfrm>
            <a:off x="960120" y="3241548"/>
            <a:ext cx="10360152" cy="426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1B7A52"/>
                </a:solidFill>
                <a:latin typeface="Calibri"/>
              </a:rPr>
              <a:t>Réponse A — NTIC = Nouveautés des années 1990 (accent sur la nouveauté), TIC = terme général depuis ~2005</a:t>
            </a:r>
          </a:p>
        </p:txBody>
      </p:sp>
      <p:sp>
        <p:nvSpPr>
          <p:cNvPr id="11" name="TextBox 10"/>
          <p:cNvSpPr txBox="1"/>
          <p:nvPr/>
        </p:nvSpPr>
        <p:spPr>
          <a:xfrm>
            <a:off x="868680" y="366826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A) NTIC désigne les technologies des années 1990-2000, TIC le terme actuel</a:t>
            </a:r>
          </a:p>
        </p:txBody>
      </p:sp>
      <p:sp>
        <p:nvSpPr>
          <p:cNvPr id="12" name="TextBox 11"/>
          <p:cNvSpPr txBox="1"/>
          <p:nvPr/>
        </p:nvSpPr>
        <p:spPr>
          <a:xfrm>
            <a:off x="868680" y="390448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B) NTIC est plus moderne que TIC</a:t>
            </a:r>
          </a:p>
        </p:txBody>
      </p:sp>
      <p:sp>
        <p:nvSpPr>
          <p:cNvPr id="13" name="TextBox 12"/>
          <p:cNvSpPr txBox="1"/>
          <p:nvPr/>
        </p:nvSpPr>
        <p:spPr>
          <a:xfrm>
            <a:off x="868680" y="414070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C) Il n'y a aucune différence</a:t>
            </a:r>
          </a:p>
        </p:txBody>
      </p:sp>
      <p:sp>
        <p:nvSpPr>
          <p:cNvPr id="14" name="TextBox 13"/>
          <p:cNvSpPr txBox="1"/>
          <p:nvPr/>
        </p:nvSpPr>
        <p:spPr>
          <a:xfrm>
            <a:off x="868680" y="4376928"/>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D) NTIC inclut l'intelligence artificielle</a:t>
            </a:r>
          </a:p>
        </p:txBody>
      </p:sp>
      <p:sp>
        <p:nvSpPr>
          <p:cNvPr id="15" name="Rectangle 14"/>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7" name="TextBox 16"/>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972800"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Corrigé de l'auto-évaluation (3/3)</a:t>
            </a:r>
          </a:p>
        </p:txBody>
      </p:sp>
      <p:sp>
        <p:nvSpPr>
          <p:cNvPr id="3" name="TextBox 2"/>
          <p:cNvSpPr txBox="1"/>
          <p:nvPr/>
        </p:nvSpPr>
        <p:spPr>
          <a:xfrm>
            <a:off x="777240" y="1371600"/>
            <a:ext cx="10634472" cy="298704"/>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122A4F"/>
                </a:solidFill>
                <a:latin typeface="Calibri"/>
              </a:rPr>
              <a:t>5. Lequel de ces outils relève de la dimension « communication » des TIC ?</a:t>
            </a:r>
          </a:p>
        </p:txBody>
      </p:sp>
      <p:sp>
        <p:nvSpPr>
          <p:cNvPr id="4" name="TextBox 3"/>
          <p:cNvSpPr txBox="1"/>
          <p:nvPr/>
        </p:nvSpPr>
        <p:spPr>
          <a:xfrm>
            <a:off x="960120" y="1670304"/>
            <a:ext cx="1036015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1B7A52"/>
                </a:solidFill>
                <a:latin typeface="Calibri"/>
              </a:rPr>
              <a:t>Réponse C — Le forum permet l'échange entre personnes, c'est la dimension communication</a:t>
            </a:r>
          </a:p>
        </p:txBody>
      </p:sp>
      <p:sp>
        <p:nvSpPr>
          <p:cNvPr id="5" name="TextBox 4"/>
          <p:cNvSpPr txBox="1"/>
          <p:nvPr/>
        </p:nvSpPr>
        <p:spPr>
          <a:xfrm>
            <a:off x="868680" y="190652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A) Microsoft Word</a:t>
            </a:r>
          </a:p>
        </p:txBody>
      </p:sp>
      <p:sp>
        <p:nvSpPr>
          <p:cNvPr id="6" name="TextBox 5"/>
          <p:cNvSpPr txBox="1"/>
          <p:nvPr/>
        </p:nvSpPr>
        <p:spPr>
          <a:xfrm>
            <a:off x="868680" y="214274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B) Un disque dur externe</a:t>
            </a:r>
          </a:p>
        </p:txBody>
      </p:sp>
      <p:sp>
        <p:nvSpPr>
          <p:cNvPr id="7" name="TextBox 6"/>
          <p:cNvSpPr txBox="1"/>
          <p:nvPr/>
        </p:nvSpPr>
        <p:spPr>
          <a:xfrm>
            <a:off x="868680" y="237896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C) Un forum Moodle</a:t>
            </a:r>
          </a:p>
        </p:txBody>
      </p:sp>
      <p:sp>
        <p:nvSpPr>
          <p:cNvPr id="8" name="TextBox 7"/>
          <p:cNvSpPr txBox="1"/>
          <p:nvPr/>
        </p:nvSpPr>
        <p:spPr>
          <a:xfrm>
            <a:off x="868680" y="2615184"/>
            <a:ext cx="10634472" cy="2362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5B6879"/>
                </a:solidFill>
                <a:latin typeface="Calibri"/>
              </a:rPr>
              <a:t>      D) Un navigateur Web</a:t>
            </a:r>
          </a:p>
        </p:txBody>
      </p:sp>
      <p:sp>
        <p:nvSpPr>
          <p:cNvPr id="9" name="Rectangle 8"/>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TIC 01 — Introduction aux TIC  |  Dr. Madani BELACEL — Université de Mostaganem</a:t>
            </a:r>
          </a:p>
        </p:txBody>
      </p:sp>
      <p:sp>
        <p:nvSpPr>
          <p:cNvPr id="11" name="TextBox 10"/>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