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051560"/>
            <a:ext cx="7040880" cy="27432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7040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val="F0B429"/&gt;</a:solidFill>
                <a:latin typeface="Poppins"/>
              </a:rPr>
              <a:t>COURS TIC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7589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val="FFFFFF"/&gt;</a:solidFill>
                <a:latin typeface="Poppins"/>
              </a:rPr>
              <a:t>Réseaux Informatiques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3703320"/>
            <a:ext cx="2377440" cy="2286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977639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0">
                <a:solidFill>val="9AA7B6"/&gt;</a:solidFill>
                <a:latin typeface="Poppins"/>
              </a:rPr>
              <a:t>Dr. BELACEL Madani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26280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1">
                <a:solidFill>val="9AA7B6"/&gt;</a:solidFill>
                <a:latin typeface="Poppins"/>
              </a:rPr>
              <a:t>Année universitaire 2026-2027 / Academic Year 2026-2027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806440"/>
            <a:ext cx="7040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1">
                <a:solidFill>val="9AA7B6"/&gt;</a:solidFill>
                <a:latin typeface="Poppins"/>
              </a:rPr>
              <a:t>Université de Mostaganem - Département Mathématiques et Informatique</a:t>
            </a:r>
          </a:p>
        </p:txBody>
      </p:sp>
      <p:pic>
        <p:nvPicPr>
          <p:cNvPr id="13" name="Picture 12" descr="Université_de_Mostagan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00000"/>
            <a:ext cx="1400000" cy="14000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i="0">
                <a:solidFill>val="F0B429"/&gt;</a:solidFill>
                <a:latin typeface="Poppins"/>
              </a:rPr>
              <a:t>Plan du cours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1. Qu'est-ce qu'un réseau ?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2. Types de réseaux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3. Topologies de réseaux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4. Le modèle OSI et TCP/IP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5. Adressage IP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6. Outils et diagnostic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7. Sécurité des réseaux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Qu'est-ce qu'un réseau ?</a:t>
            </a:r>
          </a:p>
        </p:txBody>
      </p:sp>
      <p:pic>
        <p:nvPicPr>
          <p:cNvPr id="9" name="Picture 8" descr="c09_01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1 - Qu'est-ce qu'un réseau ?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Ensemble d'équipements interconnectés échangeant des données.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Objectifs : partage de ressources, fichiers, imprimantes, Internet.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Communication : supports filaires (cuivre, fibre) ou sans fil.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Équipements : cartes réseau, switchs, routeurs, points d'accès.</a:t>
            </a:r>
          </a:p>
        </p:txBody>
      </p:sp>
      <p:pic>
        <p:nvPicPr>
          <p:cNvPr id="9" name="Picture 8" descr="c09_02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Types de réseaux</a:t>
            </a:r>
          </a:p>
        </p:txBody>
      </p:sp>
      <p:pic>
        <p:nvPicPr>
          <p:cNvPr id="9" name="Picture 8" descr="c09_03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2 - Types de réseaux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PAN : réseau personnel (Bluetooth), quelques mètres.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LAN : réseau local (domicile, laboratoire, entreprise).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MAN : réseau métropolitain (ville).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WAN : réseau étendu (Internet relie des millions de LAN).</a:t>
            </a:r>
          </a:p>
        </p:txBody>
      </p:sp>
      <p:pic>
        <p:nvPicPr>
          <p:cNvPr id="9" name="Picture 8" descr="c09_04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Topologies de réseaux</a:t>
            </a:r>
          </a:p>
        </p:txBody>
      </p:sp>
      <p:pic>
        <p:nvPicPr>
          <p:cNvPr id="9" name="Picture 8" descr="c09_05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3 - Topologies de réseaux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Bus : un seul câble partagé (ancien).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Étoile : tout passe par un switch central (standard actuel).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Anneau : transmission en boucle (Token Ring).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Maillé : redondance maximale pour la fiabilité.</a:t>
            </a:r>
          </a:p>
        </p:txBody>
      </p:sp>
      <p:pic>
        <p:nvPicPr>
          <p:cNvPr id="9" name="Picture 8" descr="c09_06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Le modèle OSI et TCP/IP</a:t>
            </a:r>
          </a:p>
        </p:txBody>
      </p:sp>
      <p:pic>
        <p:nvPicPr>
          <p:cNvPr id="9" name="Picture 8" descr="c09_07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4 - Le modèle OSI et TCP/IP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OSI : 7 couches, du câble physique à l'application.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TCP/IP : 4 couches, modèle réel d'Internet.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Couche physique, liaison, réseau (IP), transport (TCP/UDP).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Chaque couche apporte un service à la couche supérieure.</a:t>
            </a:r>
          </a:p>
        </p:txBody>
      </p:sp>
      <p:pic>
        <p:nvPicPr>
          <p:cNvPr id="9" name="Picture 8" descr="c09_08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Adressage IP</a:t>
            </a:r>
          </a:p>
        </p:txBody>
      </p:sp>
      <p:pic>
        <p:nvPicPr>
          <p:cNvPr id="9" name="Picture 8" descr="c09_09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5 - Adressage IP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IPv4 : adresse sur 32 bits (ex : 192.168.1.10).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Classes et masque de sous-réseau (/24, /16...).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Adresses privées vs publiques ; NAT pour sortir sur Internet.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IPv6 : 128 bits, espace quasi illimité.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DHCP : attribution automatique des adresses.</a:t>
            </a:r>
          </a:p>
        </p:txBody>
      </p:sp>
      <p:pic>
        <p:nvPicPr>
          <p:cNvPr id="9" name="Picture 8" descr="c09_10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Outils et diagnostic</a:t>
            </a:r>
          </a:p>
        </p:txBody>
      </p:sp>
      <p:pic>
        <p:nvPicPr>
          <p:cNvPr id="9" name="Picture 8" descr="c09_11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6 - Outils et diagnostic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ping : tester l'accessibilité d'une machine.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ipconfig / ifconfig : afficher sa configuration IP.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tracert : suivre le chemin jusqu'à une destination.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nslookup : interroger le DNS.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Câble testeur et voyants des équipements.</a:t>
            </a:r>
          </a:p>
        </p:txBody>
      </p:sp>
      <p:pic>
        <p:nvPicPr>
          <p:cNvPr id="9" name="Picture 8" descr="c09_12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Sécurité des réseaux</a:t>
            </a:r>
          </a:p>
        </p:txBody>
      </p:sp>
      <p:pic>
        <p:nvPicPr>
          <p:cNvPr id="9" name="Picture 8" descr="c09_01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7 - Sécurité des réseaux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Pare-feu : filtrer les flux entrants et sortants.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Wi-Fi sécurisé : WPA2/WPA3 avec mot de passe fort.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VPN : tunnel chiffré pour l'accès distant.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Surveillance : journaux, détection d'intrusion.</a:t>
            </a:r>
          </a:p>
        </p:txBody>
      </p:sp>
      <p:pic>
        <p:nvPicPr>
          <p:cNvPr id="9" name="Picture 8" descr="c09_02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val="F0B429"/&gt;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val="004A38"/&gt;</a:solidFill>
                <a:latin typeface="Poppins"/>
              </a:rPr>
              <a:t>Intérêt pratique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Installer et configurer un petit réseau local (domicile, labo).</a:t>
            </a:r>
          </a:p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Partager imprimantes et fichiers entre collègues.</a:t>
            </a:r>
          </a:p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Diagnostiquer une panne réseau avec ping et ipconfig.</a:t>
            </a:r>
          </a:p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Comprendre la base nécessaire aux certifications réseau (CCNA...).</a:t>
            </a:r>
          </a:p>
        </p:txBody>
      </p:sp>
      <p:pic>
        <p:nvPicPr>
          <p:cNvPr id="8" name="Picture 7" descr="c09_03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7223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val="F0B429"/&gt;</a:solidFill>
                <a:latin typeface="Poppins"/>
              </a:rPr>
              <a:t>Auto-évaluation (QCM)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188720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7223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val="FFFFFF"/&gt;</a:solidFill>
                <a:latin typeface="Poppins"/>
              </a:rPr>
              <a:t>1. Un LAN désigne :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a) Un réseau local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b) Un réseau mondial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c) Un type de câble</a:t>
            </a:r>
          </a:p>
          <a:p>
            <a:pPr>
              <a:spcAft>
                <a:spcPts val="200"/>
              </a:spcAft>
            </a:pPr>
            <a:r>
              <a:rPr sz="1500" b="1">
                <a:solidFill>val="FFFFFF"/&gt;</a:solidFill>
                <a:latin typeface="Poppins"/>
              </a:rPr>
              <a:t>2. Combien de couches compte le modèle OSI ?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a) 4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b) 5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c) 7</a:t>
            </a:r>
          </a:p>
          <a:p>
            <a:pPr>
              <a:spcAft>
                <a:spcPts val="200"/>
              </a:spcAft>
            </a:pPr>
            <a:r>
              <a:rPr sz="1500" b="1">
                <a:solidFill>val="FFFFFF"/&gt;</a:solidFill>
                <a:latin typeface="Poppins"/>
              </a:rPr>
              <a:t>3. Quelle commande teste la connexion vers une machine ?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a) ping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b) dir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c) copy</a:t>
            </a:r>
          </a:p>
        </p:txBody>
      </p:sp>
      <p:pic>
        <p:nvPicPr>
          <p:cNvPr id="9" name="Picture 8" descr="c09_04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val="F0B429"/&gt;</a:solidFill>
                <a:latin typeface="Poppins"/>
              </a:rPr>
              <a:t>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154680" y="1371600"/>
            <a:ext cx="237744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Les réseaux permettent le partage universel des ressources.</a:t>
            </a:r>
          </a:p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Topologie, adressage et protocoles en sont les fondements.</a:t>
            </a:r>
          </a:p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La sécurité réseau doit être pensée dès la conception.</a:t>
            </a:r>
          </a:p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Prochain cours : les services Internet.</a:t>
            </a:r>
          </a:p>
        </p:txBody>
      </p:sp>
      <p:pic>
        <p:nvPicPr>
          <p:cNvPr id="9" name="Picture 8" descr="c09_05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val="F0B429"/&gt;</a:solidFill>
                <a:latin typeface="Poppins"/>
              </a:rPr>
              <a:t>Références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7223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A. Tanenbaum, « Réseaux », Pearson Education.</a:t>
            </a:r>
          </a:p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J.-F. Pillou, « Réseaux TCP/IP », Dunod.</a:t>
            </a:r>
          </a:p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Supports de cours Module TIC, Université de Mostaganem.</a:t>
            </a:r>
          </a:p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www.cisco.com - ressources CCNA.</a:t>
            </a:r>
          </a:p>
        </p:txBody>
      </p:sp>
      <p:pic>
        <p:nvPicPr>
          <p:cNvPr id="9" name="Picture 8" descr="c09_06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63040"/>
            <a:ext cx="7040880" cy="27432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70408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800" b="1" i="0">
                <a:solidFill>val="F0B429"/&gt;</a:solidFill>
                <a:latin typeface="Poppins"/>
              </a:rPr>
              <a:t>Merci de votre attention 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66160"/>
            <a:ext cx="7040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0" i="0">
                <a:solidFill>val="FFFFFF"/&gt;</a:solidFill>
                <a:latin typeface="Poppins"/>
              </a:rPr>
              <a:t>Des questions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20640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val="9AA7B6"/&gt;</a:solidFill>
                <a:latin typeface="Poppins"/>
              </a:rPr>
              <a:t>Dr. BELACEL Madani</a:t>
            </a:r>
          </a:p>
        </p:txBody>
      </p:sp>
      <p:pic>
        <p:nvPicPr>
          <p:cNvPr id="10" name="Picture 9" descr="c09_07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