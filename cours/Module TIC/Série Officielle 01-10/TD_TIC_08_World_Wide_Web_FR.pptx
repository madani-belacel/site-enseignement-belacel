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1097280"/>
            <a:ext cx="2743200" cy="548640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10972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val="FFFFFF"/&gt;</a:solidFill>
              </a:defRPr>
            </a:pPr>
            <a:r>
              <a:t>COURS TIC 08 - 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08 — World Wide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val="EEF1F4"/&gt;</a:solidFill>
              </a:defRPr>
            </a:pPr>
            <a:r>
              <a:t>Module TIC · Licence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val="93B39E"/&gt;</a:solidFill>
              </a:defRPr>
            </a:pPr>
            <a:r>
              <a:t>Dr. BELACEL Madani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niversité_de_Mostagan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00000"/>
            <a:ext cx="1400000" cy="14000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402336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val="007A55"/&gt;</a:solidFill>
              </a:defRPr>
            </a:pPr>
            <a:r>
              <a:t>Plan du cours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27432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1.  Exercice 1 — Analyse d'une URL</a:t>
            </a:r>
          </a:p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2.  Exercice 2 — Navigateurs</a:t>
            </a:r>
          </a:p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3.  Exercice 3 — HTTP vs HTTPS</a:t>
            </a:r>
          </a:p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4.  Exercice 4 — Recherche académique</a:t>
            </a:r>
          </a:p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5.  Exercice 5 — Évaluation de source Web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1 — Analyse d'une URL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:Décomposer l'URLhttps://www.univ-exemple.dz/cours/tic/chap2.html(protocole, domaine, chemin).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détaillé :-https://— protocole sécurisé HTTP.</a:t>
            </a:r>
            <a:br/>
            <a:r>
              <a:t>-www.univ-exemple.dz— nom de domaine (serveur).</a:t>
            </a:r>
            <a:br/>
            <a:r>
              <a:t>-/cours/tic/chap2.html— chemin vers la ressource (page HTML).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8_0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2 — Navigateurs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:Comparer deux navigateurs (Chrome et Firefox) : un avantage et un usage pédagogique pour chacun.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détaillé :- Chrome : extensions nombreuses ; synchronisation compte Google.</a:t>
            </a:r>
            <a:br/>
            <a:r>
              <a:t>- Firefox : vie privée renforcée ; développement open source.</a:t>
            </a:r>
            <a:br/>
            <a:r>
              <a:t>- Usage : recherche documentaire, accès Moodle, lecture PDF en ligne.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8_0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3 — HTTP vs HTTPS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:Pourquoi privilégier HTTPS pour se connecter à la plateforme universitaire ?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détaillé :- Chiffrement des données échangées (identifiants, notes).</a:t>
            </a:r>
            <a:br/>
            <a:r>
              <a:t>- Authentification du serveur (certificat SSL/TLS).</a:t>
            </a:r>
            <a:br/>
            <a:r>
              <a:t>- Protection contre l'écoute sur réseau public (Wi-Fi).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8_03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4 — Recherche académique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:Formuler une requête avancée pour trouver des articles sur « TIC et enseignement des langues » (guillemets, opérateurs).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détaillé :-"TIC" AND "enseignement des langues"(Google académique ou moteur institutionnel).</a:t>
            </a:r>
            <a:br/>
            <a:r>
              <a:t>- Filtrer par date (5 dernières années).</a:t>
            </a:r>
            <a:br/>
            <a:r>
              <a:t>- Privilégier domaines.edu, bases bibliographiques universitaires.</a:t>
            </a:r>
            <a:br/>
            <a:r>
              <a:t>- Noter auteur, titre, URL, date de consultation pour citation.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8_04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5 — Évaluation de source Web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:Évaluer la fiabilité d'un blog anonyme vs une page.edu: 4 critères.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détaillé :1.Auteuridentifié et qualifié ?</a:t>
            </a:r>
            <a:br/>
            <a:r>
              <a:t>2.Datede publication récente ?</a:t>
            </a:r>
            <a:br/>
            <a:r>
              <a:t>3.Objectivitéet références bibliographiques ?</a:t>
            </a:r>
            <a:br/>
            <a:r>
              <a:t>4.Domaineinstitutionnel ou commercial ?</a:t>
            </a:r>
            <a:br/>
            <a:r>
              <a:t>→ Le blog anonyme est à écarter pour un devoir universitaire sans recoupement.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Savoir naviguer efficacement vous permet de trouver des sources fiables pour vos recherches.</a:t>
            </a:r>
          </a:p>
        </p:txBody>
      </p:sp>
      <p:pic>
        <p:nvPicPr>
          <p:cNvPr id="9" name="Picture 8" descr="c08_05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8_06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8_07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8_08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8_09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8_10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8_1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Synthèse : Intérêt pratique global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1 — Analyse d'une URL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2 — Navigateurs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3 — HTTP vs HTTPS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4 — Recherche académique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5 — Évaluation de source Web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Ensemble, ces compétences numériques vous permettent de travailler efficacement, communiquer professionnellement et résoudre les problèmes courants de la vie universitaire.</a:t>
            </a:r>
          </a:p>
        </p:txBody>
      </p:sp>
      <p:pic>
        <p:nvPicPr>
          <p:cNvPr id="9" name="Picture 8" descr="c08_1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1 — Analyse d'une URL</a:t>
            </a:r>
          </a:p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2 — Navigateurs</a:t>
            </a:r>
          </a:p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3 — HTTP vs HTTPS</a:t>
            </a:r>
          </a:p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4 — Recherche académique</a:t>
            </a:r>
          </a:p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5 — Évaluation de source Web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0"/>
            <a:ext cx="768096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val="93B39E"/&gt;</a:solidFill>
              </a:defRPr>
            </a:pPr>
            <a:r>
              <a:t>Dr. BELACEL Madani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08_0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402336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val="69788B"/&gt;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val="69788B"/&gt;</a:solidFill>
              </a:defRPr>
            </a:pPr>
            <a:r>
              <a:t>Références et ressources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val="69788B"/&gt;</a:solidFill>
              </a:defRPr>
            </a:pPr>
            <a:r>
              <a:t>•  Programme national TIC - Ministère</a:t>
            </a:r>
          </a:p>
          <a:p>
            <a:pPr>
              <a:spcAft>
                <a:spcPts val="600"/>
              </a:spcAft>
              <a:defRPr sz="1400">
                <a:solidFill>val="69788B"/&gt;</a:solidFill>
              </a:defRPr>
            </a:pPr>
            <a:r>
              <a:t>•  UIT - Définitions TIC</a:t>
            </a:r>
          </a:p>
          <a:p>
            <a:pPr>
              <a:spcAft>
                <a:spcPts val="600"/>
              </a:spcAft>
              <a:defRPr sz="1400">
                <a:solidFill>val="69788B"/&gt;</a:solidFill>
              </a:defRPr>
            </a:pPr>
            <a:r>
              <a:t>•  UNESCO - Compétences numériques</a:t>
            </a:r>
          </a:p>
          <a:p>
            <a:pPr>
              <a:spcAft>
                <a:spcPts val="600"/>
              </a:spcAft>
              <a:defRPr sz="1400">
                <a:solidFill>val="69788B"/&gt;</a:solidFill>
              </a:defRPr>
            </a:pPr>
            <a:r>
              <a:t>•  Guide Moodle Univ-Mosta</a:t>
            </a:r>
          </a:p>
        </p:txBody>
      </p:sp>
      <p:pic>
        <p:nvPicPr>
          <p:cNvPr id="5" name="Picture 4" descr="c08_0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