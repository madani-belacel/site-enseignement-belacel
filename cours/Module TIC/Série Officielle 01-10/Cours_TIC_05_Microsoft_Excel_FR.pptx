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val="F0B429"/&gt;</a:solidFill>
                <a:latin typeface="Poppins"/>
              </a:rPr>
              <a:t>COURS TIC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589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val="FFFFFF"/&gt;</a:solidFill>
                <a:latin typeface="Poppins"/>
              </a:rPr>
              <a:t>Tableur : Microsoft Excel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3703320"/>
            <a:ext cx="2377440" cy="2286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val="9AA7B6"/&gt;</a:solidFill>
                <a:latin typeface="Poppins"/>
              </a:rPr>
              <a:t>Dr. BELACEL Madani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val="9AA7B6"/&gt;</a:solidFill>
                <a:latin typeface="Poppins"/>
              </a:rPr>
              <a:t>Année universitaire 2026-2027 / Academic Year 2026-2027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val="9AA7B6"/&gt;</a:solidFill>
                <a:latin typeface="Poppins"/>
              </a:rPr>
              <a:t>Université de Mostaganem - Département Mathématiques et Informatique</a:t>
            </a:r>
          </a:p>
        </p:txBody>
      </p:sp>
      <p:pic>
        <p:nvPicPr>
          <p:cNvPr id="13" name="Picture 12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val="F0B429"/&gt;</a:solidFill>
                <a:latin typeface="Poppins"/>
              </a:rPr>
              <a:t>Plan du cours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1. Qu'est-ce qu'un tableur ?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2. Classeur, feuilles et cellules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3. Formules et fonctions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4. Mise en forme et tableaux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5. Graphiques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6. Analyse des données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7. Impression et bonnes pratiques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Qu'est-ce qu'un tableur ?</a:t>
            </a:r>
          </a:p>
        </p:txBody>
      </p:sp>
      <p:pic>
        <p:nvPicPr>
          <p:cNvPr id="9" name="Picture 8" descr="c05_01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1 - Qu'est-ce qu'un tableur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Logiciel de calcul automatique sur des feuilles de calcul.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Grille de cellules organisées en lignes et colonnes.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Recalcul automatique quand les données changent.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Usages : budgets, notes, statistiques, factures.</a:t>
            </a:r>
          </a:p>
        </p:txBody>
      </p:sp>
      <p:pic>
        <p:nvPicPr>
          <p:cNvPr id="9" name="Picture 8" descr="c05_02_formu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Classeur, feuilles et cellules</a:t>
            </a:r>
          </a:p>
        </p:txBody>
      </p:sp>
      <p:pic>
        <p:nvPicPr>
          <p:cNvPr id="9" name="Picture 8" descr="c05_03_refer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2 - Classeur, feuilles et cellules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Classeur = fichier Excel contenant plusieurs feuilles.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Cellule : intersection ligne/colonne (ex : B4).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Plage : ensemble continu de cellules (ex : A1:C10).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Types de contenu : nombres, textes, dates, formules.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Références relatives ($A$1) et absolues (A1).</a:t>
            </a:r>
          </a:p>
        </p:txBody>
      </p:sp>
      <p:pic>
        <p:nvPicPr>
          <p:cNvPr id="9" name="Picture 8" descr="c05_04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Formules et fonctions</a:t>
            </a:r>
          </a:p>
        </p:txBody>
      </p:sp>
      <p:pic>
        <p:nvPicPr>
          <p:cNvPr id="9" name="Picture 8" descr="c05_05_piv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3 - Formules et fonctions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Toute formule commence par le signe =.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Opérateurs : + - * / % ^ ; priorités de calcul.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Fonctions usuelles : SOMME, MOYENNE, MAX, MIN, NB.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Fonctions conditionnelles : SI, NB.SI, SOMME.SI.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Assistant fx : recherche des fonctions.</a:t>
            </a:r>
          </a:p>
        </p:txBody>
      </p:sp>
      <p:pic>
        <p:nvPicPr>
          <p:cNvPr id="9" name="Picture 8" descr="c05_06_condi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Mise en forme et tableaux</a:t>
            </a:r>
          </a:p>
        </p:txBody>
      </p:sp>
      <p:pic>
        <p:nvPicPr>
          <p:cNvPr id="9" name="Picture 8" descr="c05_07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4 - Mise en forme et tableaux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Formats de nombres : monétaire, pourcentage, décimales.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Couleurs, bordures, fusion de cellules.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Mise en forme conditionnelle : seuils colorés.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Tableaux structurés et tri/filtre des données.</a:t>
            </a:r>
          </a:p>
        </p:txBody>
      </p:sp>
      <p:pic>
        <p:nvPicPr>
          <p:cNvPr id="9" name="Picture 8" descr="c05_08_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Graphiques</a:t>
            </a:r>
          </a:p>
        </p:txBody>
      </p:sp>
      <p:pic>
        <p:nvPicPr>
          <p:cNvPr id="9" name="Picture 8" descr="c05_09_spread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5 - Graphiques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Visualiser les données : histogrammes, courbes, secteurs.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Création : sélectionner les données &gt; Insertion &gt; Graphique.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Éléments : titre, axes, légende, étiquettes.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Modifier type, couleurs et source de données.</a:t>
            </a:r>
          </a:p>
        </p:txBody>
      </p:sp>
      <p:pic>
        <p:nvPicPr>
          <p:cNvPr id="9" name="Picture 8" descr="c05_10_v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Analyse des données</a:t>
            </a:r>
          </a:p>
        </p:txBody>
      </p:sp>
      <p:pic>
        <p:nvPicPr>
          <p:cNvPr id="9" name="Picture 8" descr="c05_11_iflo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6 - Analyse des données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Tri croissant/décroissant selon une ou plusieurs colonnes.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Filtres automatiques pour extraire des sous-ensembles.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Tableaux croisés dynamiques : synthèses rapides.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Valeur cible et tables d'hypothèses.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Validation des données : listes déroulantes, contraintes.</a:t>
            </a:r>
          </a:p>
        </p:txBody>
      </p:sp>
      <p:pic>
        <p:nvPicPr>
          <p:cNvPr id="9" name="Picture 8" descr="c05_1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Impression et bonnes pratiques</a:t>
            </a:r>
          </a:p>
        </p:txBody>
      </p:sp>
      <p:pic>
        <p:nvPicPr>
          <p:cNvPr id="9" name="Picture 8" descr="c05_01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7 - Impression et bonnes pratiques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Zone d'impression, mise en page, ajuster à une page.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Figer les volets et masquer lignes/colonnes inutiles.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Nommer les feuilles et utiliser des commentaires.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Protéger les cellules par mot de passe.</a:t>
            </a:r>
          </a:p>
        </p:txBody>
      </p:sp>
      <p:pic>
        <p:nvPicPr>
          <p:cNvPr id="9" name="Picture 8" descr="c05_02_formu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val="F0B429"/&gt;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val="004A38"/&gt;</a:solidFill>
                <a:latin typeface="Poppins"/>
              </a:rPr>
              <a:t>Intérêt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Calculer automatiquement les moyennes et classements des étudiants.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Gérer un budget ou un inventaire sans erreurs manuelles.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Produire des graphiques pour présenter des résultats.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Analyser de grands volumes de données avec TCD et filtres.</a:t>
            </a:r>
          </a:p>
        </p:txBody>
      </p:sp>
      <p:pic>
        <p:nvPicPr>
          <p:cNvPr id="8" name="Picture 7" descr="c05_03_refer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223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val="F0B429"/&gt;</a:solidFill>
                <a:latin typeface="Poppins"/>
              </a:rPr>
              <a:t>Auto-évaluation (QCM)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1. Une formule commence toujours par 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Le signe =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Le signe +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La lettre F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2. La fonction MOYENNE(A1:A10) calcule 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La somme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La moyenne des cellules A1 à A10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Le maximum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3. $A$1 est une référence 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Relative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Absolue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Mixte</a:t>
            </a:r>
          </a:p>
        </p:txBody>
      </p:sp>
      <p:pic>
        <p:nvPicPr>
          <p:cNvPr id="9" name="Picture 8" descr="c05_04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val="F0B429"/&gt;</a:solidFill>
                <a:latin typeface="Poppin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371600"/>
            <a:ext cx="237744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Excel automatise les calculs et la visualisation des données.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Formules, fonctions et graphiques sont les outils clés.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Les TCD permettent des analyses professionnelles.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Prochain cours : PowerPoint, présentations.</a:t>
            </a:r>
          </a:p>
        </p:txBody>
      </p:sp>
      <p:pic>
        <p:nvPicPr>
          <p:cNvPr id="9" name="Picture 8" descr="c05_05_piv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val="F0B429"/&gt;</a:solidFill>
                <a:latin typeface="Poppins"/>
              </a:rPr>
              <a:t>Références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223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Microsoft Support - Guide Excel.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J. Walkenbach, « Excel 2019 Bible », Wiley.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Supports de cours Module TIC, Université de Mostaganem.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www.excel-pratique.com</a:t>
            </a:r>
          </a:p>
        </p:txBody>
      </p:sp>
      <p:pic>
        <p:nvPicPr>
          <p:cNvPr id="9" name="Picture 8" descr="c05_06_condi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040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val="F0B429"/&gt;</a:solidFill>
                <a:latin typeface="Poppins"/>
              </a:rPr>
              <a:t>Merci de votre attention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val="FFFFFF"/&gt;</a:solidFill>
                <a:latin typeface="Poppins"/>
              </a:rPr>
              <a:t>Des questions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val="9AA7B6"/&gt;</a:solidFill>
                <a:latin typeface="Poppins"/>
              </a:rPr>
              <a:t>Dr. BELACEL Madani</a:t>
            </a:r>
          </a:p>
        </p:txBody>
      </p:sp>
      <p:pic>
        <p:nvPicPr>
          <p:cNvPr id="10" name="Picture 9" descr="c05_07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