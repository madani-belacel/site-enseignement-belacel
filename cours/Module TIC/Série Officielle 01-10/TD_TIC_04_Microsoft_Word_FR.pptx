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3D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0" y="1097280"/>
            <a:ext cx="2743200" cy="548640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0" y="10972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COURS TIC 04 - TD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7680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04 — Microsoft Word : Bureautique Académique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D4EDDA"/>
                </a:solidFill>
              </a:defRPr>
            </a:pPr>
            <a:r>
              <a:t>Module TIC · Licence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4632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BC39A"/>
                </a:solidFill>
              </a:defRPr>
            </a:pPr>
            <a:r>
              <a:t>Dr. BELACEL Madani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9144000" cy="54864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Université_de_Mostagan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00000"/>
            <a:ext cx="1400000" cy="14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6B3C"/>
                </a:solidFill>
              </a:defRPr>
            </a:pPr>
            <a:r>
              <a:t>Plan du cours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27432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  1.  Exercice 1 — Mise en page(18 min)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  2.  Exercice 2 — Styles(18 min)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  3.  Exercice 3 — Table des matières(15 min)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  4.  Exercice 4 — Tableaux et listes(15 min)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  5.  Exercice 5 — Export(14 min)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6B3C"/>
                </a:solidFill>
              </a:defRPr>
            </a:pPr>
            <a:r>
              <a:t>Exercice 1 — Mise en page(18 min)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Énoncé :Appliquer toutes les normes académiques (police, interligne, marges, pagination).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Corrigé :Times New Roman 12, interligne 1,5, marges 2,5 cm, pagination bas droite.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59" y="5715000"/>
            <a:ext cx="7955279" cy="8686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59" y="5715000"/>
            <a:ext cx="73152" cy="868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6C00"/>
                </a:solidFill>
              </a:rPr>
              <a:t>🎯 Intérêt pratique :  </a:t>
            </a:r>
            <a:r>
              <a:rPr sz="11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4_01_ribb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6B3C"/>
                </a:solidFill>
              </a:defRPr>
            </a:pPr>
            <a:r>
              <a:t>Exercice 2 — Styles(18 min)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Énoncé :Rédiger un mini-rapport de 2 pages avec Titre 1, Titre 2 et Normal.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Corrigé :Hiérarchie cohérente, pas de mise en forme manuelle sur les titres.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59" y="5715000"/>
            <a:ext cx="7955279" cy="8686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59" y="5715000"/>
            <a:ext cx="73152" cy="868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6C00"/>
                </a:solidFill>
              </a:rPr>
              <a:t>🎯 Intérêt pratique :  </a:t>
            </a:r>
            <a:r>
              <a:rPr sz="11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4_02_forma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6B3C"/>
                </a:solidFill>
              </a:defRPr>
            </a:pPr>
            <a:r>
              <a:t>Exercice 3 — Table des matières(15 min)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Énoncé :Insérer et mettre à jour une table des matières automatique.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Corrigé :Références → Table des matières → Mettre à jour les numéros.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59" y="5715000"/>
            <a:ext cx="7955279" cy="8686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59" y="5715000"/>
            <a:ext cx="73152" cy="868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6C00"/>
                </a:solidFill>
              </a:rPr>
              <a:t>🎯 Intérêt pratique :  </a:t>
            </a:r>
            <a:r>
              <a:rPr sz="11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4_03_align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6B3C"/>
                </a:solidFill>
              </a:defRPr>
            </a:pPr>
            <a:r>
              <a:t>Exercice 4 — Tableaux et listes(15 min)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Énoncé :Créer un tableau comparatif et une liste numérotée.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Corrigé :Tableau avec en-têtes, liste numérotée pour étapes méthodologiques.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59" y="5715000"/>
            <a:ext cx="7955279" cy="8686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59" y="5715000"/>
            <a:ext cx="73152" cy="868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6C00"/>
                </a:solidFill>
              </a:rPr>
              <a:t>🎯 Intérêt pratique :  </a:t>
            </a:r>
            <a:r>
              <a:rPr sz="11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4_04_sty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6B3C"/>
                </a:solidFill>
              </a:defRPr>
            </a:pPr>
            <a:r>
              <a:t>Exercice 5 — Export(14 min)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Énoncé :Enregistrer en .docx et exporter en PDF avec nommage académique.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Corrigé :2026-06-04_TIC_TD4_BELACEL_v1.docx+ PDF associé.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59" y="5715000"/>
            <a:ext cx="7955279" cy="8686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59" y="5715000"/>
            <a:ext cx="73152" cy="868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6C00"/>
                </a:solidFill>
              </a:rPr>
              <a:t>🎯 Intérêt pratique :  </a:t>
            </a:r>
            <a:r>
              <a:rPr sz="11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4_05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4_06_header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4_07_page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4_08_mailmer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4_09_pr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4_10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4_11_head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Synthèse : Intérêt pratique global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Exercice 1 — Mise en page(18 min)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Exercice 2 — Styles(18 min)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Exercice 3 — Table des matières(15 min)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Exercice 4 — Tableaux et listes(15 min)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Exercice 5 — Export(14 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Ensemble, ces compétences numériques vous permettent de travailler efficacement, communiquer professionnellement et résoudre les problèmes courants de la vie universitaire.</a:t>
            </a:r>
          </a:p>
        </p:txBody>
      </p:sp>
      <p:pic>
        <p:nvPicPr>
          <p:cNvPr id="9" name="Picture 8" descr="c04_12_templ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3D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D4EDDA"/>
                </a:solidFill>
              </a:defRPr>
            </a:pPr>
            <a:r>
              <a:t>•  Exercice 1 — Mise en page(18 min)</a:t>
            </a:r>
          </a:p>
          <a:p>
            <a:pPr>
              <a:spcAft>
                <a:spcPts val="600"/>
              </a:spcAft>
              <a:defRPr sz="1600">
                <a:solidFill>
                  <a:srgbClr val="D4EDDA"/>
                </a:solidFill>
              </a:defRPr>
            </a:pPr>
            <a:r>
              <a:t>•  Exercice 2 — Styles(18 min)</a:t>
            </a:r>
          </a:p>
          <a:p>
            <a:pPr>
              <a:spcAft>
                <a:spcPts val="600"/>
              </a:spcAft>
              <a:defRPr sz="1600">
                <a:solidFill>
                  <a:srgbClr val="D4EDDA"/>
                </a:solidFill>
              </a:defRPr>
            </a:pPr>
            <a:r>
              <a:t>•  Exercice 3 — Table des matières(15 min)</a:t>
            </a:r>
          </a:p>
          <a:p>
            <a:pPr>
              <a:spcAft>
                <a:spcPts val="600"/>
              </a:spcAft>
              <a:defRPr sz="1600">
                <a:solidFill>
                  <a:srgbClr val="D4EDDA"/>
                </a:solidFill>
              </a:defRPr>
            </a:pPr>
            <a:r>
              <a:t>•  Exercice 4 — Tableaux et listes(15 min)</a:t>
            </a:r>
          </a:p>
          <a:p>
            <a:pPr>
              <a:spcAft>
                <a:spcPts val="600"/>
              </a:spcAft>
              <a:defRPr sz="1600">
                <a:solidFill>
                  <a:srgbClr val="D4EDDA"/>
                </a:solidFill>
              </a:defRPr>
            </a:pPr>
            <a:r>
              <a:t>•  Exercice 5 — Export(14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5029200"/>
            <a:ext cx="768096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BC39A"/>
                </a:solidFill>
              </a:defRPr>
            </a:pPr>
            <a:r>
              <a:t>Dr. BELACEL Madani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9144000" cy="54864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04_01_ribb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555555"/>
                </a:solidFill>
              </a:defRPr>
            </a:pPr>
            <a:r>
              <a:t>Références et ressources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•  Programme national TIC - Ministère</a:t>
            </a:r>
          </a:p>
          <a:p>
            <a:pPr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•  UIT - Définitions TIC</a:t>
            </a:r>
          </a:p>
          <a:p>
            <a:pPr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•  UNESCO - Compétences numériques</a:t>
            </a:r>
          </a:p>
          <a:p>
            <a:pPr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•  Guide Moodle Univ-Mosta</a:t>
            </a:r>
          </a:p>
        </p:txBody>
      </p:sp>
      <p:pic>
        <p:nvPicPr>
          <p:cNvPr id="5" name="Picture 4" descr="c04_02_forma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