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val="FFFFFF"/&gt;</a:solidFill>
              </a:defRPr>
            </a:pPr>
            <a:r>
              <a:t>COURS TIC 01 - 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01 — Introduction aux Techniques de l'Information et de la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val="EEF1F4"/&gt;</a:solidFill>
              </a:defRPr>
            </a:pPr>
            <a:r>
              <a:t>Module TIC · Licence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val="007A55"/&gt;</a:solidFill>
              </a:defRPr>
            </a:pPr>
            <a:r>
              <a:t>Plan du 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7432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1.  Exercice 1 — Définition personnelle(15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2.  Exercice 2 — Les trois dimensions(15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3.  Exercice 3 — Fonctions des TIC(18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4.  Exercice 4 — Applications en langues(18 min)</a:t>
            </a:r>
          </a:p>
          <a:p>
            <a:pPr>
              <a:spcAft>
                <a:spcPts val="1000"/>
              </a:spcAft>
              <a:defRPr sz="1600">
                <a:solidFill>val="22344A"/&gt;</a:solidFill>
              </a:defRPr>
            </a:pPr>
            <a:r>
              <a:t>  5.  Exercice 5 — Réflexion critique(14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1 — Définition personnelle(15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:Donnez votre propre définition des TIC en 2-3 lignes, puis comparez-la à la définition UIT.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:Les TIC regroupent outils numériques de traitement, transmission et accès à l'information. L'UIT insiste sur la forme numérique et la convergence des technologies.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Comprendre la définition des TIC vous aide à parler le même langage que vos futurs collègues enseignants.</a:t>
            </a:r>
          </a:p>
        </p:txBody>
      </p:sp>
      <p:pic>
        <p:nvPicPr>
          <p:cNvPr id="9" name="Picture 8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2 — Les trois dimensions(15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:Expliquez avec des exemples personnels les trois dimensions : Techniques, Information, Communication.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:Technique = PC + Moodle ; Information = polycopié PDF ; Communication = email au professeur ou forum TD.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Chaque exposé que vous présentez combine les 3 dimensions : logiciel (technique), contenu (information), partage (communication).</a:t>
            </a:r>
          </a:p>
        </p:txBody>
      </p:sp>
      <p:pic>
        <p:nvPicPr>
          <p:cNvPr id="9" name="Picture 8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3 — Fonctions des TIC(18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:Pour chaque action, identifiez la fonction : traitement / transmission / sauvegarde.</a:t>
            </a:r>
            <a:br/>
            <a:r>
              <a:t>Rédaction Word, envoi email, copie USB, visioconférence Teams, impression PDF.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:Word → traitement ; email et Teams → transmission ; USB → sauvegarde ; impression → traitement/sortie.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Savoir traiter, transmettre et sauvegarder vos travaux vous évitera de perdre des heures de travail.</a:t>
            </a:r>
          </a:p>
        </p:txBody>
      </p:sp>
      <p:pic>
        <p:nvPicPr>
          <p:cNvPr id="9" name="Picture 8" descr="c01_03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4 — Applications en langues(18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:Citez 5 usages concrets des TIC pour un étudiant en langues étrangères.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:Corpus multilingues en ligne, visio avec locuteurs natifs, Moodle pour devoirs, bibliothèque numérique, PowerPoint pour exposés.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04_e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val="007A55"/&gt;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val="007A55"/&gt;</a:solidFill>
              </a:defRPr>
            </a:pPr>
            <a:r>
              <a:t>Exercice 5 — Réflexion critique(14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28600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Énoncé :Rédigez un paragraphe (10-12 lignes) sur opportunités et risques des TIC pour les étudiants en langues.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Corrigé détaillé :Opportunités : ressources mondiales, MOOC, collaboration. Risques : plagiat, désinformation, addiction, vie privée. Posture : esprit critique et éthique académique.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59" y="5715000"/>
            <a:ext cx="7955279" cy="868680"/>
          </a:xfrm>
          <a:prstGeom prst="rect">
            <a:avLst/>
          </a:prstGeom>
          <a:solidFill>val="EEF1F4"/&gt;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59" y="5715000"/>
            <a:ext cx="73152" cy="868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6072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val="F0B429"/&gt;</a:solidFill>
              </a:rPr>
              <a:t>🎯 Intérêt pratique :  </a:t>
            </a:r>
            <a:r>
              <a:rPr sz="11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05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06_l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07_advan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08_div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09_pedag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10_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Application concrète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Appliquez ces concepts dans vos travaux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Pratiquez lors des TD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Cette compétence vous servira dans votre vie universitaire et professionnelle.</a:t>
            </a:r>
          </a:p>
        </p:txBody>
      </p:sp>
      <p:pic>
        <p:nvPicPr>
          <p:cNvPr id="9" name="Picture 8" descr="c01_11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val="F0B429"/&gt;</a:solidFill>
              </a:defRPr>
            </a:pPr>
            <a:r>
              <a:t>Synthèse : Intérêt pratique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2743200" cy="36576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1 — Définition personnelle(15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2 — Les trois dimensions(15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3 — Fonctions des TIC(18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4 — Applications en langues(18 min)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 Exercice 5 — Réflexion critique(14 min)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8229600" cy="2011680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91440" cy="2011680"/>
          </a:xfrm>
          <a:prstGeom prst="rect">
            <a:avLst/>
          </a:prstGeom>
          <a:solidFill>val="F0B429"/&gt;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val="F0B429"/&gt;</a:solidFill>
              </a:rPr>
              <a:t>Intérêt pratique pour vous
</a:t>
            </a:r>
            <a:r>
              <a:rPr sz="1200">
                <a:solidFill>val="22344A"/&gt;</a:solidFill>
              </a:rPr>
              <a:t>Ensemble, ces compétences numériques vous permettent de travailler efficacement, communiquer professionnellement et résoudre les problèmes courants de la vie universitaire.</a:t>
            </a:r>
          </a:p>
        </p:txBody>
      </p:sp>
      <p:pic>
        <p:nvPicPr>
          <p:cNvPr id="9" name="Picture 8" descr="c01_12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1 — Définition personnelle(15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2 — Les trois dimensions(15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3 — Fonctions des TIC(18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4 — Applications en langues(18 min)</a:t>
            </a:r>
          </a:p>
          <a:p>
            <a:pPr>
              <a:spcAft>
                <a:spcPts val="600"/>
              </a:spcAft>
              <a:defRPr sz="1600">
                <a:solidFill>val="EEF1F4"/&gt;</a:solidFill>
              </a:defRPr>
            </a:pPr>
            <a:r>
              <a:t>•  Exercice 5 — Réflexion critique(14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7680960" cy="36576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val="93B39E"/&gt;</a:solidFill>
              </a:defRPr>
            </a:pPr>
            <a:r>
              <a:t>Dr. BELACEL Madani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val="0DA574"/&gt;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01_01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402336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val="69788B"/&gt;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val="69788B"/&gt;</a:solidFill>
              </a:defRPr>
            </a:pPr>
            <a:r>
              <a:t>Références et ressources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Programme national TIC - Ministère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UIT - Définitions TIC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UNESCO - Compétences numériques</a:t>
            </a:r>
          </a:p>
          <a:p>
            <a:pPr>
              <a:spcAft>
                <a:spcPts val="600"/>
              </a:spcAft>
              <a:defRPr sz="1400">
                <a:solidFill>val="69788B"/&gt;</a:solidFill>
              </a:defRPr>
            </a:pPr>
            <a:r>
              <a:t>•  Guide Moodle Univ-Mosta</a:t>
            </a:r>
          </a:p>
        </p:txBody>
      </p:sp>
      <p:pic>
        <p:nvPicPr>
          <p:cNvPr id="5" name="Picture 4" descr="c01_02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3716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