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051560"/>
            <a:ext cx="7040880" cy="27432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7040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val="F0B429"/&gt;</a:solidFill>
                <a:latin typeface="Poppins"/>
              </a:rPr>
              <a:t>TIC COURSE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7589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val="FFFFFF"/&gt;</a:solidFill>
                <a:latin typeface="Poppins"/>
              </a:rPr>
              <a:t>Introduction to Information and Communication Technology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3703320"/>
            <a:ext cx="2377440" cy="2286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val="9AA7B6"/&gt;</a:solidFill>
                <a:latin typeface="Poppins"/>
              </a:rPr>
              <a:t>Dr. BELACEL Madani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val="9AA7B6"/&gt;</a:solidFill>
                <a:latin typeface="Poppins"/>
              </a:rPr>
              <a:t>Année universitaire 2026-2027 / Academic Year 2026-2027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7040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val="9AA7B6"/&gt;</a:solidFill>
                <a:latin typeface="Poppins"/>
              </a:rPr>
              <a:t>Université de Mostaganem - Département Mathématiques et Informatique</a:t>
            </a:r>
          </a:p>
        </p:txBody>
      </p:sp>
      <p:pic>
        <p:nvPicPr>
          <p:cNvPr id="13" name="Picture 12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00000"/>
            <a:ext cx="1400000" cy="14000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val="F0B429"/&gt;</a:solidFill>
                <a:latin typeface="Poppins"/>
              </a:rPr>
              <a:t>Course Outline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1. Definition of ICT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2. History and Evolution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3. Components of ICT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4. Impact of ICT on Society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5. ICT in Education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6. Digital Basics: Key Concepts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7. Outlook and Trends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Definition of ICT</a:t>
            </a:r>
          </a:p>
        </p:txBody>
      </p:sp>
      <p:pic>
        <p:nvPicPr>
          <p:cNvPr id="9" name="Picture 8" descr="c01_01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1 - Definition of ICT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ICT = the set of technologies used to process and transmit information.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Includes: computing, electronics, telecommunications and networks.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Tools: computers, smartphones, the Internet, software and applications.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Goal: collect, process, store and distribute information.</a:t>
            </a:r>
          </a:p>
        </p:txBody>
      </p:sp>
      <p:pic>
        <p:nvPicPr>
          <p:cNvPr id="9" name="Picture 8" descr="c01_02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History and Evolution</a:t>
            </a:r>
          </a:p>
        </p:txBody>
      </p:sp>
      <p:pic>
        <p:nvPicPr>
          <p:cNvPr id="9" name="Picture 8" descr="c01_03_edu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2 - History and Evolution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Writing and printing: the first information revolutions.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Telegraph (1837), telephone (1876), radio and television.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First electronic computer ENIAC (1946).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Invention of the transistor (1947) then microprocessors (1971).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Birth of the Internet (ARPANET, 1969) and the Web (1990).</a:t>
            </a:r>
          </a:p>
        </p:txBody>
      </p:sp>
      <p:pic>
        <p:nvPicPr>
          <p:cNvPr id="9" name="Picture 8" descr="c01_04_e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Components of ICT</a:t>
            </a:r>
          </a:p>
        </p:txBody>
      </p:sp>
      <p:pic>
        <p:nvPicPr>
          <p:cNvPr id="9" name="Picture 8" descr="c01_05_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3 - Components of ICT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Hardware: machines and peripherals.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Software: programs and operating systems.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Networks: wired and wireless communication infrastructure.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Data: digitized and structured information.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Human resources: users and specialists.</a:t>
            </a:r>
          </a:p>
        </p:txBody>
      </p:sp>
      <p:pic>
        <p:nvPicPr>
          <p:cNvPr id="9" name="Picture 8" descr="c01_06_l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Impact of ICT on Society</a:t>
            </a:r>
          </a:p>
        </p:txBody>
      </p:sp>
      <p:pic>
        <p:nvPicPr>
          <p:cNvPr id="9" name="Picture 8" descr="c01_07_advan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4 - Impact of ICT on Society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Instant worldwide communication.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Access to knowledge: digital libraries, online courses (MOOCs).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Transformation of work: teleworking, office automation, automation.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New professions: developer, network administrator, data scientist.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Challenges: digital divide, data protection, dependence.</a:t>
            </a:r>
          </a:p>
        </p:txBody>
      </p:sp>
      <p:pic>
        <p:nvPicPr>
          <p:cNvPr id="9" name="Picture 8" descr="c01_08_div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ICT in Education</a:t>
            </a:r>
          </a:p>
        </p:txBody>
      </p:sp>
      <p:pic>
        <p:nvPicPr>
          <p:cNvPr id="9" name="Picture 8" descr="c01_09_pedag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5 - ICT in Education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Interactive whiteboards and projectors in classrooms.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E-learning platforms: Moodle, Google Classroom, Teams.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Digital learning resources: videos, simulations, quizzes.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Distance learning and hybrid classrooms.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Individualized learning tracking through digital tools.</a:t>
            </a:r>
          </a:p>
        </p:txBody>
      </p:sp>
      <p:pic>
        <p:nvPicPr>
          <p:cNvPr id="9" name="Picture 8" descr="c01_10_v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Digital Basics: Key Concepts</a:t>
            </a:r>
          </a:p>
        </p:txBody>
      </p:sp>
      <p:pic>
        <p:nvPicPr>
          <p:cNvPr id="9" name="Picture 8" descr="c01_11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6 - Digital Basics: Key Concepts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Analog vs digital information.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The bit (0 or 1): the elementary unit of information.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Byte = 8 bits; multiples: KB, MB, GB, TB.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Binary coding of all data: text, images, sound.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Storage capacity and processing speed.</a:t>
            </a:r>
          </a:p>
        </p:txBody>
      </p:sp>
      <p:pic>
        <p:nvPicPr>
          <p:cNvPr id="9" name="Picture 8" descr="c01_12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Outlook and Trends</a:t>
            </a:r>
          </a:p>
        </p:txBody>
      </p:sp>
      <p:pic>
        <p:nvPicPr>
          <p:cNvPr id="9" name="Picture 8" descr="c01_01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7 - Outlook and Trends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Artificial intelligence and machine learning.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Cloud computing: online storage and services.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Internet of Things (IoT) and smart cities.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Big data: analyzing massive datasets.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Cybersecurity: a major challenge of the digital age.</a:t>
            </a:r>
          </a:p>
        </p:txBody>
      </p:sp>
      <p:pic>
        <p:nvPicPr>
          <p:cNvPr id="9" name="Picture 8" descr="c01_02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val="F0B429"/&gt;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val="004A38"/&gt;</a:solidFill>
                <a:latin typeface="Poppins"/>
              </a:rPr>
              <a:t>Practical Interest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ICT is present in every field: health, banking, commerce, education.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Mastering ICT is an essential professional skill.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They save time, reduce costs and improve quality.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Examples: online payment, telemedicine, e-government, e-learning.</a:t>
            </a:r>
          </a:p>
        </p:txBody>
      </p:sp>
      <p:pic>
        <p:nvPicPr>
          <p:cNvPr id="8" name="Picture 7" descr="c01_03_edu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7223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val="F0B429"/&gt;</a:solidFill>
                <a:latin typeface="Poppins"/>
              </a:rPr>
              <a:t>Self-Assessment (MCQ)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7223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1. What does ICT stand for?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Industrial and Commercial Techniques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Information and Communication Technology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Computer Processing of Calculations</a:t>
            </a:r>
          </a:p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2. Which event marked the birth of the Internet?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The invention of the transistor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The creation of ARPANET in 1969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The appearance of the Web in 1990</a:t>
            </a:r>
          </a:p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3. A byte contains: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4 bits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8 bits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16 bits</a:t>
            </a:r>
          </a:p>
        </p:txBody>
      </p:sp>
      <p:pic>
        <p:nvPicPr>
          <p:cNvPr id="9" name="Picture 8" descr="c01_04_e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val="F0B429"/&gt;</a:solidFill>
                <a:latin typeface="Poppins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1371600"/>
            <a:ext cx="237744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ICT combines computing, networks and telecommunications.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They have deeply transformed society, work and education.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Understanding their foundations is the first step toward mastering digital technology.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Next course: the computer and its components.</a:t>
            </a:r>
          </a:p>
        </p:txBody>
      </p:sp>
      <p:pic>
        <p:nvPicPr>
          <p:cNvPr id="9" name="Picture 8" descr="c01_05_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val="F0B429"/&gt;</a:solidFill>
                <a:latin typeface="Poppins"/>
              </a:rPr>
              <a:t>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7223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C. Balpe et al., "Initiation to Computing", Ellipses.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J. Baudouin, "Introduction to Information Sciences", Armand Colin.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ICT Course materials, CS Department, University of Mostaganem.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Official sites: www.education.dz, www.w3schools.com.</a:t>
            </a:r>
          </a:p>
        </p:txBody>
      </p:sp>
      <p:pic>
        <p:nvPicPr>
          <p:cNvPr id="9" name="Picture 8" descr="c01_06_l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7040880" cy="27432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7040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 i="0">
                <a:solidFill>val="F0B429"/&gt;</a:solidFill>
                <a:latin typeface="Poppins"/>
              </a:rPr>
              <a:t>Thank you for your attention!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7040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 i="0">
                <a:solidFill>val="FFFFFF"/&gt;</a:solidFill>
                <a:latin typeface="Poppins"/>
              </a:rP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val="9AA7B6"/&gt;</a:solidFill>
                <a:latin typeface="Poppins"/>
              </a:rPr>
              <a:t>Dr. BELACEL Madani</a:t>
            </a:r>
          </a:p>
        </p:txBody>
      </p:sp>
      <p:pic>
        <p:nvPicPr>
          <p:cNvPr id="10" name="Picture 9" descr="c01_07_advan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