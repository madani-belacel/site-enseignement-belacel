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01 — Introduction to Information and Communication Techniques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Course 01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Introduction and importance of ICT in the contemporary world</a:t>
            </a:r>
          </a:p>
          <a:p>
            <a:pPr>
              <a:defRPr sz="2000"/>
            </a:pPr>
            <a:r>
              <a:t>Detailed definition of ICT</a:t>
            </a:r>
          </a:p>
          <a:p>
            <a:pPr>
              <a:defRPr sz="2000"/>
            </a:pPr>
            <a:r>
              <a:t>Historical and terminological evolution (NICT → TIC)</a:t>
            </a:r>
          </a:p>
          <a:p>
            <a:pPr>
              <a:defRPr sz="2000"/>
            </a:pPr>
            <a:r>
              <a:t>The three fundamental dimensions of ICT</a:t>
            </a:r>
          </a:p>
          <a:p>
            <a:pPr>
              <a:defRPr sz="2000"/>
            </a:pPr>
            <a:r>
              <a:t>Role and functions of ICT (processing, transmission, backup)</a:t>
            </a:r>
          </a:p>
          <a:p>
            <a:pPr>
              <a:defRPr sz="2000"/>
            </a:pPr>
            <a:r>
              <a:t>Services offered by 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and Importance of 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**Access resources**: Moodle, digital library, PDF handouts</a:t>
            </a:r>
          </a:p>
          <a:p>
            <a:pPr>
              <a:defRPr sz="2000"/>
            </a:pPr>
            <a:r>
              <a:t>**Communicate**: institutional email, TD forums</a:t>
            </a:r>
          </a:p>
          <a:p>
            <a:pPr>
              <a:defRPr sz="2000"/>
            </a:pPr>
            <a:r>
              <a:t>**Search**: documentary bases, multilingual linguistic corpora</a:t>
            </a:r>
          </a:p>
          <a:p>
            <a:pPr>
              <a:defRPr sz="2000"/>
            </a:pPr>
            <a:r>
              <a:t>**Produce**: Word homework, PowerPoint presentations, lectures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Detailed Definition of 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**Computer science** — automatic processing of information (software, databases)</a:t>
            </a:r>
          </a:p>
          <a:p>
            <a:pPr>
              <a:defRPr sz="2000"/>
            </a:pPr>
            <a:r>
              <a:t>**Telecommunications** — remote transmission (Internet, fiber, Wi-Fi)</a:t>
            </a:r>
          </a:p>
          <a:p>
            <a:pPr>
              <a:defRPr sz="2000"/>
            </a:pPr>
            <a:r>
              <a:t>**Audiovisual and multimedia** — text, image, sound, video combined</a:t>
            </a:r>
          </a:p>
          <a:p>
            <a:pPr>
              <a:defRPr sz="2000"/>
            </a:pPr>
            <a:r>
              <a:t>**ITU:** “ICT encompasses all the tools and systems that make it possible to **manipulate**, **store</a:t>
            </a:r>
          </a:p>
          <a:p>
            <a:pPr>
              <a:defRPr sz="2000"/>
            </a:pPr>
            <a:r>
              <a:t>**UNESCO:** IT, audiovisual, multimedia, Internet and telecommunications.</a:t>
            </a:r>
          </a:p>
          <a:p>
            <a:pPr>
              <a:defRPr sz="2000"/>
            </a:pPr>
            <a:r>
              <a:t>**In English:** *Information and Communication Technologies* (ICT).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Historical and Terminological Evolution (NICT → ICT)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**Digitalization**: conversion into digital files (PDF, MP3, JPEG)</a:t>
            </a:r>
          </a:p>
          <a:p>
            <a:pPr>
              <a:defRPr sz="2000"/>
            </a:pPr>
            <a:r>
              <a:t>**Digital transformation**: reorganization of activities thanks to digital technology</a:t>
            </a:r>
          </a:p>
          <a:p>
            <a:pPr>
              <a:defRPr sz="2000"/>
            </a:pPr>
            <a:r>
              <a:t>**Information society**: information becomes a central resource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The Three Fundamental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**Technical dimension** — hardware and software resources (PC, smartphone, Word, browser)</a:t>
            </a:r>
          </a:p>
          <a:p>
            <a:pPr>
              <a:defRPr sz="2000"/>
            </a:pPr>
            <a:r>
              <a:t>**Information dimension** — manipulated content (text, image, sound, video; PDF, DOCX, MP4 formats)</a:t>
            </a:r>
          </a:p>
          <a:p>
            <a:pPr>
              <a:defRPr sz="2000"/>
            </a:pPr>
            <a:r>
              <a:t>**Communication dimension** — exchange between people (email, forum, videoconference)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Main ICT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**Email** (@univ-mosta.dz)</a:t>
            </a:r>
          </a:p>
          <a:p>
            <a:pPr>
              <a:defRPr sz="2000"/>
            </a:pPr>
            <a:r>
              <a:t>**Web browsing and search**</a:t>
            </a:r>
          </a:p>
          <a:p>
            <a:pPr>
              <a:defRPr sz="2000"/>
            </a:pPr>
            <a:r>
              <a:t>**Videoconference** (Teams, Zoom)</a:t>
            </a:r>
          </a:p>
          <a:p>
            <a:pPr>
              <a:defRPr sz="2000"/>
            </a:pPr>
            <a:r>
              <a:t>**Learning platforms** (Moodle, Google Classroom)</a:t>
            </a:r>
          </a:p>
          <a:p>
            <a:pPr>
              <a:defRPr sz="2000"/>
            </a:pPr>
            <a:r>
              <a:t>**Online storage and sharing** (Drive, OneDrive)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Applications in Education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E-learning and hybrid teaching</a:t>
            </a:r>
          </a:p>
          <a:p>
            <a:pPr>
              <a:defRPr sz="2000"/>
            </a:pPr>
            <a:r>
              <a:t>Digital libraries (24-hour access)</a:t>
            </a:r>
          </a:p>
          <a:p>
            <a:pPr>
              <a:defRPr sz="2000"/>
            </a:pPr>
            <a:r>
              <a:t>Remote collaborative work</a:t>
            </a:r>
          </a:p>
          <a:p>
            <a:pPr>
              <a:defRPr sz="2000"/>
            </a:pPr>
            <a:r>
              <a:t>Online assessment (MCQ, anti-plagiarism)</a:t>
            </a:r>
          </a:p>
          <a:p>
            <a:pPr>
              <a:defRPr sz="2000"/>
            </a:pPr>
            <a:r>
              <a:t>Multilingual documentary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Expected Digital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Academic office automation (Word, PowerPoint)</a:t>
            </a:r>
          </a:p>
          <a:p>
            <a:pPr>
              <a:defRPr sz="2000"/>
            </a:pPr>
            <a:r>
              <a:t>Documentary research (keywords, credibility of sites)</a:t>
            </a:r>
          </a:p>
          <a:p>
            <a:pPr>
              <a:defRPr sz="2000"/>
            </a:pPr>
            <a:r>
              <a:t>File management (naming, PDF/DOCX formats)</a:t>
            </a:r>
          </a:p>
          <a:p>
            <a:pPr>
              <a:defRPr sz="2000"/>
            </a:pPr>
            <a:r>
              <a:t>Professional communication by email</a:t>
            </a:r>
          </a:p>
          <a:p>
            <a:pPr>
              <a:defRPr sz="2000"/>
            </a:pPr>
            <a:r>
              <a:t>Security and ethics (passwords, plagiarism, privacy)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= IT, telecoms and multimedia convergence</a:t>
            </a:r>
          </a:p>
          <a:p>
            <a:pPr>
              <a:defRPr sz="2000"/>
            </a:pPr>
            <a:r>
              <a:t>Three dimensions: technique, information, communication</a:t>
            </a:r>
          </a:p>
          <a:p>
            <a:pPr>
              <a:defRPr sz="2000"/>
            </a:pPr>
            <a:r>
              <a:t>Three functions: processing, transmission, backup</a:t>
            </a:r>
          </a:p>
          <a:p>
            <a:pPr>
              <a:defRPr sz="2000"/>
            </a:pPr>
            <a:r>
              <a:t>Essential **transversal**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Course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