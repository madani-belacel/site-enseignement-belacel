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051560"/>
            <a:ext cx="7040880" cy="27432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371600"/>
            <a:ext cx="70408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 i="0">
                <a:solidFill>
                  <a:srgbClr val="FFD700"/>
                </a:solidFill>
                <a:latin typeface="Calibri"/>
              </a:rPr>
              <a:t>COURS TIC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331720"/>
            <a:ext cx="75895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Les Services Internet</a:t>
            </a:r>
          </a:p>
        </p:txBody>
      </p:sp>
      <p:sp>
        <p:nvSpPr>
          <p:cNvPr id="9" name="Rectangle 8"/>
          <p:cNvSpPr/>
          <p:nvPr/>
        </p:nvSpPr>
        <p:spPr>
          <a:xfrm>
            <a:off x="3154680" y="3703320"/>
            <a:ext cx="2377440" cy="2286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977639"/>
            <a:ext cx="7040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0">
                <a:solidFill>
                  <a:srgbClr val="BBBBBB"/>
                </a:solidFill>
                <a:latin typeface="Calibri"/>
              </a:rPr>
              <a:t>Dr. BELACEL Madani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526280"/>
            <a:ext cx="7040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i="1">
                <a:solidFill>
                  <a:srgbClr val="BBBBBB"/>
                </a:solidFill>
                <a:latin typeface="Calibri"/>
              </a:rPr>
              <a:t>Année universitaire 2026-2027 / Academic Year 2026-2027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806440"/>
            <a:ext cx="7040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1">
                <a:solidFill>
                  <a:srgbClr val="BBBBBB"/>
                </a:solidFill>
                <a:latin typeface="Calibri"/>
              </a:rPr>
              <a:t>Université de Mostaganem - Département Mathématiques et Informatique</a:t>
            </a:r>
          </a:p>
        </p:txBody>
      </p:sp>
      <p:pic>
        <p:nvPicPr>
          <p:cNvPr id="13" name="Picture 12" descr="Université_de_Mostagan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00000"/>
            <a:ext cx="1400000" cy="1400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02920"/>
            <a:ext cx="7223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1" i="0">
                <a:solidFill>
                  <a:srgbClr val="FFD700"/>
                </a:solidFill>
                <a:latin typeface="Calibri"/>
              </a:rPr>
              <a:t>Plan du cours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0020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1. Panorama des services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2. Le cloud computing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3. Travail collaboratif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4. E-commerce et services en ligne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5. Réseaux sociaux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6. Sécurité des services en ligne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7. Vers un usage responsable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Panorama des services</a:t>
            </a:r>
          </a:p>
        </p:txBody>
      </p:sp>
      <p:pic>
        <p:nvPicPr>
          <p:cNvPr id="9" name="Picture 8" descr="c10_01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1 - Panorama des services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Le Web : consultation de pages et sites.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Courrier électronique : communication asynchrone.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Transfert de fichiers : FTP, cloud storage.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Messagerie instantanée et visioconférence.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Streaming, e-commerce, e-gouvernement, e-learning.</a:t>
            </a:r>
          </a:p>
        </p:txBody>
      </p:sp>
      <p:pic>
        <p:nvPicPr>
          <p:cNvPr id="9" name="Picture 8" descr="c10_02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Le cloud computing</a:t>
            </a:r>
          </a:p>
        </p:txBody>
      </p:sp>
      <p:pic>
        <p:nvPicPr>
          <p:cNvPr id="9" name="Picture 8" descr="c10_03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2 - Le cloud computing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Stockage et calcul sur des serveurs distants.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Accès depuis n'importe quel appareil connecté.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Exemples : Google Drive, OneDrive, Dropbox, iCloud.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Modèles SaaS, PaaS, IaaS.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Avantages : sauvegarde, collaboration ; limite : connexion requise.</a:t>
            </a:r>
          </a:p>
        </p:txBody>
      </p:sp>
      <p:pic>
        <p:nvPicPr>
          <p:cNvPr id="9" name="Picture 8" descr="c10_04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Travail collaboratif</a:t>
            </a:r>
          </a:p>
        </p:txBody>
      </p:sp>
      <p:pic>
        <p:nvPicPr>
          <p:cNvPr id="9" name="Picture 8" descr="c10_05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3 - Travail collaboratif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Documents partagés édités simultanément (Google Docs, Office 365).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Plateformes de projet : Trello, Teams, Slack.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Visioconférences : Meet, Zoom, Teams.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Wikis et espaces de co-écriture.</a:t>
            </a:r>
          </a:p>
        </p:txBody>
      </p:sp>
      <p:pic>
        <p:nvPicPr>
          <p:cNvPr id="9" name="Picture 8" descr="c10_06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E-commerce et services en ligne</a:t>
            </a:r>
          </a:p>
        </p:txBody>
      </p:sp>
      <p:pic>
        <p:nvPicPr>
          <p:cNvPr id="9" name="Picture 8" descr="c10_07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4 - E-commerce et services en ligne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Achats en ligne : Amazon, Jumia, boutiques locales.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Paiement électronique : CIB, EDAHABIA, cartes bancaires.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Banque en ligne et portefeuilles digitaux.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Administrations numériques : impôts, inscriptions universitaires.</a:t>
            </a:r>
          </a:p>
        </p:txBody>
      </p:sp>
      <p:pic>
        <p:nvPicPr>
          <p:cNvPr id="9" name="Picture 8" descr="c10_08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Réseaux sociaux</a:t>
            </a:r>
          </a:p>
        </p:txBody>
      </p:sp>
      <p:pic>
        <p:nvPicPr>
          <p:cNvPr id="9" name="Picture 8" descr="c10_09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5 - Réseaux sociaux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Facebook, Instagram, X (Twitter), LinkedIn, TikTok.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Usages personnels et professionnels (LinkedIn = carnet virtuel).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Algorithmes de recommandation et bulles informationnelles.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Risques : désinformation, cyberharcèlement, atteinte vie privée.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Bonne pratique : paramétrer la confidentialité.</a:t>
            </a:r>
          </a:p>
        </p:txBody>
      </p:sp>
      <p:pic>
        <p:nvPicPr>
          <p:cNvPr id="9" name="Picture 8" descr="c10_10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Sécurité des services en ligne</a:t>
            </a:r>
          </a:p>
        </p:txBody>
      </p:sp>
      <p:pic>
        <p:nvPicPr>
          <p:cNvPr id="9" name="Picture 8" descr="c10_11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6 - Sécurité des services en ligne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Authentification à deux facteurs (2FA).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Gestion des autorisations des applications tierces.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Sauvegardes régulières de ses données.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RGPD / loi 18-07 : droits sur les données personnelles.</a:t>
            </a:r>
          </a:p>
        </p:txBody>
      </p:sp>
      <p:pic>
        <p:nvPicPr>
          <p:cNvPr id="9" name="Picture 8" descr="c10_12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Vers un usage responsable</a:t>
            </a:r>
          </a:p>
        </p:txBody>
      </p:sp>
      <p:pic>
        <p:nvPicPr>
          <p:cNvPr id="9" name="Picture 8" descr="c10_01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7 - Vers un usage responsable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Temps d'écran maîtrisé et hygiène numérique.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Vérification des sources avant partage.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Respect d'autrui : netiquette et citoyenneté numérique.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Empreinte carbone du numérique : sobriété.</a:t>
            </a:r>
          </a:p>
        </p:txBody>
      </p:sp>
      <p:pic>
        <p:nvPicPr>
          <p:cNvPr id="9" name="Picture 8" descr="c10_02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8C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02920"/>
            <a:ext cx="7223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0B3D2E"/>
                </a:solidFill>
                <a:latin typeface="Calibri"/>
              </a:rPr>
              <a:t>Intérêt pratique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700">
                <a:solidFill>
                  <a:srgbClr val="0B3D2E"/>
                </a:solidFill>
                <a:latin typeface="Calibri"/>
              </a:rPr>
              <a:t>▪  Utiliser le cloud pour ne plus jamais perdre vos documents.</a:t>
            </a:r>
          </a:p>
          <a:p>
            <a:pPr>
              <a:spcAft>
                <a:spcPts val="1100"/>
              </a:spcAft>
            </a:pPr>
            <a:r>
              <a:rPr sz="1700">
                <a:solidFill>
                  <a:srgbClr val="0B3D2E"/>
                </a:solidFill>
                <a:latin typeface="Calibri"/>
              </a:rPr>
              <a:t>▪  Collaborer à distance sur des projets étudiants.</a:t>
            </a:r>
          </a:p>
          <a:p>
            <a:pPr>
              <a:spcAft>
                <a:spcPts val="1100"/>
              </a:spcAft>
            </a:pPr>
            <a:r>
              <a:rPr sz="1700">
                <a:solidFill>
                  <a:srgbClr val="0B3D2E"/>
                </a:solidFill>
                <a:latin typeface="Calibri"/>
              </a:rPr>
              <a:t>▪  Effectuer vos démarches administratives en ligne.</a:t>
            </a:r>
          </a:p>
          <a:p>
            <a:pPr>
              <a:spcAft>
                <a:spcPts val="1100"/>
              </a:spcAft>
            </a:pPr>
            <a:r>
              <a:rPr sz="1700">
                <a:solidFill>
                  <a:srgbClr val="0B3D2E"/>
                </a:solidFill>
                <a:latin typeface="Calibri"/>
              </a:rPr>
              <a:t>▪  Valoriser votre profil professionnel sur LinkedIn.</a:t>
            </a:r>
          </a:p>
        </p:txBody>
      </p:sp>
      <p:pic>
        <p:nvPicPr>
          <p:cNvPr id="8" name="Picture 7" descr="c10_03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457200"/>
            <a:ext cx="72237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D700"/>
                </a:solidFill>
                <a:latin typeface="Calibri"/>
              </a:rPr>
              <a:t>Auto-évaluation (QCM)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188720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72237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1. Que signifie SaaS ?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a) Software as a Service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b) System as an Application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c) Storage and Access Service</a:t>
            </a:r>
          </a:p>
          <a:p>
            <a:pPr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2. La 2FA sert à :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a) Accélérer la connexion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b) Renforcer l'authentification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c) Compresser les fichiers</a:t>
            </a:r>
          </a:p>
          <a:p>
            <a:pPr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3. Google Drive est un service :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a) De cloud storage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b) De messagerie uniquement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c) De réseau social</a:t>
            </a:r>
          </a:p>
        </p:txBody>
      </p:sp>
      <p:pic>
        <p:nvPicPr>
          <p:cNvPr id="9" name="Picture 8" descr="c10_04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02920"/>
            <a:ext cx="7223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FFD700"/>
                </a:solidFill>
                <a:latin typeface="Calibri"/>
              </a:rPr>
              <a:t>Conclusion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154680" y="1371600"/>
            <a:ext cx="237744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Les services Internet transforment travail, commerce et administration.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Cloud, collaboration et e-services offrent des gains énormes.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Un usage sûr et responsable conditionne ces bénéfices.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Fin du module : mettez en pratique chaque notion vue !</a:t>
            </a:r>
          </a:p>
        </p:txBody>
      </p:sp>
      <p:pic>
        <p:nvPicPr>
          <p:cNvPr id="9" name="Picture 8" descr="c10_05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02920"/>
            <a:ext cx="7223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D700"/>
                </a:solidFill>
                <a:latin typeface="Calibri"/>
              </a:rPr>
              <a:t>Références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91640"/>
            <a:ext cx="7223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500">
                <a:solidFill>
                  <a:srgbClr val="BBBBBB"/>
                </a:solidFill>
                <a:latin typeface="Calibri"/>
              </a:rPr>
              <a:t>- Microsoft Support - OneDrive et Office 365.</a:t>
            </a:r>
          </a:p>
          <a:p>
            <a:pPr>
              <a:spcAft>
                <a:spcPts val="1300"/>
              </a:spcAft>
            </a:pPr>
            <a:r>
              <a:rPr sz="1500">
                <a:solidFill>
                  <a:srgbClr val="BBBBBB"/>
                </a:solidFill>
                <a:latin typeface="Calibri"/>
              </a:rPr>
              <a:t>- CNIL - RGPD et protection des données.</a:t>
            </a:r>
          </a:p>
          <a:p>
            <a:pPr>
              <a:spcAft>
                <a:spcPts val="1300"/>
              </a:spcAft>
            </a:pPr>
            <a:r>
              <a:rPr sz="1500">
                <a:solidFill>
                  <a:srgbClr val="BBBBBB"/>
                </a:solidFill>
                <a:latin typeface="Calibri"/>
              </a:rPr>
              <a:t>- Loi algérienne 18-07 sur la protection des données personnelles.</a:t>
            </a:r>
          </a:p>
          <a:p>
            <a:pPr>
              <a:spcAft>
                <a:spcPts val="1300"/>
              </a:spcAft>
            </a:pPr>
            <a:r>
              <a:rPr sz="1500">
                <a:solidFill>
                  <a:srgbClr val="BBBBBB"/>
                </a:solidFill>
                <a:latin typeface="Calibri"/>
              </a:rPr>
              <a:t>- Supports de cours Module TIC, Université de Mostaganem.</a:t>
            </a:r>
          </a:p>
        </p:txBody>
      </p:sp>
      <p:pic>
        <p:nvPicPr>
          <p:cNvPr id="9" name="Picture 8" descr="c10_06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463040"/>
            <a:ext cx="7040880" cy="27432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103120"/>
            <a:ext cx="70408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800" b="1" i="0">
                <a:solidFill>
                  <a:srgbClr val="FFD700"/>
                </a:solidFill>
                <a:latin typeface="Calibri"/>
              </a:rPr>
              <a:t>Merci de votre attention 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566160"/>
            <a:ext cx="70408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Calibri"/>
              </a:rPr>
              <a:t>Des questions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20640"/>
            <a:ext cx="7040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 i="0">
                <a:solidFill>
                  <a:srgbClr val="BBBBBB"/>
                </a:solidFill>
                <a:latin typeface="Calibri"/>
              </a:rPr>
              <a:t>Dr. BELACEL Madani</a:t>
            </a:r>
          </a:p>
        </p:txBody>
      </p:sp>
      <p:pic>
        <p:nvPicPr>
          <p:cNvPr id="10" name="Picture 9" descr="c10_07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