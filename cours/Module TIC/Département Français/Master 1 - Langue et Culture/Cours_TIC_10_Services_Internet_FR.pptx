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1371600"/>
          </a:xfrm>
          <a:prstGeom prst="rect">
            <a:avLst/>
          </a:prstGeom>
          <a:noFill/>
        </p:spPr>
        <p:txBody>
          <a:bodyPr wrap="square">
            <a:spAutoFit/>
          </a:bodyPr>
          <a:lstStyle/>
          <a:p>
            <a:pPr algn="ctr">
              <a:defRPr sz="3200" b="1">
                <a:solidFill>
                  <a:srgbClr val="FFFFFF"/>
                </a:solidFill>
              </a:defRPr>
            </a:pPr>
            <a:r>
              <a:t>Cours TIC 10 — Services Internet</a:t>
            </a:r>
          </a:p>
        </p:txBody>
      </p:sp>
      <p:sp>
        <p:nvSpPr>
          <p:cNvPr id="3" name="TextBox 2"/>
          <p:cNvSpPr txBox="1"/>
          <p:nvPr/>
        </p:nvSpPr>
        <p:spPr>
          <a:xfrm>
            <a:off x="731520" y="2926080"/>
            <a:ext cx="7680960" cy="548640"/>
          </a:xfrm>
          <a:prstGeom prst="rect">
            <a:avLst/>
          </a:prstGeom>
          <a:noFill/>
        </p:spPr>
        <p:txBody>
          <a:bodyPr wrap="square">
            <a:spAutoFit/>
          </a:bodyPr>
          <a:lstStyle/>
          <a:p>
            <a:pPr algn="ctr">
              <a:defRPr sz="2000" b="0">
                <a:solidFill>
                  <a:srgbClr val="C5D9C7"/>
                </a:solidFill>
              </a:defRPr>
            </a:pPr>
            <a:r>
              <a:t>Module TIC — Dr. BELACEL Madani</a:t>
            </a:r>
          </a:p>
        </p:txBody>
      </p:sp>
      <p:sp>
        <p:nvSpPr>
          <p:cNvPr id="4" name="TextBox 3"/>
          <p:cNvSpPr txBox="1"/>
          <p:nvPr/>
        </p:nvSpPr>
        <p:spPr>
          <a:xfrm>
            <a:off x="731520" y="3657600"/>
            <a:ext cx="7680960" cy="457200"/>
          </a:xfrm>
          <a:prstGeom prst="rect">
            <a:avLst/>
          </a:prstGeom>
          <a:noFill/>
        </p:spPr>
        <p:txBody>
          <a:bodyPr wrap="square">
            <a:spAutoFit/>
          </a:bodyPr>
          <a:lstStyle/>
          <a:p>
            <a:pPr algn="ctr">
              <a:defRPr sz="1600" b="0">
                <a:solidFill>
                  <a:srgbClr val="A0CFA0"/>
                </a:solidFill>
              </a:defRPr>
            </a:pPr>
            <a:r>
              <a:t>Université de Mostaganem — MCB</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Objectifs pédagogiques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En termes de savoir :- Identifier les services Internet essentiels à la recherche académique (HAL, ORCID, Zotero, Google Scholar)</a:t>
            </a:r>
            <a:br/>
            <a:r>
              <a:t>- Expliquer le mouvement Open Science et ses implications pour le chercheur</a:t>
            </a:r>
            <a:br/>
            <a:r>
              <a:t>- Distinguer les outils de gestion bibliographique et leurs protocoles</a:t>
            </a:r>
          </a:p>
          <a:p>
            <a:pPr>
              <a:spcAft>
                <a:spcPts val="600"/>
              </a:spcAft>
              <a:defRPr sz="1500">
                <a:solidFill>
                  <a:srgbClr val="222222"/>
                </a:solidFill>
              </a:defRPr>
            </a:pPr>
            <a:r>
              <a:t>• En termes de savoir-faire :- Configurer Zotero et l'interopérabilité avec le traitement de texte</a:t>
            </a:r>
            <a:br/>
            <a:r>
              <a:t>- Déposer un document sur HAL avec les métadonnées complètes</a:t>
            </a:r>
            <a:br/>
            <a:r>
              <a:t>- Réaliser une veille bibliographique automatisée (alertes, flux RSS)</a:t>
            </a:r>
            <a:br/>
            <a:r>
              <a:t>- Utiliser Overleaf pour la rédaction collaborative</a:t>
            </a:r>
          </a:p>
          <a:p>
            <a:pPr>
              <a:spcAft>
                <a:spcPts val="600"/>
              </a:spcAft>
              <a:defRPr sz="1500">
                <a:solidFill>
                  <a:srgbClr val="222222"/>
                </a:solidFill>
              </a:defRPr>
            </a:pPr>
            <a:r>
              <a:t>• En termes de savoir-être :- Culture de la science ouverte et du partage des données</a:t>
            </a:r>
            <a:br/>
            <a:r>
              <a:t>- Netiquette académique et identité numérique responsable</a:t>
            </a:r>
          </a:p>
          <a:p>
            <a:pPr>
              <a:spcAft>
                <a:spcPts val="600"/>
              </a:spcAft>
              <a:defRPr sz="1500">
                <a:solidFill>
                  <a:srgbClr val="222222"/>
                </a:solidFill>
              </a:defRPr>
            </a:pPr>
            <a:r>
              <a:t>• Mode d'évaluation :TD 20 % + Portfolio numérique (HAL + Zotero + ORCID) 50 % + QCM final 30 %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l">
              <a:defRPr sz="2600" b="1">
                <a:solidFill>
                  <a:srgbClr val="1A5C33"/>
                </a:solidFill>
              </a:defRPr>
            </a:pPr>
            <a:r>
              <a:t>📋 Plan du cours</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Fiche cours — Plateforme e-learning (Moodle)</a:t>
            </a:r>
          </a:p>
          <a:p>
            <a:pPr>
              <a:spcAft>
                <a:spcPts val="600"/>
              </a:spcAft>
              <a:defRPr sz="1600">
                <a:solidFill>
                  <a:srgbClr val="222222"/>
                </a:solidFill>
              </a:defRPr>
            </a:pPr>
            <a:r>
              <a:t>• Objectifs de l'enseignement</a:t>
            </a:r>
          </a:p>
          <a:p>
            <a:pPr>
              <a:spcAft>
                <a:spcPts val="600"/>
              </a:spcAft>
              <a:defRPr sz="1600">
                <a:solidFill>
                  <a:srgbClr val="222222"/>
                </a:solidFill>
              </a:defRPr>
            </a:pPr>
            <a:r>
              <a:t>• Activités d'apprentissage</a:t>
            </a:r>
          </a:p>
          <a:p>
            <a:pPr>
              <a:spcAft>
                <a:spcPts val="600"/>
              </a:spcAft>
              <a:defRPr sz="1600">
                <a:solidFill>
                  <a:srgbClr val="222222"/>
                </a:solidFill>
              </a:defRPr>
            </a:pPr>
            <a:r>
              <a:t>• Activités d'évaluation</a:t>
            </a:r>
          </a:p>
          <a:p>
            <a:pPr>
              <a:spcAft>
                <a:spcPts val="600"/>
              </a:spcAft>
              <a:defRPr sz="1600">
                <a:solidFill>
                  <a:srgbClr val="222222"/>
                </a:solidFill>
              </a:defRPr>
            </a:pPr>
            <a:r>
              <a:t>• Bibliographie et ressources externes</a:t>
            </a:r>
          </a:p>
          <a:p>
            <a:pPr>
              <a:spcAft>
                <a:spcPts val="600"/>
              </a:spcAft>
              <a:defRPr sz="1600">
                <a:solidFill>
                  <a:srgbClr val="222222"/>
                </a:solidFill>
              </a:defRPr>
            </a:pPr>
            <a:r>
              <a:t>• Contexte réglementaire algérien</a:t>
            </a:r>
          </a:p>
          <a:p>
            <a:pPr>
              <a:spcAft>
                <a:spcPts val="600"/>
              </a:spcAft>
              <a:defRPr sz="1600">
                <a:solidFill>
                  <a:srgbClr val="222222"/>
                </a:solidFill>
              </a:defRPr>
            </a:pPr>
            <a:r>
              <a:t>• Plan du cours</a:t>
            </a:r>
          </a:p>
          <a:p>
            <a:pPr>
              <a:spcAft>
                <a:spcPts val="600"/>
              </a:spcAft>
              <a:defRPr sz="1600">
                <a:solidFill>
                  <a:srgbClr val="222222"/>
                </a:solidFill>
              </a:defRPr>
            </a:pPr>
            <a:r>
              <a:t>• Introduction — Panorama des services Internet pour la recherche(10 min)</a:t>
            </a:r>
          </a:p>
          <a:p>
            <a:pPr>
              <a:spcAft>
                <a:spcPts val="600"/>
              </a:spcAft>
              <a:defRPr sz="1600">
                <a:solidFill>
                  <a:srgbClr val="222222"/>
                </a:solidFill>
              </a:defRPr>
            </a:pPr>
            <a:r>
              <a:t>• Identité numérique du chercheur : ORCID, IdHAL(10 min)</a:t>
            </a:r>
          </a:p>
          <a:p>
            <a:pPr>
              <a:spcAft>
                <a:spcPts val="600"/>
              </a:spcAft>
              <a:defRPr sz="1600">
                <a:solidFill>
                  <a:srgbClr val="222222"/>
                </a:solidFill>
              </a:defRPr>
            </a:pPr>
            <a:r>
              <a:t>• Google Scholar avancé et Google Alerts(10 min)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Fiche cours — Plateforme e-learning (Moodle)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400">
                <a:solidFill>
                  <a:srgbClr val="222222"/>
                </a:solidFill>
              </a:defRPr>
            </a:pPr>
            <a:r>
              <a:t>• Public visé :Master 1 Langue et Culture</a:t>
            </a:r>
          </a:p>
          <a:p>
            <a:pPr>
              <a:spcAft>
                <a:spcPts val="600"/>
              </a:spcAft>
              <a:defRPr sz="1400">
                <a:solidFill>
                  <a:srgbClr val="222222"/>
                </a:solidFill>
              </a:defRPr>
            </a:pPr>
            <a:r>
              <a:t>• Compétences pré-requises :TIC 01–09 ; maîtrise de la navigation Web et de la recherche documentaire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Objectifs de l'enseignement</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En termes de savoir :- Identifier les services Internet essentiels à la recherche académique (HAL, ORCID, Zotero, Google Scholar)</a:t>
            </a:r>
            <a:br/>
            <a:r>
              <a:t>- Expliquer le mouvement Open Science et ses implications pour le chercheur</a:t>
            </a:r>
            <a:br/>
            <a:r>
              <a:t>- Distinguer les outils de gestion bibliographique et leurs protocoles</a:t>
            </a:r>
          </a:p>
          <a:p>
            <a:pPr>
              <a:spcAft>
                <a:spcPts val="600"/>
              </a:spcAft>
              <a:defRPr sz="1400">
                <a:solidFill>
                  <a:srgbClr val="222222"/>
                </a:solidFill>
              </a:defRPr>
            </a:pPr>
            <a:r>
              <a:t>• En termes de savoir-faire :- Configurer Zotero et l'interopérabilité avec le traitement de texte</a:t>
            </a:r>
            <a:br/>
            <a:r>
              <a:t>- Déposer un document sur HAL avec les métadonnées complètes</a:t>
            </a:r>
            <a:br/>
            <a:r>
              <a:t>- Réaliser une veille bibliographique automatisée (alertes, flux RSS)</a:t>
            </a:r>
            <a:br/>
            <a:r>
              <a:t>- Utiliser Overleaf pour la rédaction collaborative</a:t>
            </a:r>
          </a:p>
          <a:p>
            <a:pPr>
              <a:spcAft>
                <a:spcPts val="600"/>
              </a:spcAft>
              <a:defRPr sz="1400">
                <a:solidFill>
                  <a:srgbClr val="222222"/>
                </a:solidFill>
              </a:defRPr>
            </a:pPr>
            <a:r>
              <a:t>• En termes de savoir-être :- Culture de la science ouverte et du partage des données</a:t>
            </a:r>
            <a:br/>
            <a:r>
              <a:t>- Netiquette académique et identité numérique responsable</a:t>
            </a:r>
          </a:p>
          <a:p>
            <a:pPr>
              <a:spcAft>
                <a:spcPts val="600"/>
              </a:spcAft>
              <a:defRPr sz="1400">
                <a:solidFill>
                  <a:srgbClr val="222222"/>
                </a:solidFill>
              </a:defRPr>
            </a:pPr>
            <a:r>
              <a:t>• Mode d'évaluation :TD 20 % + Portfolio numérique (HAL + Zotero + ORCID) 50 % + QCM final 30 %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Activités d'apprentissage</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Création d'un compte ORCID + dépôt d'un document fictif sur HAL</a:t>
            </a:r>
          </a:p>
          <a:p>
            <a:pPr>
              <a:spcAft>
                <a:spcPts val="600"/>
              </a:spcAft>
              <a:defRPr sz="1400">
                <a:solidFill>
                  <a:srgbClr val="222222"/>
                </a:solidFill>
              </a:defRPr>
            </a:pPr>
            <a:r>
              <a:t>• Configuration Zotero : bibliographie collaborative sur un thème commun</a:t>
            </a:r>
          </a:p>
          <a:p>
            <a:pPr>
              <a:spcAft>
                <a:spcPts val="600"/>
              </a:spcAft>
              <a:defRPr sz="1400">
                <a:solidFill>
                  <a:srgbClr val="222222"/>
                </a:solidFill>
              </a:defRPr>
            </a:pPr>
            <a:r>
              <a:t>• Rédaction d'un court article sur Overleaf (modèle template)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Activités d'évaluation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Portfolio : profil ORCID, groupe Zotero partagé, document Overleaf exporté</a:t>
            </a:r>
          </a:p>
          <a:p>
            <a:pPr>
              <a:spcAft>
                <a:spcPts val="600"/>
              </a:spcAft>
              <a:defRPr sz="1400">
                <a:solidFill>
                  <a:srgbClr val="222222"/>
                </a:solidFill>
              </a:defRPr>
            </a:pPr>
            <a:r>
              <a:t>• QCM final récapitulatif du module TIC (20 questions)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Bibliographie et ressources externes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DigComp 2.2 (Union Européenne, 2022) — cadre de compétences numériques</a:t>
            </a:r>
          </a:p>
          <a:p>
            <a:pPr>
              <a:spcAft>
                <a:spcPts val="600"/>
              </a:spcAft>
              <a:defRPr sz="1400">
                <a:solidFill>
                  <a:srgbClr val="222222"/>
                </a:solidFill>
              </a:defRPr>
            </a:pPr>
            <a:r>
              <a:t>• Guides étudiant Moodle (Univ-Mosta, Boumerdès, Béjaïa)</a:t>
            </a:r>
          </a:p>
          <a:p>
            <a:pPr>
              <a:spcAft>
                <a:spcPts val="600"/>
              </a:spcAft>
              <a:defRPr sz="1400">
                <a:solidFill>
                  <a:srgbClr val="222222"/>
                </a:solidFill>
              </a:defRPr>
            </a:pPr>
            <a:r>
              <a:t>• HAL — https://hal.science ; Zotero — https://zotero.org ; Overleaf — https://overleaf.com</a:t>
            </a:r>
          </a:p>
          <a:p>
            <a:pPr>
              <a:spcAft>
                <a:spcPts val="600"/>
              </a:spcAft>
              <a:defRPr sz="1400">
                <a:solidFill>
                  <a:srgbClr val="222222"/>
                </a:solidFill>
              </a:defRPr>
            </a:pPr>
            <a:r>
              <a:t>• ORCID — https://orcid.org</a:t>
            </a:r>
          </a:p>
          <a:p>
            <a:pPr>
              <a:spcAft>
                <a:spcPts val="600"/>
              </a:spcAft>
              <a:defRPr sz="1400">
                <a:solidFill>
                  <a:srgbClr val="222222"/>
                </a:solidFill>
              </a:defRPr>
            </a:pPr>
            <a:r>
              <a:t>• Contact enseignant :BELACEL Madani —madani.belacel@univ-mosta.dz</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Contexte réglementaire algérien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Arrêté 933 (2016): Le Master Langue et Culture intègre l'UE « Méthodologie de la recherche et TIC ». La maîtrise des outils bibliographiques et des archives ouvertes est une compétence évaluée.Arrêté 129 (2019): Diffusion en accès ouvert des mémoires de Master via les plateformes institutionnelles.</a:t>
            </a:r>
          </a:p>
          <a:p>
            <a:pPr>
              <a:spcAft>
                <a:spcPts val="600"/>
              </a:spcAft>
              <a:defRPr sz="1400">
                <a:solidFill>
                  <a:srgbClr val="222222"/>
                </a:solidFill>
              </a:defRPr>
            </a:pPr>
            <a:r>
              <a:t>• Loi 18-07 (2018)sur la protection des données personnelles : les plateformes académiques (ORCID, HAL) collectent des données d'identification ; le chercheur doit être informé de leurs usages.</a:t>
            </a:r>
          </a:p>
          <a:p>
            <a:pPr>
              <a:spcAft>
                <a:spcPts val="600"/>
              </a:spcAft>
              <a:defRPr sz="1400">
                <a:solidFill>
                  <a:srgbClr val="222222"/>
                </a:solidFill>
              </a:defRPr>
            </a:pPr>
            <a:r>
              <a:t>• PNDES 2025-2030: L'Algérie s'engage dans laScience Ouvertevia le portail national des revues (SJD) et le dépôt systématique des thèses. La bibliothèque numérique du CERIST (biblio.cerist.dz) donne accès aux ressources souscrites.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Plan du cours</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Introduction — Panorama des services Internet pour la recherche</a:t>
            </a:r>
          </a:p>
          <a:p>
            <a:pPr>
              <a:spcAft>
                <a:spcPts val="600"/>
              </a:spcAft>
              <a:defRPr sz="1400">
                <a:solidFill>
                  <a:srgbClr val="222222"/>
                </a:solidFill>
              </a:defRPr>
            </a:pPr>
            <a:r>
              <a:t>• Identité numérique du chercheur : ORCID, IdHAL</a:t>
            </a:r>
          </a:p>
          <a:p>
            <a:pPr>
              <a:spcAft>
                <a:spcPts val="600"/>
              </a:spcAft>
              <a:defRPr sz="1400">
                <a:solidFill>
                  <a:srgbClr val="222222"/>
                </a:solidFill>
              </a:defRPr>
            </a:pPr>
            <a:r>
              <a:t>• Google Scholar avancé et Google Alerts</a:t>
            </a:r>
          </a:p>
          <a:p>
            <a:pPr>
              <a:spcAft>
                <a:spcPts val="600"/>
              </a:spcAft>
              <a:defRPr sz="1400">
                <a:solidFill>
                  <a:srgbClr val="222222"/>
                </a:solidFill>
              </a:defRPr>
            </a:pPr>
            <a:r>
              <a:t>• HAL : dépôt et consultation</a:t>
            </a:r>
          </a:p>
          <a:p>
            <a:pPr>
              <a:spcAft>
                <a:spcPts val="600"/>
              </a:spcAft>
              <a:defRPr sz="1400">
                <a:solidFill>
                  <a:srgbClr val="222222"/>
                </a:solidFill>
              </a:defRPr>
            </a:pPr>
            <a:r>
              <a:t>• Zotero : gestion bibliographique collaborative</a:t>
            </a:r>
          </a:p>
          <a:p>
            <a:pPr>
              <a:spcAft>
                <a:spcPts val="600"/>
              </a:spcAft>
              <a:defRPr sz="1400">
                <a:solidFill>
                  <a:srgbClr val="222222"/>
                </a:solidFill>
              </a:defRPr>
            </a:pPr>
            <a:r>
              <a:t>• Overleaf et rédaction académique collaborative</a:t>
            </a:r>
          </a:p>
          <a:p>
            <a:pPr>
              <a:spcAft>
                <a:spcPts val="600"/>
              </a:spcAft>
              <a:defRPr sz="1400">
                <a:solidFill>
                  <a:srgbClr val="222222"/>
                </a:solidFill>
              </a:defRPr>
            </a:pPr>
            <a:r>
              <a:t>• Research Data Management (RDM)</a:t>
            </a:r>
          </a:p>
          <a:p>
            <a:pPr>
              <a:spcAft>
                <a:spcPts val="600"/>
              </a:spcAft>
              <a:defRPr sz="1400">
                <a:solidFill>
                  <a:srgbClr val="222222"/>
                </a:solidFill>
              </a:defRPr>
            </a:pPr>
            <a:r>
              <a:t>• Open Science et Science Ouverte</a:t>
            </a:r>
          </a:p>
          <a:p>
            <a:pPr>
              <a:spcAft>
                <a:spcPts val="600"/>
              </a:spcAft>
              <a:defRPr sz="1400">
                <a:solidFill>
                  <a:srgbClr val="222222"/>
                </a:solidFill>
              </a:defRPr>
            </a:pPr>
            <a:r>
              <a:t>• Veille et flux RSS académiques</a:t>
            </a:r>
          </a:p>
          <a:p>
            <a:pPr>
              <a:spcAft>
                <a:spcPts val="600"/>
              </a:spcAft>
              <a:defRPr sz="1400">
                <a:solidFill>
                  <a:srgbClr val="222222"/>
                </a:solidFill>
              </a:defRPr>
            </a:pPr>
            <a:r>
              <a:t>• Synthèse module TIC 01–10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Introduction — Panorama des services Internet pour la recherche(10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Ce dernier cours du module TIC synthétise l'ensemble des apprentissages en les orientant vers lespratiques concrètes de recherche en Master. Les services Internet ne sont plus seulement des outils quotidiens (courriel, stockage) : ils deviennent desinstruments de production scientifique.</a:t>
            </a:r>
          </a:p>
          <a:p>
            <a:pPr>
              <a:spcAft>
                <a:spcPts val="600"/>
              </a:spcAft>
              <a:defRPr sz="1400">
                <a:solidFill>
                  <a:srgbClr val="222222"/>
                </a:solidFill>
              </a:defRPr>
            </a:pPr>
            <a:r>
              <a:t>• Les trois piliers du chercheur numérique :1.Identité: qui êtes-vous scientifiquement ? (ORCID, Google Scholar, HAL)</a:t>
            </a:r>
            <a:br/>
            <a:r>
              <a:t>2.Instruments: quels outils pour lire, écrire, publier ? (Zotero, Overleaf, HAL)</a:t>
            </a:r>
            <a:br/>
            <a:r>
              <a:t>3.Impact: comment diffuser et mesurer votre recherche ? (Open Access, citations, altmetrics)</a:t>
            </a:r>
          </a:p>
          <a:p>
            <a:pPr>
              <a:spcAft>
                <a:spcPts val="600"/>
              </a:spcAft>
              <a:defRPr sz="1400">
                <a:solidFill>
                  <a:srgbClr val="222222"/>
                </a:solidFill>
              </a:defRPr>
            </a:pPr>
            <a:r>
              <a:t>• Contexte algérien: la généralisation des plateformes académiques (HAL Mostaganem, SJD) et l'obligation de dépôt des mémoires de Master dans les bibliothèques numériques institutionnelles imposent une maîtrise minimale de ces outils.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2C6E4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8229600" cy="640080"/>
          </a:xfrm>
          <a:prstGeom prst="rect">
            <a:avLst/>
          </a:prstGeom>
          <a:noFill/>
        </p:spPr>
        <p:txBody>
          <a:bodyPr wrap="square">
            <a:spAutoFit/>
          </a:bodyPr>
          <a:lstStyle/>
          <a:p>
            <a:pPr algn="l">
              <a:defRPr sz="2200" b="1">
                <a:solidFill>
                  <a:srgbClr val="1A5C33"/>
                </a:solidFill>
              </a:defRPr>
            </a:pPr>
            <a:r>
              <a:t>Identité numérique du chercheur : ORCID, IdHAL(10 min)</a:t>
            </a:r>
          </a:p>
        </p:txBody>
      </p:sp>
      <p:sp>
        <p:nvSpPr>
          <p:cNvPr id="4" name="TextBox 3"/>
          <p:cNvSpPr txBox="1"/>
          <p:nvPr/>
        </p:nvSpPr>
        <p:spPr>
          <a:xfrm>
            <a:off x="457200" y="1371600"/>
            <a:ext cx="7772400" cy="4572000"/>
          </a:xfrm>
          <a:prstGeom prst="rect">
            <a:avLst/>
          </a:prstGeom>
          <a:noFill/>
        </p:spPr>
        <p:txBody>
          <a:bodyPr wrap="square">
            <a:spAutoFit/>
          </a:bodyPr>
          <a:lstStyle/>
          <a:p>
            <a:pPr>
              <a:spcAft>
                <a:spcPts val="600"/>
              </a:spcAft>
              <a:defRPr sz="1400">
                <a:solidFill>
                  <a:srgbClr val="222222"/>
                </a:solidFill>
              </a:defRPr>
            </a:pPr>
            <a:r>
              <a:t>• ORCID(Open Researcher and Contributor ID) —orcid.org</a:t>
            </a:r>
          </a:p>
          <a:p>
            <a:pPr>
              <a:spcAft>
                <a:spcPts val="600"/>
              </a:spcAft>
              <a:defRPr sz="1400">
                <a:solidFill>
                  <a:srgbClr val="222222"/>
                </a:solidFill>
              </a:defRPr>
            </a:pPr>
            <a:r>
              <a:t>• Identifiant unique et pérenne (16 chiffres) pour chaque chercheur</a:t>
            </a:r>
          </a:p>
          <a:p>
            <a:pPr>
              <a:spcAft>
                <a:spcPts val="600"/>
              </a:spcAft>
              <a:defRPr sz="1400">
                <a:solidFill>
                  <a:srgbClr val="222222"/>
                </a:solidFill>
              </a:defRPr>
            </a:pPr>
            <a:r>
              <a:t>• Obligatoire dans la plupart des revues et appels d'offres internationaux</a:t>
            </a:r>
          </a:p>
          <a:p>
            <a:pPr>
              <a:spcAft>
                <a:spcPts val="600"/>
              </a:spcAft>
              <a:defRPr sz="1400">
                <a:solidFill>
                  <a:srgbClr val="222222"/>
                </a:solidFill>
              </a:defRPr>
            </a:pPr>
            <a:r>
              <a:t>• Synchronisation avec HAL, Crossref, Scopus, WoS</a:t>
            </a:r>
          </a:p>
          <a:p>
            <a:pPr>
              <a:spcAft>
                <a:spcPts val="600"/>
              </a:spcAft>
              <a:defRPr sz="1400">
                <a:solidFill>
                  <a:srgbClr val="222222"/>
                </a:solidFill>
              </a:defRPr>
            </a:pPr>
            <a:r>
              <a:t>• Configuration :1. Créer un compte ORCID (gratuit)</a:t>
            </a:r>
            <a:br/>
            <a:r>
              <a:t>2. Renseigner : affiliation, publications, formation</a:t>
            </a:r>
            <a:br/>
            <a:r>
              <a:t>3. Connecter à HAL (IdHAL) et Google Scholar</a:t>
            </a:r>
          </a:p>
          <a:p>
            <a:pPr>
              <a:spcAft>
                <a:spcPts val="600"/>
              </a:spcAft>
              <a:defRPr sz="1400">
                <a:solidFill>
                  <a:srgbClr val="222222"/>
                </a:solidFill>
              </a:defRPr>
            </a:pPr>
            <a:r>
              <a:t>• IdHAL: identifiant dédié à la plateforme HAL. Format :prenom-nom. Permet de regrouper toutes vos productions.</a:t>
            </a:r>
          </a:p>
          <a:p>
            <a:pPr>
              <a:spcAft>
                <a:spcPts val="600"/>
              </a:spcAft>
              <a:defRPr sz="1400">
                <a:solidFill>
                  <a:srgbClr val="222222"/>
                </a:solidFill>
              </a:defRPr>
            </a:pPr>
            <a:r>
              <a:t>• Pourquoi en Master ?Publier un mémoire ou un article de synthèse = attribution d'un ORCID dès le Master. C'est une pratique de plus en plus courante (recommandée par le MESRS algérien).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8F0E9"/>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Points clés à retenir</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600">
                <a:solidFill>
                  <a:srgbClr val="222222"/>
                </a:solidFill>
              </a:defRPr>
            </a:pPr>
            <a:r>
              <a:t>• Référentiel :titres et structure alignés sur Canvas Univ-Mosta (elearning.univ-usto.dz) ; bonnes pratiques benchmark 10 universités algériennes (voirBENCHMARK_10_UNIVERSITES_ELEARNING.md).</a:t>
            </a:r>
          </a:p>
          <a:p>
            <a:pPr>
              <a:spcAft>
                <a:spcPts val="600"/>
              </a:spcAft>
              <a:defRPr sz="1600">
                <a:solidFill>
                  <a:srgbClr val="222222"/>
                </a:solidFill>
              </a:defRPr>
            </a:pPr>
            <a:r>
              <a:t>• En termes de savoir :- Identifier les services Internet essentiels à la recherche académique (HAL, ORCID, Zotero, Google Scholar)</a:t>
            </a:r>
            <a:br/>
            <a:r>
              <a:t>- Expliquer le mouvement Open Science et ses implications pour le chercheur</a:t>
            </a:r>
            <a:br/>
            <a:r>
              <a:t>- Distinguer les outils de gestion bibliographique et leurs protocoles</a:t>
            </a:r>
          </a:p>
          <a:p>
            <a:pPr>
              <a:spcAft>
                <a:spcPts val="600"/>
              </a:spcAft>
              <a:defRPr sz="1600">
                <a:solidFill>
                  <a:srgbClr val="222222"/>
                </a:solidFill>
              </a:defRPr>
            </a:pPr>
            <a:r>
              <a:t>• Création d'un compte ORCID + dépôt d'un document fictif sur HAL</a:t>
            </a:r>
          </a:p>
          <a:p>
            <a:pPr>
              <a:spcAft>
                <a:spcPts val="600"/>
              </a:spcAft>
              <a:defRPr sz="1600">
                <a:solidFill>
                  <a:srgbClr val="222222"/>
                </a:solidFill>
              </a:defRPr>
            </a:pPr>
            <a:r>
              <a:t>• Portfolio : profil ORCID, groupe Zotero partagé, document Overleaf exporté</a:t>
            </a:r>
          </a:p>
          <a:p>
            <a:pPr>
              <a:spcAft>
                <a:spcPts val="600"/>
              </a:spcAft>
              <a:defRPr sz="1600">
                <a:solidFill>
                  <a:srgbClr val="222222"/>
                </a:solidFill>
              </a:defRPr>
            </a:pPr>
            <a:r>
              <a:t>• DigComp 2.2 (Union Européenne, 2022) — cadre de compétences numériques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7772400" cy="640080"/>
          </a:xfrm>
          <a:prstGeom prst="rect">
            <a:avLst/>
          </a:prstGeom>
          <a:noFill/>
        </p:spPr>
        <p:txBody>
          <a:bodyPr wrap="square">
            <a:spAutoFit/>
          </a:bodyPr>
          <a:lstStyle/>
          <a:p>
            <a:pPr algn="ctr">
              <a:defRPr sz="2600" b="1">
                <a:solidFill>
                  <a:srgbClr val="1A5C33"/>
                </a:solidFill>
              </a:defRPr>
            </a:pPr>
            <a:r>
              <a:t>✏️ Exercices d'application</a:t>
            </a:r>
          </a:p>
        </p:txBody>
      </p:sp>
      <p:sp>
        <p:nvSpPr>
          <p:cNvPr id="3" name="TextBox 2"/>
          <p:cNvSpPr txBox="1"/>
          <p:nvPr/>
        </p:nvSpPr>
        <p:spPr>
          <a:xfrm>
            <a:off x="548640" y="1828800"/>
            <a:ext cx="7772400" cy="4572000"/>
          </a:xfrm>
          <a:prstGeom prst="rect">
            <a:avLst/>
          </a:prstGeom>
          <a:noFill/>
        </p:spPr>
        <p:txBody>
          <a:bodyPr wrap="square">
            <a:spAutoFit/>
          </a:bodyPr>
          <a:lstStyle/>
          <a:p>
            <a:pPr>
              <a:spcAft>
                <a:spcPts val="600"/>
              </a:spcAft>
              <a:defRPr sz="1500">
                <a:solidFill>
                  <a:srgbClr val="222222"/>
                </a:solidFill>
              </a:defRPr>
            </a:pPr>
            <a:r>
              <a:t>• Définir les concepts principaux du cours</a:t>
            </a:r>
          </a:p>
          <a:p>
            <a:pPr>
              <a:spcAft>
                <a:spcPts val="600"/>
              </a:spcAft>
              <a:defRPr sz="1500">
                <a:solidFill>
                  <a:srgbClr val="222222"/>
                </a:solidFill>
              </a:defRPr>
            </a:pPr>
            <a:r>
              <a:t>• Identifier les applications pratiques</a:t>
            </a:r>
          </a:p>
          <a:p>
            <a:pPr>
              <a:spcAft>
                <a:spcPts val="600"/>
              </a:spcAft>
              <a:defRPr sz="1500">
                <a:solidFill>
                  <a:srgbClr val="222222"/>
                </a:solidFill>
              </a:defRPr>
            </a:pPr>
            <a:r>
              <a:t>• Résoudre les exercices du TD</a:t>
            </a:r>
          </a:p>
          <a:p>
            <a:pPr>
              <a:spcAft>
                <a:spcPts val="600"/>
              </a:spcAft>
              <a:defRPr sz="1500">
                <a:solidFill>
                  <a:srgbClr val="222222"/>
                </a:solidFill>
              </a:defRPr>
            </a:pPr>
            <a:r>
              <a:t>• Synthétiser les points clés en un paragraphe</a:t>
            </a:r>
          </a:p>
          <a:p>
            <a:pPr>
              <a:spcAft>
                <a:spcPts val="600"/>
              </a:spcAft>
              <a:defRPr sz="1500">
                <a:solidFill>
                  <a:srgbClr val="222222"/>
                </a:solidFill>
              </a:defRPr>
            </a:pPr>
            <a:r>
              <a:t>• Préparer une courte présentation orale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A5C33"/>
        </a:solidFill>
        <a:effectLst/>
      </p:bgPr>
    </p:bg>
    <p:spTree>
      <p:nvGrpSpPr>
        <p:cNvPr id="1" name=""/>
        <p:cNvGrpSpPr/>
        <p:nvPr/>
      </p:nvGrpSpPr>
      <p:grpSpPr/>
      <p:sp>
        <p:nvSpPr>
          <p:cNvPr id="2" name="TextBox 1"/>
          <p:cNvSpPr txBox="1"/>
          <p:nvPr/>
        </p:nvSpPr>
        <p:spPr>
          <a:xfrm>
            <a:off x="731520" y="1371600"/>
            <a:ext cx="7680960" cy="914400"/>
          </a:xfrm>
          <a:prstGeom prst="rect">
            <a:avLst/>
          </a:prstGeom>
          <a:noFill/>
        </p:spPr>
        <p:txBody>
          <a:bodyPr wrap="square">
            <a:spAutoFit/>
          </a:bodyPr>
          <a:lstStyle/>
          <a:p>
            <a:pPr algn="ctr">
              <a:defRPr sz="2800" b="1">
                <a:solidFill>
                  <a:srgbClr val="FFFFFF"/>
                </a:solidFill>
              </a:defRPr>
            </a:pPr>
            <a:r>
              <a:t>🎓 Conclusion</a:t>
            </a:r>
          </a:p>
        </p:txBody>
      </p:sp>
      <p:sp>
        <p:nvSpPr>
          <p:cNvPr id="3" name="TextBox 2"/>
          <p:cNvSpPr txBox="1"/>
          <p:nvPr/>
        </p:nvSpPr>
        <p:spPr>
          <a:xfrm>
            <a:off x="731520" y="2743200"/>
            <a:ext cx="7680960" cy="1828800"/>
          </a:xfrm>
          <a:prstGeom prst="rect">
            <a:avLst/>
          </a:prstGeom>
          <a:noFill/>
        </p:spPr>
        <p:txBody>
          <a:bodyPr wrap="square">
            <a:spAutoFit/>
          </a:bodyPr>
          <a:lstStyle/>
          <a:p>
            <a:pPr algn="ctr">
              <a:defRPr sz="1800" b="0">
                <a:solidFill>
                  <a:srgbClr val="C5D9C7"/>
                </a:solidFill>
              </a:defRPr>
            </a:pPr>
            <a:r>
              <a:t>Dr. BELACEL Madani</a:t>
            </a:r>
            <a:br/>
            <a:r>
              <a:t>Maître de Conférences B</a:t>
            </a:r>
            <a:br/>
            <a:r>
              <a:t>Université de Mostaganem</a:t>
            </a:r>
            <a:br/>
            <a:r>
              <a:t>madani.belacel@univ-mosta.dz</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