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Poppins"/>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Poppins"/>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Poppins"/>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Poppins"/>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Poppins"/>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Poppins"/>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Poppins"/>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Poppins"/>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Poppins"/>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Poppins"/>
          <a:ea typeface="+mn-ea"/>
          <a:cs typeface="+mn-cs"/>
        </a:defRPr>
      </a:lvl9pPr>
    </p:bodyStyle>
    <p:otherStyle>
      <a:defPPr>
        <a:defRPr lang="en-US"/>
      </a:defPPr>
      <a:lvl1pPr marL="0" algn="l" defTabSz="457200" rtl="0" eaLnBrk="1" latinLnBrk="0" hangingPunct="1">
        <a:defRPr sz="1800" kern="1200">
          <a:solidFill>
            <a:schemeClr val="tx1"/>
          </a:solidFill>
          <a:latin typeface="Poppins"/>
          <a:ea typeface="+mn-ea"/>
          <a:cs typeface="+mn-cs"/>
        </a:defRPr>
      </a:lvl1pPr>
      <a:lvl2pPr marL="457200" algn="l" defTabSz="457200" rtl="0" eaLnBrk="1" latinLnBrk="0" hangingPunct="1">
        <a:defRPr sz="1800" kern="1200">
          <a:solidFill>
            <a:schemeClr val="tx1"/>
          </a:solidFill>
          <a:latin typeface="Poppins"/>
          <a:ea typeface="+mn-ea"/>
          <a:cs typeface="+mn-cs"/>
        </a:defRPr>
      </a:lvl2pPr>
      <a:lvl3pPr marL="914400" algn="l" defTabSz="457200" rtl="0" eaLnBrk="1" latinLnBrk="0" hangingPunct="1">
        <a:defRPr sz="1800" kern="1200">
          <a:solidFill>
            <a:schemeClr val="tx1"/>
          </a:solidFill>
          <a:latin typeface="Poppins"/>
          <a:ea typeface="+mn-ea"/>
          <a:cs typeface="+mn-cs"/>
        </a:defRPr>
      </a:lvl3pPr>
      <a:lvl4pPr marL="1371600" algn="l" defTabSz="457200" rtl="0" eaLnBrk="1" latinLnBrk="0" hangingPunct="1">
        <a:defRPr sz="1800" kern="1200">
          <a:solidFill>
            <a:schemeClr val="tx1"/>
          </a:solidFill>
          <a:latin typeface="Poppins"/>
          <a:ea typeface="+mn-ea"/>
          <a:cs typeface="+mn-cs"/>
        </a:defRPr>
      </a:lvl4pPr>
      <a:lvl5pPr marL="1828800" algn="l" defTabSz="457200" rtl="0" eaLnBrk="1" latinLnBrk="0" hangingPunct="1">
        <a:defRPr sz="1800" kern="1200">
          <a:solidFill>
            <a:schemeClr val="tx1"/>
          </a:solidFill>
          <a:latin typeface="Poppins"/>
          <a:ea typeface="+mn-ea"/>
          <a:cs typeface="+mn-cs"/>
        </a:defRPr>
      </a:lvl5pPr>
      <a:lvl6pPr marL="2286000" algn="l" defTabSz="457200" rtl="0" eaLnBrk="1" latinLnBrk="0" hangingPunct="1">
        <a:defRPr sz="1800" kern="1200">
          <a:solidFill>
            <a:schemeClr val="tx1"/>
          </a:solidFill>
          <a:latin typeface="Poppins"/>
          <a:ea typeface="+mn-ea"/>
          <a:cs typeface="+mn-cs"/>
        </a:defRPr>
      </a:lvl6pPr>
      <a:lvl7pPr marL="2743200" algn="l" defTabSz="457200" rtl="0" eaLnBrk="1" latinLnBrk="0" hangingPunct="1">
        <a:defRPr sz="1800" kern="1200">
          <a:solidFill>
            <a:schemeClr val="tx1"/>
          </a:solidFill>
          <a:latin typeface="Poppins"/>
          <a:ea typeface="+mn-ea"/>
          <a:cs typeface="+mn-cs"/>
        </a:defRPr>
      </a:lvl7pPr>
      <a:lvl8pPr marL="3200400" algn="l" defTabSz="457200" rtl="0" eaLnBrk="1" latinLnBrk="0" hangingPunct="1">
        <a:defRPr sz="1800" kern="1200">
          <a:solidFill>
            <a:schemeClr val="tx1"/>
          </a:solidFill>
          <a:latin typeface="Poppins"/>
          <a:ea typeface="+mn-ea"/>
          <a:cs typeface="+mn-cs"/>
        </a:defRPr>
      </a:lvl8pPr>
      <a:lvl9pPr marL="3657600" algn="l" defTabSz="457200" rtl="0" eaLnBrk="1" latinLnBrk="0" hangingPunct="1">
        <a:defRPr sz="1800" kern="1200">
          <a:solidFill>
            <a:schemeClr val="tx1"/>
          </a:solidFill>
          <a:latin typeface="Poppins"/>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val="006847"/&gt;</a:solidFill>
        <a:effectLst/>
      </p:bgPr>
    </p:bg>
    <p:spTree>
      <p:nvGrpSpPr>
        <p:cNvPr id="1" name=""/>
        <p:cNvGrpSpPr/>
        <p:nvPr/>
      </p:nvGrpSpPr>
      <p:grpSpPr/>
      <p:sp>
        <p:nvSpPr>
          <p:cNvPr id="2" name="TextBox 1"/>
          <p:cNvSpPr txBox="1"/>
          <p:nvPr/>
        </p:nvSpPr>
        <p:spPr>
          <a:xfrm>
            <a:off x="731520" y="1371600"/>
            <a:ext cx="7680960" cy="1371600"/>
          </a:xfrm>
          <a:prstGeom prst="rect">
            <a:avLst/>
          </a:prstGeom>
          <a:noFill/>
        </p:spPr>
        <p:txBody>
          <a:bodyPr wrap="square">
            <a:spAutoFit/>
          </a:bodyPr>
          <a:lstStyle/>
          <a:p>
            <a:pPr algn="ctr">
              <a:defRPr sz="3200" b="1">
                <a:solidFill>val="FFFFFF"/&gt;</a:solidFill>
              </a:defRPr>
            </a:pPr>
            <a:r>
              <a:t>Cours TIC 10 — Services Internet</a:t>
            </a:r>
          </a:p>
        </p:txBody>
      </p:sp>
      <p:sp>
        <p:nvSpPr>
          <p:cNvPr id="3" name="TextBox 2"/>
          <p:cNvSpPr txBox="1"/>
          <p:nvPr/>
        </p:nvSpPr>
        <p:spPr>
          <a:xfrm>
            <a:off x="731520" y="2926080"/>
            <a:ext cx="7680960" cy="548640"/>
          </a:xfrm>
          <a:prstGeom prst="rect">
            <a:avLst/>
          </a:prstGeom>
          <a:noFill/>
        </p:spPr>
        <p:txBody>
          <a:bodyPr wrap="square">
            <a:spAutoFit/>
          </a:bodyPr>
          <a:lstStyle/>
          <a:p>
            <a:pPr algn="ctr">
              <a:defRPr sz="2000" b="0">
                <a:solidFill>val="DFE5EA"/&gt;</a:solidFill>
              </a:defRPr>
            </a:pPr>
            <a:r>
              <a:t>Module TIC — Dr. BELACEL Madani</a:t>
            </a:r>
          </a:p>
        </p:txBody>
      </p:sp>
      <p:sp>
        <p:nvSpPr>
          <p:cNvPr id="4" name="TextBox 3"/>
          <p:cNvSpPr txBox="1"/>
          <p:nvPr/>
        </p:nvSpPr>
        <p:spPr>
          <a:xfrm>
            <a:off x="731520" y="3657600"/>
            <a:ext cx="7680960" cy="457200"/>
          </a:xfrm>
          <a:prstGeom prst="rect">
            <a:avLst/>
          </a:prstGeom>
          <a:noFill/>
        </p:spPr>
        <p:txBody>
          <a:bodyPr wrap="square">
            <a:spAutoFit/>
          </a:bodyPr>
          <a:lstStyle/>
          <a:p>
            <a:pPr algn="ctr">
              <a:defRPr sz="1600" b="0">
                <a:solidFill>val="B7C9BE"/&gt;</a:solidFill>
              </a:defRPr>
            </a:pPr>
            <a:r>
              <a:t>Université de Mostaganem — MCB</a:t>
            </a:r>
          </a:p>
        </p:txBody>
      </p:sp>
      <p:sp>
        <p:nvSpPr>
          <p:cNvPr id="990001" name="Pied de page FLE"/>
          <p:cNvSpPr>
            <a:spLocks noGrp="1"/>
          </p:cNvSpPr>
          <p:nvPr/>
        </p:nvSpPr>
        <p:spPr>
          <a:xfrm>
            <a:off x="2880360"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l">
              <a:defRPr sz="2600" b="1">
                <a:solidFill>val="006847"/&gt;</a:solidFill>
              </a:defRPr>
            </a:pPr>
            <a:r>
              <a:t>🎯 Objectifs pédagogiques</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500">
                <a:solidFill>val="22344A"/&gt;</a:solidFill>
              </a:defRPr>
            </a:pPr>
            <a:r>
              <a:t>• En termes de savoir :- Identifier les services Internet essentiels à la recherche académique (HAL, ORCID, Zotero, Google Scholar)</a:t>
            </a:r>
            <a:br/>
            <a:r>
              <a:t>- Expliquer le mouvement Open Science et ses implications pour le chercheur</a:t>
            </a:r>
            <a:br/>
            <a:r>
              <a:t>- Distinguer les outils de gestion bibliographique et leurs protocoles</a:t>
            </a:r>
          </a:p>
          <a:p>
            <a:pPr>
              <a:spcAft>
                <a:spcPts val="600"/>
              </a:spcAft>
              <a:defRPr sz="1500">
                <a:solidFill>val="22344A"/&gt;</a:solidFill>
              </a:defRPr>
            </a:pPr>
            <a:r>
              <a:t>• En termes de savoir-faire :- Configurer Zotero et l'interopérabilité avec le traitement de texte</a:t>
            </a:r>
            <a:br/>
            <a:r>
              <a:t>- Déposer un document sur HAL avec les métadonnées complètes</a:t>
            </a:r>
            <a:br/>
            <a:r>
              <a:t>- Réaliser une veille bibliographique automatisée (alertes, flux RSS)</a:t>
            </a:r>
            <a:br/>
            <a:r>
              <a:t>- Utiliser Overleaf pour la rédaction collaborative</a:t>
            </a:r>
          </a:p>
          <a:p>
            <a:pPr>
              <a:spcAft>
                <a:spcPts val="600"/>
              </a:spcAft>
              <a:defRPr sz="1500">
                <a:solidFill>val="22344A"/&gt;</a:solidFill>
              </a:defRPr>
            </a:pPr>
            <a:r>
              <a:t>• En termes de savoir-être :- Culture de la science ouverte et du partage des données</a:t>
            </a:r>
            <a:br/>
            <a:r>
              <a:t>- Netiquette académique et identité numérique responsable</a:t>
            </a:r>
          </a:p>
          <a:p>
            <a:pPr>
              <a:spcAft>
                <a:spcPts val="600"/>
              </a:spcAft>
              <a:defRPr sz="1500">
                <a:solidFill>val="22344A"/&gt;</a:solidFill>
              </a:defRPr>
            </a:pPr>
            <a:r>
              <a:t>• Mode d'évaluation :TD 20 % + Portfolio numérique (HAL + Zotero + ORCID) 50 % + QCM final 30 %</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l">
              <a:defRPr sz="2600" b="1">
                <a:solidFill>val="006847"/&gt;</a:solidFill>
              </a:defRPr>
            </a:pPr>
            <a:r>
              <a:t>📋 Plan du cours</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600">
                <a:solidFill>val="22344A"/&gt;</a:solidFill>
              </a:defRPr>
            </a:pPr>
            <a:r>
              <a:t>• Fiche cours — Plateforme e-learning (Moodle)</a:t>
            </a:r>
          </a:p>
          <a:p>
            <a:pPr>
              <a:spcAft>
                <a:spcPts val="600"/>
              </a:spcAft>
              <a:defRPr sz="1600">
                <a:solidFill>val="22344A"/&gt;</a:solidFill>
              </a:defRPr>
            </a:pPr>
            <a:r>
              <a:t>• Objectifs de l'enseignement</a:t>
            </a:r>
          </a:p>
          <a:p>
            <a:pPr>
              <a:spcAft>
                <a:spcPts val="600"/>
              </a:spcAft>
              <a:defRPr sz="1600">
                <a:solidFill>val="22344A"/&gt;</a:solidFill>
              </a:defRPr>
            </a:pPr>
            <a:r>
              <a:t>• Activités d'apprentissage</a:t>
            </a:r>
          </a:p>
          <a:p>
            <a:pPr>
              <a:spcAft>
                <a:spcPts val="600"/>
              </a:spcAft>
              <a:defRPr sz="1600">
                <a:solidFill>val="22344A"/&gt;</a:solidFill>
              </a:defRPr>
            </a:pPr>
            <a:r>
              <a:t>• Activités d'évaluation</a:t>
            </a:r>
          </a:p>
          <a:p>
            <a:pPr>
              <a:spcAft>
                <a:spcPts val="600"/>
              </a:spcAft>
              <a:defRPr sz="1600">
                <a:solidFill>val="22344A"/&gt;</a:solidFill>
              </a:defRPr>
            </a:pPr>
            <a:r>
              <a:t>• Bibliographie et ressources externes</a:t>
            </a:r>
          </a:p>
          <a:p>
            <a:pPr>
              <a:spcAft>
                <a:spcPts val="600"/>
              </a:spcAft>
              <a:defRPr sz="1600">
                <a:solidFill>val="22344A"/&gt;</a:solidFill>
              </a:defRPr>
            </a:pPr>
            <a:r>
              <a:t>• Contexte réglementaire algérien</a:t>
            </a:r>
          </a:p>
          <a:p>
            <a:pPr>
              <a:spcAft>
                <a:spcPts val="600"/>
              </a:spcAft>
              <a:defRPr sz="1600">
                <a:solidFill>val="22344A"/&gt;</a:solidFill>
              </a:defRPr>
            </a:pPr>
            <a:r>
              <a:t>• Plan du cours</a:t>
            </a:r>
          </a:p>
          <a:p>
            <a:pPr>
              <a:spcAft>
                <a:spcPts val="600"/>
              </a:spcAft>
              <a:defRPr sz="1600">
                <a:solidFill>val="22344A"/&gt;</a:solidFill>
              </a:defRPr>
            </a:pPr>
            <a:r>
              <a:t>• Introduction — Panorama des services Internet pour la recherche(10 min)</a:t>
            </a:r>
          </a:p>
          <a:p>
            <a:pPr>
              <a:spcAft>
                <a:spcPts val="600"/>
              </a:spcAft>
              <a:defRPr sz="1600">
                <a:solidFill>val="22344A"/&gt;</a:solidFill>
              </a:defRPr>
            </a:pPr>
            <a:r>
              <a:t>• Identité numérique du chercheur : ORCID, IdHAL(10 min)</a:t>
            </a:r>
          </a:p>
          <a:p>
            <a:pPr>
              <a:spcAft>
                <a:spcPts val="600"/>
              </a:spcAft>
              <a:defRPr sz="1600">
                <a:solidFill>val="22344A"/&gt;</a:solidFill>
              </a:defRPr>
            </a:pPr>
            <a:r>
              <a:t>• Google Scholar avancé et Google Alerts(10 min)</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Fiche cours — Plateforme e-learning (Moodle)</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Référentiel :titres et structure alignés sur Canvas Univ-Mosta (elearning.univ-usto.dz) ; bonnes pratiques benchmark 10 universités algériennes (voirBENCHMARK_10_UNIVERSITES_ELEARNING.md).</a:t>
            </a:r>
          </a:p>
          <a:p>
            <a:pPr>
              <a:spcAft>
                <a:spcPts val="600"/>
              </a:spcAft>
              <a:defRPr sz="1400">
                <a:solidFill>val="22344A"/&gt;</a:solidFill>
              </a:defRPr>
            </a:pPr>
            <a:r>
              <a:t>• Public visé :Master 1 Langue et Culture</a:t>
            </a:r>
          </a:p>
          <a:p>
            <a:pPr>
              <a:spcAft>
                <a:spcPts val="600"/>
              </a:spcAft>
              <a:defRPr sz="1400">
                <a:solidFill>val="22344A"/&gt;</a:solidFill>
              </a:defRPr>
            </a:pPr>
            <a:r>
              <a:t>• Compétences pré-requises :TIC 01–09 ; maîtrise de la navigation Web et de la recherche documentaire</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Objectifs de l'enseignement</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En termes de savoir :- Identifier les services Internet essentiels à la recherche académique (HAL, ORCID, Zotero, Google Scholar)</a:t>
            </a:r>
            <a:br/>
            <a:r>
              <a:t>- Expliquer le mouvement Open Science et ses implications pour le chercheur</a:t>
            </a:r>
            <a:br/>
            <a:r>
              <a:t>- Distinguer les outils de gestion bibliographique et leurs protocoles</a:t>
            </a:r>
          </a:p>
          <a:p>
            <a:pPr>
              <a:spcAft>
                <a:spcPts val="600"/>
              </a:spcAft>
              <a:defRPr sz="1400">
                <a:solidFill>val="22344A"/&gt;</a:solidFill>
              </a:defRPr>
            </a:pPr>
            <a:r>
              <a:t>• En termes de savoir-faire :- Configurer Zotero et l'interopérabilité avec le traitement de texte</a:t>
            </a:r>
            <a:br/>
            <a:r>
              <a:t>- Déposer un document sur HAL avec les métadonnées complètes</a:t>
            </a:r>
            <a:br/>
            <a:r>
              <a:t>- Réaliser une veille bibliographique automatisée (alertes, flux RSS)</a:t>
            </a:r>
            <a:br/>
            <a:r>
              <a:t>- Utiliser Overleaf pour la rédaction collaborative</a:t>
            </a:r>
          </a:p>
          <a:p>
            <a:pPr>
              <a:spcAft>
                <a:spcPts val="600"/>
              </a:spcAft>
              <a:defRPr sz="1400">
                <a:solidFill>val="22344A"/&gt;</a:solidFill>
              </a:defRPr>
            </a:pPr>
            <a:r>
              <a:t>• En termes de savoir-être :- Culture de la science ouverte et du partage des données</a:t>
            </a:r>
            <a:br/>
            <a:r>
              <a:t>- Netiquette académique et identité numérique responsable</a:t>
            </a:r>
          </a:p>
          <a:p>
            <a:pPr>
              <a:spcAft>
                <a:spcPts val="600"/>
              </a:spcAft>
              <a:defRPr sz="1400">
                <a:solidFill>val="22344A"/&gt;</a:solidFill>
              </a:defRPr>
            </a:pPr>
            <a:r>
              <a:t>• Mode d'évaluation :TD 20 % + Portfolio numérique (HAL + Zotero + ORCID) 50 % + QCM final 30 %</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Activités d'apprentissage</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Création d'un compte ORCID + dépôt d'un document fictif sur HAL</a:t>
            </a:r>
          </a:p>
          <a:p>
            <a:pPr>
              <a:spcAft>
                <a:spcPts val="600"/>
              </a:spcAft>
              <a:defRPr sz="1400">
                <a:solidFill>val="22344A"/&gt;</a:solidFill>
              </a:defRPr>
            </a:pPr>
            <a:r>
              <a:t>• Configuration Zotero : bibliographie collaborative sur un thème commun</a:t>
            </a:r>
          </a:p>
          <a:p>
            <a:pPr>
              <a:spcAft>
                <a:spcPts val="600"/>
              </a:spcAft>
              <a:defRPr sz="1400">
                <a:solidFill>val="22344A"/&gt;</a:solidFill>
              </a:defRPr>
            </a:pPr>
            <a:r>
              <a:t>• Rédaction d'un court article sur Overleaf (modèle template)</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Activités d'évaluation</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Portfolio : profil ORCID, groupe Zotero partagé, document Overleaf exporté</a:t>
            </a:r>
          </a:p>
          <a:p>
            <a:pPr>
              <a:spcAft>
                <a:spcPts val="600"/>
              </a:spcAft>
              <a:defRPr sz="1400">
                <a:solidFill>val="22344A"/&gt;</a:solidFill>
              </a:defRPr>
            </a:pPr>
            <a:r>
              <a:t>• QCM final récapitulatif du module TIC (20 questions)</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Bibliographie et ressources externes</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DigComp 2.2 (Union Européenne, 2022) — cadre de compétences numériques</a:t>
            </a:r>
          </a:p>
          <a:p>
            <a:pPr>
              <a:spcAft>
                <a:spcPts val="600"/>
              </a:spcAft>
              <a:defRPr sz="1400">
                <a:solidFill>val="22344A"/&gt;</a:solidFill>
              </a:defRPr>
            </a:pPr>
            <a:r>
              <a:t>• Guides étudiant Moodle (Univ-Mosta, Boumerdès, Béjaïa)</a:t>
            </a:r>
          </a:p>
          <a:p>
            <a:pPr>
              <a:spcAft>
                <a:spcPts val="600"/>
              </a:spcAft>
              <a:defRPr sz="1400">
                <a:solidFill>val="22344A"/&gt;</a:solidFill>
              </a:defRPr>
            </a:pPr>
            <a:r>
              <a:t>• HAL — https://hal.science ; Zotero — https://zotero.org ; Overleaf — https://overleaf.com</a:t>
            </a:r>
          </a:p>
          <a:p>
            <a:pPr>
              <a:spcAft>
                <a:spcPts val="600"/>
              </a:spcAft>
              <a:defRPr sz="1400">
                <a:solidFill>val="22344A"/&gt;</a:solidFill>
              </a:defRPr>
            </a:pPr>
            <a:r>
              <a:t>• ORCID — https://orcid.org</a:t>
            </a:r>
          </a:p>
          <a:p>
            <a:pPr>
              <a:spcAft>
                <a:spcPts val="600"/>
              </a:spcAft>
              <a:defRPr sz="1400">
                <a:solidFill>val="22344A"/&gt;</a:solidFill>
              </a:defRPr>
            </a:pPr>
            <a:r>
              <a:t>• Contact enseignant :BELACEL Madani —madani.belacel@univ-mosta.dz</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Contexte réglementaire algérien</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Arrêté 933 (2016): Le Master Langue et Culture intègre l'UE « Méthodologie de la recherche et TIC ». La maîtrise des outils bibliographiques et des archives ouvertes est une compétence évaluée.Arrêté 129 (2019): Diffusion en accès ouvert des mémoires de Master via les plateformes institutionnelles.</a:t>
            </a:r>
          </a:p>
          <a:p>
            <a:pPr>
              <a:spcAft>
                <a:spcPts val="600"/>
              </a:spcAft>
              <a:defRPr sz="1400">
                <a:solidFill>val="22344A"/&gt;</a:solidFill>
              </a:defRPr>
            </a:pPr>
            <a:r>
              <a:t>• Loi 18-07 (2018)sur la protection des données personnelles : les plateformes académiques (ORCID, HAL) collectent des données d'identification ; le chercheur doit être informé de leurs usages.</a:t>
            </a:r>
          </a:p>
          <a:p>
            <a:pPr>
              <a:spcAft>
                <a:spcPts val="600"/>
              </a:spcAft>
              <a:defRPr sz="1400">
                <a:solidFill>val="22344A"/&gt;</a:solidFill>
              </a:defRPr>
            </a:pPr>
            <a:r>
              <a:t>• PNDES 2025-2030: L'Algérie s'engage dans laScience Ouvertevia le portail national des revues (SJD) et le dépôt systématique des thèses. La bibliothèque numérique du CERIST (biblio.cerist.dz) donne accès aux ressources souscrites.</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Plan du cours</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Introduction — Panorama des services Internet pour la recherche</a:t>
            </a:r>
          </a:p>
          <a:p>
            <a:pPr>
              <a:spcAft>
                <a:spcPts val="600"/>
              </a:spcAft>
              <a:defRPr sz="1400">
                <a:solidFill>val="22344A"/&gt;</a:solidFill>
              </a:defRPr>
            </a:pPr>
            <a:r>
              <a:t>• Identité numérique du chercheur : ORCID, IdHAL</a:t>
            </a:r>
          </a:p>
          <a:p>
            <a:pPr>
              <a:spcAft>
                <a:spcPts val="600"/>
              </a:spcAft>
              <a:defRPr sz="1400">
                <a:solidFill>val="22344A"/&gt;</a:solidFill>
              </a:defRPr>
            </a:pPr>
            <a:r>
              <a:t>• Google Scholar avancé et Google Alerts</a:t>
            </a:r>
          </a:p>
          <a:p>
            <a:pPr>
              <a:spcAft>
                <a:spcPts val="600"/>
              </a:spcAft>
              <a:defRPr sz="1400">
                <a:solidFill>val="22344A"/&gt;</a:solidFill>
              </a:defRPr>
            </a:pPr>
            <a:r>
              <a:t>• HAL : dépôt et consultation</a:t>
            </a:r>
          </a:p>
          <a:p>
            <a:pPr>
              <a:spcAft>
                <a:spcPts val="600"/>
              </a:spcAft>
              <a:defRPr sz="1400">
                <a:solidFill>val="22344A"/&gt;</a:solidFill>
              </a:defRPr>
            </a:pPr>
            <a:r>
              <a:t>• Zotero : gestion bibliographique collaborative</a:t>
            </a:r>
          </a:p>
          <a:p>
            <a:pPr>
              <a:spcAft>
                <a:spcPts val="600"/>
              </a:spcAft>
              <a:defRPr sz="1400">
                <a:solidFill>val="22344A"/&gt;</a:solidFill>
              </a:defRPr>
            </a:pPr>
            <a:r>
              <a:t>• Overleaf et rédaction académique collaborative</a:t>
            </a:r>
          </a:p>
          <a:p>
            <a:pPr>
              <a:spcAft>
                <a:spcPts val="600"/>
              </a:spcAft>
              <a:defRPr sz="1400">
                <a:solidFill>val="22344A"/&gt;</a:solidFill>
              </a:defRPr>
            </a:pPr>
            <a:r>
              <a:t>• Research Data Management (RDM)</a:t>
            </a:r>
          </a:p>
          <a:p>
            <a:pPr>
              <a:spcAft>
                <a:spcPts val="600"/>
              </a:spcAft>
              <a:defRPr sz="1400">
                <a:solidFill>val="22344A"/&gt;</a:solidFill>
              </a:defRPr>
            </a:pPr>
            <a:r>
              <a:t>• Open Science et Science Ouverte</a:t>
            </a:r>
          </a:p>
          <a:p>
            <a:pPr>
              <a:spcAft>
                <a:spcPts val="600"/>
              </a:spcAft>
              <a:defRPr sz="1400">
                <a:solidFill>val="22344A"/&gt;</a:solidFill>
              </a:defRPr>
            </a:pPr>
            <a:r>
              <a:t>• Veille et flux RSS académiques</a:t>
            </a:r>
          </a:p>
          <a:p>
            <a:pPr>
              <a:spcAft>
                <a:spcPts val="600"/>
              </a:spcAft>
              <a:defRPr sz="1400">
                <a:solidFill>val="22344A"/&gt;</a:solidFill>
              </a:defRPr>
            </a:pPr>
            <a:r>
              <a:t>• Synthèse module TIC 01–10</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Introduction — Panorama des services Internet pour la recherche(10 min)</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Ce dernier cours du module TIC synthétise l'ensemble des apprentissages en les orientant vers lespratiques concrètes de recherche en Master. Les services Internet ne sont plus seulement des outils quotidiens (courriel, stockage) : ils deviennent desinstruments de production scientifique.</a:t>
            </a:r>
          </a:p>
          <a:p>
            <a:pPr>
              <a:spcAft>
                <a:spcPts val="600"/>
              </a:spcAft>
              <a:defRPr sz="1400">
                <a:solidFill>val="22344A"/&gt;</a:solidFill>
              </a:defRPr>
            </a:pPr>
            <a:r>
              <a:t>• Les trois piliers du chercheur numérique :1.Identité: qui êtes-vous scientifiquement ? (ORCID, Google Scholar, HAL)</a:t>
            </a:r>
            <a:br/>
            <a:r>
              <a:t>2.Instruments: quels outils pour lire, écrire, publier ? (Zotero, Overleaf, HAL)</a:t>
            </a:r>
            <a:br/>
            <a:r>
              <a:t>3.Impact: comment diffuser et mesurer votre recherche ? (Open Access, citations, altmetrics)</a:t>
            </a:r>
          </a:p>
          <a:p>
            <a:pPr>
              <a:spcAft>
                <a:spcPts val="600"/>
              </a:spcAft>
              <a:defRPr sz="1400">
                <a:solidFill>val="22344A"/&gt;</a:solidFill>
              </a:defRPr>
            </a:pPr>
            <a:r>
              <a:t>• Contexte algérien: la généralisation des plateformes académiques (HAL Mostaganem, SJD) et l'obligation de dépôt des mémoires de Master dans les bibliothèques numériques institutionnelles imposent une maîtrise minimale de ces outils.</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Identité numérique du chercheur : ORCID, IdHAL(10 min)</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ORCID(Open Researcher and Contributor ID) —orcid.org</a:t>
            </a:r>
          </a:p>
          <a:p>
            <a:pPr>
              <a:spcAft>
                <a:spcPts val="600"/>
              </a:spcAft>
              <a:defRPr sz="1400">
                <a:solidFill>val="22344A"/&gt;</a:solidFill>
              </a:defRPr>
            </a:pPr>
            <a:r>
              <a:t>• Identifiant unique et pérenne (16 chiffres) pour chaque chercheur</a:t>
            </a:r>
          </a:p>
          <a:p>
            <a:pPr>
              <a:spcAft>
                <a:spcPts val="600"/>
              </a:spcAft>
              <a:defRPr sz="1400">
                <a:solidFill>val="22344A"/&gt;</a:solidFill>
              </a:defRPr>
            </a:pPr>
            <a:r>
              <a:t>• Obligatoire dans la plupart des revues et appels d'offres internationaux</a:t>
            </a:r>
          </a:p>
          <a:p>
            <a:pPr>
              <a:spcAft>
                <a:spcPts val="600"/>
              </a:spcAft>
              <a:defRPr sz="1400">
                <a:solidFill>val="22344A"/&gt;</a:solidFill>
              </a:defRPr>
            </a:pPr>
            <a:r>
              <a:t>• Synchronisation avec HAL, Crossref, Scopus, WoS</a:t>
            </a:r>
          </a:p>
          <a:p>
            <a:pPr>
              <a:spcAft>
                <a:spcPts val="600"/>
              </a:spcAft>
              <a:defRPr sz="1400">
                <a:solidFill>val="22344A"/&gt;</a:solidFill>
              </a:defRPr>
            </a:pPr>
            <a:r>
              <a:t>• Configuration :1. Créer un compte ORCID (gratuit)</a:t>
            </a:r>
            <a:br/>
            <a:r>
              <a:t>2. Renseigner : affiliation, publications, formation</a:t>
            </a:r>
            <a:br/>
            <a:r>
              <a:t>3. Connecter à HAL (IdHAL) et Google Scholar</a:t>
            </a:r>
          </a:p>
          <a:p>
            <a:pPr>
              <a:spcAft>
                <a:spcPts val="600"/>
              </a:spcAft>
              <a:defRPr sz="1400">
                <a:solidFill>val="22344A"/&gt;</a:solidFill>
              </a:defRPr>
            </a:pPr>
            <a:r>
              <a:t>• IdHAL: identifiant dédié à la plateforme HAL. Format :prenom-nom. Permet de regrouper toutes vos productions.</a:t>
            </a:r>
          </a:p>
          <a:p>
            <a:pPr>
              <a:spcAft>
                <a:spcPts val="600"/>
              </a:spcAft>
              <a:defRPr sz="1400">
                <a:solidFill>val="22344A"/&gt;</a:solidFill>
              </a:defRPr>
            </a:pPr>
            <a:r>
              <a:t>• Pourquoi en Master ?Publier un mémoire ou un article de synthèse = attribution d'un ORCID dès le Master. C'est une pratique de plus en plus courante (recommandée par le MESRS algérien).</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val="F4F6F8"/&gt;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ctr">
              <a:defRPr sz="2600" b="1">
                <a:solidFill>val="006847"/&gt;</a:solidFill>
              </a:defRPr>
            </a:pPr>
            <a:r>
              <a:t>📝 Points clés à retenir</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600">
                <a:solidFill>val="22344A"/&gt;</a:solidFill>
              </a:defRPr>
            </a:pPr>
            <a:r>
              <a:t>• Référentiel :titres et structure alignés sur Canvas Univ-Mosta (elearning.univ-usto.dz) ; bonnes pratiques benchmark 10 universités algériennes (voirBENCHMARK_10_UNIVERSITES_ELEARNING.md).</a:t>
            </a:r>
          </a:p>
          <a:p>
            <a:pPr>
              <a:spcAft>
                <a:spcPts val="600"/>
              </a:spcAft>
              <a:defRPr sz="1600">
                <a:solidFill>val="22344A"/&gt;</a:solidFill>
              </a:defRPr>
            </a:pPr>
            <a:r>
              <a:t>• En termes de savoir :- Identifier les services Internet essentiels à la recherche académique (HAL, ORCID, Zotero, Google Scholar)</a:t>
            </a:r>
            <a:br/>
            <a:r>
              <a:t>- Expliquer le mouvement Open Science et ses implications pour le chercheur</a:t>
            </a:r>
            <a:br/>
            <a:r>
              <a:t>- Distinguer les outils de gestion bibliographique et leurs protocoles</a:t>
            </a:r>
          </a:p>
          <a:p>
            <a:pPr>
              <a:spcAft>
                <a:spcPts val="600"/>
              </a:spcAft>
              <a:defRPr sz="1600">
                <a:solidFill>val="22344A"/&gt;</a:solidFill>
              </a:defRPr>
            </a:pPr>
            <a:r>
              <a:t>• Création d'un compte ORCID + dépôt d'un document fictif sur HAL</a:t>
            </a:r>
          </a:p>
          <a:p>
            <a:pPr>
              <a:spcAft>
                <a:spcPts val="600"/>
              </a:spcAft>
              <a:defRPr sz="1600">
                <a:solidFill>val="22344A"/&gt;</a:solidFill>
              </a:defRPr>
            </a:pPr>
            <a:r>
              <a:t>• Portfolio : profil ORCID, groupe Zotero partagé, document Overleaf exporté</a:t>
            </a:r>
          </a:p>
          <a:p>
            <a:pPr>
              <a:spcAft>
                <a:spcPts val="600"/>
              </a:spcAft>
              <a:defRPr sz="1600">
                <a:solidFill>val="22344A"/&gt;</a:solidFill>
              </a:defRPr>
            </a:pPr>
            <a:r>
              <a:t>• DigComp 2.2 (Union Européenne, 2022) — cadre de compétences numériques</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ctr">
              <a:defRPr sz="2600" b="1">
                <a:solidFill>val="006847"/&gt;</a:solidFill>
              </a:defRPr>
            </a:pPr>
            <a:r>
              <a:t>✏️ Exercices d'application</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500">
                <a:solidFill>val="22344A"/&gt;</a:solidFill>
              </a:defRPr>
            </a:pPr>
            <a:r>
              <a:t>• Définir les concepts principaux du cours</a:t>
            </a:r>
          </a:p>
          <a:p>
            <a:pPr>
              <a:spcAft>
                <a:spcPts val="600"/>
              </a:spcAft>
              <a:defRPr sz="1500">
                <a:solidFill>val="22344A"/&gt;</a:solidFill>
              </a:defRPr>
            </a:pPr>
            <a:r>
              <a:t>• Identifier les applications pratiques</a:t>
            </a:r>
          </a:p>
          <a:p>
            <a:pPr>
              <a:spcAft>
                <a:spcPts val="600"/>
              </a:spcAft>
              <a:defRPr sz="1500">
                <a:solidFill>val="22344A"/&gt;</a:solidFill>
              </a:defRPr>
            </a:pPr>
            <a:r>
              <a:t>• Résoudre les exercices du TD</a:t>
            </a:r>
          </a:p>
          <a:p>
            <a:pPr>
              <a:spcAft>
                <a:spcPts val="600"/>
              </a:spcAft>
              <a:defRPr sz="1500">
                <a:solidFill>val="22344A"/&gt;</a:solidFill>
              </a:defRPr>
            </a:pPr>
            <a:r>
              <a:t>• Synthétiser les points clés en un paragraphe</a:t>
            </a:r>
          </a:p>
          <a:p>
            <a:pPr>
              <a:spcAft>
                <a:spcPts val="600"/>
              </a:spcAft>
              <a:defRPr sz="1500">
                <a:solidFill>val="22344A"/&gt;</a:solidFill>
              </a:defRPr>
            </a:pPr>
            <a:r>
              <a:t>• Préparer une courte présentation orale</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val="006847"/&gt;</a:solidFill>
        <a:effectLst/>
      </p:bgPr>
    </p:bg>
    <p:spTree>
      <p:nvGrpSpPr>
        <p:cNvPr id="1" name=""/>
        <p:cNvGrpSpPr/>
        <p:nvPr/>
      </p:nvGrpSpPr>
      <p:grpSpPr/>
      <p:sp>
        <p:nvSpPr>
          <p:cNvPr id="2" name="TextBox 1"/>
          <p:cNvSpPr txBox="1"/>
          <p:nvPr/>
        </p:nvSpPr>
        <p:spPr>
          <a:xfrm>
            <a:off x="731520" y="1371600"/>
            <a:ext cx="7680960" cy="914400"/>
          </a:xfrm>
          <a:prstGeom prst="rect">
            <a:avLst/>
          </a:prstGeom>
          <a:noFill/>
        </p:spPr>
        <p:txBody>
          <a:bodyPr wrap="square">
            <a:spAutoFit/>
          </a:bodyPr>
          <a:lstStyle/>
          <a:p>
            <a:pPr algn="ctr">
              <a:defRPr sz="2800" b="1">
                <a:solidFill>val="FFFFFF"/&gt;</a:solidFill>
              </a:defRPr>
            </a:pPr>
            <a:r>
              <a:t>🎓 Conclusion</a:t>
            </a:r>
          </a:p>
        </p:txBody>
      </p:sp>
      <p:sp>
        <p:nvSpPr>
          <p:cNvPr id="3" name="TextBox 2"/>
          <p:cNvSpPr txBox="1"/>
          <p:nvPr/>
        </p:nvSpPr>
        <p:spPr>
          <a:xfrm>
            <a:off x="731520" y="2743200"/>
            <a:ext cx="7680960" cy="1828800"/>
          </a:xfrm>
          <a:prstGeom prst="rect">
            <a:avLst/>
          </a:prstGeom>
          <a:noFill/>
        </p:spPr>
        <p:txBody>
          <a:bodyPr wrap="square">
            <a:spAutoFit/>
          </a:bodyPr>
          <a:lstStyle/>
          <a:p>
            <a:pPr algn="ctr">
              <a:defRPr sz="1800" b="0">
                <a:solidFill>val="DFE5EA"/&gt;</a:solidFill>
              </a:defRPr>
            </a:pPr>
            <a:r>
              <a:t>Dr. BELACEL Madani</a:t>
            </a:r>
            <a:br/>
            <a:r>
              <a:t>Maître de Conférences B</a:t>
            </a:r>
            <a:br/>
            <a:r>
              <a:t>Université de Mostaganem</a:t>
            </a:r>
            <a:br/>
            <a:r>
              <a:t>madani.belacel@univ-mosta.dz</a:t>
            </a:r>
          </a:p>
        </p:txBody>
      </p:sp>
      <p:sp>
        <p:nvSpPr>
          <p:cNvPr id="990001" name="Pied de page FLE"/>
          <p:cNvSpPr>
            <a:spLocks noGrp="1"/>
          </p:cNvSpPr>
          <p:nvPr/>
        </p:nvSpPr>
        <p:spPr>
          <a:xfrm>
            <a:off x="2880360" y="4572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oppi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oppi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