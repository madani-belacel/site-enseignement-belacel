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5C33"/>
        </a:solidFill>
        <a:effectLst/>
      </p:bgPr>
    </p:bg>
    <p:spTree>
      <p:nvGrpSpPr>
        <p:cNvPr id="1" name=""/>
        <p:cNvGrpSpPr/>
        <p:nvPr/>
      </p:nvGrpSpPr>
      <p:grpSpPr/>
      <p:sp>
        <p:nvSpPr>
          <p:cNvPr id="2" name="TextBox 1"/>
          <p:cNvSpPr txBox="1"/>
          <p:nvPr/>
        </p:nvSpPr>
        <p:spPr>
          <a:xfrm>
            <a:off x="731520" y="1371600"/>
            <a:ext cx="7680960" cy="1371600"/>
          </a:xfrm>
          <a:prstGeom prst="rect">
            <a:avLst/>
          </a:prstGeom>
          <a:noFill/>
        </p:spPr>
        <p:txBody>
          <a:bodyPr wrap="square">
            <a:spAutoFit/>
          </a:bodyPr>
          <a:lstStyle/>
          <a:p>
            <a:pPr algn="ctr">
              <a:defRPr sz="3200" b="1">
                <a:solidFill>
                  <a:srgbClr val="FFFFFF"/>
                </a:solidFill>
              </a:defRPr>
            </a:pPr>
            <a:r>
              <a:t>Cours TIC 06 — Microsoft PowerPoint</a:t>
            </a:r>
          </a:p>
        </p:txBody>
      </p:sp>
      <p:sp>
        <p:nvSpPr>
          <p:cNvPr id="3" name="TextBox 2"/>
          <p:cNvSpPr txBox="1"/>
          <p:nvPr/>
        </p:nvSpPr>
        <p:spPr>
          <a:xfrm>
            <a:off x="731520" y="2926080"/>
            <a:ext cx="7680960" cy="548640"/>
          </a:xfrm>
          <a:prstGeom prst="rect">
            <a:avLst/>
          </a:prstGeom>
          <a:noFill/>
        </p:spPr>
        <p:txBody>
          <a:bodyPr wrap="square">
            <a:spAutoFit/>
          </a:bodyPr>
          <a:lstStyle/>
          <a:p>
            <a:pPr algn="ctr">
              <a:defRPr sz="2000" b="0">
                <a:solidFill>
                  <a:srgbClr val="C5D9C7"/>
                </a:solidFill>
              </a:defRPr>
            </a:pPr>
            <a:r>
              <a:t>Module TIC — Dr. BELACEL Madani</a:t>
            </a:r>
          </a:p>
        </p:txBody>
      </p:sp>
      <p:sp>
        <p:nvSpPr>
          <p:cNvPr id="4" name="TextBox 3"/>
          <p:cNvSpPr txBox="1"/>
          <p:nvPr/>
        </p:nvSpPr>
        <p:spPr>
          <a:xfrm>
            <a:off x="731520" y="3657600"/>
            <a:ext cx="7680960" cy="457200"/>
          </a:xfrm>
          <a:prstGeom prst="rect">
            <a:avLst/>
          </a:prstGeom>
          <a:noFill/>
        </p:spPr>
        <p:txBody>
          <a:bodyPr wrap="square">
            <a:spAutoFit/>
          </a:bodyPr>
          <a:lstStyle/>
          <a:p>
            <a:pPr algn="ctr">
              <a:defRPr sz="1600" b="0">
                <a:solidFill>
                  <a:srgbClr val="A0CFA0"/>
                </a:solidFill>
              </a:defRPr>
            </a:pPr>
            <a:r>
              <a:t>Université de Mostaganem — MCB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7772400" cy="640080"/>
          </a:xfrm>
          <a:prstGeom prst="rect">
            <a:avLst/>
          </a:prstGeom>
          <a:noFill/>
        </p:spPr>
        <p:txBody>
          <a:bodyPr wrap="square">
            <a:spAutoFit/>
          </a:bodyPr>
          <a:lstStyle/>
          <a:p>
            <a:pPr algn="l">
              <a:defRPr sz="2600" b="1">
                <a:solidFill>
                  <a:srgbClr val="1A5C33"/>
                </a:solidFill>
              </a:defRPr>
            </a:pPr>
            <a:r>
              <a:t>🎯 Objectifs pédagogiques</a:t>
            </a:r>
          </a:p>
        </p:txBody>
      </p:sp>
      <p:sp>
        <p:nvSpPr>
          <p:cNvPr id="3" name="TextBox 2"/>
          <p:cNvSpPr txBox="1"/>
          <p:nvPr/>
        </p:nvSpPr>
        <p:spPr>
          <a:xfrm>
            <a:off x="548640" y="1828800"/>
            <a:ext cx="7772400" cy="4572000"/>
          </a:xfrm>
          <a:prstGeom prst="rect">
            <a:avLst/>
          </a:prstGeom>
          <a:noFill/>
        </p:spPr>
        <p:txBody>
          <a:bodyPr wrap="square">
            <a:spAutoFit/>
          </a:bodyPr>
          <a:lstStyle/>
          <a:p>
            <a:pPr>
              <a:spcAft>
                <a:spcPts val="600"/>
              </a:spcAft>
              <a:defRPr sz="1500">
                <a:solidFill>
                  <a:srgbClr val="222222"/>
                </a:solidFill>
              </a:defRPr>
            </a:pPr>
            <a:r>
              <a:t>• En termes de savoir :- Structurer une soutenance ou communication scientifique (12–15 slides)</a:t>
            </a:r>
            <a:br/>
            <a:r>
              <a:t>- Distinguer transition, animation, et principes de data visualisation</a:t>
            </a:r>
            <a:br/>
            <a:r>
              <a:t>- Connaître les normes typographiques et chartes graphiques institutionnelles</a:t>
            </a:r>
          </a:p>
          <a:p>
            <a:pPr>
              <a:spcAft>
                <a:spcPts val="600"/>
              </a:spcAft>
              <a:defRPr sz="1500">
                <a:solidFill>
                  <a:srgbClr val="222222"/>
                </a:solidFill>
              </a:defRPr>
            </a:pPr>
            <a:r>
              <a:t>• En termes de savoir-faire :- Créer une présentation académique avec template institutionnel</a:t>
            </a:r>
            <a:br/>
            <a:r>
              <a:t>- Exporter PDF, PPTX, et vidéo pour dépôt sur HAL ou archive ouverte</a:t>
            </a:r>
            <a:br/>
            <a:r>
              <a:t>- Appliquer les principes de visualisation des données (graphiques, tableaux, nuages de mots)</a:t>
            </a:r>
            <a:br/>
            <a:r>
              <a:t>- Utiliser le mode présentateur, le pointeur laser, le chronométrage</a:t>
            </a:r>
          </a:p>
          <a:p>
            <a:pPr>
              <a:spcAft>
                <a:spcPts val="600"/>
              </a:spcAft>
              <a:defRPr sz="1500">
                <a:solidFill>
                  <a:srgbClr val="222222"/>
                </a:solidFill>
              </a:defRPr>
            </a:pPr>
            <a:r>
              <a:t>• En termes de savoir-être :- Communication scientifique claire, registre formel, gestion du temps</a:t>
            </a:r>
            <a:br/>
            <a:r>
              <a:t>- Réception constructive des questions du jury/public</a:t>
            </a:r>
          </a:p>
          <a:p>
            <a:pPr>
              <a:spcAft>
                <a:spcPts val="600"/>
              </a:spcAft>
              <a:defRPr sz="1500">
                <a:solidFill>
                  <a:srgbClr val="222222"/>
                </a:solidFill>
              </a:defRPr>
            </a:pPr>
            <a:r>
              <a:t>• Mode d'évaluation :TD 20 % + Présentation orale (simulation soutenance) 50 % + QCM 30 %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7772400" cy="640080"/>
          </a:xfrm>
          <a:prstGeom prst="rect">
            <a:avLst/>
          </a:prstGeom>
          <a:noFill/>
        </p:spPr>
        <p:txBody>
          <a:bodyPr wrap="square">
            <a:spAutoFit/>
          </a:bodyPr>
          <a:lstStyle/>
          <a:p>
            <a:pPr algn="l">
              <a:defRPr sz="2600" b="1">
                <a:solidFill>
                  <a:srgbClr val="1A5C33"/>
                </a:solidFill>
              </a:defRPr>
            </a:pPr>
            <a:r>
              <a:t>📋 Plan du cours</a:t>
            </a:r>
          </a:p>
        </p:txBody>
      </p:sp>
      <p:sp>
        <p:nvSpPr>
          <p:cNvPr id="3" name="TextBox 2"/>
          <p:cNvSpPr txBox="1"/>
          <p:nvPr/>
        </p:nvSpPr>
        <p:spPr>
          <a:xfrm>
            <a:off x="548640" y="1828800"/>
            <a:ext cx="7772400" cy="4572000"/>
          </a:xfrm>
          <a:prstGeom prst="rect">
            <a:avLst/>
          </a:prstGeom>
          <a:noFill/>
        </p:spPr>
        <p:txBody>
          <a:bodyPr wrap="square">
            <a:spAutoFit/>
          </a:bodyPr>
          <a:lstStyle/>
          <a:p>
            <a:pPr>
              <a:spcAft>
                <a:spcPts val="600"/>
              </a:spcAft>
              <a:defRPr sz="1600">
                <a:solidFill>
                  <a:srgbClr val="222222"/>
                </a:solidFill>
              </a:defRPr>
            </a:pPr>
            <a:r>
              <a:t>• Fiche cours — Plateforme e-learning (Moodle)</a:t>
            </a:r>
          </a:p>
          <a:p>
            <a:pPr>
              <a:spcAft>
                <a:spcPts val="600"/>
              </a:spcAft>
              <a:defRPr sz="1600">
                <a:solidFill>
                  <a:srgbClr val="222222"/>
                </a:solidFill>
              </a:defRPr>
            </a:pPr>
            <a:r>
              <a:t>• Objectifs de l'enseignement</a:t>
            </a:r>
          </a:p>
          <a:p>
            <a:pPr>
              <a:spcAft>
                <a:spcPts val="600"/>
              </a:spcAft>
              <a:defRPr sz="1600">
                <a:solidFill>
                  <a:srgbClr val="222222"/>
                </a:solidFill>
              </a:defRPr>
            </a:pPr>
            <a:r>
              <a:t>• Activités d'apprentissage</a:t>
            </a:r>
          </a:p>
          <a:p>
            <a:pPr>
              <a:spcAft>
                <a:spcPts val="600"/>
              </a:spcAft>
              <a:defRPr sz="1600">
                <a:solidFill>
                  <a:srgbClr val="222222"/>
                </a:solidFill>
              </a:defRPr>
            </a:pPr>
            <a:r>
              <a:t>• Activités d'évaluation</a:t>
            </a:r>
          </a:p>
          <a:p>
            <a:pPr>
              <a:spcAft>
                <a:spcPts val="600"/>
              </a:spcAft>
              <a:defRPr sz="1600">
                <a:solidFill>
                  <a:srgbClr val="222222"/>
                </a:solidFill>
              </a:defRPr>
            </a:pPr>
            <a:r>
              <a:t>• Bibliographie et ressources externes</a:t>
            </a:r>
          </a:p>
          <a:p>
            <a:pPr>
              <a:spcAft>
                <a:spcPts val="600"/>
              </a:spcAft>
              <a:defRPr sz="1600">
                <a:solidFill>
                  <a:srgbClr val="222222"/>
                </a:solidFill>
              </a:defRPr>
            </a:pPr>
            <a:r>
              <a:t>• Contexte réglementaire algérien</a:t>
            </a:r>
          </a:p>
          <a:p>
            <a:pPr>
              <a:spcAft>
                <a:spcPts val="600"/>
              </a:spcAft>
              <a:defRPr sz="1600">
                <a:solidFill>
                  <a:srgbClr val="222222"/>
                </a:solidFill>
              </a:defRPr>
            </a:pPr>
            <a:r>
              <a:t>• Plan du cours</a:t>
            </a:r>
          </a:p>
          <a:p>
            <a:pPr>
              <a:spcAft>
                <a:spcPts val="600"/>
              </a:spcAft>
              <a:defRPr sz="1600">
                <a:solidFill>
                  <a:srgbClr val="222222"/>
                </a:solidFill>
              </a:defRPr>
            </a:pPr>
            <a:r>
              <a:t>• Introduction — PowerPoint comme outil de recherche(10 min)</a:t>
            </a:r>
          </a:p>
          <a:p>
            <a:pPr>
              <a:spcAft>
                <a:spcPts val="600"/>
              </a:spcAft>
              <a:defRPr sz="1600">
                <a:solidFill>
                  <a:srgbClr val="222222"/>
                </a:solidFill>
              </a:defRPr>
            </a:pPr>
            <a:r>
              <a:t>• Interface avancée et modes d'affichage(10 min)</a:t>
            </a:r>
          </a:p>
          <a:p>
            <a:pPr>
              <a:spcAft>
                <a:spcPts val="600"/>
              </a:spcAft>
              <a:defRPr sz="1600">
                <a:solidFill>
                  <a:srgbClr val="222222"/>
                </a:solidFill>
              </a:defRPr>
            </a:pPr>
            <a:r>
              <a:t>• Architecture d'une communication scientifique (12–15 slides)(15 min)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Fiche cours — Plateforme e-learning (Moodle)</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Référentiel :titres et structure alignés sur Canvas Univ-Mosta (elearning.univ-usto.dz) ; bonnes pratiques benchmark 10 universités algériennes (voirBENCHMARK_10_UNIVERSITES_ELEARNING.md).</a:t>
            </a:r>
          </a:p>
          <a:p>
            <a:pPr>
              <a:spcAft>
                <a:spcPts val="600"/>
              </a:spcAft>
              <a:defRPr sz="1400">
                <a:solidFill>
                  <a:srgbClr val="222222"/>
                </a:solidFill>
              </a:defRPr>
            </a:pPr>
            <a:r>
              <a:t>• Public visé :Master 1 Langue et Culture</a:t>
            </a:r>
          </a:p>
          <a:p>
            <a:pPr>
              <a:spcAft>
                <a:spcPts val="600"/>
              </a:spcAft>
              <a:defRPr sz="1400">
                <a:solidFill>
                  <a:srgbClr val="222222"/>
                </a:solidFill>
              </a:defRPr>
            </a:pPr>
            <a:r>
              <a:t>• Compétences pré-requises :TIC 04–05 ; maîtrise de base de Word et Excel ; capacité à synthétiser une recherche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Objectifs de l'enseignement</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En termes de savoir :- Structurer une soutenance ou communication scientifique (12–15 slides)</a:t>
            </a:r>
            <a:br/>
            <a:r>
              <a:t>- Distinguer transition, animation, et principes de data visualisation</a:t>
            </a:r>
            <a:br/>
            <a:r>
              <a:t>- Connaître les normes typographiques et chartes graphiques institutionnelles</a:t>
            </a:r>
          </a:p>
          <a:p>
            <a:pPr>
              <a:spcAft>
                <a:spcPts val="600"/>
              </a:spcAft>
              <a:defRPr sz="1400">
                <a:solidFill>
                  <a:srgbClr val="222222"/>
                </a:solidFill>
              </a:defRPr>
            </a:pPr>
            <a:r>
              <a:t>• En termes de savoir-faire :- Créer une présentation académique avec template institutionnel</a:t>
            </a:r>
            <a:br/>
            <a:r>
              <a:t>- Exporter PDF, PPTX, et vidéo pour dépôt sur HAL ou archive ouverte</a:t>
            </a:r>
            <a:br/>
            <a:r>
              <a:t>- Appliquer les principes de visualisation des données (graphiques, tableaux, nuages de mots)</a:t>
            </a:r>
            <a:br/>
            <a:r>
              <a:t>- Utiliser le mode présentateur, le pointeur laser, le chronométrage</a:t>
            </a:r>
          </a:p>
          <a:p>
            <a:pPr>
              <a:spcAft>
                <a:spcPts val="600"/>
              </a:spcAft>
              <a:defRPr sz="1400">
                <a:solidFill>
                  <a:srgbClr val="222222"/>
                </a:solidFill>
              </a:defRPr>
            </a:pPr>
            <a:r>
              <a:t>• En termes de savoir-être :- Communication scientifique claire, registre formel, gestion du temps</a:t>
            </a:r>
            <a:br/>
            <a:r>
              <a:t>- Réception constructive des questions du jury/public</a:t>
            </a:r>
          </a:p>
          <a:p>
            <a:pPr>
              <a:spcAft>
                <a:spcPts val="600"/>
              </a:spcAft>
              <a:defRPr sz="1400">
                <a:solidFill>
                  <a:srgbClr val="222222"/>
                </a:solidFill>
              </a:defRPr>
            </a:pPr>
            <a:r>
              <a:t>• Mode d'évaluation :TD 20 % + Présentation orale (simulation soutenance) 50 % + QCM 30 %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Activités d'apprentissage</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Création d'un diaporama de 10 slides sur un sujet de recherche en langue/culture</a:t>
            </a:r>
          </a:p>
          <a:p>
            <a:pPr>
              <a:spcAft>
                <a:spcPts val="600"/>
              </a:spcAft>
              <a:defRPr sz="1400">
                <a:solidFill>
                  <a:srgbClr val="222222"/>
                </a:solidFill>
              </a:defRPr>
            </a:pPr>
            <a:r>
              <a:t>• Exercice de data visualisation (transformer un tableau brut en infographie)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Activités d'évaluation</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Simulation de communication scientifique (10 min exposé + 5 min questions)</a:t>
            </a:r>
          </a:p>
          <a:p>
            <a:pPr>
              <a:spcAft>
                <a:spcPts val="600"/>
              </a:spcAft>
              <a:defRPr sz="1400">
                <a:solidFill>
                  <a:srgbClr val="222222"/>
                </a:solidFill>
              </a:defRPr>
            </a:pPr>
            <a:r>
              <a:t>• Grille d'évaluation critériée (contenu, design, oral, gestion du temps)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Bibliographie et ressources externes</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TemplatePresentation_BELACEL_V3.pptx; règle 6×6 (ENS/M'sila)</a:t>
            </a:r>
          </a:p>
          <a:p>
            <a:pPr>
              <a:spcAft>
                <a:spcPts val="600"/>
              </a:spcAft>
              <a:defRPr sz="1400">
                <a:solidFill>
                  <a:srgbClr val="222222"/>
                </a:solidFill>
              </a:defRPr>
            </a:pPr>
            <a:r>
              <a:t>• Tufte, E. (2001).The Visual Display of Quantitative Information. Graphics Press.</a:t>
            </a:r>
          </a:p>
          <a:p>
            <a:pPr>
              <a:spcAft>
                <a:spcPts val="600"/>
              </a:spcAft>
              <a:defRPr sz="1400">
                <a:solidFill>
                  <a:srgbClr val="222222"/>
                </a:solidFill>
              </a:defRPr>
            </a:pPr>
            <a:r>
              <a:t>• Duarte, N. (2008).Slide:ology: The Art and Science of Creating Great Presentations. O'Reilly.</a:t>
            </a:r>
          </a:p>
          <a:p>
            <a:pPr>
              <a:spcAft>
                <a:spcPts val="600"/>
              </a:spcAft>
              <a:defRPr sz="1400">
                <a:solidFill>
                  <a:srgbClr val="222222"/>
                </a:solidFill>
              </a:defRPr>
            </a:pPr>
            <a:r>
              <a:t>• Reynolds, G. (2012).Presentation Zen. New Riders.</a:t>
            </a:r>
          </a:p>
          <a:p>
            <a:pPr>
              <a:spcAft>
                <a:spcPts val="600"/>
              </a:spcAft>
              <a:defRPr sz="1400">
                <a:solidFill>
                  <a:srgbClr val="222222"/>
                </a:solidFill>
              </a:defRPr>
            </a:pPr>
            <a:r>
              <a:t>• Bardin, L. (2013).L'analyse de contenu. PUF (pour la structuration des données qualitatives).</a:t>
            </a:r>
          </a:p>
          <a:p>
            <a:pPr>
              <a:spcAft>
                <a:spcPts val="600"/>
              </a:spcAft>
              <a:defRPr sz="1400">
                <a:solidFill>
                  <a:srgbClr val="222222"/>
                </a:solidFill>
              </a:defRPr>
            </a:pPr>
            <a:r>
              <a:t>• Contact enseignant :BELACEL Madani —madani.belacel@univ-mosta.dz</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Contexte réglementaire algérien</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Arrêté ministériel 933(2016) : le Master en Langue et Culture s'inscrit dans le cadre du système LMD. Les compétences TIC sont obligatoires (référentiel national des programmes). L'arrêté 129 (2019) précise l'intégration des outils numériques dans les formations de lettres et langues.</a:t>
            </a:r>
          </a:p>
          <a:p>
            <a:pPr>
              <a:spcAft>
                <a:spcPts val="600"/>
              </a:spcAft>
              <a:defRPr sz="1400">
                <a:solidFill>
                  <a:srgbClr val="222222"/>
                </a:solidFill>
              </a:defRPr>
            </a:pPr>
            <a:r>
              <a:t>• Recommandations CNREN(Comité National de Réforme de l'Enseignement Supérieur) : les étudiants de Master doivent maîtriser les outils de présentation scientifique pour les journées d'étude, colloques et séminaires. Le recours aux TIC dans la recherche est un critère d'évaluation des établissements (AAC – Auto-évaluation et Audit de Conformité).</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Plan du cours</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Introduction — PowerPoint comme outil de recherche</a:t>
            </a:r>
          </a:p>
          <a:p>
            <a:pPr>
              <a:spcAft>
                <a:spcPts val="600"/>
              </a:spcAft>
              <a:defRPr sz="1400">
                <a:solidFill>
                  <a:srgbClr val="222222"/>
                </a:solidFill>
              </a:defRPr>
            </a:pPr>
            <a:r>
              <a:t>• Interface avancée et modes d'affichage</a:t>
            </a:r>
          </a:p>
          <a:p>
            <a:pPr>
              <a:spcAft>
                <a:spcPts val="600"/>
              </a:spcAft>
              <a:defRPr sz="1400">
                <a:solidFill>
                  <a:srgbClr val="222222"/>
                </a:solidFill>
              </a:defRPr>
            </a:pPr>
            <a:r>
              <a:t>• Architecture d'une communication scientifique (12–15 slides)</a:t>
            </a:r>
          </a:p>
          <a:p>
            <a:pPr>
              <a:spcAft>
                <a:spcPts val="600"/>
              </a:spcAft>
              <a:defRPr sz="1400">
                <a:solidFill>
                  <a:srgbClr val="222222"/>
                </a:solidFill>
              </a:defRPr>
            </a:pPr>
            <a:r>
              <a:t>• Design professionnel, template et charte graphique</a:t>
            </a:r>
          </a:p>
          <a:p>
            <a:pPr>
              <a:spcAft>
                <a:spcPts val="600"/>
              </a:spcAft>
              <a:defRPr sz="1400">
                <a:solidFill>
                  <a:srgbClr val="222222"/>
                </a:solidFill>
              </a:defRPr>
            </a:pPr>
            <a:r>
              <a:t>• Data visualisation : graphiques, tableaux, infographies</a:t>
            </a:r>
          </a:p>
          <a:p>
            <a:pPr>
              <a:spcAft>
                <a:spcPts val="600"/>
              </a:spcAft>
              <a:defRPr sz="1400">
                <a:solidFill>
                  <a:srgbClr val="222222"/>
                </a:solidFill>
              </a:defRPr>
            </a:pPr>
            <a:r>
              <a:t>• Transitions, animations et storytelling</a:t>
            </a:r>
          </a:p>
          <a:p>
            <a:pPr>
              <a:spcAft>
                <a:spcPts val="600"/>
              </a:spcAft>
              <a:defRPr sz="1400">
                <a:solidFill>
                  <a:srgbClr val="222222"/>
                </a:solidFill>
              </a:defRPr>
            </a:pPr>
            <a:r>
              <a:t>• Intégration de données Word, Excel et corpus</a:t>
            </a:r>
          </a:p>
          <a:p>
            <a:pPr>
              <a:spcAft>
                <a:spcPts val="600"/>
              </a:spcAft>
              <a:defRPr sz="1400">
                <a:solidFill>
                  <a:srgbClr val="222222"/>
                </a:solidFill>
              </a:defRPr>
            </a:pPr>
            <a:r>
              <a:t>• Présentation orale : techniques pour soutenance et colloque</a:t>
            </a:r>
          </a:p>
          <a:p>
            <a:pPr>
              <a:spcAft>
                <a:spcPts val="600"/>
              </a:spcAft>
              <a:defRPr sz="1400">
                <a:solidFill>
                  <a:srgbClr val="222222"/>
                </a:solidFill>
              </a:defRPr>
            </a:pPr>
            <a:r>
              <a:t>• Export, archivage et dépôt en ligne (HAL, Zenodo)</a:t>
            </a:r>
          </a:p>
          <a:p>
            <a:pPr>
              <a:spcAft>
                <a:spcPts val="600"/>
              </a:spcAft>
              <a:defRPr sz="1400">
                <a:solidFill>
                  <a:srgbClr val="222222"/>
                </a:solidFill>
              </a:defRPr>
            </a:pPr>
            <a:r>
              <a:t>• Conclusion et TD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Introduction — PowerPoint comme outil de recherche(10 min)</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PowerPointest l'outil de présentation de la suite Office. En Master, il ne s'agit plus seulement de montrer des informations, mais deconstruire un argument visuelau service de la démonstration scientifique.</a:t>
            </a:r>
          </a:p>
          <a:p>
            <a:pPr>
              <a:spcAft>
                <a:spcPts val="600"/>
              </a:spcAft>
              <a:defRPr sz="1400">
                <a:solidFill>
                  <a:srgbClr val="222222"/>
                </a:solidFill>
              </a:defRPr>
            </a:pPr>
            <a:r>
              <a:t>• Spécificité Langue et Culture :présenter une analyse de corpus, une enquête de terrain, ou une synthèse théorique requiert une scénarisation particulière — intégration de données qualitatives (verbatim, extraits littéraires) et quantitatives (statistiques textuelles).</a:t>
            </a:r>
          </a:p>
          <a:p>
            <a:pPr>
              <a:spcAft>
                <a:spcPts val="600"/>
              </a:spcAft>
              <a:defRPr sz="1400">
                <a:solidFill>
                  <a:srgbClr val="222222"/>
                </a:solidFill>
              </a:defRPr>
            </a:pPr>
            <a:r>
              <a:t>• Usages en Master :- Présentation de mémoire (soutenance)</a:t>
            </a:r>
            <a:br/>
            <a:r>
              <a:t>- Communication en colloque / journée d'étude</a:t>
            </a:r>
            <a:br/>
            <a:r>
              <a:t>- Séminaire de recherche (état d'avancement)</a:t>
            </a:r>
            <a:br/>
            <a:r>
              <a:t>- Poster scientifique (format différent, mais même logique de synthèse)</a:t>
            </a:r>
          </a:p>
          <a:p>
            <a:pPr>
              <a:spcAft>
                <a:spcPts val="600"/>
              </a:spcAft>
              <a:defRPr sz="1400">
                <a:solidFill>
                  <a:srgbClr val="222222"/>
                </a:solidFill>
              </a:defRPr>
            </a:pPr>
            <a:r>
              <a:t>• Pourquoi le mode « recherche » ?Contrairement au monde professionnel, la présentation académique valorise latransparence méthodologiqueet ladiscussion des résultatsplus que la persuasion commerciale.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Interface avancée et modes d'affichage(10 min)</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Ruban contextualisé: chaque objet (image, graphique, tableau) fait apparaître un onglet supplémentaire (Format, Création de graphique, etc.).</a:t>
            </a:r>
          </a:p>
          <a:p>
            <a:pPr>
              <a:spcAft>
                <a:spcPts val="600"/>
              </a:spcAft>
              <a:defRPr sz="1400">
                <a:solidFill>
                  <a:srgbClr val="222222"/>
                </a:solidFill>
              </a:defRPr>
            </a:pPr>
            <a:r>
              <a:t>• Raccourcis:F5(depuis début),Ctrl+F5(depuis slide active),B(écran noir = attention public),W(écran blanc).</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8F0E9"/>
        </a:solidFill>
        <a:effectLst/>
      </p:bgPr>
    </p:bg>
    <p:spTree>
      <p:nvGrpSpPr>
        <p:cNvPr id="1" name=""/>
        <p:cNvGrpSpPr/>
        <p:nvPr/>
      </p:nvGrpSpPr>
      <p:grpSpPr/>
      <p:sp>
        <p:nvSpPr>
          <p:cNvPr id="2" name="TextBox 1"/>
          <p:cNvSpPr txBox="1"/>
          <p:nvPr/>
        </p:nvSpPr>
        <p:spPr>
          <a:xfrm>
            <a:off x="548640" y="365760"/>
            <a:ext cx="7772400" cy="640080"/>
          </a:xfrm>
          <a:prstGeom prst="rect">
            <a:avLst/>
          </a:prstGeom>
          <a:noFill/>
        </p:spPr>
        <p:txBody>
          <a:bodyPr wrap="square">
            <a:spAutoFit/>
          </a:bodyPr>
          <a:lstStyle/>
          <a:p>
            <a:pPr algn="ctr">
              <a:defRPr sz="2600" b="1">
                <a:solidFill>
                  <a:srgbClr val="1A5C33"/>
                </a:solidFill>
              </a:defRPr>
            </a:pPr>
            <a:r>
              <a:t>📝 Points clés à retenir</a:t>
            </a:r>
          </a:p>
        </p:txBody>
      </p:sp>
      <p:sp>
        <p:nvSpPr>
          <p:cNvPr id="3" name="TextBox 2"/>
          <p:cNvSpPr txBox="1"/>
          <p:nvPr/>
        </p:nvSpPr>
        <p:spPr>
          <a:xfrm>
            <a:off x="548640" y="1828800"/>
            <a:ext cx="7772400" cy="4572000"/>
          </a:xfrm>
          <a:prstGeom prst="rect">
            <a:avLst/>
          </a:prstGeom>
          <a:noFill/>
        </p:spPr>
        <p:txBody>
          <a:bodyPr wrap="square">
            <a:spAutoFit/>
          </a:bodyPr>
          <a:lstStyle/>
          <a:p>
            <a:pPr>
              <a:spcAft>
                <a:spcPts val="600"/>
              </a:spcAft>
              <a:defRPr sz="1600">
                <a:solidFill>
                  <a:srgbClr val="222222"/>
                </a:solidFill>
              </a:defRPr>
            </a:pPr>
            <a:r>
              <a:t>• Référentiel :titres et structure alignés sur Canvas Univ-Mosta (elearning.univ-usto.dz) ; bonnes pratiques benchmark 10 universités algériennes (voirBENCHMARK_10_UNIVERSITES_ELEARNING.md).</a:t>
            </a:r>
          </a:p>
          <a:p>
            <a:pPr>
              <a:spcAft>
                <a:spcPts val="600"/>
              </a:spcAft>
              <a:defRPr sz="1600">
                <a:solidFill>
                  <a:srgbClr val="222222"/>
                </a:solidFill>
              </a:defRPr>
            </a:pPr>
            <a:r>
              <a:t>• En termes de savoir :- Structurer une soutenance ou communication scientifique (12–15 slides)</a:t>
            </a:r>
            <a:br/>
            <a:r>
              <a:t>- Distinguer transition, animation, et principes de data visualisation</a:t>
            </a:r>
            <a:br/>
            <a:r>
              <a:t>- Connaître les normes typographiques et chartes graphiques institutionnelles</a:t>
            </a:r>
          </a:p>
          <a:p>
            <a:pPr>
              <a:spcAft>
                <a:spcPts val="600"/>
              </a:spcAft>
              <a:defRPr sz="1600">
                <a:solidFill>
                  <a:srgbClr val="222222"/>
                </a:solidFill>
              </a:defRPr>
            </a:pPr>
            <a:r>
              <a:t>• Création d'un diaporama de 10 slides sur un sujet de recherche en langue/culture</a:t>
            </a:r>
          </a:p>
          <a:p>
            <a:pPr>
              <a:spcAft>
                <a:spcPts val="600"/>
              </a:spcAft>
              <a:defRPr sz="1600">
                <a:solidFill>
                  <a:srgbClr val="222222"/>
                </a:solidFill>
              </a:defRPr>
            </a:pPr>
            <a:r>
              <a:t>• Simulation de communication scientifique (10 min exposé + 5 min questions)</a:t>
            </a:r>
          </a:p>
          <a:p>
            <a:pPr>
              <a:spcAft>
                <a:spcPts val="600"/>
              </a:spcAft>
              <a:defRPr sz="1600">
                <a:solidFill>
                  <a:srgbClr val="222222"/>
                </a:solidFill>
              </a:defRPr>
            </a:pPr>
            <a:r>
              <a:t>• TemplatePresentation_BELACEL_V3.pptx; règle 6×6 (ENS/M'sila)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7772400" cy="640080"/>
          </a:xfrm>
          <a:prstGeom prst="rect">
            <a:avLst/>
          </a:prstGeom>
          <a:noFill/>
        </p:spPr>
        <p:txBody>
          <a:bodyPr wrap="square">
            <a:spAutoFit/>
          </a:bodyPr>
          <a:lstStyle/>
          <a:p>
            <a:pPr algn="ctr">
              <a:defRPr sz="2600" b="1">
                <a:solidFill>
                  <a:srgbClr val="1A5C33"/>
                </a:solidFill>
              </a:defRPr>
            </a:pPr>
            <a:r>
              <a:t>✏️ Exercices d'application</a:t>
            </a:r>
          </a:p>
        </p:txBody>
      </p:sp>
      <p:sp>
        <p:nvSpPr>
          <p:cNvPr id="3" name="TextBox 2"/>
          <p:cNvSpPr txBox="1"/>
          <p:nvPr/>
        </p:nvSpPr>
        <p:spPr>
          <a:xfrm>
            <a:off x="548640" y="1828800"/>
            <a:ext cx="7772400" cy="4572000"/>
          </a:xfrm>
          <a:prstGeom prst="rect">
            <a:avLst/>
          </a:prstGeom>
          <a:noFill/>
        </p:spPr>
        <p:txBody>
          <a:bodyPr wrap="square">
            <a:spAutoFit/>
          </a:bodyPr>
          <a:lstStyle/>
          <a:p>
            <a:pPr>
              <a:spcAft>
                <a:spcPts val="600"/>
              </a:spcAft>
              <a:defRPr sz="1500">
                <a:solidFill>
                  <a:srgbClr val="222222"/>
                </a:solidFill>
              </a:defRPr>
            </a:pPr>
            <a:r>
              <a:t>• Définir les concepts principaux du cours</a:t>
            </a:r>
          </a:p>
          <a:p>
            <a:pPr>
              <a:spcAft>
                <a:spcPts val="600"/>
              </a:spcAft>
              <a:defRPr sz="1500">
                <a:solidFill>
                  <a:srgbClr val="222222"/>
                </a:solidFill>
              </a:defRPr>
            </a:pPr>
            <a:r>
              <a:t>• Identifier les applications pratiques</a:t>
            </a:r>
          </a:p>
          <a:p>
            <a:pPr>
              <a:spcAft>
                <a:spcPts val="600"/>
              </a:spcAft>
              <a:defRPr sz="1500">
                <a:solidFill>
                  <a:srgbClr val="222222"/>
                </a:solidFill>
              </a:defRPr>
            </a:pPr>
            <a:r>
              <a:t>• Résoudre les exercices du TD</a:t>
            </a:r>
          </a:p>
          <a:p>
            <a:pPr>
              <a:spcAft>
                <a:spcPts val="600"/>
              </a:spcAft>
              <a:defRPr sz="1500">
                <a:solidFill>
                  <a:srgbClr val="222222"/>
                </a:solidFill>
              </a:defRPr>
            </a:pPr>
            <a:r>
              <a:t>• Synthétiser les points clés en un paragraphe</a:t>
            </a:r>
          </a:p>
          <a:p>
            <a:pPr>
              <a:spcAft>
                <a:spcPts val="600"/>
              </a:spcAft>
              <a:defRPr sz="1500">
                <a:solidFill>
                  <a:srgbClr val="222222"/>
                </a:solidFill>
              </a:defRPr>
            </a:pPr>
            <a:r>
              <a:t>• Préparer une courte présentation orale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5C33"/>
        </a:solidFill>
        <a:effectLst/>
      </p:bgPr>
    </p:bg>
    <p:spTree>
      <p:nvGrpSpPr>
        <p:cNvPr id="1" name=""/>
        <p:cNvGrpSpPr/>
        <p:nvPr/>
      </p:nvGrpSpPr>
      <p:grpSpPr/>
      <p:sp>
        <p:nvSpPr>
          <p:cNvPr id="2" name="TextBox 1"/>
          <p:cNvSpPr txBox="1"/>
          <p:nvPr/>
        </p:nvSpPr>
        <p:spPr>
          <a:xfrm>
            <a:off x="731520" y="1371600"/>
            <a:ext cx="7680960" cy="914400"/>
          </a:xfrm>
          <a:prstGeom prst="rect">
            <a:avLst/>
          </a:prstGeom>
          <a:noFill/>
        </p:spPr>
        <p:txBody>
          <a:bodyPr wrap="square">
            <a:spAutoFit/>
          </a:bodyPr>
          <a:lstStyle/>
          <a:p>
            <a:pPr algn="ctr">
              <a:defRPr sz="2800" b="1">
                <a:solidFill>
                  <a:srgbClr val="FFFFFF"/>
                </a:solidFill>
              </a:defRPr>
            </a:pPr>
            <a:r>
              <a:t>🎓 Conclusion</a:t>
            </a:r>
          </a:p>
        </p:txBody>
      </p:sp>
      <p:sp>
        <p:nvSpPr>
          <p:cNvPr id="3" name="TextBox 2"/>
          <p:cNvSpPr txBox="1"/>
          <p:nvPr/>
        </p:nvSpPr>
        <p:spPr>
          <a:xfrm>
            <a:off x="731520" y="2743200"/>
            <a:ext cx="7680960" cy="1828800"/>
          </a:xfrm>
          <a:prstGeom prst="rect">
            <a:avLst/>
          </a:prstGeom>
          <a:noFill/>
        </p:spPr>
        <p:txBody>
          <a:bodyPr wrap="square">
            <a:spAutoFit/>
          </a:bodyPr>
          <a:lstStyle/>
          <a:p>
            <a:pPr algn="ctr">
              <a:defRPr sz="1800" b="0">
                <a:solidFill>
                  <a:srgbClr val="C5D9C7"/>
                </a:solidFill>
              </a:defRPr>
            </a:pPr>
            <a:r>
              <a:t>Dr. BELACEL Madani</a:t>
            </a:r>
            <a:br/>
            <a:r>
              <a:t>Maître de Conférences B</a:t>
            </a:r>
            <a:br/>
            <a:r>
              <a:t>Université de Mostaganem</a:t>
            </a:r>
            <a:br/>
            <a:r>
              <a:t>madani.belacel@univ-mosta.dz</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