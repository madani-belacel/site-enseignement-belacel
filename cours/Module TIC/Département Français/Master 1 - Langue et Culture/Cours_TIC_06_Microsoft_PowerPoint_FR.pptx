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3200" b="1">
                <a:solidFill>val="FFFFFF"/&gt;</a:solidFill>
              </a:defRPr>
            </a:pPr>
            <a:r>
              <a:t>Cours TIC 06 — Microsoft PowerPoint</a:t>
            </a:r>
          </a:p>
        </p:txBody>
      </p:sp>
      <p:sp>
        <p:nvSpPr>
          <p:cNvPr id="3" name="TextBox 2"/>
          <p:cNvSpPr txBox="1"/>
          <p:nvPr/>
        </p:nvSpPr>
        <p:spPr>
          <a:xfrm>
            <a:off x="731520" y="2926080"/>
            <a:ext cx="7680960" cy="548640"/>
          </a:xfrm>
          <a:prstGeom prst="rect">
            <a:avLst/>
          </a:prstGeom>
          <a:noFill/>
        </p:spPr>
        <p:txBody>
          <a:bodyPr wrap="square">
            <a:spAutoFit/>
          </a:bodyPr>
          <a:lstStyle/>
          <a:p>
            <a:pPr algn="ctr">
              <a:defRPr sz="2000" b="0">
                <a:solidFill>val="DFE5EA"/&gt;</a:solidFill>
              </a:defRPr>
            </a:pPr>
            <a:r>
              <a:t>Module TIC — Dr. BELACEL Madani</a:t>
            </a:r>
          </a:p>
        </p:txBody>
      </p:sp>
      <p:sp>
        <p:nvSpPr>
          <p:cNvPr id="4" name="TextBox 3"/>
          <p:cNvSpPr txBox="1"/>
          <p:nvPr/>
        </p:nvSpPr>
        <p:spPr>
          <a:xfrm>
            <a:off x="731520" y="3657600"/>
            <a:ext cx="7680960" cy="457200"/>
          </a:xfrm>
          <a:prstGeom prst="rect">
            <a:avLst/>
          </a:prstGeom>
          <a:noFill/>
        </p:spPr>
        <p:txBody>
          <a:bodyPr wrap="square">
            <a:spAutoFit/>
          </a:bodyPr>
          <a:lstStyle/>
          <a:p>
            <a:pPr algn="ctr">
              <a:defRPr sz="1600" b="0">
                <a:solidFill>val="B7C9BE"/&gt;</a:solidFill>
              </a:defRPr>
            </a:pPr>
            <a:r>
              <a:t>Université de Mostaganem — MCB</a:t>
            </a:r>
          </a:p>
        </p:txBody>
      </p:sp>
      <p:sp>
        <p:nvSpPr>
          <p:cNvPr id="990001" name="Pied de page FLE"/>
          <p:cNvSpPr>
            <a:spLocks noGrp="1"/>
          </p:cNvSpPr>
          <p:nvPr/>
        </p:nvSpPr>
        <p:spPr>
          <a:xfrm>
            <a:off x="2880360"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Objectifs pédagogiques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En termes de savoir :- Structurer une soutenance ou communication scientifique (12–15 slides)</a:t>
            </a:r>
            <a:br/>
            <a:r>
              <a:t>- Distinguer transition, animation, et principes de data visualisation</a:t>
            </a:r>
            <a:br/>
            <a:r>
              <a:t>- Connaître les normes typographiques et chartes graphiques institutionnelles</a:t>
            </a:r>
          </a:p>
          <a:p>
            <a:pPr>
              <a:spcAft>
                <a:spcPts val="600"/>
              </a:spcAft>
              <a:defRPr sz="1500">
                <a:solidFill>val="22344A"/&gt;</a:solidFill>
              </a:defRPr>
            </a:pPr>
            <a:r>
              <a:t>• En termes de savoir-faire :- Créer une présentation académique avec template institutionnel</a:t>
            </a:r>
            <a:br/>
            <a:r>
              <a:t>- Exporter PDF, PPTX, et vidéo pour dépôt sur HAL ou archive ouverte</a:t>
            </a:r>
            <a:br/>
            <a:r>
              <a:t>- Appliquer les principes de visualisation des données (graphiques, tableaux, nuages de mots)</a:t>
            </a:r>
            <a:br/>
            <a:r>
              <a:t>- Utiliser le mode présentateur, le pointeur laser, le chronométrage</a:t>
            </a:r>
          </a:p>
          <a:p>
            <a:pPr>
              <a:spcAft>
                <a:spcPts val="600"/>
              </a:spcAft>
              <a:defRPr sz="1500">
                <a:solidFill>val="22344A"/&gt;</a:solidFill>
              </a:defRPr>
            </a:pPr>
            <a:r>
              <a:t>• En termes de savoir-être :- Communication scientifique claire, registre formel, gestion du temps</a:t>
            </a:r>
            <a:br/>
            <a:r>
              <a:t>- Réception constructive des questions du jury/public</a:t>
            </a:r>
          </a:p>
          <a:p>
            <a:pPr>
              <a:spcAft>
                <a:spcPts val="600"/>
              </a:spcAft>
              <a:defRPr sz="1500">
                <a:solidFill>val="22344A"/&gt;</a:solidFill>
              </a:defRPr>
            </a:pPr>
            <a:r>
              <a:t>• Mode d'évaluation :TD 20 % + Présentation orale (simulation soutenance) 50 % + QCM 30 %</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Plan du cours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Fiche cours — Plateforme e-learning (Moodle)</a:t>
            </a:r>
          </a:p>
          <a:p>
            <a:pPr>
              <a:spcAft>
                <a:spcPts val="600"/>
              </a:spcAft>
              <a:defRPr sz="1600">
                <a:solidFill>val="22344A"/&gt;</a:solidFill>
              </a:defRPr>
            </a:pPr>
            <a:r>
              <a:t>• Objectifs de l'enseignement</a:t>
            </a:r>
          </a:p>
          <a:p>
            <a:pPr>
              <a:spcAft>
                <a:spcPts val="600"/>
              </a:spcAft>
              <a:defRPr sz="1600">
                <a:solidFill>val="22344A"/&gt;</a:solidFill>
              </a:defRPr>
            </a:pPr>
            <a:r>
              <a:t>• Activités d'apprentissage</a:t>
            </a:r>
          </a:p>
          <a:p>
            <a:pPr>
              <a:spcAft>
                <a:spcPts val="600"/>
              </a:spcAft>
              <a:defRPr sz="1600">
                <a:solidFill>val="22344A"/&gt;</a:solidFill>
              </a:defRPr>
            </a:pPr>
            <a:r>
              <a:t>• Activités d'évaluation</a:t>
            </a:r>
          </a:p>
          <a:p>
            <a:pPr>
              <a:spcAft>
                <a:spcPts val="600"/>
              </a:spcAft>
              <a:defRPr sz="1600">
                <a:solidFill>val="22344A"/&gt;</a:solidFill>
              </a:defRPr>
            </a:pPr>
            <a:r>
              <a:t>• Bibliographie et ressources externes</a:t>
            </a:r>
          </a:p>
          <a:p>
            <a:pPr>
              <a:spcAft>
                <a:spcPts val="600"/>
              </a:spcAft>
              <a:defRPr sz="1600">
                <a:solidFill>val="22344A"/&gt;</a:solidFill>
              </a:defRPr>
            </a:pPr>
            <a:r>
              <a:t>• Contexte réglementaire algérien</a:t>
            </a:r>
          </a:p>
          <a:p>
            <a:pPr>
              <a:spcAft>
                <a:spcPts val="600"/>
              </a:spcAft>
              <a:defRPr sz="1600">
                <a:solidFill>val="22344A"/&gt;</a:solidFill>
              </a:defRPr>
            </a:pPr>
            <a:r>
              <a:t>• Plan du cours</a:t>
            </a:r>
          </a:p>
          <a:p>
            <a:pPr>
              <a:spcAft>
                <a:spcPts val="600"/>
              </a:spcAft>
              <a:defRPr sz="1600">
                <a:solidFill>val="22344A"/&gt;</a:solidFill>
              </a:defRPr>
            </a:pPr>
            <a:r>
              <a:t>• Introduction — PowerPoint comme outil de recherche(10 min)</a:t>
            </a:r>
          </a:p>
          <a:p>
            <a:pPr>
              <a:spcAft>
                <a:spcPts val="600"/>
              </a:spcAft>
              <a:defRPr sz="1600">
                <a:solidFill>val="22344A"/&gt;</a:solidFill>
              </a:defRPr>
            </a:pPr>
            <a:r>
              <a:t>• Interface avancée et modes d'affichage(10 min)</a:t>
            </a:r>
          </a:p>
          <a:p>
            <a:pPr>
              <a:spcAft>
                <a:spcPts val="600"/>
              </a:spcAft>
              <a:defRPr sz="1600">
                <a:solidFill>val="22344A"/&gt;</a:solidFill>
              </a:defRPr>
            </a:pPr>
            <a:r>
              <a:t>• Architecture d'une communication scientifique (12–15 slides)(15 min)</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Fiche cours — Plateforme e-learning (Moodle)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400">
                <a:solidFill>val="22344A"/&gt;</a:solidFill>
              </a:defRPr>
            </a:pPr>
            <a:r>
              <a:t>• Public visé :Master 1 Langue et Culture</a:t>
            </a:r>
          </a:p>
          <a:p>
            <a:pPr>
              <a:spcAft>
                <a:spcPts val="600"/>
              </a:spcAft>
              <a:defRPr sz="1400">
                <a:solidFill>val="22344A"/&gt;</a:solidFill>
              </a:defRPr>
            </a:pPr>
            <a:r>
              <a:t>• Compétences pré-requises :TIC 04–05 ; maîtrise de base de Word et Excel ; capacité à synthétiser une recherche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Objectifs de l'enseignement</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En termes de savoir :- Structurer une soutenance ou communication scientifique (12–15 slides)</a:t>
            </a:r>
            <a:br/>
            <a:r>
              <a:t>- Distinguer transition, animation, et principes de data visualisation</a:t>
            </a:r>
            <a:br/>
            <a:r>
              <a:t>- Connaître les normes typographiques et chartes graphiques institutionnelles</a:t>
            </a:r>
          </a:p>
          <a:p>
            <a:pPr>
              <a:spcAft>
                <a:spcPts val="600"/>
              </a:spcAft>
              <a:defRPr sz="1400">
                <a:solidFill>val="22344A"/&gt;</a:solidFill>
              </a:defRPr>
            </a:pPr>
            <a:r>
              <a:t>• En termes de savoir-faire :- Créer une présentation académique avec template institutionnel</a:t>
            </a:r>
            <a:br/>
            <a:r>
              <a:t>- Exporter PDF, PPTX, et vidéo pour dépôt sur HAL ou archive ouverte</a:t>
            </a:r>
            <a:br/>
            <a:r>
              <a:t>- Appliquer les principes de visualisation des données (graphiques, tableaux, nuages de mots)</a:t>
            </a:r>
            <a:br/>
            <a:r>
              <a:t>- Utiliser le mode présentateur, le pointeur laser, le chronométrage</a:t>
            </a:r>
          </a:p>
          <a:p>
            <a:pPr>
              <a:spcAft>
                <a:spcPts val="600"/>
              </a:spcAft>
              <a:defRPr sz="1400">
                <a:solidFill>val="22344A"/&gt;</a:solidFill>
              </a:defRPr>
            </a:pPr>
            <a:r>
              <a:t>• En termes de savoir-être :- Communication scientifique claire, registre formel, gestion du temps</a:t>
            </a:r>
            <a:br/>
            <a:r>
              <a:t>- Réception constructive des questions du jury/public</a:t>
            </a:r>
          </a:p>
          <a:p>
            <a:pPr>
              <a:spcAft>
                <a:spcPts val="600"/>
              </a:spcAft>
              <a:defRPr sz="1400">
                <a:solidFill>val="22344A"/&gt;</a:solidFill>
              </a:defRPr>
            </a:pPr>
            <a:r>
              <a:t>• Mode d'évaluation :TD 20 % + Présentation orale (simulation soutenance) 50 % + QCM 30 %</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Activités d'apprentissage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Création d'un diaporama de 10 slides sur un sujet de recherche en langue/culture</a:t>
            </a:r>
          </a:p>
          <a:p>
            <a:pPr>
              <a:spcAft>
                <a:spcPts val="600"/>
              </a:spcAft>
              <a:defRPr sz="1400">
                <a:solidFill>val="22344A"/&gt;</a:solidFill>
              </a:defRPr>
            </a:pPr>
            <a:r>
              <a:t>• Exercice de data visualisation (transformer un tableau brut en infographie)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Activités d'évaluation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Simulation de communication scientifique (10 min exposé + 5 min questions)</a:t>
            </a:r>
          </a:p>
          <a:p>
            <a:pPr>
              <a:spcAft>
                <a:spcPts val="600"/>
              </a:spcAft>
              <a:defRPr sz="1400">
                <a:solidFill>val="22344A"/&gt;</a:solidFill>
              </a:defRPr>
            </a:pPr>
            <a:r>
              <a:t>• Grille d'évaluation critériée (contenu, design, oral, gestion du temps)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Bibliographie et ressources externes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TemplatePresentation_BELACEL_V3.pptx; règle 6×6 (ENS/M'sila)</a:t>
            </a:r>
          </a:p>
          <a:p>
            <a:pPr>
              <a:spcAft>
                <a:spcPts val="600"/>
              </a:spcAft>
              <a:defRPr sz="1400">
                <a:solidFill>val="22344A"/&gt;</a:solidFill>
              </a:defRPr>
            </a:pPr>
            <a:r>
              <a:t>• Tufte, E. (2001).The Visual Display of Quantitative Information. Graphics Press.</a:t>
            </a:r>
          </a:p>
          <a:p>
            <a:pPr>
              <a:spcAft>
                <a:spcPts val="600"/>
              </a:spcAft>
              <a:defRPr sz="1400">
                <a:solidFill>val="22344A"/&gt;</a:solidFill>
              </a:defRPr>
            </a:pPr>
            <a:r>
              <a:t>• Duarte, N. (2008).Slide:ology: The Art and Science of Creating Great Presentations. O'Reilly.</a:t>
            </a:r>
          </a:p>
          <a:p>
            <a:pPr>
              <a:spcAft>
                <a:spcPts val="600"/>
              </a:spcAft>
              <a:defRPr sz="1400">
                <a:solidFill>val="22344A"/&gt;</a:solidFill>
              </a:defRPr>
            </a:pPr>
            <a:r>
              <a:t>• Reynolds, G. (2012).Presentation Zen. New Riders.</a:t>
            </a:r>
          </a:p>
          <a:p>
            <a:pPr>
              <a:spcAft>
                <a:spcPts val="600"/>
              </a:spcAft>
              <a:defRPr sz="1400">
                <a:solidFill>val="22344A"/&gt;</a:solidFill>
              </a:defRPr>
            </a:pPr>
            <a:r>
              <a:t>• Bardin, L. (2013).L'analyse de contenu. PUF (pour la structuration des données qualitatives).</a:t>
            </a:r>
          </a:p>
          <a:p>
            <a:pPr>
              <a:spcAft>
                <a:spcPts val="600"/>
              </a:spcAft>
              <a:defRPr sz="1400">
                <a:solidFill>val="22344A"/&gt;</a:solidFill>
              </a:defRPr>
            </a:pPr>
            <a:r>
              <a:t>• Contact enseignant :BELACEL Madani —madani.belacel@univ-mosta.dz</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Contexte réglementaire algérien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Arrêté ministériel 933(2016) : le Master en Langue et Culture s'inscrit dans le cadre du système LMD. Les compétences TIC sont obligatoires (référentiel national des programmes). L'arrêté 129 (2019) précise l'intégration des outils numériques dans les formations de lettres et langues.</a:t>
            </a:r>
          </a:p>
          <a:p>
            <a:pPr>
              <a:spcAft>
                <a:spcPts val="600"/>
              </a:spcAft>
              <a:defRPr sz="1400">
                <a:solidFill>val="22344A"/&gt;</a:solidFill>
              </a:defRPr>
            </a:pPr>
            <a:r>
              <a:t>• Recommandations CNREN(Comité National de Réforme de l'Enseignement Supérieur) : les étudiants de Master doivent maîtriser les outils de présentation scientifique pour les journées d'étude, colloques et séminaires. Le recours aux TIC dans la recherche est un critère d'évaluation des établissements (AAC – Auto-évaluation et Audit de Conformité).</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Plan du cours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Introduction — PowerPoint comme outil de recherche</a:t>
            </a:r>
          </a:p>
          <a:p>
            <a:pPr>
              <a:spcAft>
                <a:spcPts val="600"/>
              </a:spcAft>
              <a:defRPr sz="1400">
                <a:solidFill>val="22344A"/&gt;</a:solidFill>
              </a:defRPr>
            </a:pPr>
            <a:r>
              <a:t>• Interface avancée et modes d'affichage</a:t>
            </a:r>
          </a:p>
          <a:p>
            <a:pPr>
              <a:spcAft>
                <a:spcPts val="600"/>
              </a:spcAft>
              <a:defRPr sz="1400">
                <a:solidFill>val="22344A"/&gt;</a:solidFill>
              </a:defRPr>
            </a:pPr>
            <a:r>
              <a:t>• Architecture d'une communication scientifique (12–15 slides)</a:t>
            </a:r>
          </a:p>
          <a:p>
            <a:pPr>
              <a:spcAft>
                <a:spcPts val="600"/>
              </a:spcAft>
              <a:defRPr sz="1400">
                <a:solidFill>val="22344A"/&gt;</a:solidFill>
              </a:defRPr>
            </a:pPr>
            <a:r>
              <a:t>• Design professionnel, template et charte graphique</a:t>
            </a:r>
          </a:p>
          <a:p>
            <a:pPr>
              <a:spcAft>
                <a:spcPts val="600"/>
              </a:spcAft>
              <a:defRPr sz="1400">
                <a:solidFill>val="22344A"/&gt;</a:solidFill>
              </a:defRPr>
            </a:pPr>
            <a:r>
              <a:t>• Data visualisation : graphiques, tableaux, infographies</a:t>
            </a:r>
          </a:p>
          <a:p>
            <a:pPr>
              <a:spcAft>
                <a:spcPts val="600"/>
              </a:spcAft>
              <a:defRPr sz="1400">
                <a:solidFill>val="22344A"/&gt;</a:solidFill>
              </a:defRPr>
            </a:pPr>
            <a:r>
              <a:t>• Transitions, animations et storytelling</a:t>
            </a:r>
          </a:p>
          <a:p>
            <a:pPr>
              <a:spcAft>
                <a:spcPts val="600"/>
              </a:spcAft>
              <a:defRPr sz="1400">
                <a:solidFill>val="22344A"/&gt;</a:solidFill>
              </a:defRPr>
            </a:pPr>
            <a:r>
              <a:t>• Intégration de données Word, Excel et corpus</a:t>
            </a:r>
          </a:p>
          <a:p>
            <a:pPr>
              <a:spcAft>
                <a:spcPts val="600"/>
              </a:spcAft>
              <a:defRPr sz="1400">
                <a:solidFill>val="22344A"/&gt;</a:solidFill>
              </a:defRPr>
            </a:pPr>
            <a:r>
              <a:t>• Présentation orale : techniques pour soutenance et colloque</a:t>
            </a:r>
          </a:p>
          <a:p>
            <a:pPr>
              <a:spcAft>
                <a:spcPts val="600"/>
              </a:spcAft>
              <a:defRPr sz="1400">
                <a:solidFill>val="22344A"/&gt;</a:solidFill>
              </a:defRPr>
            </a:pPr>
            <a:r>
              <a:t>• Export, archivage et dépôt en ligne (HAL, Zenodo)</a:t>
            </a:r>
          </a:p>
          <a:p>
            <a:pPr>
              <a:spcAft>
                <a:spcPts val="600"/>
              </a:spcAft>
              <a:defRPr sz="1400">
                <a:solidFill>val="22344A"/&gt;</a:solidFill>
              </a:defRPr>
            </a:pPr>
            <a:r>
              <a:t>• Conclusion et TD</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Introduction — PowerPoint comme outil de recherche(10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PowerPointest l'outil de présentation de la suite Office. En Master, il ne s'agit plus seulement de montrer des informations, mais deconstruire un argument visuelau service de la démonstration scientifique.</a:t>
            </a:r>
          </a:p>
          <a:p>
            <a:pPr>
              <a:spcAft>
                <a:spcPts val="600"/>
              </a:spcAft>
              <a:defRPr sz="1400">
                <a:solidFill>val="22344A"/&gt;</a:solidFill>
              </a:defRPr>
            </a:pPr>
            <a:r>
              <a:t>• Spécificité Langue et Culture :présenter une analyse de corpus, une enquête de terrain, ou une synthèse théorique requiert une scénarisation particulière — intégration de données qualitatives (verbatim, extraits littéraires) et quantitatives (statistiques textuelles).</a:t>
            </a:r>
          </a:p>
          <a:p>
            <a:pPr>
              <a:spcAft>
                <a:spcPts val="600"/>
              </a:spcAft>
              <a:defRPr sz="1400">
                <a:solidFill>val="22344A"/&gt;</a:solidFill>
              </a:defRPr>
            </a:pPr>
            <a:r>
              <a:t>• Usages en Master :- Présentation de mémoire (soutenance)</a:t>
            </a:r>
            <a:br/>
            <a:r>
              <a:t>- Communication en colloque / journée d'étude</a:t>
            </a:r>
            <a:br/>
            <a:r>
              <a:t>- Séminaire de recherche (état d'avancement)</a:t>
            </a:r>
            <a:br/>
            <a:r>
              <a:t>- Poster scientifique (format différent, mais même logique de synthèse)</a:t>
            </a:r>
          </a:p>
          <a:p>
            <a:pPr>
              <a:spcAft>
                <a:spcPts val="600"/>
              </a:spcAft>
              <a:defRPr sz="1400">
                <a:solidFill>val="22344A"/&gt;</a:solidFill>
              </a:defRPr>
            </a:pPr>
            <a:r>
              <a:t>• Pourquoi le mode « recherche » ?Contrairement au monde professionnel, la présentation académique valorise latransparence méthodologiqueet ladiscussion des résultatsplus que la persuasion commerciale.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Interface avancée et modes d'affichage(10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Ruban contextualisé: chaque objet (image, graphique, tableau) fait apparaître un onglet supplémentaire (Format, Création de graphique, etc.).</a:t>
            </a:r>
          </a:p>
          <a:p>
            <a:pPr>
              <a:spcAft>
                <a:spcPts val="600"/>
              </a:spcAft>
              <a:defRPr sz="1400">
                <a:solidFill>val="22344A"/&gt;</a:solidFill>
              </a:defRPr>
            </a:pPr>
            <a:r>
              <a:t>• Raccourcis:F5(depuis début),Ctrl+F5(depuis slide active),B(écran noir = attention public),W(écran blanc).</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val="F4F6F8"/&gt;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Points clés à retenir</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600">
                <a:solidFill>val="22344A"/&gt;</a:solidFill>
              </a:defRPr>
            </a:pPr>
            <a:r>
              <a:t>• En termes de savoir :- Structurer une soutenance ou communication scientifique (12–15 slides)</a:t>
            </a:r>
            <a:br/>
            <a:r>
              <a:t>- Distinguer transition, animation, et principes de data visualisation</a:t>
            </a:r>
            <a:br/>
            <a:r>
              <a:t>- Connaître les normes typographiques et chartes graphiques institutionnelles</a:t>
            </a:r>
          </a:p>
          <a:p>
            <a:pPr>
              <a:spcAft>
                <a:spcPts val="600"/>
              </a:spcAft>
              <a:defRPr sz="1600">
                <a:solidFill>val="22344A"/&gt;</a:solidFill>
              </a:defRPr>
            </a:pPr>
            <a:r>
              <a:t>• Création d'un diaporama de 10 slides sur un sujet de recherche en langue/culture</a:t>
            </a:r>
          </a:p>
          <a:p>
            <a:pPr>
              <a:spcAft>
                <a:spcPts val="600"/>
              </a:spcAft>
              <a:defRPr sz="1600">
                <a:solidFill>val="22344A"/&gt;</a:solidFill>
              </a:defRPr>
            </a:pPr>
            <a:r>
              <a:t>• Simulation de communication scientifique (10 min exposé + 5 min questions)</a:t>
            </a:r>
          </a:p>
          <a:p>
            <a:pPr>
              <a:spcAft>
                <a:spcPts val="600"/>
              </a:spcAft>
              <a:defRPr sz="1600">
                <a:solidFill>val="22344A"/&gt;</a:solidFill>
              </a:defRPr>
            </a:pPr>
            <a:r>
              <a:t>• TemplatePresentation_BELACEL_V3.pptx; règle 6×6 (ENS/M'sila)</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Exercices d'application</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Définir les concepts principaux du cours</a:t>
            </a:r>
          </a:p>
          <a:p>
            <a:pPr>
              <a:spcAft>
                <a:spcPts val="600"/>
              </a:spcAft>
              <a:defRPr sz="1500">
                <a:solidFill>val="22344A"/&gt;</a:solidFill>
              </a:defRPr>
            </a:pPr>
            <a:r>
              <a:t>• Identifier les applications pratiques</a:t>
            </a:r>
          </a:p>
          <a:p>
            <a:pPr>
              <a:spcAft>
                <a:spcPts val="600"/>
              </a:spcAft>
              <a:defRPr sz="1500">
                <a:solidFill>val="22344A"/&gt;</a:solidFill>
              </a:defRPr>
            </a:pPr>
            <a:r>
              <a:t>• Résoudre les exercices du TD</a:t>
            </a:r>
          </a:p>
          <a:p>
            <a:pPr>
              <a:spcAft>
                <a:spcPts val="600"/>
              </a:spcAft>
              <a:defRPr sz="1500">
                <a:solidFill>val="22344A"/&gt;</a:solidFill>
              </a:defRPr>
            </a:pPr>
            <a:r>
              <a:t>• Synthétiser les points clés en un paragraphe</a:t>
            </a:r>
          </a:p>
          <a:p>
            <a:pPr>
              <a:spcAft>
                <a:spcPts val="600"/>
              </a:spcAft>
              <a:defRPr sz="1500">
                <a:solidFill>val="22344A"/&gt;</a:solidFill>
              </a:defRPr>
            </a:pPr>
            <a:r>
              <a:t>• Préparer une courte présentation orale</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914400"/>
          </a:xfrm>
          <a:prstGeom prst="rect">
            <a:avLst/>
          </a:prstGeom>
          <a:noFill/>
        </p:spPr>
        <p:txBody>
          <a:bodyPr wrap="square">
            <a:spAutoFit/>
          </a:bodyPr>
          <a:lstStyle/>
          <a:p>
            <a:pPr algn="ctr">
              <a:defRPr sz="2800" b="1">
                <a:solidFill>val="FFFFFF"/&gt;</a:solidFill>
              </a:defRPr>
            </a:pPr>
            <a:r>
              <a:t>🎓 Conclusion</a:t>
            </a:r>
          </a:p>
        </p:txBody>
      </p:sp>
      <p:sp>
        <p:nvSpPr>
          <p:cNvPr id="3" name="TextBox 2"/>
          <p:cNvSpPr txBox="1"/>
          <p:nvPr/>
        </p:nvSpPr>
        <p:spPr>
          <a:xfrm>
            <a:off x="731520" y="2743200"/>
            <a:ext cx="7680960" cy="1828800"/>
          </a:xfrm>
          <a:prstGeom prst="rect">
            <a:avLst/>
          </a:prstGeom>
          <a:noFill/>
        </p:spPr>
        <p:txBody>
          <a:bodyPr wrap="square">
            <a:spAutoFit/>
          </a:bodyPr>
          <a:lstStyle/>
          <a:p>
            <a:pPr algn="ctr">
              <a:defRPr sz="1800" b="0">
                <a:solidFill>val="DFE5EA"/&gt;</a:solidFill>
              </a:defRPr>
            </a:pPr>
            <a:r>
              <a:t>Dr. BELACEL Madani</a:t>
            </a:r>
            <a:br/>
            <a:r>
              <a:t>Maître de Conférences B</a:t>
            </a:r>
            <a:br/>
            <a:r>
              <a:t>Université de Mostaganem</a:t>
            </a:r>
            <a:br/>
            <a:r>
              <a:t>madani.belacel@univ-mosta.dz</a:t>
            </a:r>
          </a:p>
        </p:txBody>
      </p:sp>
      <p:sp>
        <p:nvSpPr>
          <p:cNvPr id="990001" name="Pied de page FLE"/>
          <p:cNvSpPr>
            <a:spLocks noGrp="1"/>
          </p:cNvSpPr>
          <p:nvPr/>
        </p:nvSpPr>
        <p:spPr>
          <a:xfrm>
            <a:off x="2880360" y="4572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