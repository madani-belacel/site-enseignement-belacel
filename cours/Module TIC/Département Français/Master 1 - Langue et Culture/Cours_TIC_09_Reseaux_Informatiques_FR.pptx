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1371600"/>
          </a:xfrm>
          <a:prstGeom prst="rect">
            <a:avLst/>
          </a:prstGeom>
          <a:noFill/>
        </p:spPr>
        <p:txBody>
          <a:bodyPr wrap="square">
            <a:spAutoFit/>
          </a:bodyPr>
          <a:lstStyle/>
          <a:p>
            <a:pPr algn="ctr">
              <a:defRPr sz="3200" b="1">
                <a:solidFill>
                  <a:srgbClr val="FFFFFF"/>
                </a:solidFill>
              </a:defRPr>
            </a:pPr>
            <a:r>
              <a:t>Cours TIC 09 — Réseaux informatiques</a:t>
            </a:r>
          </a:p>
        </p:txBody>
      </p:sp>
      <p:sp>
        <p:nvSpPr>
          <p:cNvPr id="3" name="TextBox 2"/>
          <p:cNvSpPr txBox="1"/>
          <p:nvPr/>
        </p:nvSpPr>
        <p:spPr>
          <a:xfrm>
            <a:off x="731520" y="2926080"/>
            <a:ext cx="7680960" cy="548640"/>
          </a:xfrm>
          <a:prstGeom prst="rect">
            <a:avLst/>
          </a:prstGeom>
          <a:noFill/>
        </p:spPr>
        <p:txBody>
          <a:bodyPr wrap="square">
            <a:spAutoFit/>
          </a:bodyPr>
          <a:lstStyle/>
          <a:p>
            <a:pPr algn="ctr">
              <a:defRPr sz="2000" b="0">
                <a:solidFill>
                  <a:srgbClr val="C5D9C7"/>
                </a:solidFill>
              </a:defRPr>
            </a:pPr>
            <a:r>
              <a:t>Module TIC — Dr. BELACEL Madani</a:t>
            </a:r>
          </a:p>
        </p:txBody>
      </p:sp>
      <p:sp>
        <p:nvSpPr>
          <p:cNvPr id="4" name="TextBox 3"/>
          <p:cNvSpPr txBox="1"/>
          <p:nvPr/>
        </p:nvSpPr>
        <p:spPr>
          <a:xfrm>
            <a:off x="731520" y="3657600"/>
            <a:ext cx="7680960" cy="457200"/>
          </a:xfrm>
          <a:prstGeom prst="rect">
            <a:avLst/>
          </a:prstGeom>
          <a:noFill/>
        </p:spPr>
        <p:txBody>
          <a:bodyPr wrap="square">
            <a:spAutoFit/>
          </a:bodyPr>
          <a:lstStyle/>
          <a:p>
            <a:pPr algn="ctr">
              <a:defRPr sz="1600" b="0">
                <a:solidFill>
                  <a:srgbClr val="A0CFA0"/>
                </a:solidFill>
              </a:defRPr>
            </a:pPr>
            <a:r>
              <a:t>Université de Mostaganem — MCB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Objectifs pédagogiques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En termes de savoir :- Comprendre les concepts de réseau social et de capital social (Bourdieu, Granovetter)</a:t>
            </a:r>
            <a:br/>
            <a:r>
              <a:t>- Appliquer la théorie des réseaux à l'analyse des communautés linguistiques</a:t>
            </a:r>
            <a:br/>
            <a:r>
              <a:t>- Situer l'analyse des réseaux dans le champ de l'ethnographie numérique</a:t>
            </a:r>
          </a:p>
          <a:p>
            <a:pPr>
              <a:spcAft>
                <a:spcPts val="600"/>
              </a:spcAft>
              <a:defRPr sz="1500">
                <a:solidFill>
                  <a:srgbClr val="222222"/>
                </a:solidFill>
              </a:defRPr>
            </a:pPr>
            <a:r>
              <a:t>• En termes de savoir-faire :- Utiliser un outil de visualisation de réseaux (Gephi, NodeXL) sur un petit corpus</a:t>
            </a:r>
            <a:br/>
            <a:r>
              <a:t>- Interpréter des mesures de centralité, densité, modularité</a:t>
            </a:r>
            <a:br/>
            <a:r>
              <a:t>- Cartographier un réseau de relations (Twitter, courriels, co-publications)</a:t>
            </a:r>
          </a:p>
          <a:p>
            <a:pPr>
              <a:spcAft>
                <a:spcPts val="600"/>
              </a:spcAft>
              <a:defRPr sz="1500">
                <a:solidFill>
                  <a:srgbClr val="222222"/>
                </a:solidFill>
              </a:defRPr>
            </a:pPr>
            <a:r>
              <a:t>• En termes de savoir-être :- Réflexivité sur la position du chercheur dans le réseau observé</a:t>
            </a:r>
            <a:br/>
            <a:r>
              <a:t>- Éthique de la collecte de données relationnelles</a:t>
            </a:r>
          </a:p>
          <a:p>
            <a:pPr>
              <a:spcAft>
                <a:spcPts val="600"/>
              </a:spcAft>
              <a:defRPr sz="1500">
                <a:solidFill>
                  <a:srgbClr val="222222"/>
                </a:solidFill>
              </a:defRPr>
            </a:pPr>
            <a:r>
              <a:t>• Mode d'évaluation :TD 25 % + Analyse de réseau (mini-mémoire graphique) 50 % + QCM 25 %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Plan du cours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Fiche cours — Plateforme e-learning (Moodle)</a:t>
            </a:r>
          </a:p>
          <a:p>
            <a:pPr>
              <a:spcAft>
                <a:spcPts val="600"/>
              </a:spcAft>
              <a:defRPr sz="1600">
                <a:solidFill>
                  <a:srgbClr val="222222"/>
                </a:solidFill>
              </a:defRPr>
            </a:pPr>
            <a:r>
              <a:t>• Objectifs de l'enseignement</a:t>
            </a:r>
          </a:p>
          <a:p>
            <a:pPr>
              <a:spcAft>
                <a:spcPts val="600"/>
              </a:spcAft>
              <a:defRPr sz="1600">
                <a:solidFill>
                  <a:srgbClr val="222222"/>
                </a:solidFill>
              </a:defRPr>
            </a:pPr>
            <a:r>
              <a:t>• Activités d'apprentissage</a:t>
            </a:r>
          </a:p>
          <a:p>
            <a:pPr>
              <a:spcAft>
                <a:spcPts val="600"/>
              </a:spcAft>
              <a:defRPr sz="1600">
                <a:solidFill>
                  <a:srgbClr val="222222"/>
                </a:solidFill>
              </a:defRPr>
            </a:pPr>
            <a:r>
              <a:t>• Activités d'évaluation</a:t>
            </a:r>
          </a:p>
          <a:p>
            <a:pPr>
              <a:spcAft>
                <a:spcPts val="600"/>
              </a:spcAft>
              <a:defRPr sz="1600">
                <a:solidFill>
                  <a:srgbClr val="222222"/>
                </a:solidFill>
              </a:defRPr>
            </a:pPr>
            <a:r>
              <a:t>• Bibliographie et ressources externes</a:t>
            </a:r>
          </a:p>
          <a:p>
            <a:pPr>
              <a:spcAft>
                <a:spcPts val="600"/>
              </a:spcAft>
              <a:defRPr sz="1600">
                <a:solidFill>
                  <a:srgbClr val="222222"/>
                </a:solidFill>
              </a:defRPr>
            </a:pPr>
            <a:r>
              <a:t>• Contexte réglementaire algérien</a:t>
            </a:r>
          </a:p>
          <a:p>
            <a:pPr>
              <a:spcAft>
                <a:spcPts val="600"/>
              </a:spcAft>
              <a:defRPr sz="1600">
                <a:solidFill>
                  <a:srgbClr val="222222"/>
                </a:solidFill>
              </a:defRPr>
            </a:pPr>
            <a:r>
              <a:t>• Plan du cours</a:t>
            </a:r>
          </a:p>
          <a:p>
            <a:pPr>
              <a:spcAft>
                <a:spcPts val="600"/>
              </a:spcAft>
              <a:defRPr sz="1600">
                <a:solidFill>
                  <a:srgbClr val="222222"/>
                </a:solidFill>
              </a:defRPr>
            </a:pPr>
            <a:r>
              <a:t>• Introduction — Des réseaux techniques aux réseaux sociaux(10 min)</a:t>
            </a:r>
          </a:p>
          <a:p>
            <a:pPr>
              <a:spcAft>
                <a:spcPts val="600"/>
              </a:spcAft>
              <a:defRPr sz="1600">
                <a:solidFill>
                  <a:srgbClr val="222222"/>
                </a:solidFill>
              </a:defRPr>
            </a:pPr>
            <a:r>
              <a:t>• Topologies physiques et logiques(10 min)</a:t>
            </a:r>
          </a:p>
          <a:p>
            <a:pPr>
              <a:spcAft>
                <a:spcPts val="600"/>
              </a:spcAft>
              <a:defRPr sz="1600">
                <a:solidFill>
                  <a:srgbClr val="222222"/>
                </a:solidFill>
              </a:defRPr>
            </a:pPr>
            <a:r>
              <a:t>• Social Network Analysis (SNA) — fondements(15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Fiche cours — Plateforme e-learning (Moodle)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400">
                <a:solidFill>
                  <a:srgbClr val="222222"/>
                </a:solidFill>
              </a:defRPr>
            </a:pPr>
            <a:r>
              <a:t>• Public visé :Master 1 Langue et Culture</a:t>
            </a:r>
          </a:p>
          <a:p>
            <a:pPr>
              <a:spcAft>
                <a:spcPts val="600"/>
              </a:spcAft>
              <a:defRPr sz="1400">
                <a:solidFill>
                  <a:srgbClr val="222222"/>
                </a:solidFill>
              </a:defRPr>
            </a:pPr>
            <a:r>
              <a:t>• Compétences pré-requises :TIC 07–08 ; notions d'adressage IP et de protocoles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Objectifs de l'enseignement</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En termes de savoir :- Comprendre les concepts de réseau social et de capital social (Bourdieu, Granovetter)</a:t>
            </a:r>
            <a:br/>
            <a:r>
              <a:t>- Appliquer la théorie des réseaux à l'analyse des communautés linguistiques</a:t>
            </a:r>
            <a:br/>
            <a:r>
              <a:t>- Situer l'analyse des réseaux dans le champ de l'ethnographie numérique</a:t>
            </a:r>
          </a:p>
          <a:p>
            <a:pPr>
              <a:spcAft>
                <a:spcPts val="600"/>
              </a:spcAft>
              <a:defRPr sz="1400">
                <a:solidFill>
                  <a:srgbClr val="222222"/>
                </a:solidFill>
              </a:defRPr>
            </a:pPr>
            <a:r>
              <a:t>• En termes de savoir-faire :- Utiliser un outil de visualisation de réseaux (Gephi, NodeXL) sur un petit corpus</a:t>
            </a:r>
            <a:br/>
            <a:r>
              <a:t>- Interpréter des mesures de centralité, densité, modularité</a:t>
            </a:r>
            <a:br/>
            <a:r>
              <a:t>- Cartographier un réseau de relations (Twitter, courriels, co-publications)</a:t>
            </a:r>
          </a:p>
          <a:p>
            <a:pPr>
              <a:spcAft>
                <a:spcPts val="600"/>
              </a:spcAft>
              <a:defRPr sz="1400">
                <a:solidFill>
                  <a:srgbClr val="222222"/>
                </a:solidFill>
              </a:defRPr>
            </a:pPr>
            <a:r>
              <a:t>• En termes de savoir-être :- Réflexivité sur la position du chercheur dans le réseau observé</a:t>
            </a:r>
            <a:br/>
            <a:r>
              <a:t>- Éthique de la collecte de données relationnelles</a:t>
            </a:r>
          </a:p>
          <a:p>
            <a:pPr>
              <a:spcAft>
                <a:spcPts val="600"/>
              </a:spcAft>
              <a:defRPr sz="1400">
                <a:solidFill>
                  <a:srgbClr val="222222"/>
                </a:solidFill>
              </a:defRPr>
            </a:pPr>
            <a:r>
              <a:t>• Mode d'évaluation :TD 25 % + Analyse de réseau (mini-mémoire graphique) 50 % + QCM 25 %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Activités d'apprentissage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Cartographie d'un réseau : communauté WhatsApp d'étude ou réseau Twitter/X</a:t>
            </a:r>
          </a:p>
          <a:p>
            <a:pPr>
              <a:spcAft>
                <a:spcPts val="600"/>
              </a:spcAft>
              <a:defRPr sz="1400">
                <a:solidFill>
                  <a:srgbClr val="222222"/>
                </a:solidFill>
              </a:defRPr>
            </a:pPr>
            <a:r>
              <a:t>• Lecture dirigée : Granovetter (1973) — « The Strength of Weak Ties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Activités d'évaluation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Rapport d'analyse de réseau (5 pages incluant visualisation)</a:t>
            </a:r>
          </a:p>
          <a:p>
            <a:pPr>
              <a:spcAft>
                <a:spcPts val="600"/>
              </a:spcAft>
              <a:defRPr sz="1400">
                <a:solidFill>
                  <a:srgbClr val="222222"/>
                </a:solidFill>
              </a:defRPr>
            </a:pPr>
            <a:r>
              <a:t>• QCM réseaux, topologies, SNA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Bibliographie et ressources externes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Granovetter, M. (1973). « The Strength of Weak Ties ».American Journal of Sociology, 78(6), 1360–1380.</a:t>
            </a:r>
          </a:p>
          <a:p>
            <a:pPr>
              <a:spcAft>
                <a:spcPts val="600"/>
              </a:spcAft>
              <a:defRPr sz="1400">
                <a:solidFill>
                  <a:srgbClr val="222222"/>
                </a:solidFill>
              </a:defRPr>
            </a:pPr>
            <a:r>
              <a:t>• Milroy, L. (1980).Language and Social Networks. Blackwell.</a:t>
            </a:r>
          </a:p>
          <a:p>
            <a:pPr>
              <a:spcAft>
                <a:spcPts val="600"/>
              </a:spcAft>
              <a:defRPr sz="1400">
                <a:solidFill>
                  <a:srgbClr val="222222"/>
                </a:solidFill>
              </a:defRPr>
            </a:pPr>
            <a:r>
              <a:t>• Barabási, A.-L. (2016).Network Science. Cambridge University Press.</a:t>
            </a:r>
          </a:p>
          <a:p>
            <a:pPr>
              <a:spcAft>
                <a:spcPts val="600"/>
              </a:spcAft>
              <a:defRPr sz="1400">
                <a:solidFill>
                  <a:srgbClr val="222222"/>
                </a:solidFill>
              </a:defRPr>
            </a:pPr>
            <a:r>
              <a:t>• Latour, B. (2005).Reassembling the Social: An Introduction to Actor-Network-Theory. Oxford University Press.</a:t>
            </a:r>
          </a:p>
          <a:p>
            <a:pPr>
              <a:spcAft>
                <a:spcPts val="600"/>
              </a:spcAft>
              <a:defRPr sz="1400">
                <a:solidFill>
                  <a:srgbClr val="222222"/>
                </a:solidFill>
              </a:defRPr>
            </a:pPr>
            <a:r>
              <a:t>• Kurose, J., &amp; Ross, K. (2020).Computer Networking: A Top-Down Approach(8th ed.). Pearson.</a:t>
            </a:r>
          </a:p>
          <a:p>
            <a:pPr>
              <a:spcAft>
                <a:spcPts val="600"/>
              </a:spcAft>
              <a:defRPr sz="1400">
                <a:solidFill>
                  <a:srgbClr val="222222"/>
                </a:solidFill>
              </a:defRPr>
            </a:pPr>
            <a:r>
              <a:t>• Contact enseignant :BELACEL Madani —madani.belacel@univ-mosta.dz</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Contexte réglementaire algérien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Arrêté 933 (2016): Le Master Langue et Culture inclut l'étude des réseaux comme objet social et communicationnel.Arrêté 129 (2019): Recommandation d'intégrer les méthodes numériques (dont l'analyse de réseaux) dans les travaux de Master.</a:t>
            </a:r>
          </a:p>
          <a:p>
            <a:pPr>
              <a:spcAft>
                <a:spcPts val="600"/>
              </a:spcAft>
              <a:defRPr sz="1400">
                <a:solidFill>
                  <a:srgbClr val="222222"/>
                </a:solidFill>
              </a:defRPr>
            </a:pPr>
            <a:r>
              <a:t>• Contexte algérien: Les communautés linguistiques en Algérie (arabophones, francophones, berbérophones) sont structurées en réseaux complexes. L'étude de ces réseaux (en ligne et hors ligne) éclaire les dynamiques de diglossie et de changement linguistique. Laloi 08-15 (2008)encadre la collecte de données personnelles, y compris dans les réseaux sociaux.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Plan du cours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Introduction — Des réseaux techniques aux réseaux sociaux</a:t>
            </a:r>
          </a:p>
          <a:p>
            <a:pPr>
              <a:spcAft>
                <a:spcPts val="600"/>
              </a:spcAft>
              <a:defRPr sz="1400">
                <a:solidFill>
                  <a:srgbClr val="222222"/>
                </a:solidFill>
              </a:defRPr>
            </a:pPr>
            <a:r>
              <a:t>• Types de réseaux informatiques (PAN, LAN, MAN, WAN)</a:t>
            </a:r>
          </a:p>
          <a:p>
            <a:pPr>
              <a:spcAft>
                <a:spcPts val="600"/>
              </a:spcAft>
              <a:defRPr sz="1400">
                <a:solidFill>
                  <a:srgbClr val="222222"/>
                </a:solidFill>
              </a:defRPr>
            </a:pPr>
            <a:r>
              <a:t>• Topologies physiques et logiques</a:t>
            </a:r>
          </a:p>
          <a:p>
            <a:pPr>
              <a:spcAft>
                <a:spcPts val="600"/>
              </a:spcAft>
              <a:defRPr sz="1400">
                <a:solidFill>
                  <a:srgbClr val="222222"/>
                </a:solidFill>
              </a:defRPr>
            </a:pPr>
            <a:r>
              <a:t>• Équipements réseau</a:t>
            </a:r>
          </a:p>
          <a:p>
            <a:pPr>
              <a:spcAft>
                <a:spcPts val="600"/>
              </a:spcAft>
              <a:defRPr sz="1400">
                <a:solidFill>
                  <a:srgbClr val="222222"/>
                </a:solidFill>
              </a:defRPr>
            </a:pPr>
            <a:r>
              <a:t>• Social Network Analysis (SNA) — fondements</a:t>
            </a:r>
          </a:p>
          <a:p>
            <a:pPr>
              <a:spcAft>
                <a:spcPts val="600"/>
              </a:spcAft>
              <a:defRPr sz="1400">
                <a:solidFill>
                  <a:srgbClr val="222222"/>
                </a:solidFill>
              </a:defRPr>
            </a:pPr>
            <a:r>
              <a:t>• Réseaux sociaux et communautés linguistiques</a:t>
            </a:r>
          </a:p>
          <a:p>
            <a:pPr>
              <a:spcAft>
                <a:spcPts val="600"/>
              </a:spcAft>
              <a:defRPr sz="1400">
                <a:solidFill>
                  <a:srgbClr val="222222"/>
                </a:solidFill>
              </a:defRPr>
            </a:pPr>
            <a:r>
              <a:t>• Mesures et visualisation de réseaux (Gephi)</a:t>
            </a:r>
          </a:p>
          <a:p>
            <a:pPr>
              <a:spcAft>
                <a:spcPts val="600"/>
              </a:spcAft>
              <a:defRPr sz="1400">
                <a:solidFill>
                  <a:srgbClr val="222222"/>
                </a:solidFill>
              </a:defRPr>
            </a:pPr>
            <a:r>
              <a:t>• Actor-Network Theory (ANT)</a:t>
            </a:r>
          </a:p>
          <a:p>
            <a:pPr>
              <a:spcAft>
                <a:spcPts val="600"/>
              </a:spcAft>
              <a:defRPr sz="1400">
                <a:solidFill>
                  <a:srgbClr val="222222"/>
                </a:solidFill>
              </a:defRPr>
            </a:pPr>
            <a:r>
              <a:t>• Réseau universitaire et identité numérique</a:t>
            </a:r>
          </a:p>
          <a:p>
            <a:pPr>
              <a:spcAft>
                <a:spcPts val="600"/>
              </a:spcAft>
              <a:defRPr sz="1400">
                <a:solidFill>
                  <a:srgbClr val="222222"/>
                </a:solidFill>
              </a:defRPr>
            </a:pPr>
            <a:r>
              <a:t>• Éthique et perspectives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Introduction — Des réseaux techniques aux réseaux sociaux(10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Le termeréseaudésigne à la fois des infrastructures techniques (réseaux informatiques) et des structures relationnelles (réseaux sociaux). En Master Langue et Culture, nous explorons ces deux dimensions :</a:t>
            </a:r>
          </a:p>
          <a:p>
            <a:pPr>
              <a:spcAft>
                <a:spcPts val="600"/>
              </a:spcAft>
              <a:defRPr sz="1400">
                <a:solidFill>
                  <a:srgbClr val="222222"/>
                </a:solidFill>
              </a:defRPr>
            </a:pPr>
            <a:r>
              <a:t>• Réseau technique: comment les données circulent (LAN, Wi-Fi, TCP/IP)</a:t>
            </a:r>
          </a:p>
          <a:p>
            <a:pPr>
              <a:spcAft>
                <a:spcPts val="600"/>
              </a:spcAft>
              <a:defRPr sz="1400">
                <a:solidFill>
                  <a:srgbClr val="222222"/>
                </a:solidFill>
              </a:defRPr>
            </a:pPr>
            <a:r>
              <a:t>• Réseau social: comment les humains (et leurs langues) sont connectés</a:t>
            </a:r>
          </a:p>
          <a:p>
            <a:pPr>
              <a:spcAft>
                <a:spcPts val="600"/>
              </a:spcAft>
              <a:defRPr sz="1400">
                <a:solidFill>
                  <a:srgbClr val="222222"/>
                </a:solidFill>
              </a:defRPr>
            </a:pPr>
            <a:r>
              <a:t>• Prolongement Master: l'analyse des réseaux (Social Network Analysis, SNA) est une méthode puissante pour étudier les communautés linguistiques, les interactions en ligne, et la diffusion des innovations linguistiques. Elle s'inscrit dans lesDigital Humanitiescomputationnelles.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Topologies physiques et logiques(10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Topologies physiques :</a:t>
            </a:r>
          </a:p>
          <a:p>
            <a:pPr>
              <a:spcAft>
                <a:spcPts val="600"/>
              </a:spcAft>
              <a:defRPr sz="1400">
                <a:solidFill>
                  <a:srgbClr val="222222"/>
                </a:solidFill>
              </a:defRPr>
            </a:pPr>
            <a:r>
              <a:t>• Topologie étoile: la plus courante en milieu universitaire. Chaque poste est relié à un switch central. Avantage : panne d'un seul câble n'isole qu'une machine.</a:t>
            </a:r>
          </a:p>
          <a:p>
            <a:pPr>
              <a:spcAft>
                <a:spcPts val="600"/>
              </a:spcAft>
              <a:defRPr sz="1400">
                <a:solidFill>
                  <a:srgbClr val="222222"/>
                </a:solidFill>
              </a:defRPr>
            </a:pPr>
            <a:r>
              <a:t>• Topologie logique: comment les données circulent (indépendamment de la disposition physique). Exemple : bus logique sur une topologie physique en étoile (Ethernet = CSMA/CD).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F0E9"/>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Points clés à retenir</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600">
                <a:solidFill>
                  <a:srgbClr val="222222"/>
                </a:solidFill>
              </a:defRPr>
            </a:pPr>
            <a:r>
              <a:t>• En termes de savoir :- Comprendre les concepts de réseau social et de capital social (Bourdieu, Granovetter)</a:t>
            </a:r>
            <a:br/>
            <a:r>
              <a:t>- Appliquer la théorie des réseaux à l'analyse des communautés linguistiques</a:t>
            </a:r>
            <a:br/>
            <a:r>
              <a:t>- Situer l'analyse des réseaux dans le champ de l'ethnographie numérique</a:t>
            </a:r>
          </a:p>
          <a:p>
            <a:pPr>
              <a:spcAft>
                <a:spcPts val="600"/>
              </a:spcAft>
              <a:defRPr sz="1600">
                <a:solidFill>
                  <a:srgbClr val="222222"/>
                </a:solidFill>
              </a:defRPr>
            </a:pPr>
            <a:r>
              <a:t>• Cartographie d'un réseau : communauté WhatsApp d'étude ou réseau Twitter/X</a:t>
            </a:r>
          </a:p>
          <a:p>
            <a:pPr>
              <a:spcAft>
                <a:spcPts val="600"/>
              </a:spcAft>
              <a:defRPr sz="1600">
                <a:solidFill>
                  <a:srgbClr val="222222"/>
                </a:solidFill>
              </a:defRPr>
            </a:pPr>
            <a:r>
              <a:t>• Rapport d'analyse de réseau (5 pages incluant visualisation)</a:t>
            </a:r>
          </a:p>
          <a:p>
            <a:pPr>
              <a:spcAft>
                <a:spcPts val="600"/>
              </a:spcAft>
              <a:defRPr sz="1600">
                <a:solidFill>
                  <a:srgbClr val="222222"/>
                </a:solidFill>
              </a:defRPr>
            </a:pPr>
            <a:r>
              <a:t>• Granovetter, M. (1973). « The Strength of Weak Ties ».American Journal of Sociology, 78(6), 1360–1380.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Exercices d'application</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Définir les concepts principaux du cours</a:t>
            </a:r>
          </a:p>
          <a:p>
            <a:pPr>
              <a:spcAft>
                <a:spcPts val="600"/>
              </a:spcAft>
              <a:defRPr sz="1500">
                <a:solidFill>
                  <a:srgbClr val="222222"/>
                </a:solidFill>
              </a:defRPr>
            </a:pPr>
            <a:r>
              <a:t>• Identifier les applications pratiques</a:t>
            </a:r>
          </a:p>
          <a:p>
            <a:pPr>
              <a:spcAft>
                <a:spcPts val="600"/>
              </a:spcAft>
              <a:defRPr sz="1500">
                <a:solidFill>
                  <a:srgbClr val="222222"/>
                </a:solidFill>
              </a:defRPr>
            </a:pPr>
            <a:r>
              <a:t>• Résoudre les exercices du TD</a:t>
            </a:r>
          </a:p>
          <a:p>
            <a:pPr>
              <a:spcAft>
                <a:spcPts val="600"/>
              </a:spcAft>
              <a:defRPr sz="1500">
                <a:solidFill>
                  <a:srgbClr val="222222"/>
                </a:solidFill>
              </a:defRPr>
            </a:pPr>
            <a:r>
              <a:t>• Synthétiser les points clés en un paragraphe</a:t>
            </a:r>
          </a:p>
          <a:p>
            <a:pPr>
              <a:spcAft>
                <a:spcPts val="600"/>
              </a:spcAft>
              <a:defRPr sz="1500">
                <a:solidFill>
                  <a:srgbClr val="222222"/>
                </a:solidFill>
              </a:defRPr>
            </a:pPr>
            <a:r>
              <a:t>• Préparer une courte présentation orale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914400"/>
          </a:xfrm>
          <a:prstGeom prst="rect">
            <a:avLst/>
          </a:prstGeom>
          <a:noFill/>
        </p:spPr>
        <p:txBody>
          <a:bodyPr wrap="square">
            <a:spAutoFit/>
          </a:bodyPr>
          <a:lstStyle/>
          <a:p>
            <a:pPr algn="ctr">
              <a:defRPr sz="2800" b="1">
                <a:solidFill>
                  <a:srgbClr val="FFFFFF"/>
                </a:solidFill>
              </a:defRPr>
            </a:pPr>
            <a:r>
              <a:t>🎓 Conclusion</a:t>
            </a:r>
          </a:p>
        </p:txBody>
      </p:sp>
      <p:sp>
        <p:nvSpPr>
          <p:cNvPr id="3" name="TextBox 2"/>
          <p:cNvSpPr txBox="1"/>
          <p:nvPr/>
        </p:nvSpPr>
        <p:spPr>
          <a:xfrm>
            <a:off x="731520" y="2743200"/>
            <a:ext cx="7680960" cy="1828800"/>
          </a:xfrm>
          <a:prstGeom prst="rect">
            <a:avLst/>
          </a:prstGeom>
          <a:noFill/>
        </p:spPr>
        <p:txBody>
          <a:bodyPr wrap="square">
            <a:spAutoFit/>
          </a:bodyPr>
          <a:lstStyle/>
          <a:p>
            <a:pPr algn="ctr">
              <a:defRPr sz="1800" b="0">
                <a:solidFill>
                  <a:srgbClr val="C5D9C7"/>
                </a:solidFill>
              </a:defRPr>
            </a:pPr>
            <a:r>
              <a:t>Dr. BELACEL Madani</a:t>
            </a:r>
            <a:br/>
            <a:r>
              <a:t>Maître de Conférences B</a:t>
            </a:r>
            <a:br/>
            <a:r>
              <a:t>Université de Mostaganem</a:t>
            </a:r>
            <a:br/>
            <a:r>
              <a:t>madani.belacel@univ-mosta.dz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