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1371600"/>
          </a:xfrm>
          <a:prstGeom prst="rect">
            <a:avLst/>
          </a:prstGeom>
          <a:noFill/>
        </p:spPr>
        <p:txBody>
          <a:bodyPr wrap="square">
            <a:spAutoFit/>
          </a:bodyPr>
          <a:lstStyle/>
          <a:p>
            <a:pPr algn="ctr">
              <a:defRPr sz="3200" b="1">
                <a:solidFill>val="FFFFFF"/&gt;</a:solidFill>
              </a:defRPr>
            </a:pPr>
            <a:r>
              <a:t>Cours TIC 09 — Réseaux informatiques</a:t>
            </a:r>
          </a:p>
        </p:txBody>
      </p:sp>
      <p:sp>
        <p:nvSpPr>
          <p:cNvPr id="3" name="TextBox 2"/>
          <p:cNvSpPr txBox="1"/>
          <p:nvPr/>
        </p:nvSpPr>
        <p:spPr>
          <a:xfrm>
            <a:off x="731520" y="2926080"/>
            <a:ext cx="7680960" cy="548640"/>
          </a:xfrm>
          <a:prstGeom prst="rect">
            <a:avLst/>
          </a:prstGeom>
          <a:noFill/>
        </p:spPr>
        <p:txBody>
          <a:bodyPr wrap="square">
            <a:spAutoFit/>
          </a:bodyPr>
          <a:lstStyle/>
          <a:p>
            <a:pPr algn="ctr">
              <a:defRPr sz="2000" b="0">
                <a:solidFill>val="DFE5EA"/&gt;</a:solidFill>
              </a:defRPr>
            </a:pPr>
            <a:r>
              <a:t>Module TIC — Dr. BELACEL Madani</a:t>
            </a:r>
          </a:p>
        </p:txBody>
      </p:sp>
      <p:sp>
        <p:nvSpPr>
          <p:cNvPr id="4" name="TextBox 3"/>
          <p:cNvSpPr txBox="1"/>
          <p:nvPr/>
        </p:nvSpPr>
        <p:spPr>
          <a:xfrm>
            <a:off x="731520" y="3657600"/>
            <a:ext cx="7680960" cy="457200"/>
          </a:xfrm>
          <a:prstGeom prst="rect">
            <a:avLst/>
          </a:prstGeom>
          <a:noFill/>
        </p:spPr>
        <p:txBody>
          <a:bodyPr wrap="square">
            <a:spAutoFit/>
          </a:bodyPr>
          <a:lstStyle/>
          <a:p>
            <a:pPr algn="ctr">
              <a:defRPr sz="1600" b="0">
                <a:solidFill>val="B7C9BE"/&gt;</a:solidFill>
              </a:defRPr>
            </a:pPr>
            <a:r>
              <a:t>Université de Mostaganem — MCB</a:t>
            </a:r>
          </a:p>
        </p:txBody>
      </p:sp>
      <p:sp>
        <p:nvSpPr>
          <p:cNvPr id="990001" name="Pied de page FLE"/>
          <p:cNvSpPr>
            <a:spLocks noGrp="1"/>
          </p:cNvSpPr>
          <p:nvPr/>
        </p:nvSpPr>
        <p:spPr>
          <a:xfrm>
            <a:off x="2880360" y="9144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Objectifs pédagogiques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En termes de savoir :- Comprendre les concepts de réseau social et de capital social (Bourdieu, Granovetter)</a:t>
            </a:r>
            <a:br/>
            <a:r>
              <a:t>- Appliquer la théorie des réseaux à l'analyse des communautés linguistiques</a:t>
            </a:r>
            <a:br/>
            <a:r>
              <a:t>- Situer l'analyse des réseaux dans le champ de l'ethnographie numérique</a:t>
            </a:r>
          </a:p>
          <a:p>
            <a:pPr>
              <a:spcAft>
                <a:spcPts val="600"/>
              </a:spcAft>
              <a:defRPr sz="1500">
                <a:solidFill>val="22344A"/&gt;</a:solidFill>
              </a:defRPr>
            </a:pPr>
            <a:r>
              <a:t>• En termes de savoir-faire :- Utiliser un outil de visualisation de réseaux (Gephi, NodeXL) sur un petit corpus</a:t>
            </a:r>
            <a:br/>
            <a:r>
              <a:t>- Interpréter des mesures de centralité, densité, modularité</a:t>
            </a:r>
            <a:br/>
            <a:r>
              <a:t>- Cartographier un réseau de relations (Twitter, courriels, co-publications)</a:t>
            </a:r>
          </a:p>
          <a:p>
            <a:pPr>
              <a:spcAft>
                <a:spcPts val="600"/>
              </a:spcAft>
              <a:defRPr sz="1500">
                <a:solidFill>val="22344A"/&gt;</a:solidFill>
              </a:defRPr>
            </a:pPr>
            <a:r>
              <a:t>• En termes de savoir-être :- Réflexivité sur la position du chercheur dans le réseau observé</a:t>
            </a:r>
            <a:br/>
            <a:r>
              <a:t>- Éthique de la collecte de données relationnelles</a:t>
            </a:r>
          </a:p>
          <a:p>
            <a:pPr>
              <a:spcAft>
                <a:spcPts val="600"/>
              </a:spcAft>
              <a:defRPr sz="1500">
                <a:solidFill>val="22344A"/&gt;</a:solidFill>
              </a:defRPr>
            </a:pPr>
            <a:r>
              <a:t>• Mode d'évaluation :TD 25 % + Analyse de réseau (mini-mémoire graphique) 50 % + QCM 25 %</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l">
              <a:defRPr sz="2600" b="1">
                <a:solidFill>val="006847"/&gt;</a:solidFill>
              </a:defRPr>
            </a:pPr>
            <a:r>
              <a:t>📋 Plan du cours</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Fiche cours — Plateforme e-learning (Moodle)</a:t>
            </a:r>
          </a:p>
          <a:p>
            <a:pPr>
              <a:spcAft>
                <a:spcPts val="600"/>
              </a:spcAft>
              <a:defRPr sz="1600">
                <a:solidFill>val="22344A"/&gt;</a:solidFill>
              </a:defRPr>
            </a:pPr>
            <a:r>
              <a:t>• Objectifs de l'enseignement</a:t>
            </a:r>
          </a:p>
          <a:p>
            <a:pPr>
              <a:spcAft>
                <a:spcPts val="600"/>
              </a:spcAft>
              <a:defRPr sz="1600">
                <a:solidFill>val="22344A"/&gt;</a:solidFill>
              </a:defRPr>
            </a:pPr>
            <a:r>
              <a:t>• Activités d'apprentissage</a:t>
            </a:r>
          </a:p>
          <a:p>
            <a:pPr>
              <a:spcAft>
                <a:spcPts val="600"/>
              </a:spcAft>
              <a:defRPr sz="1600">
                <a:solidFill>val="22344A"/&gt;</a:solidFill>
              </a:defRPr>
            </a:pPr>
            <a:r>
              <a:t>• Activités d'évaluation</a:t>
            </a:r>
          </a:p>
          <a:p>
            <a:pPr>
              <a:spcAft>
                <a:spcPts val="600"/>
              </a:spcAft>
              <a:defRPr sz="1600">
                <a:solidFill>val="22344A"/&gt;</a:solidFill>
              </a:defRPr>
            </a:pPr>
            <a:r>
              <a:t>• Bibliographie et ressources externes</a:t>
            </a:r>
          </a:p>
          <a:p>
            <a:pPr>
              <a:spcAft>
                <a:spcPts val="600"/>
              </a:spcAft>
              <a:defRPr sz="1600">
                <a:solidFill>val="22344A"/&gt;</a:solidFill>
              </a:defRPr>
            </a:pPr>
            <a:r>
              <a:t>• Contexte réglementaire algérien</a:t>
            </a:r>
          </a:p>
          <a:p>
            <a:pPr>
              <a:spcAft>
                <a:spcPts val="600"/>
              </a:spcAft>
              <a:defRPr sz="1600">
                <a:solidFill>val="22344A"/&gt;</a:solidFill>
              </a:defRPr>
            </a:pPr>
            <a:r>
              <a:t>• Plan du cours</a:t>
            </a:r>
          </a:p>
          <a:p>
            <a:pPr>
              <a:spcAft>
                <a:spcPts val="600"/>
              </a:spcAft>
              <a:defRPr sz="1600">
                <a:solidFill>val="22344A"/&gt;</a:solidFill>
              </a:defRPr>
            </a:pPr>
            <a:r>
              <a:t>• Introduction — Des réseaux techniques aux réseaux sociaux(10 min)</a:t>
            </a:r>
          </a:p>
          <a:p>
            <a:pPr>
              <a:spcAft>
                <a:spcPts val="600"/>
              </a:spcAft>
              <a:defRPr sz="1600">
                <a:solidFill>val="22344A"/&gt;</a:solidFill>
              </a:defRPr>
            </a:pPr>
            <a:r>
              <a:t>• Topologies physiques et logiques(10 min)</a:t>
            </a:r>
          </a:p>
          <a:p>
            <a:pPr>
              <a:spcAft>
                <a:spcPts val="600"/>
              </a:spcAft>
              <a:defRPr sz="1600">
                <a:solidFill>val="22344A"/&gt;</a:solidFill>
              </a:defRPr>
            </a:pPr>
            <a:r>
              <a:t>• Social Network Analysis (SNA) — fondements(15 min)</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Fiche cours — Plateforme e-learning (Moodle)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Référentiel :titres et structure alignés sur Canvas Univ-Mosta (elearning.univ-usto.dz) ; bonnes pratiques benchmark 10 universités algériennes (voirBENCHMARK_10_UNIVERSITES_ELEARNING.md).</a:t>
            </a:r>
          </a:p>
          <a:p>
            <a:pPr>
              <a:spcAft>
                <a:spcPts val="600"/>
              </a:spcAft>
              <a:defRPr sz="1400">
                <a:solidFill>val="22344A"/&gt;</a:solidFill>
              </a:defRPr>
            </a:pPr>
            <a:r>
              <a:t>• Public visé :Master 1 Langue et Culture</a:t>
            </a:r>
          </a:p>
          <a:p>
            <a:pPr>
              <a:spcAft>
                <a:spcPts val="600"/>
              </a:spcAft>
              <a:defRPr sz="1400">
                <a:solidFill>val="22344A"/&gt;</a:solidFill>
              </a:defRPr>
            </a:pPr>
            <a:r>
              <a:t>• Compétences pré-requises :TIC 07–08 ; notions d'adressage IP et de protocoles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Objectifs de l'enseignement</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En termes de savoir :- Comprendre les concepts de réseau social et de capital social (Bourdieu, Granovetter)</a:t>
            </a:r>
            <a:br/>
            <a:r>
              <a:t>- Appliquer la théorie des réseaux à l'analyse des communautés linguistiques</a:t>
            </a:r>
            <a:br/>
            <a:r>
              <a:t>- Situer l'analyse des réseaux dans le champ de l'ethnographie numérique</a:t>
            </a:r>
          </a:p>
          <a:p>
            <a:pPr>
              <a:spcAft>
                <a:spcPts val="600"/>
              </a:spcAft>
              <a:defRPr sz="1400">
                <a:solidFill>val="22344A"/&gt;</a:solidFill>
              </a:defRPr>
            </a:pPr>
            <a:r>
              <a:t>• En termes de savoir-faire :- Utiliser un outil de visualisation de réseaux (Gephi, NodeXL) sur un petit corpus</a:t>
            </a:r>
            <a:br/>
            <a:r>
              <a:t>- Interpréter des mesures de centralité, densité, modularité</a:t>
            </a:r>
            <a:br/>
            <a:r>
              <a:t>- Cartographier un réseau de relations (Twitter, courriels, co-publications)</a:t>
            </a:r>
          </a:p>
          <a:p>
            <a:pPr>
              <a:spcAft>
                <a:spcPts val="600"/>
              </a:spcAft>
              <a:defRPr sz="1400">
                <a:solidFill>val="22344A"/&gt;</a:solidFill>
              </a:defRPr>
            </a:pPr>
            <a:r>
              <a:t>• En termes de savoir-être :- Réflexivité sur la position du chercheur dans le réseau observé</a:t>
            </a:r>
            <a:br/>
            <a:r>
              <a:t>- Éthique de la collecte de données relationnelles</a:t>
            </a:r>
          </a:p>
          <a:p>
            <a:pPr>
              <a:spcAft>
                <a:spcPts val="600"/>
              </a:spcAft>
              <a:defRPr sz="1400">
                <a:solidFill>val="22344A"/&gt;</a:solidFill>
              </a:defRPr>
            </a:pPr>
            <a:r>
              <a:t>• Mode d'évaluation :TD 25 % + Analyse de réseau (mini-mémoire graphique) 50 % + QCM 25 %</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Activités d'apprentissage</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Cartographie d'un réseau : communauté WhatsApp d'étude ou réseau Twitter/X</a:t>
            </a:r>
          </a:p>
          <a:p>
            <a:pPr>
              <a:spcAft>
                <a:spcPts val="600"/>
              </a:spcAft>
              <a:defRPr sz="1400">
                <a:solidFill>val="22344A"/&gt;</a:solidFill>
              </a:defRPr>
            </a:pPr>
            <a:r>
              <a:t>• Lecture dirigée : Granovetter (1973) — « The Strength of Weak Ties »</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Activités d'évaluation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Rapport d'analyse de réseau (5 pages incluant visualisation)</a:t>
            </a:r>
          </a:p>
          <a:p>
            <a:pPr>
              <a:spcAft>
                <a:spcPts val="600"/>
              </a:spcAft>
              <a:defRPr sz="1400">
                <a:solidFill>val="22344A"/&gt;</a:solidFill>
              </a:defRPr>
            </a:pPr>
            <a:r>
              <a:t>• QCM réseaux, topologies, SNA</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Bibliographie et ressources externes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Granovetter, M. (1973). « The Strength of Weak Ties ».American Journal of Sociology, 78(6), 1360–1380.</a:t>
            </a:r>
          </a:p>
          <a:p>
            <a:pPr>
              <a:spcAft>
                <a:spcPts val="600"/>
              </a:spcAft>
              <a:defRPr sz="1400">
                <a:solidFill>val="22344A"/&gt;</a:solidFill>
              </a:defRPr>
            </a:pPr>
            <a:r>
              <a:t>• Milroy, L. (1980).Language and Social Networks. Blackwell.</a:t>
            </a:r>
          </a:p>
          <a:p>
            <a:pPr>
              <a:spcAft>
                <a:spcPts val="600"/>
              </a:spcAft>
              <a:defRPr sz="1400">
                <a:solidFill>val="22344A"/&gt;</a:solidFill>
              </a:defRPr>
            </a:pPr>
            <a:r>
              <a:t>• Barabási, A.-L. (2016).Network Science. Cambridge University Press.</a:t>
            </a:r>
          </a:p>
          <a:p>
            <a:pPr>
              <a:spcAft>
                <a:spcPts val="600"/>
              </a:spcAft>
              <a:defRPr sz="1400">
                <a:solidFill>val="22344A"/&gt;</a:solidFill>
              </a:defRPr>
            </a:pPr>
            <a:r>
              <a:t>• Latour, B. (2005).Reassembling the Social: An Introduction to Actor-Network-Theory. Oxford University Press.</a:t>
            </a:r>
          </a:p>
          <a:p>
            <a:pPr>
              <a:spcAft>
                <a:spcPts val="600"/>
              </a:spcAft>
              <a:defRPr sz="1400">
                <a:solidFill>val="22344A"/&gt;</a:solidFill>
              </a:defRPr>
            </a:pPr>
            <a:r>
              <a:t>• Kurose, J., &amp; Ross, K. (2020).Computer Networking: A Top-Down Approach(8th ed.). Pearson.</a:t>
            </a:r>
          </a:p>
          <a:p>
            <a:pPr>
              <a:spcAft>
                <a:spcPts val="600"/>
              </a:spcAft>
              <a:defRPr sz="1400">
                <a:solidFill>val="22344A"/&gt;</a:solidFill>
              </a:defRPr>
            </a:pPr>
            <a:r>
              <a:t>• Contact enseignant :BELACEL Madani —madani.belacel@univ-mosta.dz</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Contexte réglementaire algérien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Arrêté 933 (2016): Le Master Langue et Culture inclut l'étude des réseaux comme objet social et communicationnel.Arrêté 129 (2019): Recommandation d'intégrer les méthodes numériques (dont l'analyse de réseaux) dans les travaux de Master.</a:t>
            </a:r>
          </a:p>
          <a:p>
            <a:pPr>
              <a:spcAft>
                <a:spcPts val="600"/>
              </a:spcAft>
              <a:defRPr sz="1400">
                <a:solidFill>val="22344A"/&gt;</a:solidFill>
              </a:defRPr>
            </a:pPr>
            <a:r>
              <a:t>• Contexte algérien: Les communautés linguistiques en Algérie (arabophones, francophones, berbérophones) sont structurées en réseaux complexes. L'étude de ces réseaux (en ligne et hors ligne) éclaire les dynamiques de diglossie et de changement linguistique. Laloi 08-15 (2008)encadre la collecte de données personnelles, y compris dans les réseaux sociaux.</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Plan du cours</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Introduction — Des réseaux techniques aux réseaux sociaux</a:t>
            </a:r>
          </a:p>
          <a:p>
            <a:pPr>
              <a:spcAft>
                <a:spcPts val="600"/>
              </a:spcAft>
              <a:defRPr sz="1400">
                <a:solidFill>val="22344A"/&gt;</a:solidFill>
              </a:defRPr>
            </a:pPr>
            <a:r>
              <a:t>• Types de réseaux informatiques (PAN, LAN, MAN, WAN)</a:t>
            </a:r>
          </a:p>
          <a:p>
            <a:pPr>
              <a:spcAft>
                <a:spcPts val="600"/>
              </a:spcAft>
              <a:defRPr sz="1400">
                <a:solidFill>val="22344A"/&gt;</a:solidFill>
              </a:defRPr>
            </a:pPr>
            <a:r>
              <a:t>• Topologies physiques et logiques</a:t>
            </a:r>
          </a:p>
          <a:p>
            <a:pPr>
              <a:spcAft>
                <a:spcPts val="600"/>
              </a:spcAft>
              <a:defRPr sz="1400">
                <a:solidFill>val="22344A"/&gt;</a:solidFill>
              </a:defRPr>
            </a:pPr>
            <a:r>
              <a:t>• Équipements réseau</a:t>
            </a:r>
          </a:p>
          <a:p>
            <a:pPr>
              <a:spcAft>
                <a:spcPts val="600"/>
              </a:spcAft>
              <a:defRPr sz="1400">
                <a:solidFill>val="22344A"/&gt;</a:solidFill>
              </a:defRPr>
            </a:pPr>
            <a:r>
              <a:t>• Social Network Analysis (SNA) — fondements</a:t>
            </a:r>
          </a:p>
          <a:p>
            <a:pPr>
              <a:spcAft>
                <a:spcPts val="600"/>
              </a:spcAft>
              <a:defRPr sz="1400">
                <a:solidFill>val="22344A"/&gt;</a:solidFill>
              </a:defRPr>
            </a:pPr>
            <a:r>
              <a:t>• Réseaux sociaux et communautés linguistiques</a:t>
            </a:r>
          </a:p>
          <a:p>
            <a:pPr>
              <a:spcAft>
                <a:spcPts val="600"/>
              </a:spcAft>
              <a:defRPr sz="1400">
                <a:solidFill>val="22344A"/&gt;</a:solidFill>
              </a:defRPr>
            </a:pPr>
            <a:r>
              <a:t>• Mesures et visualisation de réseaux (Gephi)</a:t>
            </a:r>
          </a:p>
          <a:p>
            <a:pPr>
              <a:spcAft>
                <a:spcPts val="600"/>
              </a:spcAft>
              <a:defRPr sz="1400">
                <a:solidFill>val="22344A"/&gt;</a:solidFill>
              </a:defRPr>
            </a:pPr>
            <a:r>
              <a:t>• Actor-Network Theory (ANT)</a:t>
            </a:r>
          </a:p>
          <a:p>
            <a:pPr>
              <a:spcAft>
                <a:spcPts val="600"/>
              </a:spcAft>
              <a:defRPr sz="1400">
                <a:solidFill>val="22344A"/&gt;</a:solidFill>
              </a:defRPr>
            </a:pPr>
            <a:r>
              <a:t>• Réseau universitaire et identité numérique</a:t>
            </a:r>
          </a:p>
          <a:p>
            <a:pPr>
              <a:spcAft>
                <a:spcPts val="600"/>
              </a:spcAft>
              <a:defRPr sz="1400">
                <a:solidFill>val="22344A"/&gt;</a:solidFill>
              </a:defRPr>
            </a:pPr>
            <a:r>
              <a:t>• Éthique et perspectives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Introduction — Des réseaux techniques aux réseaux sociaux(10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Le termeréseaudésigne à la fois des infrastructures techniques (réseaux informatiques) et des structures relationnelles (réseaux sociaux). En Master Langue et Culture, nous explorons ces deux dimensions :</a:t>
            </a:r>
          </a:p>
          <a:p>
            <a:pPr>
              <a:spcAft>
                <a:spcPts val="600"/>
              </a:spcAft>
              <a:defRPr sz="1400">
                <a:solidFill>val="22344A"/&gt;</a:solidFill>
              </a:defRPr>
            </a:pPr>
            <a:r>
              <a:t>• Réseau technique: comment les données circulent (LAN, Wi-Fi, TCP/IP)</a:t>
            </a:r>
          </a:p>
          <a:p>
            <a:pPr>
              <a:spcAft>
                <a:spcPts val="600"/>
              </a:spcAft>
              <a:defRPr sz="1400">
                <a:solidFill>val="22344A"/&gt;</a:solidFill>
              </a:defRPr>
            </a:pPr>
            <a:r>
              <a:t>• Réseau social: comment les humains (et leurs langues) sont connectés</a:t>
            </a:r>
          </a:p>
          <a:p>
            <a:pPr>
              <a:spcAft>
                <a:spcPts val="600"/>
              </a:spcAft>
              <a:defRPr sz="1400">
                <a:solidFill>val="22344A"/&gt;</a:solidFill>
              </a:defRPr>
            </a:pPr>
            <a:r>
              <a:t>• Prolongement Master: l'analyse des réseaux (Social Network Analysis, SNA) est une méthode puissante pour étudier les communautés linguistiques, les interactions en ligne, et la diffusion des innovations linguistiques. Elle s'inscrit dans lesDigital Humanitiescomputationnelles.</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Rectangle 1"/>
          <p:cNvSpPr/>
          <p:nvPr/>
        </p:nvSpPr>
        <p:spPr>
          <a:xfrm>
            <a:off x="0" y="0"/>
            <a:ext cx="109728" cy="6858000"/>
          </a:xfrm>
          <a:prstGeom prst="rect">
            <a:avLst/>
          </a:prstGeom>
          <a:solidFill>val="00875B"/&gt;</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l">
              <a:defRPr sz="2200" b="1">
                <a:solidFill>val="006847"/&gt;</a:solidFill>
              </a:defRPr>
            </a:pPr>
            <a:r>
              <a:t>Topologies physiques et logiques(10 min)</a:t>
            </a:r>
          </a:p>
        </p:txBody>
      </p:sp>
      <p:sp>
        <p:nvSpPr>
          <p:cNvPr id="4" name="TextBox 3"/>
          <p:cNvSpPr txBox="1"/>
          <p:nvPr/>
        </p:nvSpPr>
        <p:spPr>
          <a:xfrm>
            <a:off x="457200" y="1371600"/>
            <a:ext cx="7772400" cy="4572000"/>
          </a:xfrm>
          <a:prstGeom prst="rect">
            <a:avLst/>
          </a:prstGeom>
          <a:noFill/>
        </p:spPr>
        <p:txBody>
          <a:bodyPr wrap="square">
            <a:spAutoFit/>
          </a:bodyPr>
          <a:lstStyle/>
          <a:p>
            <a:pPr>
              <a:spcAft>
                <a:spcPts val="600"/>
              </a:spcAft>
              <a:defRPr sz="1400">
                <a:solidFill>val="22344A"/&gt;</a:solidFill>
              </a:defRPr>
            </a:pPr>
            <a:r>
              <a:t>• Topologies physiques :</a:t>
            </a:r>
          </a:p>
          <a:p>
            <a:pPr>
              <a:spcAft>
                <a:spcPts val="600"/>
              </a:spcAft>
              <a:defRPr sz="1400">
                <a:solidFill>val="22344A"/&gt;</a:solidFill>
              </a:defRPr>
            </a:pPr>
            <a:r>
              <a:t>• Topologie étoile: la plus courante en milieu universitaire. Chaque poste est relié à un switch central. Avantage : panne d'un seul câble n'isole qu'une machine.</a:t>
            </a:r>
          </a:p>
          <a:p>
            <a:pPr>
              <a:spcAft>
                <a:spcPts val="600"/>
              </a:spcAft>
              <a:defRPr sz="1400">
                <a:solidFill>val="22344A"/&gt;</a:solidFill>
              </a:defRPr>
            </a:pPr>
            <a:r>
              <a:t>• Topologie logique: comment les données circulent (indépendamment de la disposition physique). Exemple : bus logique sur une topologie physique en étoile (Ethernet = CSMA/CD).</a:t>
            </a:r>
          </a:p>
        </p:txBody>
      </p:sp>
      <p:sp>
        <p:nvSpPr>
          <p:cNvPr id="990001" name="Pied de page FLE"/>
          <p:cNvSpPr>
            <a:spLocks noGrp="1"/>
          </p:cNvSpPr>
          <p:nvPr/>
        </p:nvSpPr>
        <p:spPr>
          <a:xfrm>
            <a:off x="-228600" y="6400800"/>
            <a:ext cx="109728"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val="F4F6F8"/&gt;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Points clés à retenir</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600">
                <a:solidFill>val="22344A"/&gt;</a:solidFill>
              </a:defRPr>
            </a:pPr>
            <a:r>
              <a:t>• Référentiel :titres et structure alignés sur Canvas Univ-Mosta (elearning.univ-usto.dz) ; bonnes pratiques benchmark 10 universités algériennes (voirBENCHMARK_10_UNIVERSITES_ELEARNING.md).</a:t>
            </a:r>
          </a:p>
          <a:p>
            <a:pPr>
              <a:spcAft>
                <a:spcPts val="600"/>
              </a:spcAft>
              <a:defRPr sz="1600">
                <a:solidFill>val="22344A"/&gt;</a:solidFill>
              </a:defRPr>
            </a:pPr>
            <a:r>
              <a:t>• En termes de savoir :- Comprendre les concepts de réseau social et de capital social (Bourdieu, Granovetter)</a:t>
            </a:r>
            <a:br/>
            <a:r>
              <a:t>- Appliquer la théorie des réseaux à l'analyse des communautés linguistiques</a:t>
            </a:r>
            <a:br/>
            <a:r>
              <a:t>- Situer l'analyse des réseaux dans le champ de l'ethnographie numérique</a:t>
            </a:r>
          </a:p>
          <a:p>
            <a:pPr>
              <a:spcAft>
                <a:spcPts val="600"/>
              </a:spcAft>
              <a:defRPr sz="1600">
                <a:solidFill>val="22344A"/&gt;</a:solidFill>
              </a:defRPr>
            </a:pPr>
            <a:r>
              <a:t>• Cartographie d'un réseau : communauté WhatsApp d'étude ou réseau Twitter/X</a:t>
            </a:r>
          </a:p>
          <a:p>
            <a:pPr>
              <a:spcAft>
                <a:spcPts val="600"/>
              </a:spcAft>
              <a:defRPr sz="1600">
                <a:solidFill>val="22344A"/&gt;</a:solidFill>
              </a:defRPr>
            </a:pPr>
            <a:r>
              <a:t>• Rapport d'analyse de réseau (5 pages incluant visualisation)</a:t>
            </a:r>
          </a:p>
          <a:p>
            <a:pPr>
              <a:spcAft>
                <a:spcPts val="600"/>
              </a:spcAft>
              <a:defRPr sz="1600">
                <a:solidFill>val="22344A"/&gt;</a:solidFill>
              </a:defRPr>
            </a:pPr>
            <a:r>
              <a:t>• Granovetter, M. (1973). « The Strength of Weak Ties ».American Journal of Sociology, 78(6), 1360–1380.</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548640" y="365760"/>
            <a:ext cx="7772400" cy="640080"/>
          </a:xfrm>
          <a:prstGeom prst="rect">
            <a:avLst/>
          </a:prstGeom>
          <a:noFill/>
        </p:spPr>
        <p:txBody>
          <a:bodyPr wrap="square">
            <a:spAutoFit/>
          </a:bodyPr>
          <a:lstStyle/>
          <a:p>
            <a:pPr algn="ctr">
              <a:defRPr sz="2600" b="1">
                <a:solidFill>val="006847"/&gt;</a:solidFill>
              </a:defRPr>
            </a:pPr>
            <a:r>
              <a:t>✏️ Exercices d'application</a:t>
            </a:r>
          </a:p>
        </p:txBody>
      </p:sp>
      <p:sp>
        <p:nvSpPr>
          <p:cNvPr id="3" name="TextBox 2"/>
          <p:cNvSpPr txBox="1"/>
          <p:nvPr/>
        </p:nvSpPr>
        <p:spPr>
          <a:xfrm>
            <a:off x="548640" y="1828800"/>
            <a:ext cx="7772400" cy="4572000"/>
          </a:xfrm>
          <a:prstGeom prst="rect">
            <a:avLst/>
          </a:prstGeom>
          <a:noFill/>
        </p:spPr>
        <p:txBody>
          <a:bodyPr wrap="square">
            <a:spAutoFit/>
          </a:bodyPr>
          <a:lstStyle/>
          <a:p>
            <a:pPr>
              <a:spcAft>
                <a:spcPts val="600"/>
              </a:spcAft>
              <a:defRPr sz="1500">
                <a:solidFill>val="22344A"/&gt;</a:solidFill>
              </a:defRPr>
            </a:pPr>
            <a:r>
              <a:t>• Définir les concepts principaux du cours</a:t>
            </a:r>
          </a:p>
          <a:p>
            <a:pPr>
              <a:spcAft>
                <a:spcPts val="600"/>
              </a:spcAft>
              <a:defRPr sz="1500">
                <a:solidFill>val="22344A"/&gt;</a:solidFill>
              </a:defRPr>
            </a:pPr>
            <a:r>
              <a:t>• Identifier les applications pratiques</a:t>
            </a:r>
          </a:p>
          <a:p>
            <a:pPr>
              <a:spcAft>
                <a:spcPts val="600"/>
              </a:spcAft>
              <a:defRPr sz="1500">
                <a:solidFill>val="22344A"/&gt;</a:solidFill>
              </a:defRPr>
            </a:pPr>
            <a:r>
              <a:t>• Résoudre les exercices du TD</a:t>
            </a:r>
          </a:p>
          <a:p>
            <a:pPr>
              <a:spcAft>
                <a:spcPts val="600"/>
              </a:spcAft>
              <a:defRPr sz="1500">
                <a:solidFill>val="22344A"/&gt;</a:solidFill>
              </a:defRPr>
            </a:pPr>
            <a:r>
              <a:t>• Synthétiser les points clés en un paragraphe</a:t>
            </a:r>
          </a:p>
          <a:p>
            <a:pPr>
              <a:spcAft>
                <a:spcPts val="600"/>
              </a:spcAft>
              <a:defRPr sz="1500">
                <a:solidFill>val="22344A"/&gt;</a:solidFill>
              </a:defRPr>
            </a:pPr>
            <a:r>
              <a:t>• Préparer une courte présentation orale</a:t>
            </a:r>
          </a:p>
        </p:txBody>
      </p:sp>
      <p:sp>
        <p:nvSpPr>
          <p:cNvPr id="990001" name="Pied de page FLE"/>
          <p:cNvSpPr>
            <a:spLocks noGrp="1"/>
          </p:cNvSpPr>
          <p:nvPr/>
        </p:nvSpPr>
        <p:spPr>
          <a:xfrm>
            <a:off x="2971800" y="18288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val="006847"/&gt;</a:solidFill>
        <a:effectLst/>
      </p:bgPr>
    </p:bg>
    <p:spTree>
      <p:nvGrpSpPr>
        <p:cNvPr id="1" name=""/>
        <p:cNvGrpSpPr/>
        <p:nvPr/>
      </p:nvGrpSpPr>
      <p:grpSpPr/>
      <p:sp>
        <p:nvSpPr>
          <p:cNvPr id="2" name="TextBox 1"/>
          <p:cNvSpPr txBox="1"/>
          <p:nvPr/>
        </p:nvSpPr>
        <p:spPr>
          <a:xfrm>
            <a:off x="731520" y="1371600"/>
            <a:ext cx="7680960" cy="914400"/>
          </a:xfrm>
          <a:prstGeom prst="rect">
            <a:avLst/>
          </a:prstGeom>
          <a:noFill/>
        </p:spPr>
        <p:txBody>
          <a:bodyPr wrap="square">
            <a:spAutoFit/>
          </a:bodyPr>
          <a:lstStyle/>
          <a:p>
            <a:pPr algn="ctr">
              <a:defRPr sz="2800" b="1">
                <a:solidFill>val="FFFFFF"/&gt;</a:solidFill>
              </a:defRPr>
            </a:pPr>
            <a:r>
              <a:t>🎓 Conclusion</a:t>
            </a:r>
          </a:p>
        </p:txBody>
      </p:sp>
      <p:sp>
        <p:nvSpPr>
          <p:cNvPr id="3" name="TextBox 2"/>
          <p:cNvSpPr txBox="1"/>
          <p:nvPr/>
        </p:nvSpPr>
        <p:spPr>
          <a:xfrm>
            <a:off x="731520" y="2743200"/>
            <a:ext cx="7680960" cy="1828800"/>
          </a:xfrm>
          <a:prstGeom prst="rect">
            <a:avLst/>
          </a:prstGeom>
          <a:noFill/>
        </p:spPr>
        <p:txBody>
          <a:bodyPr wrap="square">
            <a:spAutoFit/>
          </a:bodyPr>
          <a:lstStyle/>
          <a:p>
            <a:pPr algn="ctr">
              <a:defRPr sz="1800" b="0">
                <a:solidFill>val="DFE5EA"/&gt;</a:solidFill>
              </a:defRPr>
            </a:pPr>
            <a:r>
              <a:t>Dr. BELACEL Madani</a:t>
            </a:r>
            <a:br/>
            <a:r>
              <a:t>Maître de Conférences B</a:t>
            </a:r>
            <a:br/>
            <a:r>
              <a:t>Université de Mostaganem</a:t>
            </a:r>
            <a:br/>
            <a:r>
              <a:t>madani.belacel@univ-mosta.dz</a:t>
            </a:r>
          </a:p>
        </p:txBody>
      </p:sp>
      <p:sp>
        <p:nvSpPr>
          <p:cNvPr id="990001" name="Pied de page FLE"/>
          <p:cNvSpPr>
            <a:spLocks noGrp="1"/>
          </p:cNvSpPr>
          <p:nvPr/>
        </p:nvSpPr>
        <p:spPr>
          <a:xfrm>
            <a:off x="2880360" y="4572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