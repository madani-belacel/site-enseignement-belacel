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04 — Microsoft Word : Rédaction du Mémoire et Publication Académique</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Maîtriser les fonctionnalités avancées de Word pour la rédaction d'un mémoire (styles, sections, tables automatisées)</a:t>
            </a:r>
            <a:br/>
            <a:r>
              <a:t>- Comprendre les normes typographiques académiques (page de garde institutionnelle, sommaire, bibliographie)</a:t>
            </a:r>
            <a:br/>
            <a:r>
              <a:t>- Connaître le processus de dépôt légal du mémoire (PDF/A, métadonnées)</a:t>
            </a:r>
          </a:p>
          <a:p>
            <a:pPr>
              <a:spcAft>
                <a:spcPts val="600"/>
              </a:spcAft>
              <a:defRPr sz="1500">
                <a:solidFill>
                  <a:srgbClr val="222222"/>
                </a:solidFill>
              </a:defRPr>
            </a:pPr>
            <a:r>
              <a:t>• En termes de savoir-faire :- Créer un document structuré avec styles, table des matières automatique, listes des figures et tableaux</a:t>
            </a:r>
            <a:br/>
            <a:r>
              <a:t>- Intégrer et formater des citations avec Zotero dans Word</a:t>
            </a:r>
            <a:br/>
            <a:r>
              <a:t>- Gérer des documents longs (sections, paginations multiples, numérotation des chapitres)</a:t>
            </a:r>
            <a:br/>
            <a:r>
              <a:t>- Exporter aux formats requis (DOCX, PDF/A) pour dépôt institutionnel</a:t>
            </a:r>
          </a:p>
          <a:p>
            <a:pPr>
              <a:spcAft>
                <a:spcPts val="600"/>
              </a:spcAft>
              <a:defRPr sz="1500">
                <a:solidFill>
                  <a:srgbClr val="222222"/>
                </a:solidFill>
              </a:defRPr>
            </a:pPr>
            <a:r>
              <a:t>• En termes de savoir-être :- Respecter les normes de rédaction académique (typographie, citation, bibliographie)</a:t>
            </a:r>
            <a:br/>
            <a:r>
              <a:t>- Adopter une méthodologie de rédaction rigoureuse et reproductible</a:t>
            </a:r>
          </a:p>
          <a:p>
            <a:pPr>
              <a:spcAft>
                <a:spcPts val="600"/>
              </a:spcAft>
              <a:defRPr sz="1500">
                <a:solidFill>
                  <a:srgbClr val="222222"/>
                </a:solidFill>
              </a:defRPr>
            </a:pPr>
            <a:r>
              <a:t>• Mode d'évaluation :TD 25 % + Projet « Structure complète d'un chapitre de mémoire » 35 % + QCM 20 % + Examen pratique 20 %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Activités d'apprentissage</a:t>
            </a:r>
          </a:p>
          <a:p>
            <a:pPr>
              <a:spcAft>
                <a:spcPts val="600"/>
              </a:spcAft>
              <a:defRPr sz="1600">
                <a:solidFill>
                  <a:srgbClr val="222222"/>
                </a:solidFill>
              </a:defRPr>
            </a:pPr>
            <a:r>
              <a:t>• Activités d'évaluation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1.1 Word en Master : un changement d'échelle</a:t>
            </a:r>
          </a:p>
          <a:p>
            <a:pPr>
              <a:spcAft>
                <a:spcPts val="600"/>
              </a:spcAft>
              <a:defRPr sz="1600">
                <a:solidFill>
                  <a:srgbClr val="222222"/>
                </a:solidFill>
              </a:defRPr>
            </a:pPr>
            <a:r>
              <a:t>• 3.2 Créer un template Master (.dotx)</a:t>
            </a:r>
          </a:p>
          <a:p>
            <a:pPr>
              <a:spcAft>
                <a:spcPts val="600"/>
              </a:spcAft>
              <a:defRPr sz="1600">
                <a:solidFill>
                  <a:srgbClr val="222222"/>
                </a:solidFill>
              </a:defRPr>
            </a:pPr>
            <a:r>
              <a:t>• 3.4 Modifier un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:Master 1 Langue et Culture</a:t>
            </a:r>
          </a:p>
          <a:p>
            <a:pPr>
              <a:spcAft>
                <a:spcPts val="600"/>
              </a:spcAft>
              <a:defRPr sz="1400">
                <a:solidFill>
                  <a:srgbClr val="222222"/>
                </a:solidFill>
              </a:defRPr>
            </a:pPr>
            <a:r>
              <a:t>• Compétences pré-requises :TIC 03 ; organisation de fichiers Windows ; notions de navigation et exploration ; Zotero installé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Maîtriser les fonctionnalités avancées de Word pour la rédaction d'un mémoire (styles, sections, tables automatisées)</a:t>
            </a:r>
            <a:br/>
            <a:r>
              <a:t>- Comprendre les normes typographiques académiques (page de garde institutionnelle, sommaire, bibliographie)</a:t>
            </a:r>
            <a:br/>
            <a:r>
              <a:t>- Connaître le processus de dépôt légal du mémoire (PDF/A, métadonnées)</a:t>
            </a:r>
          </a:p>
          <a:p>
            <a:pPr>
              <a:spcAft>
                <a:spcPts val="600"/>
              </a:spcAft>
              <a:defRPr sz="1400">
                <a:solidFill>
                  <a:srgbClr val="222222"/>
                </a:solidFill>
              </a:defRPr>
            </a:pPr>
            <a:r>
              <a:t>• En termes de savoir-faire :- Créer un document structuré avec styles, table des matières automatique, listes des figures et tableaux</a:t>
            </a:r>
            <a:br/>
            <a:r>
              <a:t>- Intégrer et formater des citations avec Zotero dans Word</a:t>
            </a:r>
            <a:br/>
            <a:r>
              <a:t>- Gérer des documents longs (sections, paginations multiples, numérotation des chapitres)</a:t>
            </a:r>
            <a:br/>
            <a:r>
              <a:t>- Exporter aux formats requis (DOCX, PDF/A) pour dépôt institutionnel</a:t>
            </a:r>
          </a:p>
          <a:p>
            <a:pPr>
              <a:spcAft>
                <a:spcPts val="600"/>
              </a:spcAft>
              <a:defRPr sz="1400">
                <a:solidFill>
                  <a:srgbClr val="222222"/>
                </a:solidFill>
              </a:defRPr>
            </a:pPr>
            <a:r>
              <a:t>• En termes de savoir-être :- Respecter les normes de rédaction académique (typographie, citation, bibliographie)</a:t>
            </a:r>
            <a:br/>
            <a:r>
              <a:t>- Adopter une méthodologie de rédaction rigoureuse et reproductible</a:t>
            </a:r>
          </a:p>
          <a:p>
            <a:pPr>
              <a:spcAft>
                <a:spcPts val="600"/>
              </a:spcAft>
              <a:defRPr sz="1400">
                <a:solidFill>
                  <a:srgbClr val="222222"/>
                </a:solidFill>
              </a:defRPr>
            </a:pPr>
            <a:r>
              <a:t>• Mode d'évaluation :TD 25 % + Projet « Structure complète d'un chapitre de mémoire » 35 % + QCM 20 % + Examen pratique 20 %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d'apprentissage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Atelier : création d'un modèle de document Master (template .dotx) avec styles personnalisés</a:t>
            </a:r>
          </a:p>
          <a:p>
            <a:pPr>
              <a:spcAft>
                <a:spcPts val="600"/>
              </a:spcAft>
              <a:defRPr sz="1400">
                <a:solidFill>
                  <a:srgbClr val="222222"/>
                </a:solidFill>
              </a:defRPr>
            </a:pPr>
            <a:r>
              <a:t>• TP : intégration Zotero dans Word — citations et bibliographies</a:t>
            </a:r>
          </a:p>
          <a:p>
            <a:pPr>
              <a:spcAft>
                <a:spcPts val="600"/>
              </a:spcAft>
              <a:defRPr sz="1400">
                <a:solidFill>
                  <a:srgbClr val="222222"/>
                </a:solidFill>
              </a:defRPr>
            </a:pPr>
            <a:r>
              <a:t>• Exercice : rédaction d'un chapitre-type en suivant les normes (page de garde PG-fr, styles, TDM, bibliographie)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d'évaluation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QCM styles, sections, tables automatiques, normes typographiques</a:t>
            </a:r>
          </a:p>
          <a:p>
            <a:pPr>
              <a:spcAft>
                <a:spcPts val="600"/>
              </a:spcAft>
              <a:defRPr sz="1400">
                <a:solidFill>
                  <a:srgbClr val="222222"/>
                </a:solidFill>
              </a:defRPr>
            </a:pPr>
            <a:r>
              <a:t>• TP noté : document Word structuré avec citations Zotero et bibliographie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Template PG-fr.docx (page de garde institutionnelle Univ-Mosta)</a:t>
            </a:r>
          </a:p>
          <a:p>
            <a:pPr>
              <a:spcAft>
                <a:spcPts val="600"/>
              </a:spcAft>
              <a:defRPr sz="1400">
                <a:solidFill>
                  <a:srgbClr val="222222"/>
                </a:solidFill>
              </a:defRPr>
            </a:pPr>
            <a:r>
              <a:t>• Guide de rédaction du mémoire de Master — Université de Mostaganem</a:t>
            </a:r>
          </a:p>
          <a:p>
            <a:pPr>
              <a:spcAft>
                <a:spcPts val="600"/>
              </a:spcAft>
              <a:defRPr sz="1400">
                <a:solidFill>
                  <a:srgbClr val="222222"/>
                </a:solidFill>
              </a:defRPr>
            </a:pPr>
            <a:r>
              <a:t>• APA 7th — Publication Manual ; MLA Handbook 9th ed.</a:t>
            </a:r>
          </a:p>
          <a:p>
            <a:pPr>
              <a:spcAft>
                <a:spcPts val="600"/>
              </a:spcAft>
              <a:defRPr sz="1400">
                <a:solidFill>
                  <a:srgbClr val="222222"/>
                </a:solidFill>
              </a:defRPr>
            </a:pPr>
            <a:r>
              <a:t>• Eco, U. (1977).Come si fa una tesi di laurea. (trad.Comment écrire sa thèse)</a:t>
            </a:r>
          </a:p>
          <a:p>
            <a:pPr>
              <a:spcAft>
                <a:spcPts val="600"/>
              </a:spcAft>
              <a:defRPr sz="1400">
                <a:solidFill>
                  <a:srgbClr val="222222"/>
                </a:solidFill>
              </a:defRPr>
            </a:pPr>
            <a:r>
              <a:t>• Zotero — Guide d'utilisation avancée</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Décision n° 75du 31 mars 2021 relative au dépôt électronique des mémoires de Master : obligation de déposer le mémoire via la plateforme DLN (Dépôt Légal Numérique) au formatPDF/A. Ce format garantit la pérennité du document (polices embarquées, métadonnées, structure balisée).</a:t>
            </a:r>
          </a:p>
          <a:p>
            <a:pPr>
              <a:spcAft>
                <a:spcPts val="600"/>
              </a:spcAft>
              <a:defRPr sz="1400">
                <a:solidFill>
                  <a:srgbClr val="222222"/>
                </a:solidFill>
              </a:defRPr>
            </a:pPr>
            <a:r>
              <a:t>• Arrêté n° 933du 28 juillet 2016 : le mémoire de Master constitue un travail de recherche personnel dont la présentation formelle est évaluée. La maîtrise des outils de traitement de texte est une compétence méthodologique évaluée dans l'unité UEM 1.1.</a:t>
            </a:r>
          </a:p>
          <a:p>
            <a:pPr>
              <a:spcAft>
                <a:spcPts val="600"/>
              </a:spcAft>
              <a:defRPr sz="1400">
                <a:solidFill>
                  <a:srgbClr val="222222"/>
                </a:solidFill>
              </a:defRPr>
            </a:pPr>
            <a:r>
              <a:t>• Note ministérielle n° 133du 15 février 2022 : harmonisation des pages de garde des mémoires de Master. Tous les établissements algériens doivent utiliser une page de garde standardisée avec les éléments suivants :</a:t>
            </a:r>
            <a:br/>
            <a:r>
              <a:t>- Logo du ministère + logo de l'université</a:t>
            </a:r>
            <a:br/>
            <a:r>
              <a:t>- Intitulé du master et de la spécialité</a:t>
            </a:r>
            <a:br/>
            <a:r>
              <a:t>- Titre du mémoire, nom du candidat et du directeur</a:t>
            </a:r>
            <a:br/>
            <a:r>
              <a:t>- Année universitaire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Word comme outil de rédaction scientifique</a:t>
            </a:r>
          </a:p>
          <a:p>
            <a:pPr>
              <a:spcAft>
                <a:spcPts val="600"/>
              </a:spcAft>
              <a:defRPr sz="1400">
                <a:solidFill>
                  <a:srgbClr val="222222"/>
                </a:solidFill>
              </a:defRPr>
            </a:pPr>
            <a:r>
              <a:t>• L'interface Word pour les documents longs</a:t>
            </a:r>
          </a:p>
          <a:p>
            <a:pPr>
              <a:spcAft>
                <a:spcPts val="600"/>
              </a:spcAft>
              <a:defRPr sz="1400">
                <a:solidFill>
                  <a:srgbClr val="222222"/>
                </a:solidFill>
              </a:defRPr>
            </a:pPr>
            <a:r>
              <a:t>• Styles avancés et template Master</a:t>
            </a:r>
          </a:p>
          <a:p>
            <a:pPr>
              <a:spcAft>
                <a:spcPts val="600"/>
              </a:spcAft>
              <a:defRPr sz="1400">
                <a:solidFill>
                  <a:srgbClr val="222222"/>
                </a:solidFill>
              </a:defRPr>
            </a:pPr>
            <a:r>
              <a:t>• Gestion des sections et pagination</a:t>
            </a:r>
          </a:p>
          <a:p>
            <a:pPr>
              <a:spcAft>
                <a:spcPts val="600"/>
              </a:spcAft>
              <a:defRPr sz="1400">
                <a:solidFill>
                  <a:srgbClr val="222222"/>
                </a:solidFill>
              </a:defRPr>
            </a:pPr>
            <a:r>
              <a:t>• Tables automatisées (TDM, figures, tableaux)</a:t>
            </a:r>
          </a:p>
          <a:p>
            <a:pPr>
              <a:spcAft>
                <a:spcPts val="600"/>
              </a:spcAft>
              <a:defRPr sz="1400">
                <a:solidFill>
                  <a:srgbClr val="222222"/>
                </a:solidFill>
              </a:defRPr>
            </a:pPr>
            <a:r>
              <a:t>• Citations et bibliographie avec Zotero</a:t>
            </a:r>
          </a:p>
          <a:p>
            <a:pPr>
              <a:spcAft>
                <a:spcPts val="600"/>
              </a:spcAft>
              <a:defRPr sz="1400">
                <a:solidFill>
                  <a:srgbClr val="222222"/>
                </a:solidFill>
              </a:defRPr>
            </a:pPr>
            <a:r>
              <a:t>• Normes typographiques et page de garde institutionnelle</a:t>
            </a:r>
          </a:p>
          <a:p>
            <a:pPr>
              <a:spcAft>
                <a:spcPts val="600"/>
              </a:spcAft>
              <a:defRPr sz="1400">
                <a:solidFill>
                  <a:srgbClr val="222222"/>
                </a:solidFill>
              </a:defRPr>
            </a:pPr>
            <a:r>
              <a:t>• Export PDF/A et dépôt légal</a:t>
            </a:r>
          </a:p>
          <a:p>
            <a:pPr>
              <a:spcAft>
                <a:spcPts val="600"/>
              </a:spcAft>
              <a:defRPr sz="1400">
                <a:solidFill>
                  <a:srgbClr val="222222"/>
                </a:solidFill>
              </a:defRPr>
            </a:pPr>
            <a:r>
              <a:t>• Conclusion et transition vers Excel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1.1 Word en Master : un changement d'échelle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Licence, Word servait à rédiger des devoirs de 3 à 5 pages. En Master, vous allez produire unmémoire de 60 à 100 pagesavec :</a:t>
            </a:r>
          </a:p>
          <a:p>
            <a:pPr>
              <a:spcAft>
                <a:spcPts val="600"/>
              </a:spcAft>
              <a:defRPr sz="1400">
                <a:solidFill>
                  <a:srgbClr val="222222"/>
                </a:solidFill>
              </a:defRPr>
            </a:pPr>
            <a:r>
              <a:t>• Structure complexe (6-7 chapitres + annexes)</a:t>
            </a:r>
          </a:p>
          <a:p>
            <a:pPr>
              <a:spcAft>
                <a:spcPts val="600"/>
              </a:spcAft>
              <a:defRPr sz="1400">
                <a:solidFill>
                  <a:srgbClr val="222222"/>
                </a:solidFill>
              </a:defRPr>
            </a:pPr>
            <a:r>
              <a:t>• Pagination multiple (romaine pour préliminaires, arabe pour le corps)</a:t>
            </a:r>
          </a:p>
          <a:p>
            <a:pPr>
              <a:spcAft>
                <a:spcPts val="600"/>
              </a:spcAft>
              <a:defRPr sz="1400">
                <a:solidFill>
                  <a:srgbClr val="222222"/>
                </a:solidFill>
              </a:defRPr>
            </a:pPr>
            <a:r>
              <a:t>• Citations et bibliographie (30-80 références)</a:t>
            </a:r>
          </a:p>
          <a:p>
            <a:pPr>
              <a:spcAft>
                <a:spcPts val="600"/>
              </a:spcAft>
              <a:defRPr sz="1400">
                <a:solidFill>
                  <a:srgbClr val="222222"/>
                </a:solidFill>
              </a:defRPr>
            </a:pPr>
            <a:r>
              <a:t>• Tables des matières, figures, tableaux automatiques</a:t>
            </a:r>
          </a:p>
          <a:p>
            <a:pPr>
              <a:spcAft>
                <a:spcPts val="600"/>
              </a:spcAft>
              <a:defRPr sz="1400">
                <a:solidFill>
                  <a:srgbClr val="222222"/>
                </a:solidFill>
              </a:defRPr>
            </a:pPr>
            <a:r>
              <a:t>• Normes institutionnelles strictes</a:t>
            </a:r>
          </a:p>
          <a:p>
            <a:pPr>
              <a:spcAft>
                <a:spcPts val="600"/>
              </a:spcAft>
              <a:defRPr sz="1400">
                <a:solidFill>
                  <a:srgbClr val="222222"/>
                </a:solidFill>
              </a:defRPr>
            </a:pPr>
            <a:r>
              <a:t>• Un document bien formaté avec Word n'est pas un option — c'estune exigence académiqueévaluée.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3.2 Créer un template Master (.dotx)</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Untemplateest un fichier.dotxqui sert de modèle pour tous vos documents. Pour créer le vôtre :</a:t>
            </a:r>
          </a:p>
          <a:p>
            <a:pPr>
              <a:spcAft>
                <a:spcPts val="600"/>
              </a:spcAft>
              <a:defRPr sz="1400">
                <a:solidFill>
                  <a:srgbClr val="222222"/>
                </a:solidFill>
              </a:defRPr>
            </a:pPr>
            <a:r>
              <a:t>• Ouvrir Word → Fichier → Nouveau → Document vierge</a:t>
            </a:r>
          </a:p>
          <a:p>
            <a:pPr>
              <a:spcAft>
                <a:spcPts val="600"/>
              </a:spcAft>
              <a:defRPr sz="1400">
                <a:solidFill>
                  <a:srgbClr val="222222"/>
                </a:solidFill>
              </a:defRPr>
            </a:pPr>
            <a:r>
              <a:t>• Définir les styles essentiels (voir 3.3)</a:t>
            </a:r>
          </a:p>
          <a:p>
            <a:pPr>
              <a:spcAft>
                <a:spcPts val="600"/>
              </a:spcAft>
              <a:defRPr sz="1400">
                <a:solidFill>
                  <a:srgbClr val="222222"/>
                </a:solidFill>
              </a:defRPr>
            </a:pPr>
            <a:r>
              <a:t>• Configurer la mise en page (marges, interlignes, polices)</a:t>
            </a:r>
          </a:p>
          <a:p>
            <a:pPr>
              <a:spcAft>
                <a:spcPts val="600"/>
              </a:spcAft>
              <a:defRPr sz="1400">
                <a:solidFill>
                  <a:srgbClr val="222222"/>
                </a:solidFill>
              </a:defRPr>
            </a:pPr>
            <a:r>
              <a:t>• Créer la page de garde à partir du template PG-fr</a:t>
            </a:r>
          </a:p>
          <a:p>
            <a:pPr>
              <a:spcAft>
                <a:spcPts val="600"/>
              </a:spcAft>
              <a:defRPr sz="1400">
                <a:solidFill>
                  <a:srgbClr val="222222"/>
                </a:solidFill>
              </a:defRPr>
            </a:pPr>
            <a:r>
              <a:t>• Enregistrer comme :Fichier → Enregistrer sous → Type : Modèle Word (.dotx)</a:t>
            </a:r>
          </a:p>
          <a:p>
            <a:pPr>
              <a:spcAft>
                <a:spcPts val="600"/>
              </a:spcAft>
              <a:defRPr sz="1400">
                <a:solidFill>
                  <a:srgbClr val="222222"/>
                </a:solidFill>
              </a:defRPr>
            </a:pPr>
            <a:r>
              <a:t>• Nommer :Template_Memoire_Master_Langue_Culture.dotx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Maîtriser les fonctionnalités avancées de Word pour la rédaction d'un mémoire (styles, sections, tables automatisées)</a:t>
            </a:r>
            <a:br/>
            <a:r>
              <a:t>- Comprendre les normes typographiques académiques (page de garde institutionnelle, sommaire, bibliographie)</a:t>
            </a:r>
            <a:br/>
            <a:r>
              <a:t>- Connaître le processus de dépôt légal du mémoire (PDF/A, métadonnées)</a:t>
            </a:r>
          </a:p>
          <a:p>
            <a:pPr>
              <a:spcAft>
                <a:spcPts val="600"/>
              </a:spcAft>
              <a:defRPr sz="1600">
                <a:solidFill>
                  <a:srgbClr val="222222"/>
                </a:solidFill>
              </a:defRPr>
            </a:pPr>
            <a:r>
              <a:t>• Atelier : création d'un modèle de document Master (template .dotx) avec styles personnalisés</a:t>
            </a:r>
          </a:p>
          <a:p>
            <a:pPr>
              <a:spcAft>
                <a:spcPts val="600"/>
              </a:spcAft>
              <a:defRPr sz="1600">
                <a:solidFill>
                  <a:srgbClr val="222222"/>
                </a:solidFill>
              </a:defRPr>
            </a:pPr>
            <a:r>
              <a:t>• QCM styles, sections, tables automatiques, normes typographiques</a:t>
            </a:r>
          </a:p>
          <a:p>
            <a:pPr>
              <a:spcAft>
                <a:spcPts val="600"/>
              </a:spcAft>
              <a:defRPr sz="1600">
                <a:solidFill>
                  <a:srgbClr val="222222"/>
                </a:solidFill>
              </a:defRPr>
            </a:pPr>
            <a:r>
              <a:t>• Template PG-fr.docx (page de garde institutionnelle Univ-Mosta)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