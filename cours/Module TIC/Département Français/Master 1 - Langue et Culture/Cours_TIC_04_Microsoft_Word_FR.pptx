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Poppins"/>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Poppins"/>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Poppins"/>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Poppins"/>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Poppins"/>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Poppins"/>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Poppins"/>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Poppins"/>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Poppins"/>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Poppins"/>
          <a:ea typeface="+mn-ea"/>
          <a:cs typeface="+mn-cs"/>
        </a:defRPr>
      </a:lvl9pPr>
    </p:bodyStyle>
    <p:otherStyle>
      <a:defPPr>
        <a:defRPr lang="en-US"/>
      </a:defPPr>
      <a:lvl1pPr marL="0" algn="l" defTabSz="457200" rtl="0" eaLnBrk="1" latinLnBrk="0" hangingPunct="1">
        <a:defRPr sz="1800" kern="1200">
          <a:solidFill>
            <a:schemeClr val="tx1"/>
          </a:solidFill>
          <a:latin typeface="Poppins"/>
          <a:ea typeface="+mn-ea"/>
          <a:cs typeface="+mn-cs"/>
        </a:defRPr>
      </a:lvl1pPr>
      <a:lvl2pPr marL="457200" algn="l" defTabSz="457200" rtl="0" eaLnBrk="1" latinLnBrk="0" hangingPunct="1">
        <a:defRPr sz="1800" kern="1200">
          <a:solidFill>
            <a:schemeClr val="tx1"/>
          </a:solidFill>
          <a:latin typeface="Poppins"/>
          <a:ea typeface="+mn-ea"/>
          <a:cs typeface="+mn-cs"/>
        </a:defRPr>
      </a:lvl2pPr>
      <a:lvl3pPr marL="914400" algn="l" defTabSz="457200" rtl="0" eaLnBrk="1" latinLnBrk="0" hangingPunct="1">
        <a:defRPr sz="1800" kern="1200">
          <a:solidFill>
            <a:schemeClr val="tx1"/>
          </a:solidFill>
          <a:latin typeface="Poppins"/>
          <a:ea typeface="+mn-ea"/>
          <a:cs typeface="+mn-cs"/>
        </a:defRPr>
      </a:lvl3pPr>
      <a:lvl4pPr marL="1371600" algn="l" defTabSz="457200" rtl="0" eaLnBrk="1" latinLnBrk="0" hangingPunct="1">
        <a:defRPr sz="1800" kern="1200">
          <a:solidFill>
            <a:schemeClr val="tx1"/>
          </a:solidFill>
          <a:latin typeface="Poppins"/>
          <a:ea typeface="+mn-ea"/>
          <a:cs typeface="+mn-cs"/>
        </a:defRPr>
      </a:lvl4pPr>
      <a:lvl5pPr marL="1828800" algn="l" defTabSz="457200" rtl="0" eaLnBrk="1" latinLnBrk="0" hangingPunct="1">
        <a:defRPr sz="1800" kern="1200">
          <a:solidFill>
            <a:schemeClr val="tx1"/>
          </a:solidFill>
          <a:latin typeface="Poppins"/>
          <a:ea typeface="+mn-ea"/>
          <a:cs typeface="+mn-cs"/>
        </a:defRPr>
      </a:lvl5pPr>
      <a:lvl6pPr marL="2286000" algn="l" defTabSz="457200" rtl="0" eaLnBrk="1" latinLnBrk="0" hangingPunct="1">
        <a:defRPr sz="1800" kern="1200">
          <a:solidFill>
            <a:schemeClr val="tx1"/>
          </a:solidFill>
          <a:latin typeface="Poppins"/>
          <a:ea typeface="+mn-ea"/>
          <a:cs typeface="+mn-cs"/>
        </a:defRPr>
      </a:lvl6pPr>
      <a:lvl7pPr marL="2743200" algn="l" defTabSz="457200" rtl="0" eaLnBrk="1" latinLnBrk="0" hangingPunct="1">
        <a:defRPr sz="1800" kern="1200">
          <a:solidFill>
            <a:schemeClr val="tx1"/>
          </a:solidFill>
          <a:latin typeface="Poppins"/>
          <a:ea typeface="+mn-ea"/>
          <a:cs typeface="+mn-cs"/>
        </a:defRPr>
      </a:lvl7pPr>
      <a:lvl8pPr marL="3200400" algn="l" defTabSz="457200" rtl="0" eaLnBrk="1" latinLnBrk="0" hangingPunct="1">
        <a:defRPr sz="1800" kern="1200">
          <a:solidFill>
            <a:schemeClr val="tx1"/>
          </a:solidFill>
          <a:latin typeface="Poppins"/>
          <a:ea typeface="+mn-ea"/>
          <a:cs typeface="+mn-cs"/>
        </a:defRPr>
      </a:lvl8pPr>
      <a:lvl9pPr marL="3657600" algn="l" defTabSz="457200" rtl="0" eaLnBrk="1" latinLnBrk="0" hangingPunct="1">
        <a:defRPr sz="1800" kern="1200">
          <a:solidFill>
            <a:schemeClr val="tx1"/>
          </a:solidFill>
          <a:latin typeface="Poppins"/>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val="006847"/&gt;</a:solidFill>
        <a:effectLst/>
      </p:bgPr>
    </p:bg>
    <p:spTree>
      <p:nvGrpSpPr>
        <p:cNvPr id="1" name=""/>
        <p:cNvGrpSpPr/>
        <p:nvPr/>
      </p:nvGrpSpPr>
      <p:grpSpPr/>
      <p:sp>
        <p:nvSpPr>
          <p:cNvPr id="2" name="TextBox 1"/>
          <p:cNvSpPr txBox="1"/>
          <p:nvPr/>
        </p:nvSpPr>
        <p:spPr>
          <a:xfrm>
            <a:off x="731520" y="1371600"/>
            <a:ext cx="7680960" cy="1371600"/>
          </a:xfrm>
          <a:prstGeom prst="rect">
            <a:avLst/>
          </a:prstGeom>
          <a:noFill/>
        </p:spPr>
        <p:txBody>
          <a:bodyPr wrap="square">
            <a:spAutoFit/>
          </a:bodyPr>
          <a:lstStyle/>
          <a:p>
            <a:pPr algn="ctr">
              <a:defRPr sz="3200" b="1">
                <a:solidFill>val="FFFFFF"/&gt;</a:solidFill>
              </a:defRPr>
            </a:pPr>
            <a:r>
              <a:t>Cours TIC 04 — Microsoft Word : Rédaction du Mémoire et Publication Académique</a:t>
            </a:r>
          </a:p>
        </p:txBody>
      </p:sp>
      <p:sp>
        <p:nvSpPr>
          <p:cNvPr id="3" name="TextBox 2"/>
          <p:cNvSpPr txBox="1"/>
          <p:nvPr/>
        </p:nvSpPr>
        <p:spPr>
          <a:xfrm>
            <a:off x="731520" y="2926080"/>
            <a:ext cx="7680960" cy="548640"/>
          </a:xfrm>
          <a:prstGeom prst="rect">
            <a:avLst/>
          </a:prstGeom>
          <a:noFill/>
        </p:spPr>
        <p:txBody>
          <a:bodyPr wrap="square">
            <a:spAutoFit/>
          </a:bodyPr>
          <a:lstStyle/>
          <a:p>
            <a:pPr algn="ctr">
              <a:defRPr sz="2000" b="0">
                <a:solidFill>val="DFE5EA"/&gt;</a:solidFill>
              </a:defRPr>
            </a:pPr>
            <a:r>
              <a:t>Module TIC — Dr. BELACEL Madani</a:t>
            </a:r>
          </a:p>
        </p:txBody>
      </p:sp>
      <p:sp>
        <p:nvSpPr>
          <p:cNvPr id="4" name="TextBox 3"/>
          <p:cNvSpPr txBox="1"/>
          <p:nvPr/>
        </p:nvSpPr>
        <p:spPr>
          <a:xfrm>
            <a:off x="731520" y="3657600"/>
            <a:ext cx="7680960" cy="457200"/>
          </a:xfrm>
          <a:prstGeom prst="rect">
            <a:avLst/>
          </a:prstGeom>
          <a:noFill/>
        </p:spPr>
        <p:txBody>
          <a:bodyPr wrap="square">
            <a:spAutoFit/>
          </a:bodyPr>
          <a:lstStyle/>
          <a:p>
            <a:pPr algn="ctr">
              <a:defRPr sz="1600" b="0">
                <a:solidFill>val="B7C9BE"/&gt;</a:solidFill>
              </a:defRPr>
            </a:pPr>
            <a:r>
              <a:t>Université de Mostaganem — MCB</a:t>
            </a:r>
          </a:p>
        </p:txBody>
      </p:sp>
      <p:sp>
        <p:nvSpPr>
          <p:cNvPr id="990001" name="Pied de page FLE"/>
          <p:cNvSpPr>
            <a:spLocks noGrp="1"/>
          </p:cNvSpPr>
          <p:nvPr/>
        </p:nvSpPr>
        <p:spPr>
          <a:xfrm>
            <a:off x="2880360"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548640" y="365760"/>
            <a:ext cx="7772400" cy="640080"/>
          </a:xfrm>
          <a:prstGeom prst="rect">
            <a:avLst/>
          </a:prstGeom>
          <a:noFill/>
        </p:spPr>
        <p:txBody>
          <a:bodyPr wrap="square">
            <a:spAutoFit/>
          </a:bodyPr>
          <a:lstStyle/>
          <a:p>
            <a:pPr algn="l">
              <a:defRPr sz="2600" b="1">
                <a:solidFill>val="006847"/&gt;</a:solidFill>
              </a:defRPr>
            </a:pPr>
            <a:r>
              <a:t>🎯 Objectifs pédagogiques</a:t>
            </a:r>
          </a:p>
        </p:txBody>
      </p:sp>
      <p:sp>
        <p:nvSpPr>
          <p:cNvPr id="3" name="TextBox 2"/>
          <p:cNvSpPr txBox="1"/>
          <p:nvPr/>
        </p:nvSpPr>
        <p:spPr>
          <a:xfrm>
            <a:off x="548640" y="1828800"/>
            <a:ext cx="7772400" cy="4572000"/>
          </a:xfrm>
          <a:prstGeom prst="rect">
            <a:avLst/>
          </a:prstGeom>
          <a:noFill/>
        </p:spPr>
        <p:txBody>
          <a:bodyPr wrap="square">
            <a:spAutoFit/>
          </a:bodyPr>
          <a:lstStyle/>
          <a:p>
            <a:pPr>
              <a:spcAft>
                <a:spcPts val="600"/>
              </a:spcAft>
              <a:defRPr sz="1500">
                <a:solidFill>val="22344A"/&gt;</a:solidFill>
              </a:defRPr>
            </a:pPr>
            <a:r>
              <a:t>• En termes de savoir :- Maîtriser les fonctionnalités avancées de Word pour la rédaction d'un mémoire (styles, sections, tables automatisées)</a:t>
            </a:r>
            <a:br/>
            <a:r>
              <a:t>- Comprendre les normes typographiques académiques (page de garde institutionnelle, sommaire, bibliographie)</a:t>
            </a:r>
            <a:br/>
            <a:r>
              <a:t>- Connaître le processus de dépôt légal du mémoire (PDF/A, métadonnées)</a:t>
            </a:r>
          </a:p>
          <a:p>
            <a:pPr>
              <a:spcAft>
                <a:spcPts val="600"/>
              </a:spcAft>
              <a:defRPr sz="1500">
                <a:solidFill>val="22344A"/&gt;</a:solidFill>
              </a:defRPr>
            </a:pPr>
            <a:r>
              <a:t>• En termes de savoir-faire :- Créer un document structuré avec styles, table des matières automatique, listes des figures et tableaux</a:t>
            </a:r>
            <a:br/>
            <a:r>
              <a:t>- Intégrer et formater des citations avec Zotero dans Word</a:t>
            </a:r>
            <a:br/>
            <a:r>
              <a:t>- Gérer des documents longs (sections, paginations multiples, numérotation des chapitres)</a:t>
            </a:r>
            <a:br/>
            <a:r>
              <a:t>- Exporter aux formats requis (DOCX, PDF/A) pour dépôt institutionnel</a:t>
            </a:r>
          </a:p>
          <a:p>
            <a:pPr>
              <a:spcAft>
                <a:spcPts val="600"/>
              </a:spcAft>
              <a:defRPr sz="1500">
                <a:solidFill>val="22344A"/&gt;</a:solidFill>
              </a:defRPr>
            </a:pPr>
            <a:r>
              <a:t>• En termes de savoir-être :- Respecter les normes de rédaction académique (typographie, citation, bibliographie)</a:t>
            </a:r>
            <a:br/>
            <a:r>
              <a:t>- Adopter une méthodologie de rédaction rigoureuse et reproductible</a:t>
            </a:r>
          </a:p>
          <a:p>
            <a:pPr>
              <a:spcAft>
                <a:spcPts val="600"/>
              </a:spcAft>
              <a:defRPr sz="1500">
                <a:solidFill>val="22344A"/&gt;</a:solidFill>
              </a:defRPr>
            </a:pPr>
            <a:r>
              <a:t>• Mode d'évaluation :TD 25 % + Projet « Structure complète d'un chapitre de mémoire » 35 % + QCM 20 % + Examen pratique 20 %</a:t>
            </a:r>
          </a:p>
        </p:txBody>
      </p:sp>
      <p:sp>
        <p:nvSpPr>
          <p:cNvPr id="990001" name="Pied de page FLE"/>
          <p:cNvSpPr>
            <a:spLocks noGrp="1"/>
          </p:cNvSpPr>
          <p:nvPr/>
        </p:nvSpPr>
        <p:spPr>
          <a:xfrm>
            <a:off x="2971800" y="18288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548640" y="365760"/>
            <a:ext cx="7772400" cy="640080"/>
          </a:xfrm>
          <a:prstGeom prst="rect">
            <a:avLst/>
          </a:prstGeom>
          <a:noFill/>
        </p:spPr>
        <p:txBody>
          <a:bodyPr wrap="square">
            <a:spAutoFit/>
          </a:bodyPr>
          <a:lstStyle/>
          <a:p>
            <a:pPr algn="l">
              <a:defRPr sz="2600" b="1">
                <a:solidFill>val="006847"/&gt;</a:solidFill>
              </a:defRPr>
            </a:pPr>
            <a:r>
              <a:t>📋 Plan du cours</a:t>
            </a:r>
          </a:p>
        </p:txBody>
      </p:sp>
      <p:sp>
        <p:nvSpPr>
          <p:cNvPr id="3" name="TextBox 2"/>
          <p:cNvSpPr txBox="1"/>
          <p:nvPr/>
        </p:nvSpPr>
        <p:spPr>
          <a:xfrm>
            <a:off x="548640" y="1828800"/>
            <a:ext cx="7772400" cy="4572000"/>
          </a:xfrm>
          <a:prstGeom prst="rect">
            <a:avLst/>
          </a:prstGeom>
          <a:noFill/>
        </p:spPr>
        <p:txBody>
          <a:bodyPr wrap="square">
            <a:spAutoFit/>
          </a:bodyPr>
          <a:lstStyle/>
          <a:p>
            <a:pPr>
              <a:spcAft>
                <a:spcPts val="600"/>
              </a:spcAft>
              <a:defRPr sz="1600">
                <a:solidFill>val="22344A"/&gt;</a:solidFill>
              </a:defRPr>
            </a:pPr>
            <a:r>
              <a:t>• Fiche cours — Plateforme e-learning (Moodle)</a:t>
            </a:r>
          </a:p>
          <a:p>
            <a:pPr>
              <a:spcAft>
                <a:spcPts val="600"/>
              </a:spcAft>
              <a:defRPr sz="1600">
                <a:solidFill>val="22344A"/&gt;</a:solidFill>
              </a:defRPr>
            </a:pPr>
            <a:r>
              <a:t>• Objectifs de l'enseignement</a:t>
            </a:r>
          </a:p>
          <a:p>
            <a:pPr>
              <a:spcAft>
                <a:spcPts val="600"/>
              </a:spcAft>
              <a:defRPr sz="1600">
                <a:solidFill>val="22344A"/&gt;</a:solidFill>
              </a:defRPr>
            </a:pPr>
            <a:r>
              <a:t>• Activités d'apprentissage</a:t>
            </a:r>
          </a:p>
          <a:p>
            <a:pPr>
              <a:spcAft>
                <a:spcPts val="600"/>
              </a:spcAft>
              <a:defRPr sz="1600">
                <a:solidFill>val="22344A"/&gt;</a:solidFill>
              </a:defRPr>
            </a:pPr>
            <a:r>
              <a:t>• Activités d'évaluation</a:t>
            </a:r>
          </a:p>
          <a:p>
            <a:pPr>
              <a:spcAft>
                <a:spcPts val="600"/>
              </a:spcAft>
              <a:defRPr sz="1600">
                <a:solidFill>val="22344A"/&gt;</a:solidFill>
              </a:defRPr>
            </a:pPr>
            <a:r>
              <a:t>• Bibliographie et ressources externes</a:t>
            </a:r>
          </a:p>
          <a:p>
            <a:pPr>
              <a:spcAft>
                <a:spcPts val="600"/>
              </a:spcAft>
              <a:defRPr sz="1600">
                <a:solidFill>val="22344A"/&gt;</a:solidFill>
              </a:defRPr>
            </a:pPr>
            <a:r>
              <a:t>• Contexte réglementaire algérien</a:t>
            </a:r>
          </a:p>
          <a:p>
            <a:pPr>
              <a:spcAft>
                <a:spcPts val="600"/>
              </a:spcAft>
              <a:defRPr sz="1600">
                <a:solidFill>val="22344A"/&gt;</a:solidFill>
              </a:defRPr>
            </a:pPr>
            <a:r>
              <a:t>• Plan du Cours</a:t>
            </a:r>
          </a:p>
          <a:p>
            <a:pPr>
              <a:spcAft>
                <a:spcPts val="600"/>
              </a:spcAft>
              <a:defRPr sz="1600">
                <a:solidFill>val="22344A"/&gt;</a:solidFill>
              </a:defRPr>
            </a:pPr>
            <a:r>
              <a:t>• 1.1 Word en Master : un changement d'échelle</a:t>
            </a:r>
          </a:p>
          <a:p>
            <a:pPr>
              <a:spcAft>
                <a:spcPts val="600"/>
              </a:spcAft>
              <a:defRPr sz="1600">
                <a:solidFill>val="22344A"/&gt;</a:solidFill>
              </a:defRPr>
            </a:pPr>
            <a:r>
              <a:t>• 3.2 Créer un template Master (.dotx)</a:t>
            </a:r>
          </a:p>
          <a:p>
            <a:pPr>
              <a:spcAft>
                <a:spcPts val="600"/>
              </a:spcAft>
              <a:defRPr sz="1600">
                <a:solidFill>val="22344A"/&gt;</a:solidFill>
              </a:defRPr>
            </a:pPr>
            <a:r>
              <a:t>• 3.4 Modifier un style</a:t>
            </a:r>
          </a:p>
        </p:txBody>
      </p:sp>
      <p:sp>
        <p:nvSpPr>
          <p:cNvPr id="990001" name="Pied de page FLE"/>
          <p:cNvSpPr>
            <a:spLocks noGrp="1"/>
          </p:cNvSpPr>
          <p:nvPr/>
        </p:nvSpPr>
        <p:spPr>
          <a:xfrm>
            <a:off x="2971800" y="18288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Fiche cours — Plateforme e-learning (Moodle)</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Référentiel :titres et structure alignés sur Canvas Univ-Mosta (elearning.univ-usto.dz) ; bonnes pratiques benchmark 10 universités algériennes (voirBENCHMARK_10_UNIVERSITES_ELEARNING.md).</a:t>
            </a:r>
          </a:p>
          <a:p>
            <a:pPr>
              <a:spcAft>
                <a:spcPts val="600"/>
              </a:spcAft>
              <a:defRPr sz="1400">
                <a:solidFill>val="22344A"/&gt;</a:solidFill>
              </a:defRPr>
            </a:pPr>
            <a:r>
              <a:t>• Public visé :Master 1 Langue et Culture</a:t>
            </a:r>
          </a:p>
          <a:p>
            <a:pPr>
              <a:spcAft>
                <a:spcPts val="600"/>
              </a:spcAft>
              <a:defRPr sz="1400">
                <a:solidFill>val="22344A"/&gt;</a:solidFill>
              </a:defRPr>
            </a:pPr>
            <a:r>
              <a:t>• Compétences pré-requises :TIC 03 ; organisation de fichiers Windows ; notions de navigation et exploration ; Zotero installé</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Objectifs de l'enseignement</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En termes de savoir :- Maîtriser les fonctionnalités avancées de Word pour la rédaction d'un mémoire (styles, sections, tables automatisées)</a:t>
            </a:r>
            <a:br/>
            <a:r>
              <a:t>- Comprendre les normes typographiques académiques (page de garde institutionnelle, sommaire, bibliographie)</a:t>
            </a:r>
            <a:br/>
            <a:r>
              <a:t>- Connaître le processus de dépôt légal du mémoire (PDF/A, métadonnées)</a:t>
            </a:r>
          </a:p>
          <a:p>
            <a:pPr>
              <a:spcAft>
                <a:spcPts val="600"/>
              </a:spcAft>
              <a:defRPr sz="1400">
                <a:solidFill>val="22344A"/&gt;</a:solidFill>
              </a:defRPr>
            </a:pPr>
            <a:r>
              <a:t>• En termes de savoir-faire :- Créer un document structuré avec styles, table des matières automatique, listes des figures et tableaux</a:t>
            </a:r>
            <a:br/>
            <a:r>
              <a:t>- Intégrer et formater des citations avec Zotero dans Word</a:t>
            </a:r>
            <a:br/>
            <a:r>
              <a:t>- Gérer des documents longs (sections, paginations multiples, numérotation des chapitres)</a:t>
            </a:r>
            <a:br/>
            <a:r>
              <a:t>- Exporter aux formats requis (DOCX, PDF/A) pour dépôt institutionnel</a:t>
            </a:r>
          </a:p>
          <a:p>
            <a:pPr>
              <a:spcAft>
                <a:spcPts val="600"/>
              </a:spcAft>
              <a:defRPr sz="1400">
                <a:solidFill>val="22344A"/&gt;</a:solidFill>
              </a:defRPr>
            </a:pPr>
            <a:r>
              <a:t>• En termes de savoir-être :- Respecter les normes de rédaction académique (typographie, citation, bibliographie)</a:t>
            </a:r>
            <a:br/>
            <a:r>
              <a:t>- Adopter une méthodologie de rédaction rigoureuse et reproductible</a:t>
            </a:r>
          </a:p>
          <a:p>
            <a:pPr>
              <a:spcAft>
                <a:spcPts val="600"/>
              </a:spcAft>
              <a:defRPr sz="1400">
                <a:solidFill>val="22344A"/&gt;</a:solidFill>
              </a:defRPr>
            </a:pPr>
            <a:r>
              <a:t>• Mode d'évaluation :TD 25 % + Projet « Structure complète d'un chapitre de mémoire » 35 % + QCM 20 % + Examen pratique 20 %</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Activités d'apprentissage</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Atelier : création d'un modèle de document Master (template .dotx) avec styles personnalisés</a:t>
            </a:r>
          </a:p>
          <a:p>
            <a:pPr>
              <a:spcAft>
                <a:spcPts val="600"/>
              </a:spcAft>
              <a:defRPr sz="1400">
                <a:solidFill>val="22344A"/&gt;</a:solidFill>
              </a:defRPr>
            </a:pPr>
            <a:r>
              <a:t>• TP : intégration Zotero dans Word — citations et bibliographies</a:t>
            </a:r>
          </a:p>
          <a:p>
            <a:pPr>
              <a:spcAft>
                <a:spcPts val="600"/>
              </a:spcAft>
              <a:defRPr sz="1400">
                <a:solidFill>val="22344A"/&gt;</a:solidFill>
              </a:defRPr>
            </a:pPr>
            <a:r>
              <a:t>• Exercice : rédaction d'un chapitre-type en suivant les normes (page de garde PG-fr, styles, TDM, bibliographie)</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Activités d'évaluation</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QCM styles, sections, tables automatiques, normes typographiques</a:t>
            </a:r>
          </a:p>
          <a:p>
            <a:pPr>
              <a:spcAft>
                <a:spcPts val="600"/>
              </a:spcAft>
              <a:defRPr sz="1400">
                <a:solidFill>val="22344A"/&gt;</a:solidFill>
              </a:defRPr>
            </a:pPr>
            <a:r>
              <a:t>• TP noté : document Word structuré avec citations Zotero et bibliographie</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Bibliographie et ressources externes</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Template PG-fr.docx (page de garde institutionnelle Univ-Mosta)</a:t>
            </a:r>
          </a:p>
          <a:p>
            <a:pPr>
              <a:spcAft>
                <a:spcPts val="600"/>
              </a:spcAft>
              <a:defRPr sz="1400">
                <a:solidFill>val="22344A"/&gt;</a:solidFill>
              </a:defRPr>
            </a:pPr>
            <a:r>
              <a:t>• Guide de rédaction du mémoire de Master — Université de Mostaganem</a:t>
            </a:r>
          </a:p>
          <a:p>
            <a:pPr>
              <a:spcAft>
                <a:spcPts val="600"/>
              </a:spcAft>
              <a:defRPr sz="1400">
                <a:solidFill>val="22344A"/&gt;</a:solidFill>
              </a:defRPr>
            </a:pPr>
            <a:r>
              <a:t>• APA 7th — Publication Manual ; MLA Handbook 9th ed.</a:t>
            </a:r>
          </a:p>
          <a:p>
            <a:pPr>
              <a:spcAft>
                <a:spcPts val="600"/>
              </a:spcAft>
              <a:defRPr sz="1400">
                <a:solidFill>val="22344A"/&gt;</a:solidFill>
              </a:defRPr>
            </a:pPr>
            <a:r>
              <a:t>• Eco, U. (1977).Come si fa una tesi di laurea. (trad.Comment écrire sa thèse)</a:t>
            </a:r>
          </a:p>
          <a:p>
            <a:pPr>
              <a:spcAft>
                <a:spcPts val="600"/>
              </a:spcAft>
              <a:defRPr sz="1400">
                <a:solidFill>val="22344A"/&gt;</a:solidFill>
              </a:defRPr>
            </a:pPr>
            <a:r>
              <a:t>• Zotero — Guide d'utilisation avancée</a:t>
            </a:r>
          </a:p>
          <a:p>
            <a:pPr>
              <a:spcAft>
                <a:spcPts val="600"/>
              </a:spcAft>
              <a:defRPr sz="1400">
                <a:solidFill>val="22344A"/&gt;</a:solidFill>
              </a:defRPr>
            </a:pPr>
            <a:r>
              <a:t>• Contact enseignant :BELACEL Madani —madani.belacel@univ-mosta.dz</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Contexte réglementaire algérien</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Décision n° 75du 31 mars 2021 relative au dépôt électronique des mémoires de Master : obligation de déposer le mémoire via la plateforme DLN (Dépôt Légal Numérique) au formatPDF/A. Ce format garantit la pérennité du document (polices embarquées, métadonnées, structure balisée).</a:t>
            </a:r>
          </a:p>
          <a:p>
            <a:pPr>
              <a:spcAft>
                <a:spcPts val="600"/>
              </a:spcAft>
              <a:defRPr sz="1400">
                <a:solidFill>val="22344A"/&gt;</a:solidFill>
              </a:defRPr>
            </a:pPr>
            <a:r>
              <a:t>• Arrêté n° 933du 28 juillet 2016 : le mémoire de Master constitue un travail de recherche personnel dont la présentation formelle est évaluée. La maîtrise des outils de traitement de texte est une compétence méthodologique évaluée dans l'unité UEM 1.1.</a:t>
            </a:r>
          </a:p>
          <a:p>
            <a:pPr>
              <a:spcAft>
                <a:spcPts val="600"/>
              </a:spcAft>
              <a:defRPr sz="1400">
                <a:solidFill>val="22344A"/&gt;</a:solidFill>
              </a:defRPr>
            </a:pPr>
            <a:r>
              <a:t>• Note ministérielle n° 133du 15 février 2022 : harmonisation des pages de garde des mémoires de Master. Tous les établissements algériens doivent utiliser une page de garde standardisée avec les éléments suivants :</a:t>
            </a:r>
            <a:br/>
            <a:r>
              <a:t>- Logo du ministère + logo de l'université</a:t>
            </a:r>
            <a:br/>
            <a:r>
              <a:t>- Intitulé du master et de la spécialité</a:t>
            </a:r>
            <a:br/>
            <a:r>
              <a:t>- Titre du mémoire, nom du candidat et du directeur</a:t>
            </a:r>
            <a:br/>
            <a:r>
              <a:t>- Année universitaire</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Plan du Cours</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Introduction : Word comme outil de rédaction scientifique</a:t>
            </a:r>
          </a:p>
          <a:p>
            <a:pPr>
              <a:spcAft>
                <a:spcPts val="600"/>
              </a:spcAft>
              <a:defRPr sz="1400">
                <a:solidFill>val="22344A"/&gt;</a:solidFill>
              </a:defRPr>
            </a:pPr>
            <a:r>
              <a:t>• L'interface Word pour les documents longs</a:t>
            </a:r>
          </a:p>
          <a:p>
            <a:pPr>
              <a:spcAft>
                <a:spcPts val="600"/>
              </a:spcAft>
              <a:defRPr sz="1400">
                <a:solidFill>val="22344A"/&gt;</a:solidFill>
              </a:defRPr>
            </a:pPr>
            <a:r>
              <a:t>• Styles avancés et template Master</a:t>
            </a:r>
          </a:p>
          <a:p>
            <a:pPr>
              <a:spcAft>
                <a:spcPts val="600"/>
              </a:spcAft>
              <a:defRPr sz="1400">
                <a:solidFill>val="22344A"/&gt;</a:solidFill>
              </a:defRPr>
            </a:pPr>
            <a:r>
              <a:t>• Gestion des sections et pagination</a:t>
            </a:r>
          </a:p>
          <a:p>
            <a:pPr>
              <a:spcAft>
                <a:spcPts val="600"/>
              </a:spcAft>
              <a:defRPr sz="1400">
                <a:solidFill>val="22344A"/&gt;</a:solidFill>
              </a:defRPr>
            </a:pPr>
            <a:r>
              <a:t>• Tables automatisées (TDM, figures, tableaux)</a:t>
            </a:r>
          </a:p>
          <a:p>
            <a:pPr>
              <a:spcAft>
                <a:spcPts val="600"/>
              </a:spcAft>
              <a:defRPr sz="1400">
                <a:solidFill>val="22344A"/&gt;</a:solidFill>
              </a:defRPr>
            </a:pPr>
            <a:r>
              <a:t>• Citations et bibliographie avec Zotero</a:t>
            </a:r>
          </a:p>
          <a:p>
            <a:pPr>
              <a:spcAft>
                <a:spcPts val="600"/>
              </a:spcAft>
              <a:defRPr sz="1400">
                <a:solidFill>val="22344A"/&gt;</a:solidFill>
              </a:defRPr>
            </a:pPr>
            <a:r>
              <a:t>• Normes typographiques et page de garde institutionnelle</a:t>
            </a:r>
          </a:p>
          <a:p>
            <a:pPr>
              <a:spcAft>
                <a:spcPts val="600"/>
              </a:spcAft>
              <a:defRPr sz="1400">
                <a:solidFill>val="22344A"/&gt;</a:solidFill>
              </a:defRPr>
            </a:pPr>
            <a:r>
              <a:t>• Export PDF/A et dépôt légal</a:t>
            </a:r>
          </a:p>
          <a:p>
            <a:pPr>
              <a:spcAft>
                <a:spcPts val="600"/>
              </a:spcAft>
              <a:defRPr sz="1400">
                <a:solidFill>val="22344A"/&gt;</a:solidFill>
              </a:defRPr>
            </a:pPr>
            <a:r>
              <a:t>• Conclusion et transition vers Excel</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1.1 Word en Master : un changement d'échelle</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En Licence, Word servait à rédiger des devoirs de 3 à 5 pages. En Master, vous allez produire unmémoire de 60 à 100 pagesavec :</a:t>
            </a:r>
          </a:p>
          <a:p>
            <a:pPr>
              <a:spcAft>
                <a:spcPts val="600"/>
              </a:spcAft>
              <a:defRPr sz="1400">
                <a:solidFill>val="22344A"/&gt;</a:solidFill>
              </a:defRPr>
            </a:pPr>
            <a:r>
              <a:t>• Structure complexe (6-7 chapitres + annexes)</a:t>
            </a:r>
          </a:p>
          <a:p>
            <a:pPr>
              <a:spcAft>
                <a:spcPts val="600"/>
              </a:spcAft>
              <a:defRPr sz="1400">
                <a:solidFill>val="22344A"/&gt;</a:solidFill>
              </a:defRPr>
            </a:pPr>
            <a:r>
              <a:t>• Pagination multiple (romaine pour préliminaires, arabe pour le corps)</a:t>
            </a:r>
          </a:p>
          <a:p>
            <a:pPr>
              <a:spcAft>
                <a:spcPts val="600"/>
              </a:spcAft>
              <a:defRPr sz="1400">
                <a:solidFill>val="22344A"/&gt;</a:solidFill>
              </a:defRPr>
            </a:pPr>
            <a:r>
              <a:t>• Citations et bibliographie (30-80 références)</a:t>
            </a:r>
          </a:p>
          <a:p>
            <a:pPr>
              <a:spcAft>
                <a:spcPts val="600"/>
              </a:spcAft>
              <a:defRPr sz="1400">
                <a:solidFill>val="22344A"/&gt;</a:solidFill>
              </a:defRPr>
            </a:pPr>
            <a:r>
              <a:t>• Tables des matières, figures, tableaux automatiques</a:t>
            </a:r>
          </a:p>
          <a:p>
            <a:pPr>
              <a:spcAft>
                <a:spcPts val="600"/>
              </a:spcAft>
              <a:defRPr sz="1400">
                <a:solidFill>val="22344A"/&gt;</a:solidFill>
              </a:defRPr>
            </a:pPr>
            <a:r>
              <a:t>• Normes institutionnelles strictes</a:t>
            </a:r>
          </a:p>
          <a:p>
            <a:pPr>
              <a:spcAft>
                <a:spcPts val="600"/>
              </a:spcAft>
              <a:defRPr sz="1400">
                <a:solidFill>val="22344A"/&gt;</a:solidFill>
              </a:defRPr>
            </a:pPr>
            <a:r>
              <a:t>• Un document bien formaté avec Word n'est pas un option — c'estune exigence académiqueévaluée.</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3.2 Créer un template Master (.dotx)</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Untemplateest un fichier.dotxqui sert de modèle pour tous vos documents. Pour créer le vôtre :</a:t>
            </a:r>
          </a:p>
          <a:p>
            <a:pPr>
              <a:spcAft>
                <a:spcPts val="600"/>
              </a:spcAft>
              <a:defRPr sz="1400">
                <a:solidFill>val="22344A"/&gt;</a:solidFill>
              </a:defRPr>
            </a:pPr>
            <a:r>
              <a:t>• Ouvrir Word → Fichier → Nouveau → Document vierge</a:t>
            </a:r>
          </a:p>
          <a:p>
            <a:pPr>
              <a:spcAft>
                <a:spcPts val="600"/>
              </a:spcAft>
              <a:defRPr sz="1400">
                <a:solidFill>val="22344A"/&gt;</a:solidFill>
              </a:defRPr>
            </a:pPr>
            <a:r>
              <a:t>• Définir les styles essentiels (voir 3.3)</a:t>
            </a:r>
          </a:p>
          <a:p>
            <a:pPr>
              <a:spcAft>
                <a:spcPts val="600"/>
              </a:spcAft>
              <a:defRPr sz="1400">
                <a:solidFill>val="22344A"/&gt;</a:solidFill>
              </a:defRPr>
            </a:pPr>
            <a:r>
              <a:t>• Configurer la mise en page (marges, interlignes, polices)</a:t>
            </a:r>
          </a:p>
          <a:p>
            <a:pPr>
              <a:spcAft>
                <a:spcPts val="600"/>
              </a:spcAft>
              <a:defRPr sz="1400">
                <a:solidFill>val="22344A"/&gt;</a:solidFill>
              </a:defRPr>
            </a:pPr>
            <a:r>
              <a:t>• Créer la page de garde à partir du template PG-fr</a:t>
            </a:r>
          </a:p>
          <a:p>
            <a:pPr>
              <a:spcAft>
                <a:spcPts val="600"/>
              </a:spcAft>
              <a:defRPr sz="1400">
                <a:solidFill>val="22344A"/&gt;</a:solidFill>
              </a:defRPr>
            </a:pPr>
            <a:r>
              <a:t>• Enregistrer comme :Fichier → Enregistrer sous → Type : Modèle Word (.dotx)</a:t>
            </a:r>
          </a:p>
          <a:p>
            <a:pPr>
              <a:spcAft>
                <a:spcPts val="600"/>
              </a:spcAft>
              <a:defRPr sz="1400">
                <a:solidFill>val="22344A"/&gt;</a:solidFill>
              </a:defRPr>
            </a:pPr>
            <a:r>
              <a:t>• Nommer :Template_Memoire_Master_Langue_Culture.dotx</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val="F4F6F8"/&gt;</a:solidFill>
        <a:effectLst/>
      </p:bgPr>
    </p:bg>
    <p:spTree>
      <p:nvGrpSpPr>
        <p:cNvPr id="1" name=""/>
        <p:cNvGrpSpPr/>
        <p:nvPr/>
      </p:nvGrpSpPr>
      <p:grpSpPr/>
      <p:sp>
        <p:nvSpPr>
          <p:cNvPr id="2" name="TextBox 1"/>
          <p:cNvSpPr txBox="1"/>
          <p:nvPr/>
        </p:nvSpPr>
        <p:spPr>
          <a:xfrm>
            <a:off x="548640" y="365760"/>
            <a:ext cx="7772400" cy="640080"/>
          </a:xfrm>
          <a:prstGeom prst="rect">
            <a:avLst/>
          </a:prstGeom>
          <a:noFill/>
        </p:spPr>
        <p:txBody>
          <a:bodyPr wrap="square">
            <a:spAutoFit/>
          </a:bodyPr>
          <a:lstStyle/>
          <a:p>
            <a:pPr algn="ctr">
              <a:defRPr sz="2600" b="1">
                <a:solidFill>val="006847"/&gt;</a:solidFill>
              </a:defRPr>
            </a:pPr>
            <a:r>
              <a:t>📝 Points clés à retenir</a:t>
            </a:r>
          </a:p>
        </p:txBody>
      </p:sp>
      <p:sp>
        <p:nvSpPr>
          <p:cNvPr id="3" name="TextBox 2"/>
          <p:cNvSpPr txBox="1"/>
          <p:nvPr/>
        </p:nvSpPr>
        <p:spPr>
          <a:xfrm>
            <a:off x="548640" y="1828800"/>
            <a:ext cx="7772400" cy="4572000"/>
          </a:xfrm>
          <a:prstGeom prst="rect">
            <a:avLst/>
          </a:prstGeom>
          <a:noFill/>
        </p:spPr>
        <p:txBody>
          <a:bodyPr wrap="square">
            <a:spAutoFit/>
          </a:bodyPr>
          <a:lstStyle/>
          <a:p>
            <a:pPr>
              <a:spcAft>
                <a:spcPts val="600"/>
              </a:spcAft>
              <a:defRPr sz="1600">
                <a:solidFill>val="22344A"/&gt;</a:solidFill>
              </a:defRPr>
            </a:pPr>
            <a:r>
              <a:t>• Référentiel :titres et structure alignés sur Canvas Univ-Mosta (elearning.univ-usto.dz) ; bonnes pratiques benchmark 10 universités algériennes (voirBENCHMARK_10_UNIVERSITES_ELEARNING.md).</a:t>
            </a:r>
          </a:p>
          <a:p>
            <a:pPr>
              <a:spcAft>
                <a:spcPts val="600"/>
              </a:spcAft>
              <a:defRPr sz="1600">
                <a:solidFill>val="22344A"/&gt;</a:solidFill>
              </a:defRPr>
            </a:pPr>
            <a:r>
              <a:t>• En termes de savoir :- Maîtriser les fonctionnalités avancées de Word pour la rédaction d'un mémoire (styles, sections, tables automatisées)</a:t>
            </a:r>
            <a:br/>
            <a:r>
              <a:t>- Comprendre les normes typographiques académiques (page de garde institutionnelle, sommaire, bibliographie)</a:t>
            </a:r>
            <a:br/>
            <a:r>
              <a:t>- Connaître le processus de dépôt légal du mémoire (PDF/A, métadonnées)</a:t>
            </a:r>
          </a:p>
          <a:p>
            <a:pPr>
              <a:spcAft>
                <a:spcPts val="600"/>
              </a:spcAft>
              <a:defRPr sz="1600">
                <a:solidFill>val="22344A"/&gt;</a:solidFill>
              </a:defRPr>
            </a:pPr>
            <a:r>
              <a:t>• Atelier : création d'un modèle de document Master (template .dotx) avec styles personnalisés</a:t>
            </a:r>
          </a:p>
          <a:p>
            <a:pPr>
              <a:spcAft>
                <a:spcPts val="600"/>
              </a:spcAft>
              <a:defRPr sz="1600">
                <a:solidFill>val="22344A"/&gt;</a:solidFill>
              </a:defRPr>
            </a:pPr>
            <a:r>
              <a:t>• QCM styles, sections, tables automatiques, normes typographiques</a:t>
            </a:r>
          </a:p>
          <a:p>
            <a:pPr>
              <a:spcAft>
                <a:spcPts val="600"/>
              </a:spcAft>
              <a:defRPr sz="1600">
                <a:solidFill>val="22344A"/&gt;</a:solidFill>
              </a:defRPr>
            </a:pPr>
            <a:r>
              <a:t>• Template PG-fr.docx (page de garde institutionnelle Univ-Mosta)</a:t>
            </a:r>
          </a:p>
        </p:txBody>
      </p:sp>
      <p:sp>
        <p:nvSpPr>
          <p:cNvPr id="990001" name="Pied de page FLE"/>
          <p:cNvSpPr>
            <a:spLocks noGrp="1"/>
          </p:cNvSpPr>
          <p:nvPr/>
        </p:nvSpPr>
        <p:spPr>
          <a:xfrm>
            <a:off x="2971800" y="18288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548640" y="365760"/>
            <a:ext cx="7772400" cy="640080"/>
          </a:xfrm>
          <a:prstGeom prst="rect">
            <a:avLst/>
          </a:prstGeom>
          <a:noFill/>
        </p:spPr>
        <p:txBody>
          <a:bodyPr wrap="square">
            <a:spAutoFit/>
          </a:bodyPr>
          <a:lstStyle/>
          <a:p>
            <a:pPr algn="ctr">
              <a:defRPr sz="2600" b="1">
                <a:solidFill>val="006847"/&gt;</a:solidFill>
              </a:defRPr>
            </a:pPr>
            <a:r>
              <a:t>✏️ Exercices d'application</a:t>
            </a:r>
          </a:p>
        </p:txBody>
      </p:sp>
      <p:sp>
        <p:nvSpPr>
          <p:cNvPr id="3" name="TextBox 2"/>
          <p:cNvSpPr txBox="1"/>
          <p:nvPr/>
        </p:nvSpPr>
        <p:spPr>
          <a:xfrm>
            <a:off x="548640" y="1828800"/>
            <a:ext cx="7772400" cy="4572000"/>
          </a:xfrm>
          <a:prstGeom prst="rect">
            <a:avLst/>
          </a:prstGeom>
          <a:noFill/>
        </p:spPr>
        <p:txBody>
          <a:bodyPr wrap="square">
            <a:spAutoFit/>
          </a:bodyPr>
          <a:lstStyle/>
          <a:p>
            <a:pPr>
              <a:spcAft>
                <a:spcPts val="600"/>
              </a:spcAft>
              <a:defRPr sz="1500">
                <a:solidFill>val="22344A"/&gt;</a:solidFill>
              </a:defRPr>
            </a:pPr>
            <a:r>
              <a:t>• Définir les concepts principaux du cours</a:t>
            </a:r>
          </a:p>
          <a:p>
            <a:pPr>
              <a:spcAft>
                <a:spcPts val="600"/>
              </a:spcAft>
              <a:defRPr sz="1500">
                <a:solidFill>val="22344A"/&gt;</a:solidFill>
              </a:defRPr>
            </a:pPr>
            <a:r>
              <a:t>• Identifier les applications pratiques</a:t>
            </a:r>
          </a:p>
          <a:p>
            <a:pPr>
              <a:spcAft>
                <a:spcPts val="600"/>
              </a:spcAft>
              <a:defRPr sz="1500">
                <a:solidFill>val="22344A"/&gt;</a:solidFill>
              </a:defRPr>
            </a:pPr>
            <a:r>
              <a:t>• Résoudre les exercices du TD</a:t>
            </a:r>
          </a:p>
          <a:p>
            <a:pPr>
              <a:spcAft>
                <a:spcPts val="600"/>
              </a:spcAft>
              <a:defRPr sz="1500">
                <a:solidFill>val="22344A"/&gt;</a:solidFill>
              </a:defRPr>
            </a:pPr>
            <a:r>
              <a:t>• Synthétiser les points clés en un paragraphe</a:t>
            </a:r>
          </a:p>
          <a:p>
            <a:pPr>
              <a:spcAft>
                <a:spcPts val="600"/>
              </a:spcAft>
              <a:defRPr sz="1500">
                <a:solidFill>val="22344A"/&gt;</a:solidFill>
              </a:defRPr>
            </a:pPr>
            <a:r>
              <a:t>• Préparer une courte présentation orale</a:t>
            </a:r>
          </a:p>
        </p:txBody>
      </p:sp>
      <p:sp>
        <p:nvSpPr>
          <p:cNvPr id="990001" name="Pied de page FLE"/>
          <p:cNvSpPr>
            <a:spLocks noGrp="1"/>
          </p:cNvSpPr>
          <p:nvPr/>
        </p:nvSpPr>
        <p:spPr>
          <a:xfrm>
            <a:off x="2971800" y="18288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val="006847"/&gt;</a:solidFill>
        <a:effectLst/>
      </p:bgPr>
    </p:bg>
    <p:spTree>
      <p:nvGrpSpPr>
        <p:cNvPr id="1" name=""/>
        <p:cNvGrpSpPr/>
        <p:nvPr/>
      </p:nvGrpSpPr>
      <p:grpSpPr/>
      <p:sp>
        <p:nvSpPr>
          <p:cNvPr id="2" name="TextBox 1"/>
          <p:cNvSpPr txBox="1"/>
          <p:nvPr/>
        </p:nvSpPr>
        <p:spPr>
          <a:xfrm>
            <a:off x="731520" y="1371600"/>
            <a:ext cx="7680960" cy="914400"/>
          </a:xfrm>
          <a:prstGeom prst="rect">
            <a:avLst/>
          </a:prstGeom>
          <a:noFill/>
        </p:spPr>
        <p:txBody>
          <a:bodyPr wrap="square">
            <a:spAutoFit/>
          </a:bodyPr>
          <a:lstStyle/>
          <a:p>
            <a:pPr algn="ctr">
              <a:defRPr sz="2800" b="1">
                <a:solidFill>val="FFFFFF"/&gt;</a:solidFill>
              </a:defRPr>
            </a:pPr>
            <a:r>
              <a:t>🎓 Conclusion</a:t>
            </a:r>
          </a:p>
        </p:txBody>
      </p:sp>
      <p:sp>
        <p:nvSpPr>
          <p:cNvPr id="3" name="TextBox 2"/>
          <p:cNvSpPr txBox="1"/>
          <p:nvPr/>
        </p:nvSpPr>
        <p:spPr>
          <a:xfrm>
            <a:off x="731520" y="2743200"/>
            <a:ext cx="7680960" cy="1828800"/>
          </a:xfrm>
          <a:prstGeom prst="rect">
            <a:avLst/>
          </a:prstGeom>
          <a:noFill/>
        </p:spPr>
        <p:txBody>
          <a:bodyPr wrap="square">
            <a:spAutoFit/>
          </a:bodyPr>
          <a:lstStyle/>
          <a:p>
            <a:pPr algn="ctr">
              <a:defRPr sz="1800" b="0">
                <a:solidFill>val="DFE5EA"/&gt;</a:solidFill>
              </a:defRPr>
            </a:pPr>
            <a:r>
              <a:t>Dr. BELACEL Madani</a:t>
            </a:r>
            <a:br/>
            <a:r>
              <a:t>Maître de Conférences B</a:t>
            </a:r>
            <a:br/>
            <a:r>
              <a:t>Université de Mostaganem</a:t>
            </a:r>
            <a:br/>
            <a:r>
              <a:t>madani.belacel@univ-mosta.dz</a:t>
            </a:r>
          </a:p>
        </p:txBody>
      </p:sp>
      <p:sp>
        <p:nvSpPr>
          <p:cNvPr id="990001" name="Pied de page FLE"/>
          <p:cNvSpPr>
            <a:spLocks noGrp="1"/>
          </p:cNvSpPr>
          <p:nvPr/>
        </p:nvSpPr>
        <p:spPr>
          <a:xfrm>
            <a:off x="2880360" y="4572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Poppi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oppi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