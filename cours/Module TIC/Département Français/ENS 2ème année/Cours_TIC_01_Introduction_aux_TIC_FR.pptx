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1371600"/>
            <a:ext cx="7680960" cy="1371600"/>
          </a:xfrm>
          <a:prstGeom prst="rect">
            <a:avLst/>
          </a:prstGeom>
          <a:noFill/>
        </p:spPr>
        <p:txBody>
          <a:bodyPr wrap="square">
            <a:spAutoFit/>
          </a:bodyPr>
          <a:lstStyle/>
          <a:p>
            <a:pPr algn="ctr">
              <a:defRPr sz="3200" b="1">
                <a:solidFill>val="FFFFFF"/&gt;</a:solidFill>
              </a:defRPr>
            </a:pPr>
            <a:r>
              <a:t>Cours TIC 01 — Introduction aux TIC (ENS)</a:t>
            </a:r>
          </a:p>
        </p:txBody>
      </p:sp>
      <p:sp>
        <p:nvSpPr>
          <p:cNvPr id="3" name="TextBox 2"/>
          <p:cNvSpPr txBox="1"/>
          <p:nvPr/>
        </p:nvSpPr>
        <p:spPr>
          <a:xfrm>
            <a:off x="731520" y="2926080"/>
            <a:ext cx="7680960" cy="548640"/>
          </a:xfrm>
          <a:prstGeom prst="rect">
            <a:avLst/>
          </a:prstGeom>
          <a:noFill/>
        </p:spPr>
        <p:txBody>
          <a:bodyPr wrap="square">
            <a:spAutoFit/>
          </a:bodyPr>
          <a:lstStyle/>
          <a:p>
            <a:pPr algn="ctr">
              <a:defRPr sz="2000" b="0">
                <a:solidFill>val="DFE5EA"/&gt;</a:solidFill>
              </a:defRPr>
            </a:pPr>
            <a:r>
              <a:t>Module TIC — Dr. BELACEL Madani</a:t>
            </a:r>
          </a:p>
        </p:txBody>
      </p:sp>
      <p:sp>
        <p:nvSpPr>
          <p:cNvPr id="4" name="TextBox 3"/>
          <p:cNvSpPr txBox="1"/>
          <p:nvPr/>
        </p:nvSpPr>
        <p:spPr>
          <a:xfrm>
            <a:off x="731520" y="3657600"/>
            <a:ext cx="7680960" cy="457200"/>
          </a:xfrm>
          <a:prstGeom prst="rect">
            <a:avLst/>
          </a:prstGeom>
          <a:noFill/>
        </p:spPr>
        <p:txBody>
          <a:bodyPr wrap="square">
            <a:spAutoFit/>
          </a:bodyPr>
          <a:lstStyle/>
          <a:p>
            <a:pPr algn="ctr">
              <a:defRPr sz="1600" b="0">
                <a:solidFill>val="B7C9BE"/&gt;</a:solidFill>
              </a:defRPr>
            </a:pPr>
            <a:r>
              <a:t>Université de Mostaganem — MCB</a:t>
            </a:r>
          </a:p>
        </p:txBody>
      </p:sp>
      <p:sp>
        <p:nvSpPr>
          <p:cNvPr id="990001" name="Pied de page FLE"/>
          <p:cNvSpPr>
            <a:spLocks noGrp="1"/>
          </p:cNvSpPr>
          <p:nvPr/>
        </p:nvSpPr>
        <p:spPr>
          <a:xfrm>
            <a:off x="2880360"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l">
              <a:defRPr sz="2600" b="1">
                <a:solidFill>val="006847"/&gt;</a:solidFill>
              </a:defRPr>
            </a:pPr>
            <a:r>
              <a:t>🎯 Objectifs pédagogiques</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500">
                <a:solidFill>val="22344A"/&gt;</a:solidFill>
              </a:defRPr>
            </a:pPr>
            <a:r>
              <a:t>• Savoir :- Définir les TIC, leur évolution et leurs trois dimensions constitutive</a:t>
            </a:r>
            <a:br/>
            <a:r>
              <a:t>- Distinguer les notions de technique, information et communication</a:t>
            </a:r>
            <a:br/>
            <a:r>
              <a:t>- Comprendre l'intégration pédagogique des TIC en didactique des langues</a:t>
            </a:r>
            <a:br/>
            <a:r>
              <a:t>- Connaître le modèle SAMR et la taxonomie de Bloom numérique</a:t>
            </a:r>
          </a:p>
          <a:p>
            <a:pPr>
              <a:spcAft>
                <a:spcPts val="600"/>
              </a:spcAft>
              <a:defRPr sz="1500">
                <a:solidFill>val="22344A"/&gt;</a:solidFill>
              </a:defRPr>
            </a:pPr>
            <a:r>
              <a:t>• Savoir-faire :- Utiliser les outils TIC pour concevoir des séquences pédagogiques</a:t>
            </a:r>
            <a:br/>
            <a:r>
              <a:t>- Évaluer et sélectionner des ressources numériques adaptées à la classe de langues</a:t>
            </a:r>
            <a:br/>
            <a:r>
              <a:t>- Créer des supports de cours interactifs avec les outils disponibles</a:t>
            </a:r>
            <a:br/>
            <a:r>
              <a:t>- Analyser une situation pédagogique selon le modèle SAMR</a:t>
            </a:r>
          </a:p>
          <a:p>
            <a:pPr>
              <a:spcAft>
                <a:spcPts val="600"/>
              </a:spcAft>
              <a:defRPr sz="1500">
                <a:solidFill>val="22344A"/&gt;</a:solidFill>
              </a:defRPr>
            </a:pPr>
            <a:r>
              <a:t>• Savoir-être :- Adopter une posture critique face aux outils numériques</a:t>
            </a:r>
            <a:br/>
            <a:r>
              <a:t>- Intégrer les TIC de manière éthique et responsable dans sa pratique</a:t>
            </a:r>
            <a:br/>
            <a:r>
              <a:t>- Développer une veille professionnelle sur les innovations EdTech</a:t>
            </a:r>
          </a:p>
          <a:p>
            <a:pPr>
              <a:spcAft>
                <a:spcPts val="600"/>
              </a:spcAft>
              <a:defRPr sz="1500">
                <a:solidFill>val="22344A"/&gt;</a:solidFill>
              </a:defRPr>
            </a:pPr>
            <a:r>
              <a:t>• Mode d'évaluation :TD 40 % + Projet pédagogique TIC 30 % + Examen 30 %</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l">
              <a:defRPr sz="2600" b="1">
                <a:solidFill>val="006847"/&gt;</a:solidFill>
              </a:defRPr>
            </a:pPr>
            <a:r>
              <a:t>📋 Plan du cours</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600">
                <a:solidFill>val="22344A"/&gt;</a:solidFill>
              </a:defRPr>
            </a:pPr>
            <a:r>
              <a:t>• Fiche cours — Plateforme e-learning (Moodle)</a:t>
            </a:r>
          </a:p>
          <a:p>
            <a:pPr>
              <a:spcAft>
                <a:spcPts val="600"/>
              </a:spcAft>
              <a:defRPr sz="1600">
                <a:solidFill>val="22344A"/&gt;</a:solidFill>
              </a:defRPr>
            </a:pPr>
            <a:r>
              <a:t>• Objectifs de l'enseignement</a:t>
            </a:r>
          </a:p>
          <a:p>
            <a:pPr>
              <a:spcAft>
                <a:spcPts val="600"/>
              </a:spcAft>
              <a:defRPr sz="1600">
                <a:solidFill>val="22344A"/&gt;</a:solidFill>
              </a:defRPr>
            </a:pPr>
            <a:r>
              <a:t>• Contexte réglementaire algérien</a:t>
            </a:r>
          </a:p>
          <a:p>
            <a:pPr>
              <a:spcAft>
                <a:spcPts val="600"/>
              </a:spcAft>
              <a:defRPr sz="1600">
                <a:solidFill>val="22344A"/&gt;</a:solidFill>
              </a:defRPr>
            </a:pPr>
            <a:r>
              <a:t>• Plan du Cours</a:t>
            </a:r>
          </a:p>
          <a:p>
            <a:pPr>
              <a:spcAft>
                <a:spcPts val="600"/>
              </a:spcAft>
              <a:defRPr sz="1600">
                <a:solidFill>val="22344A"/&gt;</a:solidFill>
              </a:defRPr>
            </a:pPr>
            <a:r>
              <a:t>• 1. Définition et Évolution des TIC(15 min)</a:t>
            </a:r>
          </a:p>
          <a:p>
            <a:pPr>
              <a:spcAft>
                <a:spcPts val="600"/>
              </a:spcAft>
              <a:defRPr sz="1600">
                <a:solidFill>val="22344A"/&gt;</a:solidFill>
              </a:defRPr>
            </a:pPr>
            <a:r>
              <a:t>• 2. Les Trois Dimensions des TIC(10 min)</a:t>
            </a:r>
          </a:p>
          <a:p>
            <a:pPr>
              <a:spcAft>
                <a:spcPts val="600"/>
              </a:spcAft>
              <a:defRPr sz="1600">
                <a:solidFill>val="22344A"/&gt;</a:solidFill>
              </a:defRPr>
            </a:pPr>
            <a:r>
              <a:t>• 3. TIC et Pédagogie : Intégration en Classe de Langues(20 min)</a:t>
            </a:r>
          </a:p>
          <a:p>
            <a:pPr>
              <a:spcAft>
                <a:spcPts val="600"/>
              </a:spcAft>
              <a:defRPr sz="1600">
                <a:solidFill>val="22344A"/&gt;</a:solidFill>
              </a:defRPr>
            </a:pPr>
            <a:r>
              <a:t>• 4. Modèle SAMR et Taxonomie de Bloom Numérique(15 min)</a:t>
            </a:r>
          </a:p>
          <a:p>
            <a:pPr>
              <a:spcAft>
                <a:spcPts val="600"/>
              </a:spcAft>
              <a:defRPr sz="1600">
                <a:solidFill>val="22344A"/&gt;</a:solidFill>
              </a:defRPr>
            </a:pPr>
            <a:r>
              <a:t>• 6. Compétences Numériques de l'Enseignant(10 min)</a:t>
            </a:r>
          </a:p>
          <a:p>
            <a:pPr>
              <a:spcAft>
                <a:spcPts val="600"/>
              </a:spcAft>
              <a:defRPr sz="1600">
                <a:solidFill>val="22344A"/&gt;</a:solidFill>
              </a:defRPr>
            </a:pPr>
            <a:r>
              <a:t>• 7. Éthique et Sécurité en Contexte Pédagogique(5 min)</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Fiche cours — Plateforme e-learning (Moodle)</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Public visé :Étudiants ENS — futurs enseignants de langues</a:t>
            </a:r>
          </a:p>
          <a:p>
            <a:pPr>
              <a:spcAft>
                <a:spcPts val="600"/>
              </a:spcAft>
              <a:defRPr sz="1400">
                <a:solidFill>val="22344A"/&gt;</a:solidFill>
              </a:defRPr>
            </a:pPr>
            <a:r>
              <a:t>• Compétences pré-requises :Notions de base en informatique (L1 validée)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Objectifs de l'enseignement</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Savoir :- Définir les TIC, leur évolution et leurs trois dimensions constitutive</a:t>
            </a:r>
            <a:br/>
            <a:r>
              <a:t>- Distinguer les notions de technique, information et communication</a:t>
            </a:r>
            <a:br/>
            <a:r>
              <a:t>- Comprendre l'intégration pédagogique des TIC en didactique des langues</a:t>
            </a:r>
            <a:br/>
            <a:r>
              <a:t>- Connaître le modèle SAMR et la taxonomie de Bloom numérique</a:t>
            </a:r>
          </a:p>
          <a:p>
            <a:pPr>
              <a:spcAft>
                <a:spcPts val="600"/>
              </a:spcAft>
              <a:defRPr sz="1400">
                <a:solidFill>val="22344A"/&gt;</a:solidFill>
              </a:defRPr>
            </a:pPr>
            <a:r>
              <a:t>• Savoir-faire :- Utiliser les outils TIC pour concevoir des séquences pédagogiques</a:t>
            </a:r>
            <a:br/>
            <a:r>
              <a:t>- Évaluer et sélectionner des ressources numériques adaptées à la classe de langues</a:t>
            </a:r>
            <a:br/>
            <a:r>
              <a:t>- Créer des supports de cours interactifs avec les outils disponibles</a:t>
            </a:r>
            <a:br/>
            <a:r>
              <a:t>- Analyser une situation pédagogique selon le modèle SAMR</a:t>
            </a:r>
          </a:p>
          <a:p>
            <a:pPr>
              <a:spcAft>
                <a:spcPts val="600"/>
              </a:spcAft>
              <a:defRPr sz="1400">
                <a:solidFill>val="22344A"/&gt;</a:solidFill>
              </a:defRPr>
            </a:pPr>
            <a:r>
              <a:t>• Savoir-être :- Adopter une posture critique face aux outils numériques</a:t>
            </a:r>
            <a:br/>
            <a:r>
              <a:t>- Intégrer les TIC de manière éthique et responsable dans sa pratique</a:t>
            </a:r>
            <a:br/>
            <a:r>
              <a:t>- Développer une veille professionnelle sur les innovations EdTech</a:t>
            </a:r>
          </a:p>
          <a:p>
            <a:pPr>
              <a:spcAft>
                <a:spcPts val="600"/>
              </a:spcAft>
              <a:defRPr sz="1400">
                <a:solidFill>val="22344A"/&gt;</a:solidFill>
              </a:defRPr>
            </a:pPr>
            <a:r>
              <a:t>• Mode d'évaluation :TD 40 % + Projet pédagogique TIC 30 % + Examen 30 %</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Contexte réglementaire algérien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Ce cours s'inscrit dans le cadre réglementaire algérien de la formation des enseignants :</a:t>
            </a:r>
          </a:p>
          <a:p>
            <a:pPr>
              <a:spcAft>
                <a:spcPts val="600"/>
              </a:spcAft>
              <a:defRPr sz="1400">
                <a:solidFill>val="22344A"/&gt;</a:solidFill>
              </a:defRPr>
            </a:pPr>
            <a:r>
              <a:t>• Arrêté ministériel portant création des ENS (cycle Licence/Master)— définit le cadre institutionnel des Écoles Normales Supérieures et leur mission de formation des enseignants.</a:t>
            </a:r>
          </a:p>
          <a:p>
            <a:pPr>
              <a:spcAft>
                <a:spcPts val="600"/>
              </a:spcAft>
              <a:defRPr sz="1400">
                <a:solidFill>val="22344A"/&gt;</a:solidFill>
              </a:defRPr>
            </a:pPr>
            <a:r>
              <a:t>• Arrêté 712 fixant le programme des concours ENS— détermine les épreuves et les programmes des concours d'accès aux ENS, en cohérence avec les contenus enseignés.</a:t>
            </a:r>
          </a:p>
          <a:p>
            <a:pPr>
              <a:spcAft>
                <a:spcPts val="600"/>
              </a:spcAft>
              <a:defRPr sz="1400">
                <a:solidFill>val="22344A"/&gt;</a:solidFill>
              </a:defRPr>
            </a:pPr>
            <a:r>
              <a:t>• Programme national de TIC pour les filières de langues étrangères— fixe les objectifs, contenus et volumes horaires du module TIC dans la formation initiale des enseignants.</a:t>
            </a:r>
          </a:p>
          <a:p>
            <a:pPr>
              <a:spcAft>
                <a:spcPts val="600"/>
              </a:spcAft>
              <a:defRPr sz="1400">
                <a:solidFill>val="22344A"/&gt;</a:solidFill>
              </a:defRPr>
            </a:pPr>
            <a:r>
              <a:t>• Référentiel des compétences numériques algérien— cadre national (en cours d'élaboration) définissant les compétences numériques attendues des enseignants et des étudiants.</a:t>
            </a:r>
          </a:p>
          <a:p>
            <a:pPr>
              <a:spcAft>
                <a:spcPts val="600"/>
              </a:spcAft>
              <a:defRPr sz="1400">
                <a:solidFill>val="22344A"/&gt;</a:solidFill>
              </a:defRPr>
            </a:pPr>
            <a:r>
              <a:t>• Benchmark des 10 universités algériennes— étude comparative des pratiques d'enseignement des TIC, consultée pour aligner ce cours sur les standards nationaux (BENCHMARK_10_UNIVERSITES_ELEARNING.md).</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Plan du Cours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Définition et évolution des TIC(15 min)</a:t>
            </a:r>
          </a:p>
          <a:p>
            <a:pPr>
              <a:spcAft>
                <a:spcPts val="600"/>
              </a:spcAft>
              <a:defRPr sz="1400">
                <a:solidFill>val="22344A"/&gt;</a:solidFill>
              </a:defRPr>
            </a:pPr>
            <a:r>
              <a:t>• Les trois dimensions des TIC(10 min)</a:t>
            </a:r>
          </a:p>
          <a:p>
            <a:pPr>
              <a:spcAft>
                <a:spcPts val="600"/>
              </a:spcAft>
              <a:defRPr sz="1400">
                <a:solidFill>val="22344A"/&gt;</a:solidFill>
              </a:defRPr>
            </a:pPr>
            <a:r>
              <a:t>• TIC et pédagogie : intégration en classe de langues(20 min)</a:t>
            </a:r>
          </a:p>
          <a:p>
            <a:pPr>
              <a:spcAft>
                <a:spcPts val="600"/>
              </a:spcAft>
              <a:defRPr sz="1400">
                <a:solidFill>val="22344A"/&gt;</a:solidFill>
              </a:defRPr>
            </a:pPr>
            <a:r>
              <a:t>• Modèle SAMR et Taxonomie de Bloom numérique(15 min)</a:t>
            </a:r>
          </a:p>
          <a:p>
            <a:pPr>
              <a:spcAft>
                <a:spcPts val="600"/>
              </a:spcAft>
              <a:defRPr sz="1400">
                <a:solidFill>val="22344A"/&gt;</a:solidFill>
              </a:defRPr>
            </a:pPr>
            <a:r>
              <a:t>• Outils TIC pour l'enseignant de langues(15 min)</a:t>
            </a:r>
          </a:p>
          <a:p>
            <a:pPr>
              <a:spcAft>
                <a:spcPts val="600"/>
              </a:spcAft>
              <a:defRPr sz="1400">
                <a:solidFill>val="22344A"/&gt;</a:solidFill>
              </a:defRPr>
            </a:pPr>
            <a:r>
              <a:t>• Compétences numériques du référentiel enseignant(10 min)</a:t>
            </a:r>
          </a:p>
          <a:p>
            <a:pPr>
              <a:spcAft>
                <a:spcPts val="600"/>
              </a:spcAft>
              <a:defRPr sz="1400">
                <a:solidFill>val="22344A"/&gt;</a:solidFill>
              </a:defRPr>
            </a:pPr>
            <a:r>
              <a:t>• Éthique et sécurité en contexte pédagogique(5 min)</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1. Définition et Évolution des TIC(15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Les Technologies de l'Information et de la Communication (TIC) regroupent l'ensemble des technologies issues de la convergence de l'informatique, des télécommunications et du multimédia. Leur évolution rapide transforme en profondeur les pratiques d'enseignement et d'apprentissage, en particulier dans le domaine des langues étrangères.</a:t>
            </a:r>
          </a:p>
          <a:p>
            <a:pPr>
              <a:spcAft>
                <a:spcPts val="600"/>
              </a:spcAft>
              <a:defRPr sz="1400">
                <a:solidFill>val="22344A"/&gt;</a:solidFill>
              </a:defRPr>
            </a:pPr>
            <a:r>
              <a:t>• Évolution historique des TIC en contexte pédagogique :</a:t>
            </a:r>
          </a:p>
          <a:p>
            <a:pPr>
              <a:spcAft>
                <a:spcPts val="600"/>
              </a:spcAft>
              <a:defRPr sz="1400">
                <a:solidFill>val="22344A"/&gt;</a:solidFill>
              </a:defRPr>
            </a:pPr>
            <a:r>
              <a:t>• Pour le futur enseignant de langues, les TIC ne sont pas seulement des outils personnels mais des instruments pédagogiques à intégrer dans sa pratique quotidienne. La maîtrise de ces technologies est devenue une compétence professionnelle fondamentale, au même titre que la didactique ou la linguistique.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2. Les Trois Dimensions des TIC(10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Les TIC se décomposent en trois dimensions interdépendantes :</a:t>
            </a:r>
          </a:p>
          <a:p>
            <a:pPr>
              <a:spcAft>
                <a:spcPts val="600"/>
              </a:spcAft>
              <a:defRPr sz="1400">
                <a:solidFill>val="22344A"/&gt;</a:solidFill>
              </a:defRPr>
            </a:pPr>
            <a:r>
              <a:t>• L'enseignant de langues doit maîtriser ces trois dimensions pour concevoir des séquences pédagogiques efficaces. La dimension communication est particulièrement importante en didactique des langues car elle permet l'interaction authentique entre apprenants et avec des locuteurs natifs.</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3. TIC et Pédagogie : Intégration en Classe de Langues(20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Pourquoi intégrer les TIC en classe de langues ?</a:t>
            </a:r>
          </a:p>
          <a:p>
            <a:pPr>
              <a:spcAft>
                <a:spcPts val="600"/>
              </a:spcAft>
              <a:defRPr sz="1400">
                <a:solidFill>val="22344A"/&gt;</a:solidFill>
              </a:defRPr>
            </a:pPr>
            <a:r>
              <a:t>• Motivation et engagementdes apprenants : les outils numériques captent l'attention et rendent l'apprentissage plus ludique</a:t>
            </a:r>
          </a:p>
          <a:p>
            <a:pPr>
              <a:spcAft>
                <a:spcPts val="600"/>
              </a:spcAft>
              <a:defRPr sz="1400">
                <a:solidFill>val="22344A"/&gt;</a:solidFill>
              </a:defRPr>
            </a:pPr>
            <a:r>
              <a:t>• Accès à des ressources authentiques: vidéos, articles de presse, podcasts, contenus natifs en langue cible</a:t>
            </a:r>
          </a:p>
          <a:p>
            <a:pPr>
              <a:spcAft>
                <a:spcPts val="600"/>
              </a:spcAft>
              <a:defRPr sz="1400">
                <a:solidFill>val="22344A"/&gt;</a:solidFill>
              </a:defRPr>
            </a:pPr>
            <a:r>
              <a:t>• Individualisation des parcours: chaque apprenant progresse à son rythme avec des exercices adaptés</a:t>
            </a:r>
          </a:p>
          <a:p>
            <a:pPr>
              <a:spcAft>
                <a:spcPts val="600"/>
              </a:spcAft>
              <a:defRPr sz="1400">
                <a:solidFill>val="22344A"/&gt;</a:solidFill>
              </a:defRPr>
            </a:pPr>
            <a:r>
              <a:t>• Développement de l'autonomie: l'apprenant devient acteur de son apprentissage</a:t>
            </a:r>
          </a:p>
          <a:p>
            <a:pPr>
              <a:spcAft>
                <a:spcPts val="600"/>
              </a:spcAft>
              <a:defRPr sz="1400">
                <a:solidFill>val="22344A"/&gt;</a:solidFill>
              </a:defRPr>
            </a:pPr>
            <a:r>
              <a:t>• Interaction élargie: communication avec d'autres apprenants ou locuteurs natifs via les outils de visioconférence</a:t>
            </a:r>
          </a:p>
          <a:p>
            <a:pPr>
              <a:spcAft>
                <a:spcPts val="600"/>
              </a:spcAft>
              <a:defRPr sz="1400">
                <a:solidFill>val="22344A"/&gt;</a:solidFill>
              </a:defRPr>
            </a:pPr>
            <a:r>
              <a:t>• Domaines d'application en didactique des langues :</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4. Modèle SAMR et Taxonomie de Bloom Numérique(15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Le modèle SAMR (Puentedura, 2006) décrit quatre niveaux d'intégration technologique :</a:t>
            </a:r>
          </a:p>
          <a:p>
            <a:pPr>
              <a:spcAft>
                <a:spcPts val="600"/>
              </a:spcAft>
              <a:defRPr sz="1400">
                <a:solidFill>val="22344A"/&gt;</a:solidFill>
              </a:defRPr>
            </a:pPr>
            <a:r>
              <a:t>• Objectif pour l'enseignant :viser au moins les niveauxModificationetRedéfinitiondans la conception de ses séquences pédagogiques. Le niveau de Redéfinition est particulièrement pertinent en didactique des langues car il permet des interactions authentiques impossibles à réaliser dans une classe traditionnelle.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6. Compétences Numériques de l'Enseignant(10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Référentiel de compétences numériques pour l'enseignement (C2i2e / PIX) :</a:t>
            </a:r>
          </a:p>
          <a:p>
            <a:pPr>
              <a:spcAft>
                <a:spcPts val="600"/>
              </a:spcAft>
              <a:defRPr sz="1400">
                <a:solidFill>val="22344A"/&gt;</a:solidFill>
              </a:defRPr>
            </a:pPr>
            <a:r>
              <a:t>• Concevoir des séquences pédagogiques intégrant le numérique de manière cohérente</a:t>
            </a:r>
          </a:p>
          <a:p>
            <a:pPr>
              <a:spcAft>
                <a:spcPts val="600"/>
              </a:spcAft>
              <a:defRPr sz="1400">
                <a:solidFill>val="22344A"/&gt;</a:solidFill>
              </a:defRPr>
            </a:pPr>
            <a:r>
              <a:t>• Mettre en œuvre des activités collaboratives en ligne avec les apprenants</a:t>
            </a:r>
          </a:p>
          <a:p>
            <a:pPr>
              <a:spcAft>
                <a:spcPts val="600"/>
              </a:spcAft>
              <a:defRPr sz="1400">
                <a:solidFill>val="22344A"/&gt;</a:solidFill>
              </a:defRPr>
            </a:pPr>
            <a:r>
              <a:t>• Évaluer les apprentissages à l'aide d'outils numériques (QCM, quiz, portfolios)</a:t>
            </a:r>
          </a:p>
          <a:p>
            <a:pPr>
              <a:spcAft>
                <a:spcPts val="600"/>
              </a:spcAft>
              <a:defRPr sz="1400">
                <a:solidFill>val="22344A"/&gt;</a:solidFill>
              </a:defRPr>
            </a:pPr>
            <a:r>
              <a:t>• Assurer la sécurité des données et l'éthique du numérique éducatif</a:t>
            </a:r>
          </a:p>
          <a:p>
            <a:pPr>
              <a:spcAft>
                <a:spcPts val="600"/>
              </a:spcAft>
              <a:defRPr sz="1400">
                <a:solidFill>val="22344A"/&gt;</a:solidFill>
              </a:defRPr>
            </a:pPr>
            <a:r>
              <a:t>• Développer une veille professionnelle continue sur les innovations EdTech</a:t>
            </a:r>
          </a:p>
          <a:p>
            <a:pPr>
              <a:spcAft>
                <a:spcPts val="600"/>
              </a:spcAft>
              <a:defRPr sz="1400">
                <a:solidFill>val="22344A"/&gt;</a:solidFill>
              </a:defRPr>
            </a:pPr>
            <a:r>
              <a:t>• Accompagner les apprenants dans le développement de leurs propres compétences numériques</a:t>
            </a:r>
          </a:p>
          <a:p>
            <a:pPr>
              <a:spcAft>
                <a:spcPts val="600"/>
              </a:spcAft>
              <a:defRPr sz="1400">
                <a:solidFill>val="22344A"/&gt;</a:solidFill>
              </a:defRPr>
            </a:pPr>
            <a:r>
              <a:t>• Utiliser les outils de communication institutionnelle (ENT, messagerie, cahier de textes numérique)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val="F4F6F8"/&gt;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ctr">
              <a:defRPr sz="2600" b="1">
                <a:solidFill>val="006847"/&gt;</a:solidFill>
              </a:defRPr>
            </a:pPr>
            <a:r>
              <a:t>📝 Points clés à retenir</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600">
                <a:solidFill>val="22344A"/&gt;</a:solidFill>
              </a:defRPr>
            </a:pPr>
            <a:r>
              <a:t>• Public visé :Étudiants ENS — futurs enseignants de langues</a:t>
            </a:r>
          </a:p>
          <a:p>
            <a:pPr>
              <a:spcAft>
                <a:spcPts val="600"/>
              </a:spcAft>
              <a:defRPr sz="1600">
                <a:solidFill>val="22344A"/&gt;</a:solidFill>
              </a:defRPr>
            </a:pPr>
            <a:r>
              <a:t>• Savoir :- Définir les TIC, leur évolution et leurs trois dimensions constitutive</a:t>
            </a:r>
            <a:br/>
            <a:r>
              <a:t>- Distinguer les notions de technique, information et communication</a:t>
            </a:r>
            <a:br/>
            <a:r>
              <a:t>- Comprendre l'intégration pédagogique des TIC en didactique des langues</a:t>
            </a:r>
            <a:br/>
            <a:r>
              <a:t>- Connaître le modèle SAMR et la taxonomie de Bloom numérique</a:t>
            </a:r>
          </a:p>
          <a:p>
            <a:pPr>
              <a:spcAft>
                <a:spcPts val="600"/>
              </a:spcAft>
              <a:defRPr sz="1600">
                <a:solidFill>val="22344A"/&gt;</a:solidFill>
              </a:defRPr>
            </a:pPr>
            <a:r>
              <a:t>• Ce cours s'inscrit dans le cadre réglementaire algérien de la formation des enseignants :</a:t>
            </a:r>
          </a:p>
          <a:p>
            <a:pPr>
              <a:spcAft>
                <a:spcPts val="600"/>
              </a:spcAft>
              <a:defRPr sz="1600">
                <a:solidFill>val="22344A"/&gt;</a:solidFill>
              </a:defRPr>
            </a:pPr>
            <a:r>
              <a:t>• Définition et évolution des TIC(15 min)</a:t>
            </a:r>
          </a:p>
          <a:p>
            <a:pPr>
              <a:spcAft>
                <a:spcPts val="600"/>
              </a:spcAft>
              <a:defRPr sz="1600">
                <a:solidFill>val="22344A"/&gt;</a:solidFill>
              </a:defRPr>
            </a:pPr>
            <a:r>
              <a:t>• Les Technologies de l'Information et de la Communication (TIC) regroupent l'ensemble des technologies issues de la convergence de l'informatique, des télécommunications et du multimédia. Leur évolution rapide transforme en profondeur les pratiques d'enseignement et d'apprentissage, en particulier dans le domaine des langues étrangères.</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ctr">
              <a:defRPr sz="2600" b="1">
                <a:solidFill>val="006847"/&gt;</a:solidFill>
              </a:defRPr>
            </a:pPr>
            <a:r>
              <a:t>✏️ Exercices d'application</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500">
                <a:solidFill>val="22344A"/&gt;</a:solidFill>
              </a:defRPr>
            </a:pPr>
            <a:r>
              <a:t>• Définir les concepts principaux du cours</a:t>
            </a:r>
          </a:p>
          <a:p>
            <a:pPr>
              <a:spcAft>
                <a:spcPts val="600"/>
              </a:spcAft>
              <a:defRPr sz="1500">
                <a:solidFill>val="22344A"/&gt;</a:solidFill>
              </a:defRPr>
            </a:pPr>
            <a:r>
              <a:t>• Identifier les applications pratiques</a:t>
            </a:r>
          </a:p>
          <a:p>
            <a:pPr>
              <a:spcAft>
                <a:spcPts val="600"/>
              </a:spcAft>
              <a:defRPr sz="1500">
                <a:solidFill>val="22344A"/&gt;</a:solidFill>
              </a:defRPr>
            </a:pPr>
            <a:r>
              <a:t>• Résoudre les exercices du TD</a:t>
            </a:r>
          </a:p>
          <a:p>
            <a:pPr>
              <a:spcAft>
                <a:spcPts val="600"/>
              </a:spcAft>
              <a:defRPr sz="1500">
                <a:solidFill>val="22344A"/&gt;</a:solidFill>
              </a:defRPr>
            </a:pPr>
            <a:r>
              <a:t>• Synthétiser les points clés en un paragraphe</a:t>
            </a:r>
          </a:p>
          <a:p>
            <a:pPr>
              <a:spcAft>
                <a:spcPts val="600"/>
              </a:spcAft>
              <a:defRPr sz="1500">
                <a:solidFill>val="22344A"/&gt;</a:solidFill>
              </a:defRPr>
            </a:pPr>
            <a:r>
              <a:t>• Préparer une courte présentation orale</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1371600"/>
            <a:ext cx="7680960" cy="914400"/>
          </a:xfrm>
          <a:prstGeom prst="rect">
            <a:avLst/>
          </a:prstGeom>
          <a:noFill/>
        </p:spPr>
        <p:txBody>
          <a:bodyPr wrap="square">
            <a:spAutoFit/>
          </a:bodyPr>
          <a:lstStyle/>
          <a:p>
            <a:pPr algn="ctr">
              <a:defRPr sz="2800" b="1">
                <a:solidFill>val="FFFFFF"/&gt;</a:solidFill>
              </a:defRPr>
            </a:pPr>
            <a:r>
              <a:t>🎓 Conclusion</a:t>
            </a:r>
          </a:p>
        </p:txBody>
      </p:sp>
      <p:sp>
        <p:nvSpPr>
          <p:cNvPr id="3" name="TextBox 2"/>
          <p:cNvSpPr txBox="1"/>
          <p:nvPr/>
        </p:nvSpPr>
        <p:spPr>
          <a:xfrm>
            <a:off x="731520" y="2743200"/>
            <a:ext cx="7680960" cy="1828800"/>
          </a:xfrm>
          <a:prstGeom prst="rect">
            <a:avLst/>
          </a:prstGeom>
          <a:noFill/>
        </p:spPr>
        <p:txBody>
          <a:bodyPr wrap="square">
            <a:spAutoFit/>
          </a:bodyPr>
          <a:lstStyle/>
          <a:p>
            <a:pPr algn="ctr">
              <a:defRPr sz="1800" b="0">
                <a:solidFill>val="DFE5EA"/&gt;</a:solidFill>
              </a:defRPr>
            </a:pPr>
            <a:r>
              <a:t>Dr. BELACEL Madani</a:t>
            </a:r>
            <a:br/>
            <a:r>
              <a:t>Maître de Conférences B</a:t>
            </a:r>
            <a:br/>
            <a:r>
              <a:t>Université de Mostaganem</a:t>
            </a:r>
            <a:br/>
            <a:r>
              <a:t>madani.belacel@univ-mosta.dz</a:t>
            </a:r>
          </a:p>
        </p:txBody>
      </p:sp>
      <p:sp>
        <p:nvSpPr>
          <p:cNvPr id="990001" name="Pied de page FLE"/>
          <p:cNvSpPr>
            <a:spLocks noGrp="1"/>
          </p:cNvSpPr>
          <p:nvPr/>
        </p:nvSpPr>
        <p:spPr>
          <a:xfrm>
            <a:off x="2880360" y="4572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