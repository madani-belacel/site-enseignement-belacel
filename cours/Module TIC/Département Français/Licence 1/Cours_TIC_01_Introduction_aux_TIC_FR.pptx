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01 — Introduction aux Techniques de l'Information et de la Communication</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Définir les TIC et distinguer NTIC/TIC/ICT</a:t>
            </a:r>
            <a:br/>
            <a:r>
              <a:t>- Identifier les trois dimensions : technique, information, communication</a:t>
            </a:r>
            <a:br/>
            <a:r>
              <a:t>- Citer les fonctions : traitement, transmission, sauvegarde</a:t>
            </a:r>
          </a:p>
          <a:p>
            <a:pPr>
              <a:spcAft>
                <a:spcPts val="600"/>
              </a:spcAft>
              <a:defRPr sz="1500">
                <a:solidFill>val="22344A"/&gt;</a:solidFill>
              </a:defRPr>
            </a:pPr>
            <a:r>
              <a:t>• En termes de savoir-faire :- Utiliser Moodle et le courriel institutionnel</a:t>
            </a:r>
            <a:br/>
            <a:r>
              <a:t>- Nommer et classer des outils numériques par fonction</a:t>
            </a:r>
            <a:br/>
            <a:r>
              <a:t>- Évaluer la fiabilité d'une source en ligne (introduction CRAP)</a:t>
            </a:r>
          </a:p>
          <a:p>
            <a:pPr>
              <a:spcAft>
                <a:spcPts val="600"/>
              </a:spcAft>
              <a:defRPr sz="1500">
                <a:solidFill>val="22344A"/&gt;</a:solidFill>
              </a:defRPr>
            </a:pPr>
            <a:r>
              <a:t>• En termes de savoir-être :- Adopter une posture critique face au numérique</a:t>
            </a:r>
            <a:br/>
            <a:r>
              <a:t>- Respecter l'éthique académique (plagiat, vie privée)</a:t>
            </a:r>
          </a:p>
          <a:p>
            <a:pPr>
              <a:spcAft>
                <a:spcPts val="600"/>
              </a:spcAft>
              <a:defRPr sz="1500">
                <a:solidFill>val="22344A"/&gt;</a:solidFill>
              </a:defRPr>
            </a:pPr>
            <a:r>
              <a:t>• Mode d'évaluation :TD 40 % (5 exercices) + QCM Moodle 20 % + participation 10 % + examen 30 %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Contexte réglementaire algérien</a:t>
            </a:r>
          </a:p>
          <a:p>
            <a:pPr>
              <a:spcAft>
                <a:spcPts val="600"/>
              </a:spcAft>
              <a:defRPr sz="1600">
                <a:solidFill>val="22344A"/&gt;</a:solidFill>
              </a:defRPr>
            </a:pPr>
            <a:r>
              <a:t>• Bibliographie et ressources externes</a:t>
            </a:r>
          </a:p>
          <a:p>
            <a:pPr>
              <a:spcAft>
                <a:spcPts val="600"/>
              </a:spcAft>
              <a:defRPr sz="1600">
                <a:solidFill>val="22344A"/&gt;</a:solidFill>
              </a:defRPr>
            </a:pPr>
            <a:r>
              <a:t>• Plan du Cours</a:t>
            </a:r>
          </a:p>
          <a:p>
            <a:pPr>
              <a:spcAft>
                <a:spcPts val="600"/>
              </a:spcAft>
              <a:defRPr sz="1600">
                <a:solidFill>val="22344A"/&gt;</a:solidFill>
              </a:defRPr>
            </a:pPr>
            <a:r>
              <a:t>• 1. Introduction et Importance des TIC(10 min)</a:t>
            </a:r>
          </a:p>
          <a:p>
            <a:pPr>
              <a:spcAft>
                <a:spcPts val="600"/>
              </a:spcAft>
              <a:defRPr sz="1600">
                <a:solidFill>val="22344A"/&gt;</a:solidFill>
              </a:defRPr>
            </a:pPr>
            <a:r>
              <a:t>• Convergence de trois domaines</a:t>
            </a:r>
          </a:p>
          <a:p>
            <a:pPr>
              <a:spcAft>
                <a:spcPts val="600"/>
              </a:spcAft>
              <a:defRPr sz="1600">
                <a:solidFill>val="22344A"/&gt;</a:solidFill>
              </a:defRPr>
            </a:pPr>
            <a:r>
              <a:t>• Définitions de référence</a:t>
            </a:r>
          </a:p>
          <a:p>
            <a:pPr>
              <a:spcAft>
                <a:spcPts val="600"/>
              </a:spcAft>
              <a:defRPr sz="1600">
                <a:solidFill>val="22344A"/&gt;</a:solidFill>
              </a:defRPr>
            </a:pPr>
            <a:r>
              <a:t>• Exemples concrets pour l'étudiant en langues</a:t>
            </a:r>
          </a:p>
          <a:p>
            <a:pPr>
              <a:spcAft>
                <a:spcPts val="600"/>
              </a:spcAft>
              <a:defRPr sz="1600">
                <a:solidFill>val="22344A"/&gt;</a:solidFill>
              </a:defRPr>
            </a:pPr>
            <a:r>
              <a:t>• 3. Évolution Historique et Terminologique (NTIC → TIC)(10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 BENCHMARK_10_UNIVERSITES_ELEARNING.md).</a:t>
            </a:r>
          </a:p>
          <a:p>
            <a:pPr>
              <a:spcAft>
                <a:spcPts val="600"/>
              </a:spcAft>
              <a:defRPr sz="1400">
                <a:solidFill>val="22344A"/&gt;</a:solidFill>
              </a:defRPr>
            </a:pPr>
            <a:r>
              <a:t>• Public visé :Étudiants Licence 1 — Département Langues (FR/AN), ENS 1ère année</a:t>
            </a:r>
          </a:p>
          <a:p>
            <a:pPr>
              <a:spcAft>
                <a:spcPts val="600"/>
              </a:spcAft>
              <a:defRPr sz="1400">
                <a:solidFill>val="22344A"/&gt;</a:solidFill>
              </a:defRPr>
            </a:pPr>
            <a:r>
              <a:t>• Compétences pré-requises :Aucun prérequis informatique ; maîtrise minimale du français académique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Définir les TIC et distinguer NTIC/TIC/ICT</a:t>
            </a:r>
            <a:br/>
            <a:r>
              <a:t>- Identifier les trois dimensions : technique, information, communication</a:t>
            </a:r>
            <a:br/>
            <a:r>
              <a:t>- Citer les fonctions : traitement, transmission, sauvegarde</a:t>
            </a:r>
          </a:p>
          <a:p>
            <a:pPr>
              <a:spcAft>
                <a:spcPts val="600"/>
              </a:spcAft>
              <a:defRPr sz="1400">
                <a:solidFill>val="22344A"/&gt;</a:solidFill>
              </a:defRPr>
            </a:pPr>
            <a:r>
              <a:t>• En termes de savoir-faire :- Utiliser Moodle et le courriel institutionnel</a:t>
            </a:r>
            <a:br/>
            <a:r>
              <a:t>- Nommer et classer des outils numériques par fonction</a:t>
            </a:r>
            <a:br/>
            <a:r>
              <a:t>- Évaluer la fiabilité d'une source en ligne (introduction CRAP)</a:t>
            </a:r>
          </a:p>
          <a:p>
            <a:pPr>
              <a:spcAft>
                <a:spcPts val="600"/>
              </a:spcAft>
              <a:defRPr sz="1400">
                <a:solidFill>val="22344A"/&gt;</a:solidFill>
              </a:defRPr>
            </a:pPr>
            <a:r>
              <a:t>• En termes de savoir-être :- Adopter une posture critique face au numérique</a:t>
            </a:r>
            <a:br/>
            <a:r>
              <a:t>- Respecter l'éthique académique (plagiat, vie privée)</a:t>
            </a:r>
          </a:p>
          <a:p>
            <a:pPr>
              <a:spcAft>
                <a:spcPts val="600"/>
              </a:spcAft>
              <a:defRPr sz="1400">
                <a:solidFill>val="22344A"/&gt;</a:solidFill>
              </a:defRPr>
            </a:pPr>
            <a:r>
              <a:t>• Mode d'évaluation :TD 40 % (5 exercices) + QCM Moodle 20 % + participation 10 % + examen 30 %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Ce cours s'inscrit dans le cadre réglementaire algérien de la formation des enseignants :</a:t>
            </a:r>
          </a:p>
          <a:p>
            <a:pPr>
              <a:spcAft>
                <a:spcPts val="600"/>
              </a:spcAft>
              <a:defRPr sz="1400">
                <a:solidFill>val="22344A"/&gt;</a:solidFill>
              </a:defRPr>
            </a:pPr>
            <a:r>
              <a:t>• Arrêté ministériel portant création des ENS (cycle Licence/Master)— définit le cadre institutionnel des Écoles Normales Supérieures et leur mission de formation des enseignants.</a:t>
            </a:r>
          </a:p>
          <a:p>
            <a:pPr>
              <a:spcAft>
                <a:spcPts val="600"/>
              </a:spcAft>
              <a:defRPr sz="1400">
                <a:solidFill>val="22344A"/&gt;</a:solidFill>
              </a:defRPr>
            </a:pPr>
            <a:r>
              <a:t>• Arrêté 712 fixant le programme des concours ENS— détermine les épreuves et les programmes des concours d'accès aux ENS.</a:t>
            </a:r>
          </a:p>
          <a:p>
            <a:pPr>
              <a:spcAft>
                <a:spcPts val="600"/>
              </a:spcAft>
              <a:defRPr sz="1400">
                <a:solidFill>val="22344A"/&gt;</a:solidFill>
              </a:defRPr>
            </a:pPr>
            <a:r>
              <a:t>• Programme national de TIC pour les filières de langues étrangères— fixe les objectifs, contenus et volumes horaires du module TIC dans la formation initiale des enseignants.</a:t>
            </a:r>
          </a:p>
          <a:p>
            <a:pPr>
              <a:spcAft>
                <a:spcPts val="600"/>
              </a:spcAft>
              <a:defRPr sz="1400">
                <a:solidFill>val="22344A"/&gt;</a:solidFill>
              </a:defRPr>
            </a:pPr>
            <a:r>
              <a:t>• Référentiel des compétences numériques algérien— cadre national définissant les compétences numériques attendues des enseignants et des étudiants.</a:t>
            </a:r>
          </a:p>
          <a:p>
            <a:pPr>
              <a:spcAft>
                <a:spcPts val="600"/>
              </a:spcAft>
              <a:defRPr sz="1400">
                <a:solidFill>val="22344A"/&gt;</a:solidFill>
              </a:defRPr>
            </a:pPr>
            <a:r>
              <a:t>• Benchmark des 10 universités algériennes— étude comparative des pratiques d'enseignement des TIC (BENCHMARK_10_UNIVERSITES_ELEARNING.md).</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UIT — définitions TIC ; UNESCO — compétences numériques ; Guide étudiant Moodle Univ. Boumerdès / Béjaïa</a:t>
            </a:r>
          </a:p>
          <a:p>
            <a:pPr>
              <a:spcAft>
                <a:spcPts val="600"/>
              </a:spcAft>
              <a:defRPr sz="1400">
                <a:solidFill>val="22344A"/&gt;</a:solidFill>
              </a:defRPr>
            </a:pPr>
            <a:r>
              <a:t>• Contact enseignant :BELACEL Madani —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et importance des TIC dans le monde contemporain</a:t>
            </a:r>
          </a:p>
          <a:p>
            <a:pPr>
              <a:spcAft>
                <a:spcPts val="600"/>
              </a:spcAft>
              <a:defRPr sz="1400">
                <a:solidFill>val="22344A"/&gt;</a:solidFill>
              </a:defRPr>
            </a:pPr>
            <a:r>
              <a:t>• Définition détaillée des TIC</a:t>
            </a:r>
          </a:p>
          <a:p>
            <a:pPr>
              <a:spcAft>
                <a:spcPts val="600"/>
              </a:spcAft>
              <a:defRPr sz="1400">
                <a:solidFill>val="22344A"/&gt;</a:solidFill>
              </a:defRPr>
            </a:pPr>
            <a:r>
              <a:t>• Évolution historique et terminologique (NTIC → TIC)</a:t>
            </a:r>
          </a:p>
          <a:p>
            <a:pPr>
              <a:spcAft>
                <a:spcPts val="600"/>
              </a:spcAft>
              <a:defRPr sz="1400">
                <a:solidFill>val="22344A"/&gt;</a:solidFill>
              </a:defRPr>
            </a:pPr>
            <a:r>
              <a:t>• Les trois dimensions fondamentales des TIC</a:t>
            </a:r>
          </a:p>
          <a:p>
            <a:pPr>
              <a:spcAft>
                <a:spcPts val="600"/>
              </a:spcAft>
              <a:defRPr sz="1400">
                <a:solidFill>val="22344A"/&gt;</a:solidFill>
              </a:defRPr>
            </a:pPr>
            <a:r>
              <a:t>• Rôle et fonctions des TIC (traitement, transmission, sauvegarde)</a:t>
            </a:r>
          </a:p>
          <a:p>
            <a:pPr>
              <a:spcAft>
                <a:spcPts val="600"/>
              </a:spcAft>
              <a:defRPr sz="1400">
                <a:solidFill>val="22344A"/&gt;</a:solidFill>
              </a:defRPr>
            </a:pPr>
            <a:r>
              <a:t>• Services offerts par les TIC</a:t>
            </a:r>
          </a:p>
          <a:p>
            <a:pPr>
              <a:spcAft>
                <a:spcPts val="600"/>
              </a:spcAft>
              <a:defRPr sz="1400">
                <a:solidFill>val="22344A"/&gt;</a:solidFill>
              </a:defRPr>
            </a:pPr>
            <a:r>
              <a:t>• Domaines d'application avec focus sur l'éducation</a:t>
            </a:r>
          </a:p>
          <a:p>
            <a:pPr>
              <a:spcAft>
                <a:spcPts val="600"/>
              </a:spcAft>
              <a:defRPr sz="1400">
                <a:solidFill>val="22344A"/&gt;</a:solidFill>
              </a:defRPr>
            </a:pPr>
            <a:r>
              <a:t>• Compétences numériques attendues en Licence Langues</a:t>
            </a:r>
          </a:p>
          <a:p>
            <a:pPr>
              <a:spcAft>
                <a:spcPts val="600"/>
              </a:spcAft>
              <a:defRPr sz="1400">
                <a:solidFill>val="22344A"/&gt;</a:solidFill>
              </a:defRPr>
            </a:pPr>
            <a:r>
              <a:t>• Conclusion et transition vers le cours suivant</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 Introduction et Importance des TIC(10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LesTechniques de l'Information et de la Communication(TIC) désignent l'ensemble des outils numériques qui permettent de créer, traiter, stocker, transmettre et partager l'information. Elles incluent ordinateurs, smartphones, réseaux sans fil et plateformes en ligne.</a:t>
            </a:r>
          </a:p>
          <a:p>
            <a:pPr>
              <a:spcAft>
                <a:spcPts val="600"/>
              </a:spcAft>
              <a:defRPr sz="1400">
                <a:solidFill>val="22344A"/&gt;</a:solidFill>
              </a:defRPr>
            </a:pPr>
            <a:r>
              <a:t>• Pourquoi ce cours en Licence 1 ?Dès la première année, vous utilisez les TIC pour :</a:t>
            </a:r>
          </a:p>
          <a:p>
            <a:pPr>
              <a:spcAft>
                <a:spcPts val="600"/>
              </a:spcAft>
              <a:defRPr sz="1400">
                <a:solidFill>val="22344A"/&gt;</a:solidFill>
              </a:defRPr>
            </a:pPr>
            <a:r>
              <a:t>• Accéder aux ressources: Moodle, bibliothèque numérique, polycopiés PDF</a:t>
            </a:r>
          </a:p>
          <a:p>
            <a:pPr>
              <a:spcAft>
                <a:spcPts val="600"/>
              </a:spcAft>
              <a:defRPr sz="1400">
                <a:solidFill>val="22344A"/&gt;</a:solidFill>
              </a:defRPr>
            </a:pPr>
            <a:r>
              <a:t>• Communiquer: courriel institutionnel, forums de TD</a:t>
            </a:r>
          </a:p>
          <a:p>
            <a:pPr>
              <a:spcAft>
                <a:spcPts val="600"/>
              </a:spcAft>
              <a:defRPr sz="1400">
                <a:solidFill>val="22344A"/&gt;</a:solidFill>
              </a:defRPr>
            </a:pPr>
            <a:r>
              <a:t>• Rechercher: bases documentaires, corpus linguistiques multilingues</a:t>
            </a:r>
          </a:p>
          <a:p>
            <a:pPr>
              <a:spcAft>
                <a:spcPts val="600"/>
              </a:spcAft>
              <a:defRPr sz="1400">
                <a:solidFill>val="22344A"/&gt;</a:solidFill>
              </a:defRPr>
            </a:pPr>
            <a:r>
              <a:t>• Produire: devoirs Word, présentations PowerPoint, exposés</a:t>
            </a:r>
          </a:p>
          <a:p>
            <a:pPr>
              <a:spcAft>
                <a:spcPts val="600"/>
              </a:spcAft>
              <a:defRPr sz="1400">
                <a:solidFill>val="22344A"/&gt;</a:solidFill>
              </a:defRPr>
            </a:pPr>
            <a:r>
              <a:t>• Objectif pédagogique :développer uneculture numériquesolide — savoir utiliser les outils, mais aussi comprendre leurs limites (fiabilité des sources, plagiat, vie privée).</a:t>
            </a:r>
          </a:p>
          <a:p>
            <a:pPr>
              <a:spcAft>
                <a:spcPts val="600"/>
              </a:spcAft>
              <a:defRPr sz="1400">
                <a:solidFill>val="22344A"/&gt;</a:solidFill>
              </a:defRPr>
            </a:pPr>
            <a:r>
              <a:t>• Contexte algérien :Depuis la réforme LMD, les universités algériennes (Univ-Mosta, M'sila, Béjaïa, Boumerdès, Biskra, Saïda, Oran, Mostaganem, Constantine, Alger) intègrent progressivement les TIC dans leurs programmes de formation. Le benchmark des 10 universités algériennes montre une disparité dans l'équipement et la formation, d'où la nécessité d'un socle commun.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Convergence de trois domaines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Informatique— traitement automatique de l'information (logiciels, bases de données)</a:t>
            </a:r>
          </a:p>
          <a:p>
            <a:pPr>
              <a:spcAft>
                <a:spcPts val="600"/>
              </a:spcAft>
              <a:defRPr sz="1400">
                <a:solidFill>val="22344A"/&gt;</a:solidFill>
              </a:defRPr>
            </a:pPr>
            <a:r>
              <a:t>• Télécommunications— transmission à distance (Internet, fibre, Wi-Fi)</a:t>
            </a:r>
          </a:p>
          <a:p>
            <a:pPr>
              <a:spcAft>
                <a:spcPts val="600"/>
              </a:spcAft>
              <a:defRPr sz="1400">
                <a:solidFill>val="22344A"/&gt;</a:solidFill>
              </a:defRPr>
            </a:pPr>
            <a:r>
              <a:t>• Audiovisuel et multimédia— texte, image, son, vidéo combinés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Définitions de référence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UIT :« Les TIC englobent tous les outils et systèmes qui permettent demanipuler,stockerettransmettrel'information sous formenumérique. »</a:t>
            </a:r>
          </a:p>
          <a:p>
            <a:pPr>
              <a:spcAft>
                <a:spcPts val="600"/>
              </a:spcAft>
              <a:defRPr sz="1400">
                <a:solidFill>val="22344A"/&gt;</a:solidFill>
              </a:defRPr>
            </a:pPr>
            <a:r>
              <a:t>• UNESCO :informatique, audiovisuel, multimédia, Internet et télécommunications.</a:t>
            </a:r>
          </a:p>
          <a:p>
            <a:pPr>
              <a:spcAft>
                <a:spcPts val="600"/>
              </a:spcAft>
              <a:defRPr sz="1400">
                <a:solidFill>val="22344A"/&gt;</a:solidFill>
              </a:defRPr>
            </a:pPr>
            <a:r>
              <a:t>• En anglais :Information and Communication Technologies(ICT).</a:t>
            </a:r>
          </a:p>
          <a:p>
            <a:pPr>
              <a:spcAft>
                <a:spcPts val="600"/>
              </a:spcAft>
              <a:defRPr sz="1400">
                <a:solidFill>val="22344A"/&gt;</a:solidFill>
              </a:defRPr>
            </a:pPr>
            <a:r>
              <a:t>• À retenir :une TIC est unsystème(matériel + logiciel + réseau) qui rend l'information utilisable et partageable.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Exemples concrets pour l'étudiant en langues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Outils de traitement: Microsoft Word pour la rédaction, Excel pour le suivi de vocabulaire, PowerPoint pour l'exposé</a:t>
            </a:r>
          </a:p>
          <a:p>
            <a:pPr>
              <a:spcAft>
                <a:spcPts val="600"/>
              </a:spcAft>
              <a:defRPr sz="1400">
                <a:solidFill>val="22344A"/&gt;</a:solidFill>
              </a:defRPr>
            </a:pPr>
            <a:r>
              <a:t>• Outils de transmission: Gmail/Outlook institutionnel pour l'envoi de devoirs, Google Drive pour le partage de documents</a:t>
            </a:r>
          </a:p>
          <a:p>
            <a:pPr>
              <a:spcAft>
                <a:spcPts val="600"/>
              </a:spcAft>
              <a:defRPr sz="1400">
                <a:solidFill>val="22344A"/&gt;</a:solidFill>
              </a:defRPr>
            </a:pPr>
            <a:r>
              <a:t>• Outils de sauvegarde: clé USB, OneDrive, disque dur externe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 BENCHMARK_10_UNIVERSITES_ELEARNING.md).</a:t>
            </a:r>
          </a:p>
          <a:p>
            <a:pPr>
              <a:spcAft>
                <a:spcPts val="600"/>
              </a:spcAft>
              <a:defRPr sz="1600">
                <a:solidFill>val="22344A"/&gt;</a:solidFill>
              </a:defRPr>
            </a:pPr>
            <a:r>
              <a:t>• En termes de savoir :- Définir les TIC et distinguer NTIC/TIC/ICT</a:t>
            </a:r>
            <a:br/>
            <a:r>
              <a:t>- Identifier les trois dimensions : technique, information, communication</a:t>
            </a:r>
            <a:br/>
            <a:r>
              <a:t>- Citer les fonctions : traitement, transmission, sauvegarde</a:t>
            </a:r>
          </a:p>
          <a:p>
            <a:pPr>
              <a:spcAft>
                <a:spcPts val="600"/>
              </a:spcAft>
              <a:defRPr sz="1600">
                <a:solidFill>val="22344A"/&gt;</a:solidFill>
              </a:defRPr>
            </a:pPr>
            <a:r>
              <a:t>• Ce cours s'inscrit dans le cadre réglementaire algérien de la formation des enseignants :</a:t>
            </a:r>
          </a:p>
          <a:p>
            <a:pPr>
              <a:spcAft>
                <a:spcPts val="600"/>
              </a:spcAft>
              <a:defRPr sz="1600">
                <a:solidFill>val="22344A"/&gt;</a:solidFill>
              </a:defRPr>
            </a:pPr>
            <a:r>
              <a:t>• UIT — définitions TIC ; UNESCO — compétences numériques ; Guide étudiant Moodle Univ. Boumerdès / Béjaïa</a:t>
            </a:r>
          </a:p>
          <a:p>
            <a:pPr>
              <a:spcAft>
                <a:spcPts val="600"/>
              </a:spcAft>
              <a:defRPr sz="1600">
                <a:solidFill>val="22344A"/&gt;</a:solidFill>
              </a:defRPr>
            </a:pPr>
            <a:r>
              <a:t>• Introduction et importance des TIC dans le monde contemporain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