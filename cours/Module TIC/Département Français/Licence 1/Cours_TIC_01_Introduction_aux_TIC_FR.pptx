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1371600"/>
          </a:xfrm>
          <a:prstGeom prst="rect">
            <a:avLst/>
          </a:prstGeom>
          <a:noFill/>
        </p:spPr>
        <p:txBody>
          <a:bodyPr wrap="square">
            <a:spAutoFit/>
          </a:bodyPr>
          <a:lstStyle/>
          <a:p>
            <a:pPr algn="ctr">
              <a:defRPr sz="3200" b="1">
                <a:solidFill>
                  <a:srgbClr val="FFFFFF"/>
                </a:solidFill>
              </a:defRPr>
            </a:pPr>
            <a:r>
              <a:t>Cours TIC 01 — Introduction aux Techniques de l'Information et de la Communication</a:t>
            </a:r>
          </a:p>
        </p:txBody>
      </p:sp>
      <p:sp>
        <p:nvSpPr>
          <p:cNvPr id="3" name="TextBox 2"/>
          <p:cNvSpPr txBox="1"/>
          <p:nvPr/>
        </p:nvSpPr>
        <p:spPr>
          <a:xfrm>
            <a:off x="731520" y="2926080"/>
            <a:ext cx="7680960" cy="548640"/>
          </a:xfrm>
          <a:prstGeom prst="rect">
            <a:avLst/>
          </a:prstGeom>
          <a:noFill/>
        </p:spPr>
        <p:txBody>
          <a:bodyPr wrap="square">
            <a:spAutoFit/>
          </a:bodyPr>
          <a:lstStyle/>
          <a:p>
            <a:pPr algn="ctr">
              <a:defRPr sz="2000" b="0">
                <a:solidFill>
                  <a:srgbClr val="C5D9C7"/>
                </a:solidFill>
              </a:defRPr>
            </a:pPr>
            <a:r>
              <a:t>Module TIC — Dr. BELACEL Madani</a:t>
            </a:r>
          </a:p>
        </p:txBody>
      </p:sp>
      <p:sp>
        <p:nvSpPr>
          <p:cNvPr id="4" name="TextBox 3"/>
          <p:cNvSpPr txBox="1"/>
          <p:nvPr/>
        </p:nvSpPr>
        <p:spPr>
          <a:xfrm>
            <a:off x="731520" y="3657600"/>
            <a:ext cx="7680960" cy="457200"/>
          </a:xfrm>
          <a:prstGeom prst="rect">
            <a:avLst/>
          </a:prstGeom>
          <a:noFill/>
        </p:spPr>
        <p:txBody>
          <a:bodyPr wrap="square">
            <a:spAutoFit/>
          </a:bodyPr>
          <a:lstStyle/>
          <a:p>
            <a:pPr algn="ctr">
              <a:defRPr sz="1600" b="0">
                <a:solidFill>
                  <a:srgbClr val="A0CFA0"/>
                </a:solidFill>
              </a:defRPr>
            </a:pPr>
            <a:r>
              <a:t>Université de Mostaganem — MCB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Objectifs pédagogiques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En termes de savoir :- Définir les TIC et distinguer NTIC/TIC/ICT</a:t>
            </a:r>
            <a:br/>
            <a:r>
              <a:t>- Identifier les trois dimensions : technique, information, communication</a:t>
            </a:r>
            <a:br/>
            <a:r>
              <a:t>- Citer les fonctions : traitement, transmission, sauvegarde</a:t>
            </a:r>
          </a:p>
          <a:p>
            <a:pPr>
              <a:spcAft>
                <a:spcPts val="600"/>
              </a:spcAft>
              <a:defRPr sz="1500">
                <a:solidFill>
                  <a:srgbClr val="222222"/>
                </a:solidFill>
              </a:defRPr>
            </a:pPr>
            <a:r>
              <a:t>• En termes de savoir-faire :- Utiliser Moodle et le courriel institutionnel</a:t>
            </a:r>
            <a:br/>
            <a:r>
              <a:t>- Nommer et classer des outils numériques par fonction</a:t>
            </a:r>
            <a:br/>
            <a:r>
              <a:t>- Évaluer la fiabilité d'une source en ligne (introduction CRAP)</a:t>
            </a:r>
          </a:p>
          <a:p>
            <a:pPr>
              <a:spcAft>
                <a:spcPts val="600"/>
              </a:spcAft>
              <a:defRPr sz="1500">
                <a:solidFill>
                  <a:srgbClr val="222222"/>
                </a:solidFill>
              </a:defRPr>
            </a:pPr>
            <a:r>
              <a:t>• En termes de savoir-être :- Adopter une posture critique face au numérique</a:t>
            </a:r>
            <a:br/>
            <a:r>
              <a:t>- Respecter l'éthique académique (plagiat, vie privée)</a:t>
            </a:r>
          </a:p>
          <a:p>
            <a:pPr>
              <a:spcAft>
                <a:spcPts val="600"/>
              </a:spcAft>
              <a:defRPr sz="1500">
                <a:solidFill>
                  <a:srgbClr val="222222"/>
                </a:solidFill>
              </a:defRPr>
            </a:pPr>
            <a:r>
              <a:t>• Mode d'évaluation :TD 40 % (5 exercices) + QCM Moodle 20 % + participation 10 % + examen 30 %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Plan du cours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Fiche cours — Plateforme e-learning (Moodle)</a:t>
            </a:r>
          </a:p>
          <a:p>
            <a:pPr>
              <a:spcAft>
                <a:spcPts val="600"/>
              </a:spcAft>
              <a:defRPr sz="1600">
                <a:solidFill>
                  <a:srgbClr val="222222"/>
                </a:solidFill>
              </a:defRPr>
            </a:pPr>
            <a:r>
              <a:t>• Objectifs de l'enseignement</a:t>
            </a:r>
          </a:p>
          <a:p>
            <a:pPr>
              <a:spcAft>
                <a:spcPts val="600"/>
              </a:spcAft>
              <a:defRPr sz="1600">
                <a:solidFill>
                  <a:srgbClr val="222222"/>
                </a:solidFill>
              </a:defRPr>
            </a:pPr>
            <a:r>
              <a:t>• Contexte réglementaire algérien</a:t>
            </a:r>
          </a:p>
          <a:p>
            <a:pPr>
              <a:spcAft>
                <a:spcPts val="600"/>
              </a:spcAft>
              <a:defRPr sz="1600">
                <a:solidFill>
                  <a:srgbClr val="222222"/>
                </a:solidFill>
              </a:defRPr>
            </a:pPr>
            <a:r>
              <a:t>• Bibliographie et ressources externes</a:t>
            </a:r>
          </a:p>
          <a:p>
            <a:pPr>
              <a:spcAft>
                <a:spcPts val="600"/>
              </a:spcAft>
              <a:defRPr sz="1600">
                <a:solidFill>
                  <a:srgbClr val="222222"/>
                </a:solidFill>
              </a:defRPr>
            </a:pPr>
            <a:r>
              <a:t>• Plan du Cours</a:t>
            </a:r>
          </a:p>
          <a:p>
            <a:pPr>
              <a:spcAft>
                <a:spcPts val="600"/>
              </a:spcAft>
              <a:defRPr sz="1600">
                <a:solidFill>
                  <a:srgbClr val="222222"/>
                </a:solidFill>
              </a:defRPr>
            </a:pPr>
            <a:r>
              <a:t>• 1. Introduction et Importance des TIC(10 min)</a:t>
            </a:r>
          </a:p>
          <a:p>
            <a:pPr>
              <a:spcAft>
                <a:spcPts val="600"/>
              </a:spcAft>
              <a:defRPr sz="1600">
                <a:solidFill>
                  <a:srgbClr val="222222"/>
                </a:solidFill>
              </a:defRPr>
            </a:pPr>
            <a:r>
              <a:t>• Convergence de trois domaines</a:t>
            </a:r>
          </a:p>
          <a:p>
            <a:pPr>
              <a:spcAft>
                <a:spcPts val="600"/>
              </a:spcAft>
              <a:defRPr sz="1600">
                <a:solidFill>
                  <a:srgbClr val="222222"/>
                </a:solidFill>
              </a:defRPr>
            </a:pPr>
            <a:r>
              <a:t>• Définitions de référence</a:t>
            </a:r>
          </a:p>
          <a:p>
            <a:pPr>
              <a:spcAft>
                <a:spcPts val="600"/>
              </a:spcAft>
              <a:defRPr sz="1600">
                <a:solidFill>
                  <a:srgbClr val="222222"/>
                </a:solidFill>
              </a:defRPr>
            </a:pPr>
            <a:r>
              <a:t>• Exemples concrets pour l'étudiant en langues</a:t>
            </a:r>
          </a:p>
          <a:p>
            <a:pPr>
              <a:spcAft>
                <a:spcPts val="600"/>
              </a:spcAft>
              <a:defRPr sz="1600">
                <a:solidFill>
                  <a:srgbClr val="222222"/>
                </a:solidFill>
              </a:defRPr>
            </a:pPr>
            <a:r>
              <a:t>• 3. Évolution Historique et Terminologique (NTIC → TIC)(10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Fiche cours — Plateforme e-learning (Moodle)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Référentiel :titres et structure alignés sur Canvas Univ-Mosta (elearning.univ-usto.dz) ; bonnes pratiques benchmark 10 universités algériennes (voir BENCHMARK_10_UNIVERSITES_ELEARNING.md).</a:t>
            </a:r>
          </a:p>
          <a:p>
            <a:pPr>
              <a:spcAft>
                <a:spcPts val="600"/>
              </a:spcAft>
              <a:defRPr sz="1400">
                <a:solidFill>
                  <a:srgbClr val="222222"/>
                </a:solidFill>
              </a:defRPr>
            </a:pPr>
            <a:r>
              <a:t>• Public visé :Étudiants Licence 1 — Département Langues (FR/AN), ENS 1ère année</a:t>
            </a:r>
          </a:p>
          <a:p>
            <a:pPr>
              <a:spcAft>
                <a:spcPts val="600"/>
              </a:spcAft>
              <a:defRPr sz="1400">
                <a:solidFill>
                  <a:srgbClr val="222222"/>
                </a:solidFill>
              </a:defRPr>
            </a:pPr>
            <a:r>
              <a:t>• Compétences pré-requises :Aucun prérequis informatique ; maîtrise minimale du français académique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Objectifs de l'enseignement</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En termes de savoir :- Définir les TIC et distinguer NTIC/TIC/ICT</a:t>
            </a:r>
            <a:br/>
            <a:r>
              <a:t>- Identifier les trois dimensions : technique, information, communication</a:t>
            </a:r>
            <a:br/>
            <a:r>
              <a:t>- Citer les fonctions : traitement, transmission, sauvegarde</a:t>
            </a:r>
          </a:p>
          <a:p>
            <a:pPr>
              <a:spcAft>
                <a:spcPts val="600"/>
              </a:spcAft>
              <a:defRPr sz="1400">
                <a:solidFill>
                  <a:srgbClr val="222222"/>
                </a:solidFill>
              </a:defRPr>
            </a:pPr>
            <a:r>
              <a:t>• En termes de savoir-faire :- Utiliser Moodle et le courriel institutionnel</a:t>
            </a:r>
            <a:br/>
            <a:r>
              <a:t>- Nommer et classer des outils numériques par fonction</a:t>
            </a:r>
            <a:br/>
            <a:r>
              <a:t>- Évaluer la fiabilité d'une source en ligne (introduction CRAP)</a:t>
            </a:r>
          </a:p>
          <a:p>
            <a:pPr>
              <a:spcAft>
                <a:spcPts val="600"/>
              </a:spcAft>
              <a:defRPr sz="1400">
                <a:solidFill>
                  <a:srgbClr val="222222"/>
                </a:solidFill>
              </a:defRPr>
            </a:pPr>
            <a:r>
              <a:t>• En termes de savoir-être :- Adopter une posture critique face au numérique</a:t>
            </a:r>
            <a:br/>
            <a:r>
              <a:t>- Respecter l'éthique académique (plagiat, vie privée)</a:t>
            </a:r>
          </a:p>
          <a:p>
            <a:pPr>
              <a:spcAft>
                <a:spcPts val="600"/>
              </a:spcAft>
              <a:defRPr sz="1400">
                <a:solidFill>
                  <a:srgbClr val="222222"/>
                </a:solidFill>
              </a:defRPr>
            </a:pPr>
            <a:r>
              <a:t>• Mode d'évaluation :TD 40 % (5 exercices) + QCM Moodle 20 % + participation 10 % + examen 30 %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Contexte réglementaire algérien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Ce cours s'inscrit dans le cadre réglementaire algérien de la formation des enseignants :</a:t>
            </a:r>
          </a:p>
          <a:p>
            <a:pPr>
              <a:spcAft>
                <a:spcPts val="600"/>
              </a:spcAft>
              <a:defRPr sz="1400">
                <a:solidFill>
                  <a:srgbClr val="222222"/>
                </a:solidFill>
              </a:defRPr>
            </a:pPr>
            <a:r>
              <a:t>• Arrêté ministériel portant création des ENS (cycle Licence/Master)— définit le cadre institutionnel des Écoles Normales Supérieures et leur mission de formation des enseignants.</a:t>
            </a:r>
          </a:p>
          <a:p>
            <a:pPr>
              <a:spcAft>
                <a:spcPts val="600"/>
              </a:spcAft>
              <a:defRPr sz="1400">
                <a:solidFill>
                  <a:srgbClr val="222222"/>
                </a:solidFill>
              </a:defRPr>
            </a:pPr>
            <a:r>
              <a:t>• Arrêté 712 fixant le programme des concours ENS— détermine les épreuves et les programmes des concours d'accès aux ENS.</a:t>
            </a:r>
          </a:p>
          <a:p>
            <a:pPr>
              <a:spcAft>
                <a:spcPts val="600"/>
              </a:spcAft>
              <a:defRPr sz="1400">
                <a:solidFill>
                  <a:srgbClr val="222222"/>
                </a:solidFill>
              </a:defRPr>
            </a:pPr>
            <a:r>
              <a:t>• Programme national de TIC pour les filières de langues étrangères— fixe les objectifs, contenus et volumes horaires du module TIC dans la formation initiale des enseignants.</a:t>
            </a:r>
          </a:p>
          <a:p>
            <a:pPr>
              <a:spcAft>
                <a:spcPts val="600"/>
              </a:spcAft>
              <a:defRPr sz="1400">
                <a:solidFill>
                  <a:srgbClr val="222222"/>
                </a:solidFill>
              </a:defRPr>
            </a:pPr>
            <a:r>
              <a:t>• Référentiel des compétences numériques algérien— cadre national définissant les compétences numériques attendues des enseignants et des étudiants.</a:t>
            </a:r>
          </a:p>
          <a:p>
            <a:pPr>
              <a:spcAft>
                <a:spcPts val="600"/>
              </a:spcAft>
              <a:defRPr sz="1400">
                <a:solidFill>
                  <a:srgbClr val="222222"/>
                </a:solidFill>
              </a:defRPr>
            </a:pPr>
            <a:r>
              <a:t>• Benchmark des 10 universités algériennes— étude comparative des pratiques d'enseignement des TIC (BENCHMARK_10_UNIVERSITES_ELEARNING.md).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Bibliographie et ressources externes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UIT — définitions TIC ; UNESCO — compétences numériques ; Guide étudiant Moodle Univ. Boumerdès / Béjaïa</a:t>
            </a:r>
          </a:p>
          <a:p>
            <a:pPr>
              <a:spcAft>
                <a:spcPts val="600"/>
              </a:spcAft>
              <a:defRPr sz="1400">
                <a:solidFill>
                  <a:srgbClr val="222222"/>
                </a:solidFill>
              </a:defRPr>
            </a:pPr>
            <a:r>
              <a:t>• Contact enseignant :BELACEL Madani — madani.belacel@univ-mosta.dz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Plan du Cours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Introduction et importance des TIC dans le monde contemporain</a:t>
            </a:r>
          </a:p>
          <a:p>
            <a:pPr>
              <a:spcAft>
                <a:spcPts val="600"/>
              </a:spcAft>
              <a:defRPr sz="1400">
                <a:solidFill>
                  <a:srgbClr val="222222"/>
                </a:solidFill>
              </a:defRPr>
            </a:pPr>
            <a:r>
              <a:t>• Définition détaillée des TIC</a:t>
            </a:r>
          </a:p>
          <a:p>
            <a:pPr>
              <a:spcAft>
                <a:spcPts val="600"/>
              </a:spcAft>
              <a:defRPr sz="1400">
                <a:solidFill>
                  <a:srgbClr val="222222"/>
                </a:solidFill>
              </a:defRPr>
            </a:pPr>
            <a:r>
              <a:t>• Évolution historique et terminologique (NTIC → TIC)</a:t>
            </a:r>
          </a:p>
          <a:p>
            <a:pPr>
              <a:spcAft>
                <a:spcPts val="600"/>
              </a:spcAft>
              <a:defRPr sz="1400">
                <a:solidFill>
                  <a:srgbClr val="222222"/>
                </a:solidFill>
              </a:defRPr>
            </a:pPr>
            <a:r>
              <a:t>• Les trois dimensions fondamentales des TIC</a:t>
            </a:r>
          </a:p>
          <a:p>
            <a:pPr>
              <a:spcAft>
                <a:spcPts val="600"/>
              </a:spcAft>
              <a:defRPr sz="1400">
                <a:solidFill>
                  <a:srgbClr val="222222"/>
                </a:solidFill>
              </a:defRPr>
            </a:pPr>
            <a:r>
              <a:t>• Rôle et fonctions des TIC (traitement, transmission, sauvegarde)</a:t>
            </a:r>
          </a:p>
          <a:p>
            <a:pPr>
              <a:spcAft>
                <a:spcPts val="600"/>
              </a:spcAft>
              <a:defRPr sz="1400">
                <a:solidFill>
                  <a:srgbClr val="222222"/>
                </a:solidFill>
              </a:defRPr>
            </a:pPr>
            <a:r>
              <a:t>• Services offerts par les TIC</a:t>
            </a:r>
          </a:p>
          <a:p>
            <a:pPr>
              <a:spcAft>
                <a:spcPts val="600"/>
              </a:spcAft>
              <a:defRPr sz="1400">
                <a:solidFill>
                  <a:srgbClr val="222222"/>
                </a:solidFill>
              </a:defRPr>
            </a:pPr>
            <a:r>
              <a:t>• Domaines d'application avec focus sur l'éducation</a:t>
            </a:r>
          </a:p>
          <a:p>
            <a:pPr>
              <a:spcAft>
                <a:spcPts val="600"/>
              </a:spcAft>
              <a:defRPr sz="1400">
                <a:solidFill>
                  <a:srgbClr val="222222"/>
                </a:solidFill>
              </a:defRPr>
            </a:pPr>
            <a:r>
              <a:t>• Compétences numériques attendues en Licence Langues</a:t>
            </a:r>
          </a:p>
          <a:p>
            <a:pPr>
              <a:spcAft>
                <a:spcPts val="600"/>
              </a:spcAft>
              <a:defRPr sz="1400">
                <a:solidFill>
                  <a:srgbClr val="222222"/>
                </a:solidFill>
              </a:defRPr>
            </a:pPr>
            <a:r>
              <a:t>• Conclusion et transition vers le cours suivant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1. Introduction et Importance des TIC(10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LesTechniques de l'Information et de la Communication(TIC) désignent l'ensemble des outils numériques qui permettent de créer, traiter, stocker, transmettre et partager l'information. Elles incluent ordinateurs, smartphones, réseaux sans fil et plateformes en ligne.</a:t>
            </a:r>
          </a:p>
          <a:p>
            <a:pPr>
              <a:spcAft>
                <a:spcPts val="600"/>
              </a:spcAft>
              <a:defRPr sz="1400">
                <a:solidFill>
                  <a:srgbClr val="222222"/>
                </a:solidFill>
              </a:defRPr>
            </a:pPr>
            <a:r>
              <a:t>• Pourquoi ce cours en Licence 1 ?Dès la première année, vous utilisez les TIC pour :</a:t>
            </a:r>
          </a:p>
          <a:p>
            <a:pPr>
              <a:spcAft>
                <a:spcPts val="600"/>
              </a:spcAft>
              <a:defRPr sz="1400">
                <a:solidFill>
                  <a:srgbClr val="222222"/>
                </a:solidFill>
              </a:defRPr>
            </a:pPr>
            <a:r>
              <a:t>• Accéder aux ressources: Moodle, bibliothèque numérique, polycopiés PDF</a:t>
            </a:r>
          </a:p>
          <a:p>
            <a:pPr>
              <a:spcAft>
                <a:spcPts val="600"/>
              </a:spcAft>
              <a:defRPr sz="1400">
                <a:solidFill>
                  <a:srgbClr val="222222"/>
                </a:solidFill>
              </a:defRPr>
            </a:pPr>
            <a:r>
              <a:t>• Communiquer: courriel institutionnel, forums de TD</a:t>
            </a:r>
          </a:p>
          <a:p>
            <a:pPr>
              <a:spcAft>
                <a:spcPts val="600"/>
              </a:spcAft>
              <a:defRPr sz="1400">
                <a:solidFill>
                  <a:srgbClr val="222222"/>
                </a:solidFill>
              </a:defRPr>
            </a:pPr>
            <a:r>
              <a:t>• Rechercher: bases documentaires, corpus linguistiques multilingues</a:t>
            </a:r>
          </a:p>
          <a:p>
            <a:pPr>
              <a:spcAft>
                <a:spcPts val="600"/>
              </a:spcAft>
              <a:defRPr sz="1400">
                <a:solidFill>
                  <a:srgbClr val="222222"/>
                </a:solidFill>
              </a:defRPr>
            </a:pPr>
            <a:r>
              <a:t>• Produire: devoirs Word, présentations PowerPoint, exposés</a:t>
            </a:r>
          </a:p>
          <a:p>
            <a:pPr>
              <a:spcAft>
                <a:spcPts val="600"/>
              </a:spcAft>
              <a:defRPr sz="1400">
                <a:solidFill>
                  <a:srgbClr val="222222"/>
                </a:solidFill>
              </a:defRPr>
            </a:pPr>
            <a:r>
              <a:t>• Objectif pédagogique :développer uneculture numériquesolide — savoir utiliser les outils, mais aussi comprendre leurs limites (fiabilité des sources, plagiat, vie privée).</a:t>
            </a:r>
          </a:p>
          <a:p>
            <a:pPr>
              <a:spcAft>
                <a:spcPts val="600"/>
              </a:spcAft>
              <a:defRPr sz="1400">
                <a:solidFill>
                  <a:srgbClr val="222222"/>
                </a:solidFill>
              </a:defRPr>
            </a:pPr>
            <a:r>
              <a:t>• Contexte algérien :Depuis la réforme LMD, les universités algériennes (Univ-Mosta, M'sila, Béjaïa, Boumerdès, Biskra, Saïda, Oran, Mostaganem, Constantine, Alger) intègrent progressivement les TIC dans leurs programmes de formation. Le benchmark des 10 universités algériennes montre une disparité dans l'équipement et la formation, d'où la nécessité d'un socle commun.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Convergence de trois domaines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Informatique— traitement automatique de l'information (logiciels, bases de données)</a:t>
            </a:r>
          </a:p>
          <a:p>
            <a:pPr>
              <a:spcAft>
                <a:spcPts val="600"/>
              </a:spcAft>
              <a:defRPr sz="1400">
                <a:solidFill>
                  <a:srgbClr val="222222"/>
                </a:solidFill>
              </a:defRPr>
            </a:pPr>
            <a:r>
              <a:t>• Télécommunications— transmission à distance (Internet, fibre, Wi-Fi)</a:t>
            </a:r>
          </a:p>
          <a:p>
            <a:pPr>
              <a:spcAft>
                <a:spcPts val="600"/>
              </a:spcAft>
              <a:defRPr sz="1400">
                <a:solidFill>
                  <a:srgbClr val="222222"/>
                </a:solidFill>
              </a:defRPr>
            </a:pPr>
            <a:r>
              <a:t>• Audiovisuel et multimédia— texte, image, son, vidéo combinés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Définitions de référence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UIT :« Les TIC englobent tous les outils et systèmes qui permettent demanipuler,stockerettransmettrel'information sous formenumérique. »</a:t>
            </a:r>
          </a:p>
          <a:p>
            <a:pPr>
              <a:spcAft>
                <a:spcPts val="600"/>
              </a:spcAft>
              <a:defRPr sz="1400">
                <a:solidFill>
                  <a:srgbClr val="222222"/>
                </a:solidFill>
              </a:defRPr>
            </a:pPr>
            <a:r>
              <a:t>• UNESCO :informatique, audiovisuel, multimédia, Internet et télécommunications.</a:t>
            </a:r>
          </a:p>
          <a:p>
            <a:pPr>
              <a:spcAft>
                <a:spcPts val="600"/>
              </a:spcAft>
              <a:defRPr sz="1400">
                <a:solidFill>
                  <a:srgbClr val="222222"/>
                </a:solidFill>
              </a:defRPr>
            </a:pPr>
            <a:r>
              <a:t>• En anglais :Information and Communication Technologies(ICT).</a:t>
            </a:r>
          </a:p>
          <a:p>
            <a:pPr>
              <a:spcAft>
                <a:spcPts val="600"/>
              </a:spcAft>
              <a:defRPr sz="1400">
                <a:solidFill>
                  <a:srgbClr val="222222"/>
                </a:solidFill>
              </a:defRPr>
            </a:pPr>
            <a:r>
              <a:t>• À retenir :une TIC est unsystème(matériel + logiciel + réseau) qui rend l'information utilisable et partageable.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Exemples concrets pour l'étudiant en langues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Outils de traitement: Microsoft Word pour la rédaction, Excel pour le suivi de vocabulaire, PowerPoint pour l'exposé</a:t>
            </a:r>
          </a:p>
          <a:p>
            <a:pPr>
              <a:spcAft>
                <a:spcPts val="600"/>
              </a:spcAft>
              <a:defRPr sz="1400">
                <a:solidFill>
                  <a:srgbClr val="222222"/>
                </a:solidFill>
              </a:defRPr>
            </a:pPr>
            <a:r>
              <a:t>• Outils de transmission: Gmail/Outlook institutionnel pour l'envoi de devoirs, Google Drive pour le partage de documents</a:t>
            </a:r>
          </a:p>
          <a:p>
            <a:pPr>
              <a:spcAft>
                <a:spcPts val="600"/>
              </a:spcAft>
              <a:defRPr sz="1400">
                <a:solidFill>
                  <a:srgbClr val="222222"/>
                </a:solidFill>
              </a:defRPr>
            </a:pPr>
            <a:r>
              <a:t>• Outils de sauvegarde: clé USB, OneDrive, disque dur externe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F0E9"/>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Points clés à retenir</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Référentiel :titres et structure alignés sur Canvas Univ-Mosta (elearning.univ-usto.dz) ; bonnes pratiques benchmark 10 universités algériennes (voir BENCHMARK_10_UNIVERSITES_ELEARNING.md).</a:t>
            </a:r>
          </a:p>
          <a:p>
            <a:pPr>
              <a:spcAft>
                <a:spcPts val="600"/>
              </a:spcAft>
              <a:defRPr sz="1600">
                <a:solidFill>
                  <a:srgbClr val="222222"/>
                </a:solidFill>
              </a:defRPr>
            </a:pPr>
            <a:r>
              <a:t>• En termes de savoir :- Définir les TIC et distinguer NTIC/TIC/ICT</a:t>
            </a:r>
            <a:br/>
            <a:r>
              <a:t>- Identifier les trois dimensions : technique, information, communication</a:t>
            </a:r>
            <a:br/>
            <a:r>
              <a:t>- Citer les fonctions : traitement, transmission, sauvegarde</a:t>
            </a:r>
          </a:p>
          <a:p>
            <a:pPr>
              <a:spcAft>
                <a:spcPts val="600"/>
              </a:spcAft>
              <a:defRPr sz="1600">
                <a:solidFill>
                  <a:srgbClr val="222222"/>
                </a:solidFill>
              </a:defRPr>
            </a:pPr>
            <a:r>
              <a:t>• Ce cours s'inscrit dans le cadre réglementaire algérien de la formation des enseignants :</a:t>
            </a:r>
          </a:p>
          <a:p>
            <a:pPr>
              <a:spcAft>
                <a:spcPts val="600"/>
              </a:spcAft>
              <a:defRPr sz="1600">
                <a:solidFill>
                  <a:srgbClr val="222222"/>
                </a:solidFill>
              </a:defRPr>
            </a:pPr>
            <a:r>
              <a:t>• UIT — définitions TIC ; UNESCO — compétences numériques ; Guide étudiant Moodle Univ. Boumerdès / Béjaïa</a:t>
            </a:r>
          </a:p>
          <a:p>
            <a:pPr>
              <a:spcAft>
                <a:spcPts val="600"/>
              </a:spcAft>
              <a:defRPr sz="1600">
                <a:solidFill>
                  <a:srgbClr val="222222"/>
                </a:solidFill>
              </a:defRPr>
            </a:pPr>
            <a:r>
              <a:t>• Introduction et importance des TIC dans le monde contemporain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Exercices d'application</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Définir les concepts principaux du cours</a:t>
            </a:r>
          </a:p>
          <a:p>
            <a:pPr>
              <a:spcAft>
                <a:spcPts val="600"/>
              </a:spcAft>
              <a:defRPr sz="1500">
                <a:solidFill>
                  <a:srgbClr val="222222"/>
                </a:solidFill>
              </a:defRPr>
            </a:pPr>
            <a:r>
              <a:t>• Identifier les applications pratiques</a:t>
            </a:r>
          </a:p>
          <a:p>
            <a:pPr>
              <a:spcAft>
                <a:spcPts val="600"/>
              </a:spcAft>
              <a:defRPr sz="1500">
                <a:solidFill>
                  <a:srgbClr val="222222"/>
                </a:solidFill>
              </a:defRPr>
            </a:pPr>
            <a:r>
              <a:t>• Résoudre les exercices du TD</a:t>
            </a:r>
          </a:p>
          <a:p>
            <a:pPr>
              <a:spcAft>
                <a:spcPts val="600"/>
              </a:spcAft>
              <a:defRPr sz="1500">
                <a:solidFill>
                  <a:srgbClr val="222222"/>
                </a:solidFill>
              </a:defRPr>
            </a:pPr>
            <a:r>
              <a:t>• Synthétiser les points clés en un paragraphe</a:t>
            </a:r>
          </a:p>
          <a:p>
            <a:pPr>
              <a:spcAft>
                <a:spcPts val="600"/>
              </a:spcAft>
              <a:defRPr sz="1500">
                <a:solidFill>
                  <a:srgbClr val="222222"/>
                </a:solidFill>
              </a:defRPr>
            </a:pPr>
            <a:r>
              <a:t>• Préparer une courte présentation orale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914400"/>
          </a:xfrm>
          <a:prstGeom prst="rect">
            <a:avLst/>
          </a:prstGeom>
          <a:noFill/>
        </p:spPr>
        <p:txBody>
          <a:bodyPr wrap="square">
            <a:spAutoFit/>
          </a:bodyPr>
          <a:lstStyle/>
          <a:p>
            <a:pPr algn="ctr">
              <a:defRPr sz="2800" b="1">
                <a:solidFill>
                  <a:srgbClr val="FFFFFF"/>
                </a:solidFill>
              </a:defRPr>
            </a:pPr>
            <a:r>
              <a:t>🎓 Conclusion</a:t>
            </a:r>
          </a:p>
        </p:txBody>
      </p:sp>
      <p:sp>
        <p:nvSpPr>
          <p:cNvPr id="3" name="TextBox 2"/>
          <p:cNvSpPr txBox="1"/>
          <p:nvPr/>
        </p:nvSpPr>
        <p:spPr>
          <a:xfrm>
            <a:off x="731520" y="2743200"/>
            <a:ext cx="7680960" cy="1828800"/>
          </a:xfrm>
          <a:prstGeom prst="rect">
            <a:avLst/>
          </a:prstGeom>
          <a:noFill/>
        </p:spPr>
        <p:txBody>
          <a:bodyPr wrap="square">
            <a:spAutoFit/>
          </a:bodyPr>
          <a:lstStyle/>
          <a:p>
            <a:pPr algn="ctr">
              <a:defRPr sz="1800" b="0">
                <a:solidFill>
                  <a:srgbClr val="C5D9C7"/>
                </a:solidFill>
              </a:defRPr>
            </a:pPr>
            <a:r>
              <a:t>Dr. BELACEL Madani</a:t>
            </a:r>
            <a:br/>
            <a:r>
              <a:t>Maître de Conférences B</a:t>
            </a:r>
            <a:br/>
            <a:r>
              <a:t>Université de Mostaganem</a:t>
            </a:r>
            <a:br/>
            <a:r>
              <a:t>madani.belacel@univ-mosta.dz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