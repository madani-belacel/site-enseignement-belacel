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02 — Informatique et Architecture de l'Ordinateur</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500">
                <a:solidFill>
                  <a:srgbClr val="222222"/>
                </a:solidFill>
              </a:defRPr>
            </a:pPr>
            <a:r>
              <a:t>• En termes de savoir-faire :- Identifier les composants d'un PC portable de cours</a:t>
            </a:r>
            <a:br/>
            <a:r>
              <a:t>- Gérer l'espace disque et les formats de fichiers</a:t>
            </a:r>
            <a:br/>
            <a:r>
              <a:t>- Diagnostiquer un problème simple (câble, redémarrage)</a:t>
            </a:r>
          </a:p>
          <a:p>
            <a:pPr>
              <a:spcAft>
                <a:spcPts val="600"/>
              </a:spcAft>
              <a:defRPr sz="1500">
                <a:solidFill>
                  <a:srgbClr val="222222"/>
                </a:solidFill>
              </a:defRPr>
            </a:pPr>
            <a:r>
              <a:t>• En termes de savoir-être :- Prendre soin du matériel universitaire</a:t>
            </a:r>
            <a:br/>
            <a:r>
              <a:t>- Organiser son espace de travail numérique</a:t>
            </a:r>
          </a:p>
          <a:p>
            <a:pPr>
              <a:spcAft>
                <a:spcPts val="600"/>
              </a:spcAft>
              <a:defRPr sz="1500">
                <a:solidFill>
                  <a:srgbClr val="222222"/>
                </a:solidFill>
              </a:defRPr>
            </a:pPr>
            <a:r>
              <a:t>• Mode d'évaluation :TD 40 % + QCM 20 % + mini-projet schéma machine 20 % + examen 20 %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Plan du Cours</a:t>
            </a:r>
          </a:p>
          <a:p>
            <a:pPr>
              <a:spcAft>
                <a:spcPts val="600"/>
              </a:spcAft>
              <a:defRPr sz="1600">
                <a:solidFill>
                  <a:srgbClr val="222222"/>
                </a:solidFill>
              </a:defRPr>
            </a:pPr>
            <a:r>
              <a:t>• 1. Introduction(10 min)</a:t>
            </a:r>
          </a:p>
          <a:p>
            <a:pPr>
              <a:spcAft>
                <a:spcPts val="600"/>
              </a:spcAft>
              <a:defRPr sz="1600">
                <a:solidFill>
                  <a:srgbClr val="222222"/>
                </a:solidFill>
              </a:defRPr>
            </a:pPr>
            <a:r>
              <a:t>• 2. Qu'est-ce que l'Informatique ?(10 min)</a:t>
            </a:r>
          </a:p>
          <a:p>
            <a:pPr>
              <a:spcAft>
                <a:spcPts val="600"/>
              </a:spcAft>
              <a:defRPr sz="1600">
                <a:solidFill>
                  <a:srgbClr val="222222"/>
                </a:solidFill>
              </a:defRPr>
            </a:pPr>
            <a:r>
              <a:t>• 3. Modèle de von Neumann(15 min)</a:t>
            </a:r>
          </a:p>
          <a:p>
            <a:pPr>
              <a:spcAft>
                <a:spcPts val="600"/>
              </a:spcAft>
              <a:defRPr sz="1600">
                <a:solidFill>
                  <a:srgbClr val="222222"/>
                </a:solidFill>
              </a:defRPr>
            </a:pPr>
            <a:r>
              <a:t>• 4. Composants Matériels(15 min)</a:t>
            </a:r>
          </a:p>
          <a:p>
            <a:pPr>
              <a:spcAft>
                <a:spcPts val="600"/>
              </a:spcAft>
              <a:defRPr sz="1600">
                <a:solidFill>
                  <a:srgbClr val="222222"/>
                </a:solidFill>
              </a:defRPr>
            </a:pPr>
            <a:r>
              <a:t>• 5. Logiciels (Software)(15 min)</a:t>
            </a:r>
          </a:p>
          <a:p>
            <a:pPr>
              <a:spcAft>
                <a:spcPts val="600"/>
              </a:spcAft>
              <a:defRPr sz="1600">
                <a:solidFill>
                  <a:srgbClr val="222222"/>
                </a:solidFill>
              </a:defRPr>
            </a:pPr>
            <a:r>
              <a:t>• 6. Interaction Hardware / Software(10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:Licence 1 Langues, ENS 1ère année</a:t>
            </a:r>
          </a:p>
          <a:p>
            <a:pPr>
              <a:spcAft>
                <a:spcPts val="600"/>
              </a:spcAft>
              <a:defRPr sz="1400">
                <a:solidFill>
                  <a:srgbClr val="222222"/>
                </a:solidFill>
              </a:defRPr>
            </a:pPr>
            <a:r>
              <a:t>• Compétences pré-requises :Séance TIC 01 ; notions de fichiers et dossiers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400">
                <a:solidFill>
                  <a:srgbClr val="222222"/>
                </a:solidFill>
              </a:defRPr>
            </a:pPr>
            <a:r>
              <a:t>• En termes de savoir-faire :- Identifier les composants d'un PC portable de cours</a:t>
            </a:r>
            <a:br/>
            <a:r>
              <a:t>- Gérer l'espace disque et les formats de fichiers</a:t>
            </a:r>
            <a:br/>
            <a:r>
              <a:t>- Diagnostiquer un problème simple (câble, redémarrage)</a:t>
            </a:r>
          </a:p>
          <a:p>
            <a:pPr>
              <a:spcAft>
                <a:spcPts val="600"/>
              </a:spcAft>
              <a:defRPr sz="1400">
                <a:solidFill>
                  <a:srgbClr val="222222"/>
                </a:solidFill>
              </a:defRPr>
            </a:pPr>
            <a:r>
              <a:t>• En termes de savoir-être :- Prendre soin du matériel universitaire</a:t>
            </a:r>
            <a:br/>
            <a:r>
              <a:t>- Organiser son espace de travail numérique</a:t>
            </a:r>
          </a:p>
          <a:p>
            <a:pPr>
              <a:spcAft>
                <a:spcPts val="600"/>
              </a:spcAft>
              <a:defRPr sz="1400">
                <a:solidFill>
                  <a:srgbClr val="222222"/>
                </a:solidFill>
              </a:defRPr>
            </a:pPr>
            <a:r>
              <a:t>• Mode d'évaluation :TD 40 % + QCM 20 % + mini-projet schéma machine 20 % + examen 20 %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Structure Machine 1 — Univ. Biskra (elearning.univ-biskra.dz) ; Goupille — Technologie des ordinateurs</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Pourquoi comprendre l'ordinateur ?</a:t>
            </a:r>
          </a:p>
          <a:p>
            <a:pPr>
              <a:spcAft>
                <a:spcPts val="600"/>
              </a:spcAft>
              <a:defRPr sz="1400">
                <a:solidFill>
                  <a:srgbClr val="222222"/>
                </a:solidFill>
              </a:defRPr>
            </a:pPr>
            <a:r>
              <a:t>• Définition de l'informatique</a:t>
            </a:r>
          </a:p>
          <a:p>
            <a:pPr>
              <a:spcAft>
                <a:spcPts val="600"/>
              </a:spcAft>
              <a:defRPr sz="1400">
                <a:solidFill>
                  <a:srgbClr val="222222"/>
                </a:solidFill>
              </a:defRPr>
            </a:pPr>
            <a:r>
              <a:t>• L'ordinateur : concept et modèle de von Neumann</a:t>
            </a:r>
          </a:p>
          <a:p>
            <a:pPr>
              <a:spcAft>
                <a:spcPts val="600"/>
              </a:spcAft>
              <a:defRPr sz="1400">
                <a:solidFill>
                  <a:srgbClr val="222222"/>
                </a:solidFill>
              </a:defRPr>
            </a:pPr>
            <a:r>
              <a:t>• Composants matériels (Hardware)</a:t>
            </a:r>
          </a:p>
          <a:p>
            <a:pPr>
              <a:spcAft>
                <a:spcPts val="600"/>
              </a:spcAft>
              <a:defRPr sz="1400">
                <a:solidFill>
                  <a:srgbClr val="222222"/>
                </a:solidFill>
              </a:defRPr>
            </a:pPr>
            <a:r>
              <a:t>• Logiciels et systèmes d'exploitation (Software)</a:t>
            </a:r>
          </a:p>
          <a:p>
            <a:pPr>
              <a:spcAft>
                <a:spcPts val="600"/>
              </a:spcAft>
              <a:defRPr sz="1400">
                <a:solidFill>
                  <a:srgbClr val="222222"/>
                </a:solidFill>
              </a:defRPr>
            </a:pPr>
            <a:r>
              <a:t>• Interaction entre Hardware et Software</a:t>
            </a:r>
          </a:p>
          <a:p>
            <a:pPr>
              <a:spcAft>
                <a:spcPts val="600"/>
              </a:spcAft>
              <a:defRPr sz="1400">
                <a:solidFill>
                  <a:srgbClr val="222222"/>
                </a:solidFill>
              </a:defRPr>
            </a:pPr>
            <a:r>
              <a:t>• Bonnes pratiques pour étudiants universitaires</a:t>
            </a:r>
          </a:p>
          <a:p>
            <a:pPr>
              <a:spcAft>
                <a:spcPts val="600"/>
              </a:spcAft>
              <a:defRPr sz="1400">
                <a:solidFill>
                  <a:srgbClr val="222222"/>
                </a:solidFill>
              </a:defRPr>
            </a:pPr>
            <a:r>
              <a:t>• Conclusion et transition vers Windows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 Introduction(10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Comprendre le fonctionnement de l'ordinateur est essentiel pour tout étudiant, même en filière Langues. Cela permet de mieux utiliser ses outils (Word, navigateur, Moodle), éviter les pertes de données, diagnostiquer les problèmes simples et organiser efficacement son espace de travail numérique.</a:t>
            </a:r>
          </a:p>
          <a:p>
            <a:pPr>
              <a:spcAft>
                <a:spcPts val="600"/>
              </a:spcAft>
              <a:defRPr sz="1400">
                <a:solidFill>
                  <a:srgbClr val="222222"/>
                </a:solidFill>
              </a:defRPr>
            </a:pPr>
            <a:r>
              <a:t>• L'ordinateur est devenule principal instrument de travail universitaire.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2. Qu'est-ce que l'Informatique ?(10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L'informatiqueest la science dutraitement automatique de l'informationà l'aide d'algorithmes exécutés par des machines. Elle inclut la théorie, le matériel (hardware), les logiciels (software) et les réseaux.</a:t>
            </a:r>
          </a:p>
          <a:p>
            <a:pPr>
              <a:spcAft>
                <a:spcPts val="600"/>
              </a:spcAft>
              <a:defRPr sz="1400">
                <a:solidFill>
                  <a:srgbClr val="222222"/>
                </a:solidFill>
              </a:defRPr>
            </a:pPr>
            <a:r>
              <a:t>• Approcheutilisateur: comprendre suffisamment pour bien utiliser l'ordinateur dans ses études.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 Modèle de von Neumann(15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Un ordinateur est une machine programmable capable de : recevoir des données (Entrée), les traiter (CPU), les stocker temporairement (RAM), les restituer (Sortie) et les conserver (Stockage secondaire).</a:t>
            </a:r>
          </a:p>
          <a:p>
            <a:pPr>
              <a:spcAft>
                <a:spcPts val="600"/>
              </a:spcAft>
              <a:defRPr sz="1400">
                <a:solidFill>
                  <a:srgbClr val="222222"/>
                </a:solidFill>
              </a:defRPr>
            </a:pPr>
            <a:r>
              <a:t>• Ce fonctionnement suit lemodèle de von Neumann(1945), toujours utilisé aujourd'hui.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4. Composants Matériels(15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Processeur (CPU): le cerveau de l'ordinateur</a:t>
            </a:r>
          </a:p>
          <a:p>
            <a:pPr>
              <a:spcAft>
                <a:spcPts val="600"/>
              </a:spcAft>
              <a:defRPr sz="1400">
                <a:solidFill>
                  <a:srgbClr val="222222"/>
                </a:solidFill>
              </a:defRPr>
            </a:pPr>
            <a:r>
              <a:t>• Carte mère: interconnexion des composants</a:t>
            </a:r>
          </a:p>
          <a:p>
            <a:pPr>
              <a:spcAft>
                <a:spcPts val="600"/>
              </a:spcAft>
              <a:defRPr sz="1400">
                <a:solidFill>
                  <a:srgbClr val="222222"/>
                </a:solidFill>
              </a:defRPr>
            </a:pPr>
            <a:r>
              <a:t>• RAM: mémoire vive volatile, très rapide</a:t>
            </a:r>
          </a:p>
          <a:p>
            <a:pPr>
              <a:spcAft>
                <a:spcPts val="600"/>
              </a:spcAft>
              <a:defRPr sz="1400">
                <a:solidFill>
                  <a:srgbClr val="222222"/>
                </a:solidFill>
              </a:defRPr>
            </a:pPr>
            <a:r>
              <a:t>• Stockage: HDD ou SSD (plus rapide)</a:t>
            </a:r>
          </a:p>
          <a:p>
            <a:pPr>
              <a:spcAft>
                <a:spcPts val="600"/>
              </a:spcAft>
              <a:defRPr sz="1400">
                <a:solidFill>
                  <a:srgbClr val="222222"/>
                </a:solidFill>
              </a:defRPr>
            </a:pPr>
            <a:r>
              <a:t>• Périphériques: entrée (clavier, souris), sortie (écran, imprimante), stockage externe (clé USB)</a:t>
            </a:r>
          </a:p>
          <a:p>
            <a:pPr>
              <a:spcAft>
                <a:spcPts val="600"/>
              </a:spcAft>
              <a:defRPr sz="1400">
                <a:solidFill>
                  <a:srgbClr val="222222"/>
                </a:solidFill>
              </a:defRPr>
            </a:pPr>
            <a:r>
              <a:t>• Point important :la RAM perd les données non sauvegardées à l'extinction.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5. Logiciels (Software)(15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Système d'exploitation: Windows, Linux, macOS</a:t>
            </a:r>
          </a:p>
          <a:p>
            <a:pPr>
              <a:spcAft>
                <a:spcPts val="600"/>
              </a:spcAft>
              <a:defRPr sz="1400">
                <a:solidFill>
                  <a:srgbClr val="222222"/>
                </a:solidFill>
              </a:defRPr>
            </a:pPr>
            <a:r>
              <a:t>• Logiciels applicatifs: Word, PowerPoint, navigateurs, Moodle</a:t>
            </a:r>
          </a:p>
          <a:p>
            <a:pPr>
              <a:spcAft>
                <a:spcPts val="600"/>
              </a:spcAft>
              <a:defRPr sz="1400">
                <a:solidFill>
                  <a:srgbClr val="222222"/>
                </a:solidFill>
              </a:defRPr>
            </a:pPr>
            <a:r>
              <a:t>• Logiciels utilitaires: antivirus, compresseurs</a:t>
            </a:r>
          </a:p>
          <a:p>
            <a:pPr>
              <a:spcAft>
                <a:spcPts val="600"/>
              </a:spcAft>
              <a:defRPr sz="1400">
                <a:solidFill>
                  <a:srgbClr val="222222"/>
                </a:solidFill>
              </a:defRPr>
            </a:pPr>
            <a:r>
              <a:t>• Le hardware est tangible ; le software est intangible mais indispensable.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600">
                <a:solidFill>
                  <a:srgbClr val="222222"/>
                </a:solidFill>
              </a:defRPr>
            </a:pPr>
            <a:r>
              <a:t>• Structure Machine 1 — Univ. Biskra (elearning.univ-biskra.dz) ; Goupille — Technologie des ordinateurs</a:t>
            </a:r>
          </a:p>
          <a:p>
            <a:pPr>
              <a:spcAft>
                <a:spcPts val="600"/>
              </a:spcAft>
              <a:defRPr sz="1600">
                <a:solidFill>
                  <a:srgbClr val="222222"/>
                </a:solidFill>
              </a:defRPr>
            </a:pPr>
            <a:r>
              <a:t>• Introduction : Pourquoi comprendre l'ordinateur ?</a:t>
            </a:r>
          </a:p>
          <a:p>
            <a:pPr>
              <a:spcAft>
                <a:spcPts val="600"/>
              </a:spcAft>
              <a:defRPr sz="1600">
                <a:solidFill>
                  <a:srgbClr val="222222"/>
                </a:solidFill>
              </a:defRPr>
            </a:pPr>
            <a:r>
              <a:t>• Comprendre le fonctionnement de l'ordinateur est essentiel pour tout étudiant, même en filière Langues. Cela permet de mieux utiliser ses outils (Word, navigateur, Moodle), éviter les pertes de données, diagnostiquer les problèmes simples et organiser efficacement son espace de travail numérique.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