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3200" b="1">
                <a:solidFill>val="FFFFFF"/&gt;</a:solidFill>
              </a:defRPr>
            </a:pPr>
            <a:r>
              <a:t>Cours TIC 02 — Informatique et Ordinateur pour la Recherche en Didactique (Master 2 DLE)</a:t>
            </a:r>
          </a:p>
        </p:txBody>
      </p:sp>
      <p:sp>
        <p:nvSpPr>
          <p:cNvPr id="3" name="TextBox 2"/>
          <p:cNvSpPr txBox="1"/>
          <p:nvPr/>
        </p:nvSpPr>
        <p:spPr>
          <a:xfrm>
            <a:off x="731520" y="2926080"/>
            <a:ext cx="7680960" cy="548640"/>
          </a:xfrm>
          <a:prstGeom prst="rect">
            <a:avLst/>
          </a:prstGeom>
          <a:noFill/>
        </p:spPr>
        <p:txBody>
          <a:bodyPr wrap="square">
            <a:spAutoFit/>
          </a:bodyPr>
          <a:lstStyle/>
          <a:p>
            <a:pPr algn="ctr">
              <a:defRPr sz="2000" b="0">
                <a:solidFill>val="DFE5EA"/&gt;</a:solidFill>
              </a:defRPr>
            </a:pPr>
            <a:r>
              <a:t>Module TIC — Dr. BELACEL Madani</a:t>
            </a:r>
          </a:p>
        </p:txBody>
      </p:sp>
      <p:sp>
        <p:nvSpPr>
          <p:cNvPr id="4" name="TextBox 3"/>
          <p:cNvSpPr txBox="1"/>
          <p:nvPr/>
        </p:nvSpPr>
        <p:spPr>
          <a:xfrm>
            <a:off x="731520" y="3657600"/>
            <a:ext cx="7680960" cy="457200"/>
          </a:xfrm>
          <a:prstGeom prst="rect">
            <a:avLst/>
          </a:prstGeom>
          <a:noFill/>
        </p:spPr>
        <p:txBody>
          <a:bodyPr wrap="square">
            <a:spAutoFit/>
          </a:bodyPr>
          <a:lstStyle/>
          <a:p>
            <a:pPr algn="ctr">
              <a:defRPr sz="1600" b="0">
                <a:solidFill>val="B7C9BE"/&gt;</a:solidFill>
              </a:defRPr>
            </a:pPr>
            <a:r>
              <a:t>Université de Mostaganem — MCB</a:t>
            </a:r>
          </a:p>
        </p:txBody>
      </p:sp>
      <p:sp>
        <p:nvSpPr>
          <p:cNvPr id="990001" name="Pied de page FLE"/>
          <p:cNvSpPr>
            <a:spLocks noGrp="1"/>
          </p:cNvSpPr>
          <p:nvPr/>
        </p:nvSpPr>
        <p:spPr>
          <a:xfrm>
            <a:off x="2880360"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Objectifs pédagogiques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Savoirs :- Comprendre l'infrastructure informatique nécessaire à la recherche en DLE (serveurs, bases de données, cloud computing)</a:t>
            </a:r>
            <a:br/>
            <a:r>
              <a:t>- Connaître les outils de linguistique de corpus pour l'analyse de productions langagières</a:t>
            </a:r>
            <a:br/>
            <a:r>
              <a:t>- Maîtriser les concepts fondamentaux du TAL (Traitement Automatique des Langues) appliqués à la didactique</a:t>
            </a:r>
            <a:br/>
            <a:r>
              <a:t>- Situer l'IA et l'apprentissage automatique dans le champ du CALL (ICALL)</a:t>
            </a:r>
          </a:p>
          <a:p>
            <a:pPr>
              <a:spcAft>
                <a:spcPts val="600"/>
              </a:spcAft>
              <a:defRPr sz="1500">
                <a:solidFill>val="22344A"/&gt;</a:solidFill>
              </a:defRPr>
            </a:pPr>
            <a:r>
              <a:t>• Savoir-faire :- Utiliser des outils d'annotation et d'analyse de corpus (AntConc, TXM, TreeTagger)</a:t>
            </a:r>
            <a:br/>
            <a:r>
              <a:t>- Exploiter des APIs de TAL (Python NLTK, spaCy) pour l'analyse linguistique</a:t>
            </a:r>
            <a:br/>
            <a:r>
              <a:t>- Concevoir un protocole de collecte et de traitement de données numériques pour la recherche</a:t>
            </a:r>
            <a:br/>
            <a:r>
              <a:t>- Appliquer des méthodes de recherche numérique (web scraping, analyse de réseaux, textométrie)</a:t>
            </a:r>
            <a:br/>
            <a:r>
              <a:t>- Rédiger une section méthodologique pour le mémoire décrivant les outils computationnels employés</a:t>
            </a:r>
          </a:p>
          <a:p>
            <a:pPr>
              <a:spcAft>
                <a:spcPts val="600"/>
              </a:spcAft>
              <a:defRPr sz="1500">
                <a:solidFill>val="22344A"/&gt;</a:solidFill>
              </a:defRPr>
            </a:pPr>
            <a:r>
              <a:t>• Savoir-être :- Adopter une approche critique des outils computationnels — comprendre leurs limites et biais</a:t>
            </a:r>
            <a:br/>
            <a:r>
              <a:t>- Respecter les principes éthiques dans le traitement numérique des données langagières</a:t>
            </a:r>
            <a:br/>
            <a:r>
              <a:t>- Développer une culture interdisciplinaire (didactique, linguistique, informatique)</a:t>
            </a:r>
          </a:p>
          <a:p>
            <a:pPr>
              <a:spcAft>
                <a:spcPts val="600"/>
              </a:spcAft>
              <a:defRPr sz="1500">
                <a:solidFill>val="22344A"/&gt;</a:solidFill>
              </a:defRPr>
            </a:pPr>
            <a:r>
              <a:t>• Mode d'évaluation :- Projet d'analyse de corpus (compte rendu méthodologique) : 40 %</a:t>
            </a:r>
            <a:br/>
            <a:r>
              <a:t>- Présentation orale d'un outil TAL pour la DLE : 30 %</a:t>
            </a:r>
            <a:br/>
            <a:r>
              <a:t>- QCM de validation : 20 %</a:t>
            </a:r>
            <a:br/>
            <a:r>
              <a:t>- Participation active : 10 %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Plan du cours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Fiche cours — Plateforme e-learning (Moodle)</a:t>
            </a:r>
          </a:p>
          <a:p>
            <a:pPr>
              <a:spcAft>
                <a:spcPts val="600"/>
              </a:spcAft>
              <a:defRPr sz="1600">
                <a:solidFill>val="22344A"/&gt;</a:solidFill>
              </a:defRPr>
            </a:pPr>
            <a:r>
              <a:t>• Objectifs de l'enseignement</a:t>
            </a:r>
          </a:p>
          <a:p>
            <a:pPr>
              <a:spcAft>
                <a:spcPts val="600"/>
              </a:spcAft>
              <a:defRPr sz="1600">
                <a:solidFill>val="22344A"/&gt;</a:solidFill>
              </a:defRPr>
            </a:pPr>
            <a:r>
              <a:t>• Références bibliographiques principales</a:t>
            </a:r>
          </a:p>
          <a:p>
            <a:pPr>
              <a:spcAft>
                <a:spcPts val="600"/>
              </a:spcAft>
              <a:defRPr sz="1600">
                <a:solidFill>val="22344A"/&gt;</a:solidFill>
              </a:defRPr>
            </a:pPr>
            <a:r>
              <a:t>• Contexte réglementaire algérien</a:t>
            </a:r>
          </a:p>
          <a:p>
            <a:pPr>
              <a:spcAft>
                <a:spcPts val="600"/>
              </a:spcAft>
              <a:defRPr sz="1600">
                <a:solidFill>val="22344A"/&gt;</a:solidFill>
              </a:defRPr>
            </a:pPr>
            <a:r>
              <a:t>• Plan du Cours</a:t>
            </a:r>
          </a:p>
          <a:p>
            <a:pPr>
              <a:spcAft>
                <a:spcPts val="600"/>
              </a:spcAft>
              <a:defRPr sz="1600">
                <a:solidFill>val="22344A"/&gt;</a:solidFill>
              </a:defRPr>
            </a:pPr>
            <a:r>
              <a:t>• 1.1 Le tournant numérique en didactique des langues</a:t>
            </a:r>
          </a:p>
          <a:p>
            <a:pPr>
              <a:spcAft>
                <a:spcPts val="600"/>
              </a:spcAft>
              <a:defRPr sz="1600">
                <a:solidFill>val="22344A"/&gt;</a:solidFill>
              </a:defRPr>
            </a:pPr>
            <a:r>
              <a:t>• 2.2 Outils numériques pour le chercheur en DLE</a:t>
            </a:r>
          </a:p>
          <a:p>
            <a:pPr>
              <a:spcAft>
                <a:spcPts val="600"/>
              </a:spcAft>
              <a:defRPr sz="1600">
                <a:solidFill>val="22344A"/&gt;</a:solidFill>
              </a:defRPr>
            </a:pPr>
            <a:r>
              <a:t>• 2.3 Infrastructure disponible en Algérie</a:t>
            </a:r>
          </a:p>
          <a:p>
            <a:pPr>
              <a:spcAft>
                <a:spcPts val="600"/>
              </a:spcAft>
              <a:defRPr sz="1600">
                <a:solidFill>val="22344A"/&gt;</a:solidFill>
              </a:defRPr>
            </a:pPr>
            <a:r>
              <a:t>• 3.1 Définition et intérêt pour la DLE</a:t>
            </a:r>
          </a:p>
          <a:p>
            <a:pPr>
              <a:spcAft>
                <a:spcPts val="600"/>
              </a:spcAft>
              <a:defRPr sz="1600">
                <a:solidFill>val="22344A"/&gt;</a:solidFill>
              </a:defRPr>
            </a:pPr>
            <a:r>
              <a:t>• 3.3 Méthodologie d'analyse de corpus pour le mémoire M2</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Fiche cours — Plateforme e-learning (Moodle)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Public visé :Étudiants Master 2 DLE inscrits au mémoire — parcours TICE et recherche numérique en didactique des langues.</a:t>
            </a:r>
          </a:p>
          <a:p>
            <a:pPr>
              <a:spcAft>
                <a:spcPts val="600"/>
              </a:spcAft>
              <a:defRPr sz="1400">
                <a:solidFill>val="22344A"/&gt;</a:solidFill>
              </a:defRPr>
            </a:pPr>
            <a:r>
              <a:t>• Prérequis académiques :Cours TIC 01 (Introduction aux TIC) ; notions de base en statistique descriptive ; maîtrise des environnements numériques de travail.</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Objectifs de l'enseignement</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Savoirs :- Comprendre l'infrastructure informatique nécessaire à la recherche en DLE (serveurs, bases de données, cloud computing)</a:t>
            </a:r>
            <a:br/>
            <a:r>
              <a:t>- Connaître les outils de linguistique de corpus pour l'analyse de productions langagières</a:t>
            </a:r>
            <a:br/>
            <a:r>
              <a:t>- Maîtriser les concepts fondamentaux du TAL (Traitement Automatique des Langues) appliqués à la didactique</a:t>
            </a:r>
            <a:br/>
            <a:r>
              <a:t>- Situer l'IA et l'apprentissage automatique dans le champ du CALL (ICALL)</a:t>
            </a:r>
          </a:p>
          <a:p>
            <a:pPr>
              <a:spcAft>
                <a:spcPts val="600"/>
              </a:spcAft>
              <a:defRPr sz="1400">
                <a:solidFill>val="22344A"/&gt;</a:solidFill>
              </a:defRPr>
            </a:pPr>
            <a:r>
              <a:t>• Savoir-faire :- Utiliser des outils d'annotation et d'analyse de corpus (AntConc, TXM, TreeTagger)</a:t>
            </a:r>
            <a:br/>
            <a:r>
              <a:t>- Exploiter des APIs de TAL (Python NLTK, spaCy) pour l'analyse linguistique</a:t>
            </a:r>
            <a:br/>
            <a:r>
              <a:t>- Concevoir un protocole de collecte et de traitement de données numériques pour la recherche</a:t>
            </a:r>
            <a:br/>
            <a:r>
              <a:t>- Appliquer des méthodes de recherche numérique (web scraping, analyse de réseaux, textométrie)</a:t>
            </a:r>
            <a:br/>
            <a:r>
              <a:t>- Rédiger une section méthodologique pour le mémoire décrivant les outils computationnels employés</a:t>
            </a:r>
          </a:p>
          <a:p>
            <a:pPr>
              <a:spcAft>
                <a:spcPts val="600"/>
              </a:spcAft>
              <a:defRPr sz="1400">
                <a:solidFill>val="22344A"/&gt;</a:solidFill>
              </a:defRPr>
            </a:pPr>
            <a:r>
              <a:t>• Savoir-être :- Adopter une approche critique des outils computationnels — comprendre leurs limites et biais</a:t>
            </a:r>
            <a:br/>
            <a:r>
              <a:t>- Respecter les principes éthiques dans le traitement numérique des données langagières</a:t>
            </a:r>
            <a:br/>
            <a:r>
              <a:t>- Développer une culture interdisciplinaire (didactique, linguistique, informatique)</a:t>
            </a:r>
          </a:p>
          <a:p>
            <a:pPr>
              <a:spcAft>
                <a:spcPts val="600"/>
              </a:spcAft>
              <a:defRPr sz="1400">
                <a:solidFill>val="22344A"/&gt;</a:solidFill>
              </a:defRPr>
            </a:pPr>
            <a:r>
              <a:t>• Mode d'évaluation :- Projet d'analyse de corpus (compte rendu méthodologique) : 40 %</a:t>
            </a:r>
            <a:br/>
            <a:r>
              <a:t>- Présentation orale d'un outil TAL pour la DLE : 30 %</a:t>
            </a:r>
            <a:br/>
            <a:r>
              <a:t>- QCM de validation : 20 %</a:t>
            </a:r>
            <a:br/>
            <a:r>
              <a:t>- Participation active : 10 %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Références bibliographiques principales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Baker, P. (2006).Using Corpora in Discourse Analysis. Continuum.</a:t>
            </a:r>
          </a:p>
          <a:p>
            <a:pPr>
              <a:spcAft>
                <a:spcPts val="600"/>
              </a:spcAft>
              <a:defRPr sz="1400">
                <a:solidFill>val="22344A"/&gt;</a:solidFill>
              </a:defRPr>
            </a:pPr>
            <a:r>
              <a:t>• Manning, C. D., &amp; Schütze, H. (1999).Foundations of Statistical Natural Language Processing. MIT Press.</a:t>
            </a:r>
          </a:p>
          <a:p>
            <a:pPr>
              <a:spcAft>
                <a:spcPts val="600"/>
              </a:spcAft>
              <a:defRPr sz="1400">
                <a:solidFill>val="22344A"/&gt;</a:solidFill>
              </a:defRPr>
            </a:pPr>
            <a:r>
              <a:t>• Heift, T., &amp; Schulze, M. (2007).Errors and Intelligence in Computer-Assisted Language Learning. Routledge.</a:t>
            </a:r>
          </a:p>
          <a:p>
            <a:pPr>
              <a:spcAft>
                <a:spcPts val="600"/>
              </a:spcAft>
              <a:defRPr sz="1400">
                <a:solidFill>val="22344A"/&gt;</a:solidFill>
              </a:defRPr>
            </a:pPr>
            <a:r>
              <a:t>• Biber, D., Conrad, S., &amp; Reppen, R. (1998).Corpus Linguistics: Investigating Language Structure and Use. Cambridge.</a:t>
            </a:r>
          </a:p>
          <a:p>
            <a:pPr>
              <a:spcAft>
                <a:spcPts val="600"/>
              </a:spcAft>
              <a:defRPr sz="1400">
                <a:solidFill>val="22344A"/&gt;</a:solidFill>
              </a:defRPr>
            </a:pPr>
            <a:r>
              <a:t>• Boulton, A., &amp; Cobb, T. (2017). Corpus use in language learning: A meta-analysis.Language Learning, 67(2), 348-393.</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Contexte réglementaire algérien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Le développement de l'informatique pour la recherche en sciences du langage et en didactique s'inscrit dans plusieurs cadres :</a:t>
            </a:r>
          </a:p>
          <a:p>
            <a:pPr>
              <a:spcAft>
                <a:spcPts val="600"/>
              </a:spcAft>
              <a:defRPr sz="1400">
                <a:solidFill>val="22344A"/&gt;</a:solidFill>
              </a:defRPr>
            </a:pPr>
            <a:r>
              <a:t>• Arrêté ministériel n° 933 (2016): Création de la Commission Nationale des TIC et de l'Édition Numérique dans l'Enseignement Supérieur.</a:t>
            </a:r>
          </a:p>
          <a:p>
            <a:pPr>
              <a:spcAft>
                <a:spcPts val="600"/>
              </a:spcAft>
              <a:defRPr sz="1400">
                <a:solidFill>val="22344A"/&gt;</a:solidFill>
              </a:defRPr>
            </a:pPr>
            <a:r>
              <a:t>• Stratégie nationale du numérique (2020-2030): Déploiement d'infrastructures cloud et de centres de calcul dans les universités algériennes.</a:t>
            </a:r>
          </a:p>
          <a:p>
            <a:pPr>
              <a:spcAft>
                <a:spcPts val="600"/>
              </a:spcAft>
              <a:defRPr sz="1400">
                <a:solidFill>val="22344A"/&gt;</a:solidFill>
              </a:defRPr>
            </a:pPr>
            <a:r>
              <a:t>• Projet de numérisation du MESRS (2021-2025): Mise en place de plates-formes de recherche numérique (e-recherche, bibliothèques numériques).</a:t>
            </a:r>
          </a:p>
          <a:p>
            <a:pPr>
              <a:spcAft>
                <a:spcPts val="600"/>
              </a:spcAft>
              <a:defRPr sz="1400">
                <a:solidFill>val="22344A"/&gt;</a:solidFill>
              </a:defRPr>
            </a:pPr>
            <a:r>
              <a:t>• Loi 18-07 relative à la protection des données personnelles: Cadre juridique pour la collecte et le traitement des données de recherche.</a:t>
            </a:r>
          </a:p>
          <a:p>
            <a:pPr>
              <a:spcAft>
                <a:spcPts val="600"/>
              </a:spcAft>
              <a:defRPr sz="1400">
                <a:solidFill>val="22344A"/&gt;</a:solidFill>
              </a:defRPr>
            </a:pPr>
            <a:r>
              <a:t>• Accès aux bases de données: Abonnement national aux ressources électroniques (SNDL, EBSCO, Cairn, OpenEdition) via le MESRS.</a:t>
            </a:r>
          </a:p>
          <a:p>
            <a:pPr>
              <a:spcAft>
                <a:spcPts val="600"/>
              </a:spcAft>
              <a:defRPr sz="1400">
                <a:solidFill>val="22344A"/&gt;</a:solidFill>
              </a:defRPr>
            </a:pPr>
            <a:r>
              <a:t>• Partenariats internationaux: Programmes Erasmus+ et PRIMA pour l'équipement et la formation en humanités numériques.</a:t>
            </a:r>
          </a:p>
          <a:p>
            <a:pPr>
              <a:spcAft>
                <a:spcPts val="600"/>
              </a:spcAft>
              <a:defRPr sz="1400">
                <a:solidFill>val="22344A"/&gt;</a:solidFill>
              </a:defRPr>
            </a:pPr>
            <a:r>
              <a:t>• Implication pour le chercheur M2 DLE :La recherche en didactique des langues mobilise désormais des outils computationnels. Le mémoire peut inclure une analyse outillée par ordinateur (corpus, TAL) qui nécessite une infrastructure et des compétences informatiques adaptées.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Plan du Cours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Introduction : Pourquoi l'informatique pour la recherche en DLE ?</a:t>
            </a:r>
          </a:p>
          <a:p>
            <a:pPr>
              <a:spcAft>
                <a:spcPts val="600"/>
              </a:spcAft>
              <a:defRPr sz="1400">
                <a:solidFill>val="22344A"/&gt;</a:solidFill>
              </a:defRPr>
            </a:pPr>
            <a:r>
              <a:t>• Infrastructure de recherche numérique pour les sciences du langage</a:t>
            </a:r>
          </a:p>
          <a:p>
            <a:pPr>
              <a:spcAft>
                <a:spcPts val="600"/>
              </a:spcAft>
              <a:defRPr sz="1400">
                <a:solidFill>val="22344A"/&gt;</a:solidFill>
              </a:defRPr>
            </a:pPr>
            <a:r>
              <a:t>• Linguistique de corpus : outils et méthodes pour la DLE</a:t>
            </a:r>
          </a:p>
          <a:p>
            <a:pPr>
              <a:spcAft>
                <a:spcPts val="600"/>
              </a:spcAft>
              <a:defRPr sz="1400">
                <a:solidFill>val="22344A"/&gt;</a:solidFill>
              </a:defRPr>
            </a:pPr>
            <a:r>
              <a:t>• Traitement Automatique des Langues (TAL) appliqué à la didactique</a:t>
            </a:r>
          </a:p>
          <a:p>
            <a:pPr>
              <a:spcAft>
                <a:spcPts val="600"/>
              </a:spcAft>
              <a:defRPr sz="1400">
                <a:solidFill>val="22344A"/&gt;</a:solidFill>
              </a:defRPr>
            </a:pPr>
            <a:r>
              <a:t>• Intelligence Artificielle et apprentissage des langues (ICALL)</a:t>
            </a:r>
          </a:p>
          <a:p>
            <a:pPr>
              <a:spcAft>
                <a:spcPts val="600"/>
              </a:spcAft>
              <a:defRPr sz="1400">
                <a:solidFill>val="22344A"/&gt;</a:solidFill>
              </a:defRPr>
            </a:pPr>
            <a:r>
              <a:t>• Traitement de données pour la recherche en didactique</a:t>
            </a:r>
          </a:p>
          <a:p>
            <a:pPr>
              <a:spcAft>
                <a:spcPts val="600"/>
              </a:spcAft>
              <a:defRPr sz="1400">
                <a:solidFill>val="22344A"/&gt;</a:solidFill>
              </a:defRPr>
            </a:pPr>
            <a:r>
              <a:t>• Méthodes de recherche numériques en sciences du langage</a:t>
            </a:r>
          </a:p>
          <a:p>
            <a:pPr>
              <a:spcAft>
                <a:spcPts val="600"/>
              </a:spcAft>
              <a:defRPr sz="1400">
                <a:solidFill>val="22344A"/&gt;</a:solidFill>
              </a:defRPr>
            </a:pPr>
            <a:r>
              <a:t>• Conclusion : perspectives pour le mémoire M2</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1.1 Le tournant numérique en didactique des langues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La recherche en didactique des langues a connu une transformation profonde avec l'avènement du numérique. L'informatique n'est plus seulement un outil pédagogique — elle est devenue uninstrument de rechercheà part entière : analyse de corpus, fouille de textes, modélisation computationnelle de l'acquisition, traitement de données massives d'apprentissage.</a:t>
            </a:r>
          </a:p>
          <a:p>
            <a:pPr>
              <a:spcAft>
                <a:spcPts val="600"/>
              </a:spcAft>
              <a:defRPr sz="1400">
                <a:solidFill>val="22344A"/&gt;</a:solidFill>
              </a:defRPr>
            </a:pPr>
            <a:r>
              <a:t>• Objectif du cours :Fournir aux étudiants M2 DLE les connaissances et compétences nécessaires pour intégrer les outils informatiques dans leur projet de recherche, de la collecte à l'analyse des données.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2.2 Outils numériques pour le chercheur en 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Systèmes d'exploitation: Windows (ligne de commande PowerShell), Linux/macOS (terminal bash)</a:t>
            </a:r>
          </a:p>
          <a:p>
            <a:pPr>
              <a:spcAft>
                <a:spcPts val="600"/>
              </a:spcAft>
              <a:defRPr sz="1400">
                <a:solidFill>val="22344A"/&gt;</a:solidFill>
              </a:defRPr>
            </a:pPr>
            <a:r>
              <a:t>• Environnements de travail: VS Code, Jupyter Notebook, RStudio</a:t>
            </a:r>
          </a:p>
          <a:p>
            <a:pPr>
              <a:spcAft>
                <a:spcPts val="600"/>
              </a:spcAft>
              <a:defRPr sz="1400">
                <a:solidFill>val="22344A"/&gt;</a:solidFill>
              </a:defRPr>
            </a:pPr>
            <a:r>
              <a:t>• Gestion de versions: Git / GitHub pour les projets de recherche</a:t>
            </a:r>
          </a:p>
          <a:p>
            <a:pPr>
              <a:spcAft>
                <a:spcPts val="600"/>
              </a:spcAft>
              <a:defRPr sz="1400">
                <a:solidFill>val="22344A"/&gt;</a:solidFill>
              </a:defRPr>
            </a:pPr>
            <a:r>
              <a:t>• Bases de données: SQLite, MySQL pour les données d'études longitudinales</a:t>
            </a:r>
          </a:p>
          <a:p>
            <a:pPr>
              <a:spcAft>
                <a:spcPts val="600"/>
              </a:spcAft>
              <a:defRPr sz="1400">
                <a:solidFill>val="22344A"/&gt;</a:solidFill>
              </a:defRPr>
            </a:pPr>
            <a:r>
              <a:t>• Standards d'interopérabilité: TEI (Text Encoding Initiative) pour les corpus, XML/JSON pour les données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2.3 Infrastructure disponible en Algérie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Plateforme Moodle universitaire</a:t>
            </a:r>
          </a:p>
          <a:p>
            <a:pPr>
              <a:spcAft>
                <a:spcPts val="600"/>
              </a:spcAft>
              <a:defRPr sz="1400">
                <a:solidFill>val="22344A"/&gt;</a:solidFill>
              </a:defRPr>
            </a:pPr>
            <a:r>
              <a:t>• Accès SNDL aux bases de données internationales</a:t>
            </a:r>
          </a:p>
          <a:p>
            <a:pPr>
              <a:spcAft>
                <a:spcPts val="600"/>
              </a:spcAft>
              <a:defRPr sz="1400">
                <a:solidFill>val="22344A"/&gt;</a:solidFill>
              </a:defRPr>
            </a:pPr>
            <a:r>
              <a:t>• Bibliothèques numériques (theses-algerie.dz, scribum.univ-usto.dz)</a:t>
            </a:r>
          </a:p>
          <a:p>
            <a:pPr>
              <a:spcAft>
                <a:spcPts val="600"/>
              </a:spcAft>
              <a:defRPr sz="1400">
                <a:solidFill>val="22344A"/&gt;</a:solidFill>
              </a:defRPr>
            </a:pPr>
            <a:r>
              <a:t>• Serveurs institutionnels et formations en humanités numériques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3.1 Définition et intérêt pour la 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Lalinguistique de corpusest l'étude de la langue à partir d'ensembles de textes authentiques (corpus) collectés et analysés informatiquement. Pour le chercheur en DLE, le corpus permet d'étudier les productions d'apprenants, les discours d'enseignants, les manuels et les interactions en ligne.</a:t>
            </a:r>
          </a:p>
          <a:p>
            <a:pPr>
              <a:spcAft>
                <a:spcPts val="600"/>
              </a:spcAft>
              <a:defRPr sz="1400">
                <a:solidFill>val="22344A"/&gt;</a:solidFill>
              </a:defRPr>
            </a:pPr>
            <a:r>
              <a:t>• Types de corpus en DLE :- Corpus d'apprenants (ex. : FRIDA, CEFLE)</a:t>
            </a:r>
            <a:br/>
            <a:r>
              <a:t>- Corpus oraux (ex. : CLAPI, ESLO)</a:t>
            </a:r>
            <a:br/>
            <a:r>
              <a:t>- Corpus de manuels et supports pédagogiques</a:t>
            </a:r>
            <a:br/>
            <a:r>
              <a:t>- Corpus d'interactions en ligne (forums, chats, réseaux sociaux)</a:t>
            </a:r>
            <a:br/>
            <a:r>
              <a:t>- Corpus parallèles (traduction)</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val="F4F6F8"/&gt;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Points clés à retenir</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Public visé :Étudiants Master 2 DLE inscrits au mémoire — parcours TICE et recherche numérique en didactique des langues.</a:t>
            </a:r>
          </a:p>
          <a:p>
            <a:pPr>
              <a:spcAft>
                <a:spcPts val="600"/>
              </a:spcAft>
              <a:defRPr sz="1600">
                <a:solidFill>val="22344A"/&gt;</a:solidFill>
              </a:defRPr>
            </a:pPr>
            <a:r>
              <a:t>• Savoirs :- Comprendre l'infrastructure informatique nécessaire à la recherche en DLE (serveurs, bases de données, cloud computing)</a:t>
            </a:r>
            <a:br/>
            <a:r>
              <a:t>- Connaître les outils de linguistique de corpus pour l'analyse de productions langagières</a:t>
            </a:r>
            <a:br/>
            <a:r>
              <a:t>- Maîtriser les concepts fondamentaux du TAL (Traitement Automatique des Langues) appliqués à la didactique</a:t>
            </a:r>
            <a:br/>
            <a:r>
              <a:t>- Situer l'IA et l'apprentissage automatique dans le champ du CALL (ICALL)</a:t>
            </a:r>
          </a:p>
          <a:p>
            <a:pPr>
              <a:spcAft>
                <a:spcPts val="600"/>
              </a:spcAft>
              <a:defRPr sz="1600">
                <a:solidFill>val="22344A"/&gt;</a:solidFill>
              </a:defRPr>
            </a:pPr>
            <a:r>
              <a:t>• Baker, P. (2006).Using Corpora in Discourse Analysis. Continuum.</a:t>
            </a:r>
          </a:p>
          <a:p>
            <a:pPr>
              <a:spcAft>
                <a:spcPts val="600"/>
              </a:spcAft>
              <a:defRPr sz="1600">
                <a:solidFill>val="22344A"/&gt;</a:solidFill>
              </a:defRPr>
            </a:pPr>
            <a:r>
              <a:t>• Le développement de l'informatique pour la recherche en sciences du langage et en didactique s'inscrit dans plusieurs cadres :</a:t>
            </a:r>
          </a:p>
          <a:p>
            <a:pPr>
              <a:spcAft>
                <a:spcPts val="600"/>
              </a:spcAft>
              <a:defRPr sz="1600">
                <a:solidFill>val="22344A"/&gt;</a:solidFill>
              </a:defRPr>
            </a:pPr>
            <a:r>
              <a:t>• Introduction : Pourquoi l'informatique pour la recherche en DLE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Exercices d'application</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Définir les concepts principaux du cours</a:t>
            </a:r>
          </a:p>
          <a:p>
            <a:pPr>
              <a:spcAft>
                <a:spcPts val="600"/>
              </a:spcAft>
              <a:defRPr sz="1500">
                <a:solidFill>val="22344A"/&gt;</a:solidFill>
              </a:defRPr>
            </a:pPr>
            <a:r>
              <a:t>• Identifier les applications pratiques</a:t>
            </a:r>
          </a:p>
          <a:p>
            <a:pPr>
              <a:spcAft>
                <a:spcPts val="600"/>
              </a:spcAft>
              <a:defRPr sz="1500">
                <a:solidFill>val="22344A"/&gt;</a:solidFill>
              </a:defRPr>
            </a:pPr>
            <a:r>
              <a:t>• Résoudre les exercices du TD</a:t>
            </a:r>
          </a:p>
          <a:p>
            <a:pPr>
              <a:spcAft>
                <a:spcPts val="600"/>
              </a:spcAft>
              <a:defRPr sz="1500">
                <a:solidFill>val="22344A"/&gt;</a:solidFill>
              </a:defRPr>
            </a:pPr>
            <a:r>
              <a:t>• Synthétiser les points clés en un paragraphe</a:t>
            </a:r>
          </a:p>
          <a:p>
            <a:pPr>
              <a:spcAft>
                <a:spcPts val="600"/>
              </a:spcAft>
              <a:defRPr sz="1500">
                <a:solidFill>val="22344A"/&gt;</a:solidFill>
              </a:defRPr>
            </a:pPr>
            <a:r>
              <a:t>• Préparer une courte présentation orale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914400"/>
          </a:xfrm>
          <a:prstGeom prst="rect">
            <a:avLst/>
          </a:prstGeom>
          <a:noFill/>
        </p:spPr>
        <p:txBody>
          <a:bodyPr wrap="square">
            <a:spAutoFit/>
          </a:bodyPr>
          <a:lstStyle/>
          <a:p>
            <a:pPr algn="ctr">
              <a:defRPr sz="2800" b="1">
                <a:solidFill>val="FFFFFF"/&gt;</a:solidFill>
              </a:defRPr>
            </a:pPr>
            <a:r>
              <a:t>🎓 Conclusion</a:t>
            </a:r>
          </a:p>
        </p:txBody>
      </p:sp>
      <p:sp>
        <p:nvSpPr>
          <p:cNvPr id="3" name="TextBox 2"/>
          <p:cNvSpPr txBox="1"/>
          <p:nvPr/>
        </p:nvSpPr>
        <p:spPr>
          <a:xfrm>
            <a:off x="731520" y="2743200"/>
            <a:ext cx="7680960" cy="1828800"/>
          </a:xfrm>
          <a:prstGeom prst="rect">
            <a:avLst/>
          </a:prstGeom>
          <a:noFill/>
        </p:spPr>
        <p:txBody>
          <a:bodyPr wrap="square">
            <a:spAutoFit/>
          </a:bodyPr>
          <a:lstStyle/>
          <a:p>
            <a:pPr algn="ctr">
              <a:defRPr sz="1800" b="0">
                <a:solidFill>val="DFE5EA"/&gt;</a:solidFill>
              </a:defRPr>
            </a:pPr>
            <a:r>
              <a:t>Dr. BELACEL Madani</a:t>
            </a:r>
            <a:br/>
            <a:r>
              <a:t>Maître de Conférences B</a:t>
            </a:r>
            <a:br/>
            <a:r>
              <a:t>Université de Mostaganem</a:t>
            </a:r>
            <a:br/>
            <a:r>
              <a:t>madani.belacel@univ-mosta.dz</a:t>
            </a:r>
          </a:p>
        </p:txBody>
      </p:sp>
      <p:sp>
        <p:nvSpPr>
          <p:cNvPr id="990001" name="Pied de page FLE"/>
          <p:cNvSpPr>
            <a:spLocks noGrp="1"/>
          </p:cNvSpPr>
          <p:nvPr/>
        </p:nvSpPr>
        <p:spPr>
          <a:xfrm>
            <a:off x="2880360" y="4572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