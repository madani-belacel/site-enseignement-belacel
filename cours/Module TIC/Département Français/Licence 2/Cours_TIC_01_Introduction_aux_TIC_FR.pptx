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01 — Introduction aux Techniques de l'Information et de la Communication</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Définir les TIC et distinguer NTIC/TIC/ICT</a:t>
            </a:r>
            <a:br/>
            <a:r>
              <a:t>- Identifier les trois dimensions : technique, information, communication</a:t>
            </a:r>
            <a:br/>
            <a:r>
              <a:t>- Citer les fonctions : traitement, transmission, sauvegarde</a:t>
            </a:r>
          </a:p>
          <a:p>
            <a:pPr>
              <a:spcAft>
                <a:spcPts val="600"/>
              </a:spcAft>
              <a:defRPr sz="1500">
                <a:solidFill>
                  <a:srgbClr val="222222"/>
                </a:solidFill>
              </a:defRPr>
            </a:pPr>
            <a:r>
              <a:t>• En termes de savoir-faire :- Utiliser Moodle et le courriel institutionnel</a:t>
            </a:r>
            <a:br/>
            <a:r>
              <a:t>- Nommer et classer des outils numériques par fonction</a:t>
            </a:r>
            <a:br/>
            <a:r>
              <a:t>- Évaluer la fiabilité d'une source en ligne (introduction CRAP)</a:t>
            </a:r>
          </a:p>
          <a:p>
            <a:pPr>
              <a:spcAft>
                <a:spcPts val="600"/>
              </a:spcAft>
              <a:defRPr sz="1500">
                <a:solidFill>
                  <a:srgbClr val="222222"/>
                </a:solidFill>
              </a:defRPr>
            </a:pPr>
            <a:r>
              <a:t>• En termes de savoir-être :- Adopter une posture critique face au numérique</a:t>
            </a:r>
            <a:br/>
            <a:r>
              <a:t>- Respecter l'éthique académique (plagiat, vie privée)</a:t>
            </a:r>
          </a:p>
          <a:p>
            <a:pPr>
              <a:spcAft>
                <a:spcPts val="600"/>
              </a:spcAft>
              <a:defRPr sz="1500">
                <a:solidFill>
                  <a:srgbClr val="222222"/>
                </a:solidFill>
              </a:defRPr>
            </a:pPr>
            <a:r>
              <a:t>• Mode d'évaluation :TD 40 % (5 exercices) + QCM Moodle 20 % + participation 10 % + examen 30 %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Contexte réglementaire algérien</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Plan du Cours</a:t>
            </a:r>
          </a:p>
          <a:p>
            <a:pPr>
              <a:spcAft>
                <a:spcPts val="600"/>
              </a:spcAft>
              <a:defRPr sz="1600">
                <a:solidFill>
                  <a:srgbClr val="222222"/>
                </a:solidFill>
              </a:defRPr>
            </a:pPr>
            <a:r>
              <a:t>• 1. Introduction et Importance des TIC(10 min)</a:t>
            </a:r>
          </a:p>
          <a:p>
            <a:pPr>
              <a:spcAft>
                <a:spcPts val="600"/>
              </a:spcAft>
              <a:defRPr sz="1600">
                <a:solidFill>
                  <a:srgbClr val="222222"/>
                </a:solidFill>
              </a:defRPr>
            </a:pPr>
            <a:r>
              <a:t>• Convergence de trois domaines</a:t>
            </a:r>
          </a:p>
          <a:p>
            <a:pPr>
              <a:spcAft>
                <a:spcPts val="600"/>
              </a:spcAft>
              <a:defRPr sz="1600">
                <a:solidFill>
                  <a:srgbClr val="222222"/>
                </a:solidFill>
              </a:defRPr>
            </a:pPr>
            <a:r>
              <a:t>• Définitions de référence</a:t>
            </a:r>
          </a:p>
          <a:p>
            <a:pPr>
              <a:spcAft>
                <a:spcPts val="600"/>
              </a:spcAft>
              <a:defRPr sz="1600">
                <a:solidFill>
                  <a:srgbClr val="222222"/>
                </a:solidFill>
              </a:defRPr>
            </a:pPr>
            <a:r>
              <a:t>• 3. Évolution Historique et Terminologique (NTIC → TIC)(10 min)</a:t>
            </a:r>
          </a:p>
          <a:p>
            <a:pPr>
              <a:spcAft>
                <a:spcPts val="600"/>
              </a:spcAft>
              <a:defRPr sz="1600">
                <a:solidFill>
                  <a:srgbClr val="222222"/>
                </a:solidFill>
              </a:defRPr>
            </a:pPr>
            <a:r>
              <a:t>• 4. Les Trois Dimensions Fondamentales(15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400">
                <a:solidFill>
                  <a:srgbClr val="222222"/>
                </a:solidFill>
              </a:defRPr>
            </a:pPr>
            <a:r>
              <a:t>• Public visé :Étudiants Licence 1 — Département Langues (FR/AN), ENS 1ère année</a:t>
            </a:r>
          </a:p>
          <a:p>
            <a:pPr>
              <a:spcAft>
                <a:spcPts val="600"/>
              </a:spcAft>
              <a:defRPr sz="1400">
                <a:solidFill>
                  <a:srgbClr val="222222"/>
                </a:solidFill>
              </a:defRPr>
            </a:pPr>
            <a:r>
              <a:t>• Compétences pré-requises :Aucun prérequis informatique ; maîtrise minimale du français académique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Définir les TIC et distinguer NTIC/TIC/ICT</a:t>
            </a:r>
            <a:br/>
            <a:r>
              <a:t>- Identifier les trois dimensions : technique, information, communication</a:t>
            </a:r>
            <a:br/>
            <a:r>
              <a:t>- Citer les fonctions : traitement, transmission, sauvegarde</a:t>
            </a:r>
          </a:p>
          <a:p>
            <a:pPr>
              <a:spcAft>
                <a:spcPts val="600"/>
              </a:spcAft>
              <a:defRPr sz="1400">
                <a:solidFill>
                  <a:srgbClr val="222222"/>
                </a:solidFill>
              </a:defRPr>
            </a:pPr>
            <a:r>
              <a:t>• En termes de savoir-faire :- Utiliser Moodle et le courriel institutionnel</a:t>
            </a:r>
            <a:br/>
            <a:r>
              <a:t>- Nommer et classer des outils numériques par fonction</a:t>
            </a:r>
            <a:br/>
            <a:r>
              <a:t>- Évaluer la fiabilité d'une source en ligne (introduction CRAP)</a:t>
            </a:r>
          </a:p>
          <a:p>
            <a:pPr>
              <a:spcAft>
                <a:spcPts val="600"/>
              </a:spcAft>
              <a:defRPr sz="1400">
                <a:solidFill>
                  <a:srgbClr val="222222"/>
                </a:solidFill>
              </a:defRPr>
            </a:pPr>
            <a:r>
              <a:t>• En termes de savoir-être :- Adopter une posture critique face au numérique</a:t>
            </a:r>
            <a:br/>
            <a:r>
              <a:t>- Respecter l'éthique académique (plagiat, vie privée)</a:t>
            </a:r>
          </a:p>
          <a:p>
            <a:pPr>
              <a:spcAft>
                <a:spcPts val="600"/>
              </a:spcAft>
              <a:defRPr sz="1400">
                <a:solidFill>
                  <a:srgbClr val="222222"/>
                </a:solidFill>
              </a:defRPr>
            </a:pPr>
            <a:r>
              <a:t>• Mode d'évaluation :TD 40 % (5 exercices) + QCM Moodle 20 % + participation 10 % + examen 30 %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Ce cours s'inscrit dans le cadre réglementaire algérien de la formation des enseignants :</a:t>
            </a:r>
          </a:p>
          <a:p>
            <a:pPr>
              <a:spcAft>
                <a:spcPts val="600"/>
              </a:spcAft>
              <a:defRPr sz="1400">
                <a:solidFill>
                  <a:srgbClr val="222222"/>
                </a:solidFill>
              </a:defRPr>
            </a:pPr>
            <a:r>
              <a:t>• Arrêté ministériel portant création des ENS (cycle Licence/Master)— définit le cadre institutionnel.</a:t>
            </a:r>
          </a:p>
          <a:p>
            <a:pPr>
              <a:spcAft>
                <a:spcPts val="600"/>
              </a:spcAft>
              <a:defRPr sz="1400">
                <a:solidFill>
                  <a:srgbClr val="222222"/>
                </a:solidFill>
              </a:defRPr>
            </a:pPr>
            <a:r>
              <a:t>• Arrêté 712 fixant le programme des concours ENS— programme des concours.</a:t>
            </a:r>
          </a:p>
          <a:p>
            <a:pPr>
              <a:spcAft>
                <a:spcPts val="600"/>
              </a:spcAft>
              <a:defRPr sz="1400">
                <a:solidFill>
                  <a:srgbClr val="222222"/>
                </a:solidFill>
              </a:defRPr>
            </a:pPr>
            <a:r>
              <a:t>• Programme national de TIC pour les filières de langues étrangères— objectifs et contenus.</a:t>
            </a:r>
          </a:p>
          <a:p>
            <a:pPr>
              <a:spcAft>
                <a:spcPts val="600"/>
              </a:spcAft>
              <a:defRPr sz="1400">
                <a:solidFill>
                  <a:srgbClr val="222222"/>
                </a:solidFill>
              </a:defRPr>
            </a:pPr>
            <a:r>
              <a:t>• Référentiel des compétences numériques algérien— compétences attendues.</a:t>
            </a:r>
          </a:p>
          <a:p>
            <a:pPr>
              <a:spcAft>
                <a:spcPts val="600"/>
              </a:spcAft>
              <a:defRPr sz="1400">
                <a:solidFill>
                  <a:srgbClr val="222222"/>
                </a:solidFill>
              </a:defRPr>
            </a:pPr>
            <a:r>
              <a:t>• Benchmark des 10 universités algériennes— standards nationaux (BENCHMARK_10_UNIVERSITES_ELEARNING.md).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UIT — définitions TIC ; UNESCO — compétences numériques ; Guide étudiant Moodle Univ. Boumerdès / Béjaïa</a:t>
            </a:r>
          </a:p>
          <a:p>
            <a:pPr>
              <a:spcAft>
                <a:spcPts val="600"/>
              </a:spcAft>
              <a:defRPr sz="1400">
                <a:solidFill>
                  <a:srgbClr val="222222"/>
                </a:solidFill>
              </a:defRPr>
            </a:pPr>
            <a:r>
              <a:t>• Contact enseignant :BELACEL Madani —madani.belacel@univ-mosta.dz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et importance des TIC dans le monde contemporain</a:t>
            </a:r>
          </a:p>
          <a:p>
            <a:pPr>
              <a:spcAft>
                <a:spcPts val="600"/>
              </a:spcAft>
              <a:defRPr sz="1400">
                <a:solidFill>
                  <a:srgbClr val="222222"/>
                </a:solidFill>
              </a:defRPr>
            </a:pPr>
            <a:r>
              <a:t>• Définition détaillée des TIC</a:t>
            </a:r>
          </a:p>
          <a:p>
            <a:pPr>
              <a:spcAft>
                <a:spcPts val="600"/>
              </a:spcAft>
              <a:defRPr sz="1400">
                <a:solidFill>
                  <a:srgbClr val="222222"/>
                </a:solidFill>
              </a:defRPr>
            </a:pPr>
            <a:r>
              <a:t>• Évolution historique et terminologique (NTIC → TIC)</a:t>
            </a:r>
          </a:p>
          <a:p>
            <a:pPr>
              <a:spcAft>
                <a:spcPts val="600"/>
              </a:spcAft>
              <a:defRPr sz="1400">
                <a:solidFill>
                  <a:srgbClr val="222222"/>
                </a:solidFill>
              </a:defRPr>
            </a:pPr>
            <a:r>
              <a:t>• Les trois dimensions fondamentales des TIC</a:t>
            </a:r>
          </a:p>
          <a:p>
            <a:pPr>
              <a:spcAft>
                <a:spcPts val="600"/>
              </a:spcAft>
              <a:defRPr sz="1400">
                <a:solidFill>
                  <a:srgbClr val="222222"/>
                </a:solidFill>
              </a:defRPr>
            </a:pPr>
            <a:r>
              <a:t>• Rôle et fonctions des TIC (traitement, transmission, sauvegarde)</a:t>
            </a:r>
          </a:p>
          <a:p>
            <a:pPr>
              <a:spcAft>
                <a:spcPts val="600"/>
              </a:spcAft>
              <a:defRPr sz="1400">
                <a:solidFill>
                  <a:srgbClr val="222222"/>
                </a:solidFill>
              </a:defRPr>
            </a:pPr>
            <a:r>
              <a:t>• Services offerts par les TIC</a:t>
            </a:r>
          </a:p>
          <a:p>
            <a:pPr>
              <a:spcAft>
                <a:spcPts val="600"/>
              </a:spcAft>
              <a:defRPr sz="1400">
                <a:solidFill>
                  <a:srgbClr val="222222"/>
                </a:solidFill>
              </a:defRPr>
            </a:pPr>
            <a:r>
              <a:t>• Domaines d'application avec focus sur l'éducation</a:t>
            </a:r>
          </a:p>
          <a:p>
            <a:pPr>
              <a:spcAft>
                <a:spcPts val="600"/>
              </a:spcAft>
              <a:defRPr sz="1400">
                <a:solidFill>
                  <a:srgbClr val="222222"/>
                </a:solidFill>
              </a:defRPr>
            </a:pPr>
            <a:r>
              <a:t>• Compétences numériques attendues en Licence Langues</a:t>
            </a:r>
          </a:p>
          <a:p>
            <a:pPr>
              <a:spcAft>
                <a:spcPts val="600"/>
              </a:spcAft>
              <a:defRPr sz="1400">
                <a:solidFill>
                  <a:srgbClr val="222222"/>
                </a:solidFill>
              </a:defRPr>
            </a:pPr>
            <a:r>
              <a:t>• Conclusion et transition vers le cours suivant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1. Introduction et Importance des TIC(10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LesTechniques de l'Information et de la Communication(TIC) désignent l'ensemble des outils numériques qui permettent de créer, traiter, stocker, transmettre et partager l'information. Elles incluent ordinateurs, smartphones, réseaux sans fil et plateformes en ligne.</a:t>
            </a:r>
          </a:p>
          <a:p>
            <a:pPr>
              <a:spcAft>
                <a:spcPts val="600"/>
              </a:spcAft>
              <a:defRPr sz="1400">
                <a:solidFill>
                  <a:srgbClr val="222222"/>
                </a:solidFill>
              </a:defRPr>
            </a:pPr>
            <a:r>
              <a:t>• Pourquoi ce cours en Licence 1 ?Dès la première année, vous utilisez les TIC pour :</a:t>
            </a:r>
          </a:p>
          <a:p>
            <a:pPr>
              <a:spcAft>
                <a:spcPts val="600"/>
              </a:spcAft>
              <a:defRPr sz="1400">
                <a:solidFill>
                  <a:srgbClr val="222222"/>
                </a:solidFill>
              </a:defRPr>
            </a:pPr>
            <a:r>
              <a:t>• Accéder aux ressources: Moodle, bibliothèque numérique, polycopiés PDF</a:t>
            </a:r>
          </a:p>
          <a:p>
            <a:pPr>
              <a:spcAft>
                <a:spcPts val="600"/>
              </a:spcAft>
              <a:defRPr sz="1400">
                <a:solidFill>
                  <a:srgbClr val="222222"/>
                </a:solidFill>
              </a:defRPr>
            </a:pPr>
            <a:r>
              <a:t>• Communiquer: courriel institutionnel, forums de TD</a:t>
            </a:r>
          </a:p>
          <a:p>
            <a:pPr>
              <a:spcAft>
                <a:spcPts val="600"/>
              </a:spcAft>
              <a:defRPr sz="1400">
                <a:solidFill>
                  <a:srgbClr val="222222"/>
                </a:solidFill>
              </a:defRPr>
            </a:pPr>
            <a:r>
              <a:t>• Rechercher: bases documentaires, corpus linguistiques multilingues</a:t>
            </a:r>
          </a:p>
          <a:p>
            <a:pPr>
              <a:spcAft>
                <a:spcPts val="600"/>
              </a:spcAft>
              <a:defRPr sz="1400">
                <a:solidFill>
                  <a:srgbClr val="222222"/>
                </a:solidFill>
              </a:defRPr>
            </a:pPr>
            <a:r>
              <a:t>• Produire: devoirs Word, présentations PowerPoint, exposés</a:t>
            </a:r>
          </a:p>
          <a:p>
            <a:pPr>
              <a:spcAft>
                <a:spcPts val="600"/>
              </a:spcAft>
              <a:defRPr sz="1400">
                <a:solidFill>
                  <a:srgbClr val="222222"/>
                </a:solidFill>
              </a:defRPr>
            </a:pPr>
            <a:r>
              <a:t>• Objectif pédagogique :développer uneculture numériquesolide — savoir utiliser les outils, mais aussi comprendre leurs limites (fiabilité des sources, plagiat, vie privée).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Convergence de trois domaines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Informatique— traitement automatique de l'information (logiciels, bases de données)</a:t>
            </a:r>
          </a:p>
          <a:p>
            <a:pPr>
              <a:spcAft>
                <a:spcPts val="600"/>
              </a:spcAft>
              <a:defRPr sz="1400">
                <a:solidFill>
                  <a:srgbClr val="222222"/>
                </a:solidFill>
              </a:defRPr>
            </a:pPr>
            <a:r>
              <a:t>• Télécommunications— transmission à distance (Internet, fibre, Wi-Fi)</a:t>
            </a:r>
          </a:p>
          <a:p>
            <a:pPr>
              <a:spcAft>
                <a:spcPts val="600"/>
              </a:spcAft>
              <a:defRPr sz="1400">
                <a:solidFill>
                  <a:srgbClr val="222222"/>
                </a:solidFill>
              </a:defRPr>
            </a:pPr>
            <a:r>
              <a:t>• Audiovisuel et multimédia— texte, image, son, vidéo combinés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Définitions de référence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UIT :« Les TIC englobent tous les outils et systèmes qui permettent demanipuler,stockerettransmettrel'information sous formenumérique. »</a:t>
            </a:r>
          </a:p>
          <a:p>
            <a:pPr>
              <a:spcAft>
                <a:spcPts val="600"/>
              </a:spcAft>
              <a:defRPr sz="1400">
                <a:solidFill>
                  <a:srgbClr val="222222"/>
                </a:solidFill>
              </a:defRPr>
            </a:pPr>
            <a:r>
              <a:t>• UNESCO :informatique, audiovisuel, multimédia, Internet et télécommunications.</a:t>
            </a:r>
          </a:p>
          <a:p>
            <a:pPr>
              <a:spcAft>
                <a:spcPts val="600"/>
              </a:spcAft>
              <a:defRPr sz="1400">
                <a:solidFill>
                  <a:srgbClr val="222222"/>
                </a:solidFill>
              </a:defRPr>
            </a:pPr>
            <a:r>
              <a:t>• En anglais :Information and Communication Technologies(ICT).</a:t>
            </a:r>
          </a:p>
          <a:p>
            <a:pPr>
              <a:spcAft>
                <a:spcPts val="600"/>
              </a:spcAft>
              <a:defRPr sz="1400">
                <a:solidFill>
                  <a:srgbClr val="222222"/>
                </a:solidFill>
              </a:defRPr>
            </a:pPr>
            <a:r>
              <a:t>• À retenir :une TIC est unsystème(matériel + logiciel + réseau) qui rend l'information utilisable et partageable.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3. Évolution Historique et Terminologique (NTIC → TIC)(10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Concepts associés :</a:t>
            </a:r>
          </a:p>
          <a:p>
            <a:pPr>
              <a:spcAft>
                <a:spcPts val="600"/>
              </a:spcAft>
              <a:defRPr sz="1400">
                <a:solidFill>
                  <a:srgbClr val="222222"/>
                </a:solidFill>
              </a:defRPr>
            </a:pPr>
            <a:r>
              <a:t>• Numérisation: conversion en fichiers numériques (PDF, MP3, JPEG)</a:t>
            </a:r>
          </a:p>
          <a:p>
            <a:pPr>
              <a:spcAft>
                <a:spcPts val="600"/>
              </a:spcAft>
              <a:defRPr sz="1400">
                <a:solidFill>
                  <a:srgbClr val="222222"/>
                </a:solidFill>
              </a:defRPr>
            </a:pPr>
            <a:r>
              <a:t>• Transformation digitale: réorganisation des activités grâce au numérique</a:t>
            </a:r>
          </a:p>
          <a:p>
            <a:pPr>
              <a:spcAft>
                <a:spcPts val="600"/>
              </a:spcAft>
              <a:defRPr sz="1400">
                <a:solidFill>
                  <a:srgbClr val="222222"/>
                </a:solidFill>
              </a:defRPr>
            </a:pPr>
            <a:r>
              <a:t>• Société de l'information: l'information devient une ressource centrale</a:t>
            </a:r>
          </a:p>
          <a:p>
            <a:pPr>
              <a:spcAft>
                <a:spcPts val="600"/>
              </a:spcAft>
              <a:defRPr sz="1400">
                <a:solidFill>
                  <a:srgbClr val="222222"/>
                </a:solidFill>
              </a:defRPr>
            </a:pPr>
            <a:r>
              <a:t>• Exemple :cours sur Moodle + vidéo enregistrée + devoir PDF + correction en ligne.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600">
                <a:solidFill>
                  <a:srgbClr val="222222"/>
                </a:solidFill>
              </a:defRPr>
            </a:pPr>
            <a:r>
              <a:t>• En termes de savoir :- Définir les TIC et distinguer NTIC/TIC/ICT</a:t>
            </a:r>
            <a:br/>
            <a:r>
              <a:t>- Identifier les trois dimensions : technique, information, communication</a:t>
            </a:r>
            <a:br/>
            <a:r>
              <a:t>- Citer les fonctions : traitement, transmission, sauvegarde</a:t>
            </a:r>
          </a:p>
          <a:p>
            <a:pPr>
              <a:spcAft>
                <a:spcPts val="600"/>
              </a:spcAft>
              <a:defRPr sz="1600">
                <a:solidFill>
                  <a:srgbClr val="222222"/>
                </a:solidFill>
              </a:defRPr>
            </a:pPr>
            <a:r>
              <a:t>• Ce cours s'inscrit dans le cadre réglementaire algérien de la formation des enseignants :</a:t>
            </a:r>
          </a:p>
          <a:p>
            <a:pPr>
              <a:spcAft>
                <a:spcPts val="600"/>
              </a:spcAft>
              <a:defRPr sz="1600">
                <a:solidFill>
                  <a:srgbClr val="222222"/>
                </a:solidFill>
              </a:defRPr>
            </a:pPr>
            <a:r>
              <a:t>• UIT — définitions TIC ; UNESCO — compétences numériques ; Guide étudiant Moodle Univ. Boumerdès / Béjaïa</a:t>
            </a:r>
          </a:p>
          <a:p>
            <a:pPr>
              <a:spcAft>
                <a:spcPts val="600"/>
              </a:spcAft>
              <a:defRPr sz="1600">
                <a:solidFill>
                  <a:srgbClr val="222222"/>
                </a:solidFill>
              </a:defRPr>
            </a:pPr>
            <a:r>
              <a:t>• Introduction et importance des TIC dans le monde contemporain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