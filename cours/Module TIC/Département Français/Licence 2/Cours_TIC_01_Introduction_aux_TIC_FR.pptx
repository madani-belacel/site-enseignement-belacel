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Poppins"/>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Poppins"/>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Poppins"/>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Poppins"/>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Poppins"/>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Poppins"/>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Poppins"/>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Poppins"/>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Poppins"/>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Poppins"/>
          <a:ea typeface="+mn-ea"/>
          <a:cs typeface="+mn-cs"/>
        </a:defRPr>
      </a:lvl9pPr>
    </p:bodyStyle>
    <p:otherStyle>
      <a:defPPr>
        <a:defRPr lang="en-US"/>
      </a:defPPr>
      <a:lvl1pPr marL="0" algn="l" defTabSz="457200" rtl="0" eaLnBrk="1" latinLnBrk="0" hangingPunct="1">
        <a:defRPr sz="1800" kern="1200">
          <a:solidFill>
            <a:schemeClr val="tx1"/>
          </a:solidFill>
          <a:latin typeface="Poppins"/>
          <a:ea typeface="+mn-ea"/>
          <a:cs typeface="+mn-cs"/>
        </a:defRPr>
      </a:lvl1pPr>
      <a:lvl2pPr marL="457200" algn="l" defTabSz="457200" rtl="0" eaLnBrk="1" latinLnBrk="0" hangingPunct="1">
        <a:defRPr sz="1800" kern="1200">
          <a:solidFill>
            <a:schemeClr val="tx1"/>
          </a:solidFill>
          <a:latin typeface="Poppins"/>
          <a:ea typeface="+mn-ea"/>
          <a:cs typeface="+mn-cs"/>
        </a:defRPr>
      </a:lvl2pPr>
      <a:lvl3pPr marL="914400" algn="l" defTabSz="457200" rtl="0" eaLnBrk="1" latinLnBrk="0" hangingPunct="1">
        <a:defRPr sz="1800" kern="1200">
          <a:solidFill>
            <a:schemeClr val="tx1"/>
          </a:solidFill>
          <a:latin typeface="Poppins"/>
          <a:ea typeface="+mn-ea"/>
          <a:cs typeface="+mn-cs"/>
        </a:defRPr>
      </a:lvl3pPr>
      <a:lvl4pPr marL="1371600" algn="l" defTabSz="457200" rtl="0" eaLnBrk="1" latinLnBrk="0" hangingPunct="1">
        <a:defRPr sz="1800" kern="1200">
          <a:solidFill>
            <a:schemeClr val="tx1"/>
          </a:solidFill>
          <a:latin typeface="Poppins"/>
          <a:ea typeface="+mn-ea"/>
          <a:cs typeface="+mn-cs"/>
        </a:defRPr>
      </a:lvl4pPr>
      <a:lvl5pPr marL="1828800" algn="l" defTabSz="457200" rtl="0" eaLnBrk="1" latinLnBrk="0" hangingPunct="1">
        <a:defRPr sz="1800" kern="1200">
          <a:solidFill>
            <a:schemeClr val="tx1"/>
          </a:solidFill>
          <a:latin typeface="Poppins"/>
          <a:ea typeface="+mn-ea"/>
          <a:cs typeface="+mn-cs"/>
        </a:defRPr>
      </a:lvl5pPr>
      <a:lvl6pPr marL="2286000" algn="l" defTabSz="457200" rtl="0" eaLnBrk="1" latinLnBrk="0" hangingPunct="1">
        <a:defRPr sz="1800" kern="1200">
          <a:solidFill>
            <a:schemeClr val="tx1"/>
          </a:solidFill>
          <a:latin typeface="Poppins"/>
          <a:ea typeface="+mn-ea"/>
          <a:cs typeface="+mn-cs"/>
        </a:defRPr>
      </a:lvl6pPr>
      <a:lvl7pPr marL="2743200" algn="l" defTabSz="457200" rtl="0" eaLnBrk="1" latinLnBrk="0" hangingPunct="1">
        <a:defRPr sz="1800" kern="1200">
          <a:solidFill>
            <a:schemeClr val="tx1"/>
          </a:solidFill>
          <a:latin typeface="Poppins"/>
          <a:ea typeface="+mn-ea"/>
          <a:cs typeface="+mn-cs"/>
        </a:defRPr>
      </a:lvl7pPr>
      <a:lvl8pPr marL="3200400" algn="l" defTabSz="457200" rtl="0" eaLnBrk="1" latinLnBrk="0" hangingPunct="1">
        <a:defRPr sz="1800" kern="1200">
          <a:solidFill>
            <a:schemeClr val="tx1"/>
          </a:solidFill>
          <a:latin typeface="Poppins"/>
          <a:ea typeface="+mn-ea"/>
          <a:cs typeface="+mn-cs"/>
        </a:defRPr>
      </a:lvl8pPr>
      <a:lvl9pPr marL="3657600" algn="l" defTabSz="457200" rtl="0" eaLnBrk="1" latinLnBrk="0" hangingPunct="1">
        <a:defRPr sz="1800" kern="1200">
          <a:solidFill>
            <a:schemeClr val="tx1"/>
          </a:solidFill>
          <a:latin typeface="Poppins"/>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val="006847"/&gt;</a:solidFill>
        <a:effectLst/>
      </p:bgPr>
    </p:bg>
    <p:spTree>
      <p:nvGrpSpPr>
        <p:cNvPr id="1" name=""/>
        <p:cNvGrpSpPr/>
        <p:nvPr/>
      </p:nvGrpSpPr>
      <p:grpSpPr/>
      <p:sp>
        <p:nvSpPr>
          <p:cNvPr id="2" name="TextBox 1"/>
          <p:cNvSpPr txBox="1"/>
          <p:nvPr/>
        </p:nvSpPr>
        <p:spPr>
          <a:xfrm>
            <a:off x="731520" y="1371600"/>
            <a:ext cx="7680960" cy="1371600"/>
          </a:xfrm>
          <a:prstGeom prst="rect">
            <a:avLst/>
          </a:prstGeom>
          <a:noFill/>
        </p:spPr>
        <p:txBody>
          <a:bodyPr wrap="square">
            <a:spAutoFit/>
          </a:bodyPr>
          <a:lstStyle/>
          <a:p>
            <a:pPr algn="ctr">
              <a:defRPr sz="3200" b="1">
                <a:solidFill>val="FFFFFF"/&gt;</a:solidFill>
              </a:defRPr>
            </a:pPr>
            <a:r>
              <a:t>Cours TIC 01 — Introduction aux Techniques de l'Information et de la Communication</a:t>
            </a:r>
          </a:p>
        </p:txBody>
      </p:sp>
      <p:sp>
        <p:nvSpPr>
          <p:cNvPr id="3" name="TextBox 2"/>
          <p:cNvSpPr txBox="1"/>
          <p:nvPr/>
        </p:nvSpPr>
        <p:spPr>
          <a:xfrm>
            <a:off x="731520" y="2926080"/>
            <a:ext cx="7680960" cy="548640"/>
          </a:xfrm>
          <a:prstGeom prst="rect">
            <a:avLst/>
          </a:prstGeom>
          <a:noFill/>
        </p:spPr>
        <p:txBody>
          <a:bodyPr wrap="square">
            <a:spAutoFit/>
          </a:bodyPr>
          <a:lstStyle/>
          <a:p>
            <a:pPr algn="ctr">
              <a:defRPr sz="2000" b="0">
                <a:solidFill>val="DFE5EA"/&gt;</a:solidFill>
              </a:defRPr>
            </a:pPr>
            <a:r>
              <a:t>Module TIC — Dr. BELACEL Madani</a:t>
            </a:r>
          </a:p>
        </p:txBody>
      </p:sp>
      <p:sp>
        <p:nvSpPr>
          <p:cNvPr id="4" name="TextBox 3"/>
          <p:cNvSpPr txBox="1"/>
          <p:nvPr/>
        </p:nvSpPr>
        <p:spPr>
          <a:xfrm>
            <a:off x="731520" y="3657600"/>
            <a:ext cx="7680960" cy="457200"/>
          </a:xfrm>
          <a:prstGeom prst="rect">
            <a:avLst/>
          </a:prstGeom>
          <a:noFill/>
        </p:spPr>
        <p:txBody>
          <a:bodyPr wrap="square">
            <a:spAutoFit/>
          </a:bodyPr>
          <a:lstStyle/>
          <a:p>
            <a:pPr algn="ctr">
              <a:defRPr sz="1600" b="0">
                <a:solidFill>val="B7C9BE"/&gt;</a:solidFill>
              </a:defRPr>
            </a:pPr>
            <a:r>
              <a:t>Université de Mostaganem — MCB</a:t>
            </a:r>
          </a:p>
        </p:txBody>
      </p:sp>
      <p:sp>
        <p:nvSpPr>
          <p:cNvPr id="990001" name="Pied de page FLE"/>
          <p:cNvSpPr>
            <a:spLocks noGrp="1"/>
          </p:cNvSpPr>
          <p:nvPr/>
        </p:nvSpPr>
        <p:spPr>
          <a:xfrm>
            <a:off x="2880360"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l">
              <a:defRPr sz="2600" b="1">
                <a:solidFill>val="006847"/&gt;</a:solidFill>
              </a:defRPr>
            </a:pPr>
            <a:r>
              <a:t>🎯 Objectifs pédagogiques</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500">
                <a:solidFill>val="22344A"/&gt;</a:solidFill>
              </a:defRPr>
            </a:pPr>
            <a:r>
              <a:t>• En termes de savoir :- Définir les TIC et distinguer NTIC/TIC/ICT</a:t>
            </a:r>
            <a:br/>
            <a:r>
              <a:t>- Identifier les trois dimensions : technique, information, communication</a:t>
            </a:r>
            <a:br/>
            <a:r>
              <a:t>- Citer les fonctions : traitement, transmission, sauvegarde</a:t>
            </a:r>
          </a:p>
          <a:p>
            <a:pPr>
              <a:spcAft>
                <a:spcPts val="600"/>
              </a:spcAft>
              <a:defRPr sz="1500">
                <a:solidFill>val="22344A"/&gt;</a:solidFill>
              </a:defRPr>
            </a:pPr>
            <a:r>
              <a:t>• En termes de savoir-faire :- Utiliser Moodle et le courriel institutionnel</a:t>
            </a:r>
            <a:br/>
            <a:r>
              <a:t>- Nommer et classer des outils numériques par fonction</a:t>
            </a:r>
            <a:br/>
            <a:r>
              <a:t>- Évaluer la fiabilité d'une source en ligne (introduction CRAP)</a:t>
            </a:r>
          </a:p>
          <a:p>
            <a:pPr>
              <a:spcAft>
                <a:spcPts val="600"/>
              </a:spcAft>
              <a:defRPr sz="1500">
                <a:solidFill>val="22344A"/&gt;</a:solidFill>
              </a:defRPr>
            </a:pPr>
            <a:r>
              <a:t>• En termes de savoir-être :- Adopter une posture critique face au numérique</a:t>
            </a:r>
            <a:br/>
            <a:r>
              <a:t>- Respecter l'éthique académique (plagiat, vie privée)</a:t>
            </a:r>
          </a:p>
          <a:p>
            <a:pPr>
              <a:spcAft>
                <a:spcPts val="600"/>
              </a:spcAft>
              <a:defRPr sz="1500">
                <a:solidFill>val="22344A"/&gt;</a:solidFill>
              </a:defRPr>
            </a:pPr>
            <a:r>
              <a:t>• Mode d'évaluation :TD 40 % (5 exercices) + QCM Moodle 20 % + participation 10 % + examen 30 %</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l">
              <a:defRPr sz="2600" b="1">
                <a:solidFill>val="006847"/&gt;</a:solidFill>
              </a:defRPr>
            </a:pPr>
            <a:r>
              <a:t>📋 Plan du cours</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600">
                <a:solidFill>val="22344A"/&gt;</a:solidFill>
              </a:defRPr>
            </a:pPr>
            <a:r>
              <a:t>• Fiche cours — Plateforme e-learning (Moodle)</a:t>
            </a:r>
          </a:p>
          <a:p>
            <a:pPr>
              <a:spcAft>
                <a:spcPts val="600"/>
              </a:spcAft>
              <a:defRPr sz="1600">
                <a:solidFill>val="22344A"/&gt;</a:solidFill>
              </a:defRPr>
            </a:pPr>
            <a:r>
              <a:t>• Objectifs de l'enseignement</a:t>
            </a:r>
          </a:p>
          <a:p>
            <a:pPr>
              <a:spcAft>
                <a:spcPts val="600"/>
              </a:spcAft>
              <a:defRPr sz="1600">
                <a:solidFill>val="22344A"/&gt;</a:solidFill>
              </a:defRPr>
            </a:pPr>
            <a:r>
              <a:t>• Contexte réglementaire algérien</a:t>
            </a:r>
          </a:p>
          <a:p>
            <a:pPr>
              <a:spcAft>
                <a:spcPts val="600"/>
              </a:spcAft>
              <a:defRPr sz="1600">
                <a:solidFill>val="22344A"/&gt;</a:solidFill>
              </a:defRPr>
            </a:pPr>
            <a:r>
              <a:t>• Bibliographie et ressources externes</a:t>
            </a:r>
          </a:p>
          <a:p>
            <a:pPr>
              <a:spcAft>
                <a:spcPts val="600"/>
              </a:spcAft>
              <a:defRPr sz="1600">
                <a:solidFill>val="22344A"/&gt;</a:solidFill>
              </a:defRPr>
            </a:pPr>
            <a:r>
              <a:t>• Plan du Cours</a:t>
            </a:r>
          </a:p>
          <a:p>
            <a:pPr>
              <a:spcAft>
                <a:spcPts val="600"/>
              </a:spcAft>
              <a:defRPr sz="1600">
                <a:solidFill>val="22344A"/&gt;</a:solidFill>
              </a:defRPr>
            </a:pPr>
            <a:r>
              <a:t>• 1. Introduction et Importance des TIC(10 min)</a:t>
            </a:r>
          </a:p>
          <a:p>
            <a:pPr>
              <a:spcAft>
                <a:spcPts val="600"/>
              </a:spcAft>
              <a:defRPr sz="1600">
                <a:solidFill>val="22344A"/&gt;</a:solidFill>
              </a:defRPr>
            </a:pPr>
            <a:r>
              <a:t>• Convergence de trois domaines</a:t>
            </a:r>
          </a:p>
          <a:p>
            <a:pPr>
              <a:spcAft>
                <a:spcPts val="600"/>
              </a:spcAft>
              <a:defRPr sz="1600">
                <a:solidFill>val="22344A"/&gt;</a:solidFill>
              </a:defRPr>
            </a:pPr>
            <a:r>
              <a:t>• Définitions de référence</a:t>
            </a:r>
          </a:p>
          <a:p>
            <a:pPr>
              <a:spcAft>
                <a:spcPts val="600"/>
              </a:spcAft>
              <a:defRPr sz="1600">
                <a:solidFill>val="22344A"/&gt;</a:solidFill>
              </a:defRPr>
            </a:pPr>
            <a:r>
              <a:t>• 3. Évolution Historique et Terminologique (NTIC → TIC)(10 min)</a:t>
            </a:r>
          </a:p>
          <a:p>
            <a:pPr>
              <a:spcAft>
                <a:spcPts val="600"/>
              </a:spcAft>
              <a:defRPr sz="1600">
                <a:solidFill>val="22344A"/&gt;</a:solidFill>
              </a:defRPr>
            </a:pPr>
            <a:r>
              <a:t>• 4. Les Trois Dimensions Fondamentales(15 min)</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Fiche cours — Plateforme e-learning (Moodle)</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Référentiel :titres et structure alignés sur Canvas Univ-Mosta (elearning.univ-usto.dz) ; bonnes pratiques benchmark 10 universités algériennes (voirBENCHMARK_10_UNIVERSITES_ELEARNING.md).</a:t>
            </a:r>
          </a:p>
          <a:p>
            <a:pPr>
              <a:spcAft>
                <a:spcPts val="600"/>
              </a:spcAft>
              <a:defRPr sz="1400">
                <a:solidFill>val="22344A"/&gt;</a:solidFill>
              </a:defRPr>
            </a:pPr>
            <a:r>
              <a:t>• Public visé :Étudiants Licence 1 — Département Langues (FR/AN), ENS 1ère année</a:t>
            </a:r>
          </a:p>
          <a:p>
            <a:pPr>
              <a:spcAft>
                <a:spcPts val="600"/>
              </a:spcAft>
              <a:defRPr sz="1400">
                <a:solidFill>val="22344A"/&gt;</a:solidFill>
              </a:defRPr>
            </a:pPr>
            <a:r>
              <a:t>• Compétences pré-requises :Aucun prérequis informatique ; maîtrise minimale du français académique</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Objectifs de l'enseignement</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En termes de savoir :- Définir les TIC et distinguer NTIC/TIC/ICT</a:t>
            </a:r>
            <a:br/>
            <a:r>
              <a:t>- Identifier les trois dimensions : technique, information, communication</a:t>
            </a:r>
            <a:br/>
            <a:r>
              <a:t>- Citer les fonctions : traitement, transmission, sauvegarde</a:t>
            </a:r>
          </a:p>
          <a:p>
            <a:pPr>
              <a:spcAft>
                <a:spcPts val="600"/>
              </a:spcAft>
              <a:defRPr sz="1400">
                <a:solidFill>val="22344A"/&gt;</a:solidFill>
              </a:defRPr>
            </a:pPr>
            <a:r>
              <a:t>• En termes de savoir-faire :- Utiliser Moodle et le courriel institutionnel</a:t>
            </a:r>
            <a:br/>
            <a:r>
              <a:t>- Nommer et classer des outils numériques par fonction</a:t>
            </a:r>
            <a:br/>
            <a:r>
              <a:t>- Évaluer la fiabilité d'une source en ligne (introduction CRAP)</a:t>
            </a:r>
          </a:p>
          <a:p>
            <a:pPr>
              <a:spcAft>
                <a:spcPts val="600"/>
              </a:spcAft>
              <a:defRPr sz="1400">
                <a:solidFill>val="22344A"/&gt;</a:solidFill>
              </a:defRPr>
            </a:pPr>
            <a:r>
              <a:t>• En termes de savoir-être :- Adopter une posture critique face au numérique</a:t>
            </a:r>
            <a:br/>
            <a:r>
              <a:t>- Respecter l'éthique académique (plagiat, vie privée)</a:t>
            </a:r>
          </a:p>
          <a:p>
            <a:pPr>
              <a:spcAft>
                <a:spcPts val="600"/>
              </a:spcAft>
              <a:defRPr sz="1400">
                <a:solidFill>val="22344A"/&gt;</a:solidFill>
              </a:defRPr>
            </a:pPr>
            <a:r>
              <a:t>• Mode d'évaluation :TD 40 % (5 exercices) + QCM Moodle 20 % + participation 10 % + examen 30 %</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Contexte réglementaire algérien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Ce cours s'inscrit dans le cadre réglementaire algérien de la formation des enseignants :</a:t>
            </a:r>
          </a:p>
          <a:p>
            <a:pPr>
              <a:spcAft>
                <a:spcPts val="600"/>
              </a:spcAft>
              <a:defRPr sz="1400">
                <a:solidFill>val="22344A"/&gt;</a:solidFill>
              </a:defRPr>
            </a:pPr>
            <a:r>
              <a:t>• Arrêté ministériel portant création des ENS (cycle Licence/Master)— définit le cadre institutionnel.</a:t>
            </a:r>
          </a:p>
          <a:p>
            <a:pPr>
              <a:spcAft>
                <a:spcPts val="600"/>
              </a:spcAft>
              <a:defRPr sz="1400">
                <a:solidFill>val="22344A"/&gt;</a:solidFill>
              </a:defRPr>
            </a:pPr>
            <a:r>
              <a:t>• Arrêté 712 fixant le programme des concours ENS— programme des concours.</a:t>
            </a:r>
          </a:p>
          <a:p>
            <a:pPr>
              <a:spcAft>
                <a:spcPts val="600"/>
              </a:spcAft>
              <a:defRPr sz="1400">
                <a:solidFill>val="22344A"/&gt;</a:solidFill>
              </a:defRPr>
            </a:pPr>
            <a:r>
              <a:t>• Programme national de TIC pour les filières de langues étrangères— objectifs et contenus.</a:t>
            </a:r>
          </a:p>
          <a:p>
            <a:pPr>
              <a:spcAft>
                <a:spcPts val="600"/>
              </a:spcAft>
              <a:defRPr sz="1400">
                <a:solidFill>val="22344A"/&gt;</a:solidFill>
              </a:defRPr>
            </a:pPr>
            <a:r>
              <a:t>• Référentiel des compétences numériques algérien— compétences attendues.</a:t>
            </a:r>
          </a:p>
          <a:p>
            <a:pPr>
              <a:spcAft>
                <a:spcPts val="600"/>
              </a:spcAft>
              <a:defRPr sz="1400">
                <a:solidFill>val="22344A"/&gt;</a:solidFill>
              </a:defRPr>
            </a:pPr>
            <a:r>
              <a:t>• Benchmark des 10 universités algériennes— standards nationaux (BENCHMARK_10_UNIVERSITES_ELEARNING.md).</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Bibliographie et ressources externes</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UIT — définitions TIC ; UNESCO — compétences numériques ; Guide étudiant Moodle Univ. Boumerdès / Béjaïa</a:t>
            </a:r>
          </a:p>
          <a:p>
            <a:pPr>
              <a:spcAft>
                <a:spcPts val="600"/>
              </a:spcAft>
              <a:defRPr sz="1400">
                <a:solidFill>val="22344A"/&gt;</a:solidFill>
              </a:defRPr>
            </a:pPr>
            <a:r>
              <a:t>• Contact enseignant :BELACEL Madani —madani.belacel@univ-mosta.dz</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Plan du Cours</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Introduction et importance des TIC dans le monde contemporain</a:t>
            </a:r>
          </a:p>
          <a:p>
            <a:pPr>
              <a:spcAft>
                <a:spcPts val="600"/>
              </a:spcAft>
              <a:defRPr sz="1400">
                <a:solidFill>val="22344A"/&gt;</a:solidFill>
              </a:defRPr>
            </a:pPr>
            <a:r>
              <a:t>• Définition détaillée des TIC</a:t>
            </a:r>
          </a:p>
          <a:p>
            <a:pPr>
              <a:spcAft>
                <a:spcPts val="600"/>
              </a:spcAft>
              <a:defRPr sz="1400">
                <a:solidFill>val="22344A"/&gt;</a:solidFill>
              </a:defRPr>
            </a:pPr>
            <a:r>
              <a:t>• Évolution historique et terminologique (NTIC → TIC)</a:t>
            </a:r>
          </a:p>
          <a:p>
            <a:pPr>
              <a:spcAft>
                <a:spcPts val="600"/>
              </a:spcAft>
              <a:defRPr sz="1400">
                <a:solidFill>val="22344A"/&gt;</a:solidFill>
              </a:defRPr>
            </a:pPr>
            <a:r>
              <a:t>• Les trois dimensions fondamentales des TIC</a:t>
            </a:r>
          </a:p>
          <a:p>
            <a:pPr>
              <a:spcAft>
                <a:spcPts val="600"/>
              </a:spcAft>
              <a:defRPr sz="1400">
                <a:solidFill>val="22344A"/&gt;</a:solidFill>
              </a:defRPr>
            </a:pPr>
            <a:r>
              <a:t>• Rôle et fonctions des TIC (traitement, transmission, sauvegarde)</a:t>
            </a:r>
          </a:p>
          <a:p>
            <a:pPr>
              <a:spcAft>
                <a:spcPts val="600"/>
              </a:spcAft>
              <a:defRPr sz="1400">
                <a:solidFill>val="22344A"/&gt;</a:solidFill>
              </a:defRPr>
            </a:pPr>
            <a:r>
              <a:t>• Services offerts par les TIC</a:t>
            </a:r>
          </a:p>
          <a:p>
            <a:pPr>
              <a:spcAft>
                <a:spcPts val="600"/>
              </a:spcAft>
              <a:defRPr sz="1400">
                <a:solidFill>val="22344A"/&gt;</a:solidFill>
              </a:defRPr>
            </a:pPr>
            <a:r>
              <a:t>• Domaines d'application avec focus sur l'éducation</a:t>
            </a:r>
          </a:p>
          <a:p>
            <a:pPr>
              <a:spcAft>
                <a:spcPts val="600"/>
              </a:spcAft>
              <a:defRPr sz="1400">
                <a:solidFill>val="22344A"/&gt;</a:solidFill>
              </a:defRPr>
            </a:pPr>
            <a:r>
              <a:t>• Compétences numériques attendues en Licence Langues</a:t>
            </a:r>
          </a:p>
          <a:p>
            <a:pPr>
              <a:spcAft>
                <a:spcPts val="600"/>
              </a:spcAft>
              <a:defRPr sz="1400">
                <a:solidFill>val="22344A"/&gt;</a:solidFill>
              </a:defRPr>
            </a:pPr>
            <a:r>
              <a:t>• Conclusion et transition vers le cours suivant</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1. Introduction et Importance des TIC(10 min)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LesTechniques de l'Information et de la Communication(TIC) désignent l'ensemble des outils numériques qui permettent de créer, traiter, stocker, transmettre et partager l'information. Elles incluent ordinateurs, smartphones, réseaux sans fil et plateformes en ligne.</a:t>
            </a:r>
          </a:p>
          <a:p>
            <a:pPr>
              <a:spcAft>
                <a:spcPts val="600"/>
              </a:spcAft>
              <a:defRPr sz="1400">
                <a:solidFill>val="22344A"/&gt;</a:solidFill>
              </a:defRPr>
            </a:pPr>
            <a:r>
              <a:t>• Pourquoi ce cours en Licence 1 ?Dès la première année, vous utilisez les TIC pour :</a:t>
            </a:r>
          </a:p>
          <a:p>
            <a:pPr>
              <a:spcAft>
                <a:spcPts val="600"/>
              </a:spcAft>
              <a:defRPr sz="1400">
                <a:solidFill>val="22344A"/&gt;</a:solidFill>
              </a:defRPr>
            </a:pPr>
            <a:r>
              <a:t>• Accéder aux ressources: Moodle, bibliothèque numérique, polycopiés PDF</a:t>
            </a:r>
          </a:p>
          <a:p>
            <a:pPr>
              <a:spcAft>
                <a:spcPts val="600"/>
              </a:spcAft>
              <a:defRPr sz="1400">
                <a:solidFill>val="22344A"/&gt;</a:solidFill>
              </a:defRPr>
            </a:pPr>
            <a:r>
              <a:t>• Communiquer: courriel institutionnel, forums de TD</a:t>
            </a:r>
          </a:p>
          <a:p>
            <a:pPr>
              <a:spcAft>
                <a:spcPts val="600"/>
              </a:spcAft>
              <a:defRPr sz="1400">
                <a:solidFill>val="22344A"/&gt;</a:solidFill>
              </a:defRPr>
            </a:pPr>
            <a:r>
              <a:t>• Rechercher: bases documentaires, corpus linguistiques multilingues</a:t>
            </a:r>
          </a:p>
          <a:p>
            <a:pPr>
              <a:spcAft>
                <a:spcPts val="600"/>
              </a:spcAft>
              <a:defRPr sz="1400">
                <a:solidFill>val="22344A"/&gt;</a:solidFill>
              </a:defRPr>
            </a:pPr>
            <a:r>
              <a:t>• Produire: devoirs Word, présentations PowerPoint, exposés</a:t>
            </a:r>
          </a:p>
          <a:p>
            <a:pPr>
              <a:spcAft>
                <a:spcPts val="600"/>
              </a:spcAft>
              <a:defRPr sz="1400">
                <a:solidFill>val="22344A"/&gt;</a:solidFill>
              </a:defRPr>
            </a:pPr>
            <a:r>
              <a:t>• Objectif pédagogique :développer uneculture numériquesolide — savoir utiliser les outils, mais aussi comprendre leurs limites (fiabilité des sources, plagiat, vie privée).</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Convergence de trois domaines</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Informatique— traitement automatique de l'information (logiciels, bases de données)</a:t>
            </a:r>
          </a:p>
          <a:p>
            <a:pPr>
              <a:spcAft>
                <a:spcPts val="600"/>
              </a:spcAft>
              <a:defRPr sz="1400">
                <a:solidFill>val="22344A"/&gt;</a:solidFill>
              </a:defRPr>
            </a:pPr>
            <a:r>
              <a:t>• Télécommunications— transmission à distance (Internet, fibre, Wi-Fi)</a:t>
            </a:r>
          </a:p>
          <a:p>
            <a:pPr>
              <a:spcAft>
                <a:spcPts val="600"/>
              </a:spcAft>
              <a:defRPr sz="1400">
                <a:solidFill>val="22344A"/&gt;</a:solidFill>
              </a:defRPr>
            </a:pPr>
            <a:r>
              <a:t>• Audiovisuel et multimédia— texte, image, son, vidéo combinés</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Définitions de référence</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UIT :« Les TIC englobent tous les outils et systèmes qui permettent demanipuler,stockerettransmettrel'information sous formenumérique. »</a:t>
            </a:r>
          </a:p>
          <a:p>
            <a:pPr>
              <a:spcAft>
                <a:spcPts val="600"/>
              </a:spcAft>
              <a:defRPr sz="1400">
                <a:solidFill>val="22344A"/&gt;</a:solidFill>
              </a:defRPr>
            </a:pPr>
            <a:r>
              <a:t>• UNESCO :informatique, audiovisuel, multimédia, Internet et télécommunications.</a:t>
            </a:r>
          </a:p>
          <a:p>
            <a:pPr>
              <a:spcAft>
                <a:spcPts val="600"/>
              </a:spcAft>
              <a:defRPr sz="1400">
                <a:solidFill>val="22344A"/&gt;</a:solidFill>
              </a:defRPr>
            </a:pPr>
            <a:r>
              <a:t>• En anglais :Information and Communication Technologies(ICT).</a:t>
            </a:r>
          </a:p>
          <a:p>
            <a:pPr>
              <a:spcAft>
                <a:spcPts val="600"/>
              </a:spcAft>
              <a:defRPr sz="1400">
                <a:solidFill>val="22344A"/&gt;</a:solidFill>
              </a:defRPr>
            </a:pPr>
            <a:r>
              <a:t>• À retenir :une TIC est unsystème(matériel + logiciel + réseau) qui rend l'information utilisable et partageable.</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3. Évolution Historique et Terminologique (NTIC → TIC)(10 min)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Concepts associés :</a:t>
            </a:r>
          </a:p>
          <a:p>
            <a:pPr>
              <a:spcAft>
                <a:spcPts val="600"/>
              </a:spcAft>
              <a:defRPr sz="1400">
                <a:solidFill>val="22344A"/&gt;</a:solidFill>
              </a:defRPr>
            </a:pPr>
            <a:r>
              <a:t>• Numérisation: conversion en fichiers numériques (PDF, MP3, JPEG)</a:t>
            </a:r>
          </a:p>
          <a:p>
            <a:pPr>
              <a:spcAft>
                <a:spcPts val="600"/>
              </a:spcAft>
              <a:defRPr sz="1400">
                <a:solidFill>val="22344A"/&gt;</a:solidFill>
              </a:defRPr>
            </a:pPr>
            <a:r>
              <a:t>• Transformation digitale: réorganisation des activités grâce au numérique</a:t>
            </a:r>
          </a:p>
          <a:p>
            <a:pPr>
              <a:spcAft>
                <a:spcPts val="600"/>
              </a:spcAft>
              <a:defRPr sz="1400">
                <a:solidFill>val="22344A"/&gt;</a:solidFill>
              </a:defRPr>
            </a:pPr>
            <a:r>
              <a:t>• Société de l'information: l'information devient une ressource centrale</a:t>
            </a:r>
          </a:p>
          <a:p>
            <a:pPr>
              <a:spcAft>
                <a:spcPts val="600"/>
              </a:spcAft>
              <a:defRPr sz="1400">
                <a:solidFill>val="22344A"/&gt;</a:solidFill>
              </a:defRPr>
            </a:pPr>
            <a:r>
              <a:t>• Exemple :cours sur Moodle + vidéo enregistrée + devoir PDF + correction en ligne.</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val="F4F6F8"/&gt;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ctr">
              <a:defRPr sz="2600" b="1">
                <a:solidFill>val="006847"/&gt;</a:solidFill>
              </a:defRPr>
            </a:pPr>
            <a:r>
              <a:t>📝 Points clés à retenir</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600">
                <a:solidFill>val="22344A"/&gt;</a:solidFill>
              </a:defRPr>
            </a:pPr>
            <a:r>
              <a:t>• Référentiel :titres et structure alignés sur Canvas Univ-Mosta (elearning.univ-usto.dz) ; bonnes pratiques benchmark 10 universités algériennes (voirBENCHMARK_10_UNIVERSITES_ELEARNING.md).</a:t>
            </a:r>
          </a:p>
          <a:p>
            <a:pPr>
              <a:spcAft>
                <a:spcPts val="600"/>
              </a:spcAft>
              <a:defRPr sz="1600">
                <a:solidFill>val="22344A"/&gt;</a:solidFill>
              </a:defRPr>
            </a:pPr>
            <a:r>
              <a:t>• En termes de savoir :- Définir les TIC et distinguer NTIC/TIC/ICT</a:t>
            </a:r>
            <a:br/>
            <a:r>
              <a:t>- Identifier les trois dimensions : technique, information, communication</a:t>
            </a:r>
            <a:br/>
            <a:r>
              <a:t>- Citer les fonctions : traitement, transmission, sauvegarde</a:t>
            </a:r>
          </a:p>
          <a:p>
            <a:pPr>
              <a:spcAft>
                <a:spcPts val="600"/>
              </a:spcAft>
              <a:defRPr sz="1600">
                <a:solidFill>val="22344A"/&gt;</a:solidFill>
              </a:defRPr>
            </a:pPr>
            <a:r>
              <a:t>• Ce cours s'inscrit dans le cadre réglementaire algérien de la formation des enseignants :</a:t>
            </a:r>
          </a:p>
          <a:p>
            <a:pPr>
              <a:spcAft>
                <a:spcPts val="600"/>
              </a:spcAft>
              <a:defRPr sz="1600">
                <a:solidFill>val="22344A"/&gt;</a:solidFill>
              </a:defRPr>
            </a:pPr>
            <a:r>
              <a:t>• UIT — définitions TIC ; UNESCO — compétences numériques ; Guide étudiant Moodle Univ. Boumerdès / Béjaïa</a:t>
            </a:r>
          </a:p>
          <a:p>
            <a:pPr>
              <a:spcAft>
                <a:spcPts val="600"/>
              </a:spcAft>
              <a:defRPr sz="1600">
                <a:solidFill>val="22344A"/&gt;</a:solidFill>
              </a:defRPr>
            </a:pPr>
            <a:r>
              <a:t>• Introduction et importance des TIC dans le monde contemporain</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ctr">
              <a:defRPr sz="2600" b="1">
                <a:solidFill>val="006847"/&gt;</a:solidFill>
              </a:defRPr>
            </a:pPr>
            <a:r>
              <a:t>✏️ Exercices d'application</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500">
                <a:solidFill>val="22344A"/&gt;</a:solidFill>
              </a:defRPr>
            </a:pPr>
            <a:r>
              <a:t>• Définir les concepts principaux du cours</a:t>
            </a:r>
          </a:p>
          <a:p>
            <a:pPr>
              <a:spcAft>
                <a:spcPts val="600"/>
              </a:spcAft>
              <a:defRPr sz="1500">
                <a:solidFill>val="22344A"/&gt;</a:solidFill>
              </a:defRPr>
            </a:pPr>
            <a:r>
              <a:t>• Identifier les applications pratiques</a:t>
            </a:r>
          </a:p>
          <a:p>
            <a:pPr>
              <a:spcAft>
                <a:spcPts val="600"/>
              </a:spcAft>
              <a:defRPr sz="1500">
                <a:solidFill>val="22344A"/&gt;</a:solidFill>
              </a:defRPr>
            </a:pPr>
            <a:r>
              <a:t>• Résoudre les exercices du TD</a:t>
            </a:r>
          </a:p>
          <a:p>
            <a:pPr>
              <a:spcAft>
                <a:spcPts val="600"/>
              </a:spcAft>
              <a:defRPr sz="1500">
                <a:solidFill>val="22344A"/&gt;</a:solidFill>
              </a:defRPr>
            </a:pPr>
            <a:r>
              <a:t>• Synthétiser les points clés en un paragraphe</a:t>
            </a:r>
          </a:p>
          <a:p>
            <a:pPr>
              <a:spcAft>
                <a:spcPts val="600"/>
              </a:spcAft>
              <a:defRPr sz="1500">
                <a:solidFill>val="22344A"/&gt;</a:solidFill>
              </a:defRPr>
            </a:pPr>
            <a:r>
              <a:t>• Préparer une courte présentation orale</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val="006847"/&gt;</a:solidFill>
        <a:effectLst/>
      </p:bgPr>
    </p:bg>
    <p:spTree>
      <p:nvGrpSpPr>
        <p:cNvPr id="1" name=""/>
        <p:cNvGrpSpPr/>
        <p:nvPr/>
      </p:nvGrpSpPr>
      <p:grpSpPr/>
      <p:sp>
        <p:nvSpPr>
          <p:cNvPr id="2" name="TextBox 1"/>
          <p:cNvSpPr txBox="1"/>
          <p:nvPr/>
        </p:nvSpPr>
        <p:spPr>
          <a:xfrm>
            <a:off x="731520" y="1371600"/>
            <a:ext cx="7680960" cy="914400"/>
          </a:xfrm>
          <a:prstGeom prst="rect">
            <a:avLst/>
          </a:prstGeom>
          <a:noFill/>
        </p:spPr>
        <p:txBody>
          <a:bodyPr wrap="square">
            <a:spAutoFit/>
          </a:bodyPr>
          <a:lstStyle/>
          <a:p>
            <a:pPr algn="ctr">
              <a:defRPr sz="2800" b="1">
                <a:solidFill>val="FFFFFF"/&gt;</a:solidFill>
              </a:defRPr>
            </a:pPr>
            <a:r>
              <a:t>🎓 Conclusion</a:t>
            </a:r>
          </a:p>
        </p:txBody>
      </p:sp>
      <p:sp>
        <p:nvSpPr>
          <p:cNvPr id="3" name="TextBox 2"/>
          <p:cNvSpPr txBox="1"/>
          <p:nvPr/>
        </p:nvSpPr>
        <p:spPr>
          <a:xfrm>
            <a:off x="731520" y="2743200"/>
            <a:ext cx="7680960" cy="1828800"/>
          </a:xfrm>
          <a:prstGeom prst="rect">
            <a:avLst/>
          </a:prstGeom>
          <a:noFill/>
        </p:spPr>
        <p:txBody>
          <a:bodyPr wrap="square">
            <a:spAutoFit/>
          </a:bodyPr>
          <a:lstStyle/>
          <a:p>
            <a:pPr algn="ctr">
              <a:defRPr sz="1800" b="0">
                <a:solidFill>val="DFE5EA"/&gt;</a:solidFill>
              </a:defRPr>
            </a:pPr>
            <a:r>
              <a:t>Dr. BELACEL Madani</a:t>
            </a:r>
            <a:br/>
            <a:r>
              <a:t>Maître de Conférences B</a:t>
            </a:r>
            <a:br/>
            <a:r>
              <a:t>Université de Mostaganem</a:t>
            </a:r>
            <a:br/>
            <a:r>
              <a:t>madani.belacel@univ-mosta.dz</a:t>
            </a:r>
          </a:p>
        </p:txBody>
      </p:sp>
      <p:sp>
        <p:nvSpPr>
          <p:cNvPr id="990001" name="Pied de page FLE"/>
          <p:cNvSpPr>
            <a:spLocks noGrp="1"/>
          </p:cNvSpPr>
          <p:nvPr/>
        </p:nvSpPr>
        <p:spPr>
          <a:xfrm>
            <a:off x="2880360" y="4572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oppi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