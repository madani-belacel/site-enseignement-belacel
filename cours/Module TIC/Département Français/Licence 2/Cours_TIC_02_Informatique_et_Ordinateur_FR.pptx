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1371600"/>
          </a:xfrm>
          <a:prstGeom prst="rect">
            <a:avLst/>
          </a:prstGeom>
          <a:noFill/>
        </p:spPr>
        <p:txBody>
          <a:bodyPr wrap="square">
            <a:spAutoFit/>
          </a:bodyPr>
          <a:lstStyle/>
          <a:p>
            <a:pPr algn="ctr">
              <a:defRPr sz="3200" b="1">
                <a:solidFill>
                  <a:srgbClr val="FFFFFF"/>
                </a:solidFill>
              </a:defRPr>
            </a:pPr>
            <a:r>
              <a:t>Cours TIC 02 — Informatique et Architecture de l'Ordinateur</a:t>
            </a:r>
          </a:p>
        </p:txBody>
      </p:sp>
      <p:sp>
        <p:nvSpPr>
          <p:cNvPr id="3" name="TextBox 2"/>
          <p:cNvSpPr txBox="1"/>
          <p:nvPr/>
        </p:nvSpPr>
        <p:spPr>
          <a:xfrm>
            <a:off x="731520" y="2926080"/>
            <a:ext cx="7680960" cy="548640"/>
          </a:xfrm>
          <a:prstGeom prst="rect">
            <a:avLst/>
          </a:prstGeom>
          <a:noFill/>
        </p:spPr>
        <p:txBody>
          <a:bodyPr wrap="square">
            <a:spAutoFit/>
          </a:bodyPr>
          <a:lstStyle/>
          <a:p>
            <a:pPr algn="ctr">
              <a:defRPr sz="2000" b="0">
                <a:solidFill>
                  <a:srgbClr val="C5D9C7"/>
                </a:solidFill>
              </a:defRPr>
            </a:pPr>
            <a:r>
              <a:t>Module TIC — Dr. BELACEL Madani</a:t>
            </a:r>
          </a:p>
        </p:txBody>
      </p:sp>
      <p:sp>
        <p:nvSpPr>
          <p:cNvPr id="4" name="TextBox 3"/>
          <p:cNvSpPr txBox="1"/>
          <p:nvPr/>
        </p:nvSpPr>
        <p:spPr>
          <a:xfrm>
            <a:off x="731520" y="3657600"/>
            <a:ext cx="7680960" cy="457200"/>
          </a:xfrm>
          <a:prstGeom prst="rect">
            <a:avLst/>
          </a:prstGeom>
          <a:noFill/>
        </p:spPr>
        <p:txBody>
          <a:bodyPr wrap="square">
            <a:spAutoFit/>
          </a:bodyPr>
          <a:lstStyle/>
          <a:p>
            <a:pPr algn="ctr">
              <a:defRPr sz="1600" b="0">
                <a:solidFill>
                  <a:srgbClr val="A0CFA0"/>
                </a:solidFill>
              </a:defRPr>
            </a:pPr>
            <a:r>
              <a:t>Université de Mostaganem — MCB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Objectifs pédagogiques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En termes de savoir :- Décrire le modèle de von Neumann (CPU, mémoire, E/S, bus)</a:t>
            </a:r>
            <a:br/>
            <a:r>
              <a:t>- Distinguer hardware et software</a:t>
            </a:r>
            <a:br/>
            <a:r>
              <a:t>- Expliquer le rôle du système d'exploitation</a:t>
            </a:r>
          </a:p>
          <a:p>
            <a:pPr>
              <a:spcAft>
                <a:spcPts val="600"/>
              </a:spcAft>
              <a:defRPr sz="1500">
                <a:solidFill>
                  <a:srgbClr val="222222"/>
                </a:solidFill>
              </a:defRPr>
            </a:pPr>
            <a:r>
              <a:t>• En termes de savoir-faire :- Identifier les composants d'un PC portable de cours</a:t>
            </a:r>
            <a:br/>
            <a:r>
              <a:t>- Gérer l'espace disque et les formats de fichiers</a:t>
            </a:r>
            <a:br/>
            <a:r>
              <a:t>- Diagnostiquer un problème simple (câble, redémarrage)</a:t>
            </a:r>
          </a:p>
          <a:p>
            <a:pPr>
              <a:spcAft>
                <a:spcPts val="600"/>
              </a:spcAft>
              <a:defRPr sz="1500">
                <a:solidFill>
                  <a:srgbClr val="222222"/>
                </a:solidFill>
              </a:defRPr>
            </a:pPr>
            <a:r>
              <a:t>• En termes de savoir-être :- Prendre soin du matériel universitaire</a:t>
            </a:r>
            <a:br/>
            <a:r>
              <a:t>- Organiser son espace de travail numérique</a:t>
            </a:r>
          </a:p>
          <a:p>
            <a:pPr>
              <a:spcAft>
                <a:spcPts val="600"/>
              </a:spcAft>
              <a:defRPr sz="1500">
                <a:solidFill>
                  <a:srgbClr val="222222"/>
                </a:solidFill>
              </a:defRPr>
            </a:pPr>
            <a:r>
              <a:t>• Mode d'évaluation :TD 40 % + QCM 20 % + mini-projet schéma machine 20 % + examen 20 %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Plan du cours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Fiche cours — Plateforme e-learning (Moodle)</a:t>
            </a:r>
          </a:p>
          <a:p>
            <a:pPr>
              <a:spcAft>
                <a:spcPts val="600"/>
              </a:spcAft>
              <a:defRPr sz="1600">
                <a:solidFill>
                  <a:srgbClr val="222222"/>
                </a:solidFill>
              </a:defRPr>
            </a:pPr>
            <a:r>
              <a:t>• Objectifs de l'enseignement</a:t>
            </a:r>
          </a:p>
          <a:p>
            <a:pPr>
              <a:spcAft>
                <a:spcPts val="600"/>
              </a:spcAft>
              <a:defRPr sz="1600">
                <a:solidFill>
                  <a:srgbClr val="222222"/>
                </a:solidFill>
              </a:defRPr>
            </a:pPr>
            <a:r>
              <a:t>• Contexte réglementaire algérien</a:t>
            </a:r>
          </a:p>
          <a:p>
            <a:pPr>
              <a:spcAft>
                <a:spcPts val="600"/>
              </a:spcAft>
              <a:defRPr sz="1600">
                <a:solidFill>
                  <a:srgbClr val="222222"/>
                </a:solidFill>
              </a:defRPr>
            </a:pPr>
            <a:r>
              <a:t>• Bibliographie et ressources externes</a:t>
            </a:r>
          </a:p>
          <a:p>
            <a:pPr>
              <a:spcAft>
                <a:spcPts val="600"/>
              </a:spcAft>
              <a:defRPr sz="1600">
                <a:solidFill>
                  <a:srgbClr val="222222"/>
                </a:solidFill>
              </a:defRPr>
            </a:pPr>
            <a:r>
              <a:t>• Plan du Cours</a:t>
            </a:r>
          </a:p>
          <a:p>
            <a:pPr>
              <a:spcAft>
                <a:spcPts val="600"/>
              </a:spcAft>
              <a:defRPr sz="1600">
                <a:solidFill>
                  <a:srgbClr val="222222"/>
                </a:solidFill>
              </a:defRPr>
            </a:pPr>
            <a:r>
              <a:t>• 1. Introduction(10 min)</a:t>
            </a:r>
          </a:p>
          <a:p>
            <a:pPr>
              <a:spcAft>
                <a:spcPts val="600"/>
              </a:spcAft>
              <a:defRPr sz="1600">
                <a:solidFill>
                  <a:srgbClr val="222222"/>
                </a:solidFill>
              </a:defRPr>
            </a:pPr>
            <a:r>
              <a:t>• 2. Qu'est-ce que l'Informatique ?(10 min)</a:t>
            </a:r>
          </a:p>
          <a:p>
            <a:pPr>
              <a:spcAft>
                <a:spcPts val="600"/>
              </a:spcAft>
              <a:defRPr sz="1600">
                <a:solidFill>
                  <a:srgbClr val="222222"/>
                </a:solidFill>
              </a:defRPr>
            </a:pPr>
            <a:r>
              <a:t>• 3. Modèle de von Neumann(15 min)</a:t>
            </a:r>
          </a:p>
          <a:p>
            <a:pPr>
              <a:spcAft>
                <a:spcPts val="600"/>
              </a:spcAft>
              <a:defRPr sz="1600">
                <a:solidFill>
                  <a:srgbClr val="222222"/>
                </a:solidFill>
              </a:defRPr>
            </a:pPr>
            <a:r>
              <a:t>• 4. Composants Matériels(15 min)</a:t>
            </a:r>
          </a:p>
          <a:p>
            <a:pPr>
              <a:spcAft>
                <a:spcPts val="600"/>
              </a:spcAft>
              <a:defRPr sz="1600">
                <a:solidFill>
                  <a:srgbClr val="222222"/>
                </a:solidFill>
              </a:defRPr>
            </a:pPr>
            <a:r>
              <a:t>• 5. Logiciels (Software)(15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Fiche cours — Plateforme e-learning (Moodle)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400">
                <a:solidFill>
                  <a:srgbClr val="222222"/>
                </a:solidFill>
              </a:defRPr>
            </a:pPr>
            <a:r>
              <a:t>• Public visé :Licence 1 Langues, ENS 1ère année</a:t>
            </a:r>
          </a:p>
          <a:p>
            <a:pPr>
              <a:spcAft>
                <a:spcPts val="600"/>
              </a:spcAft>
              <a:defRPr sz="1400">
                <a:solidFill>
                  <a:srgbClr val="222222"/>
                </a:solidFill>
              </a:defRPr>
            </a:pPr>
            <a:r>
              <a:t>• Compétences pré-requises :Séance TIC 01 ; notions de fichiers et dossiers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Objectifs de l'enseignement</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En termes de savoir :- Décrire le modèle de von Neumann (CPU, mémoire, E/S, bus)</a:t>
            </a:r>
            <a:br/>
            <a:r>
              <a:t>- Distinguer hardware et software</a:t>
            </a:r>
            <a:br/>
            <a:r>
              <a:t>- Expliquer le rôle du système d'exploitation</a:t>
            </a:r>
          </a:p>
          <a:p>
            <a:pPr>
              <a:spcAft>
                <a:spcPts val="600"/>
              </a:spcAft>
              <a:defRPr sz="1400">
                <a:solidFill>
                  <a:srgbClr val="222222"/>
                </a:solidFill>
              </a:defRPr>
            </a:pPr>
            <a:r>
              <a:t>• En termes de savoir-faire :- Identifier les composants d'un PC portable de cours</a:t>
            </a:r>
            <a:br/>
            <a:r>
              <a:t>- Gérer l'espace disque et les formats de fichiers</a:t>
            </a:r>
            <a:br/>
            <a:r>
              <a:t>- Diagnostiquer un problème simple (câble, redémarrage)</a:t>
            </a:r>
          </a:p>
          <a:p>
            <a:pPr>
              <a:spcAft>
                <a:spcPts val="600"/>
              </a:spcAft>
              <a:defRPr sz="1400">
                <a:solidFill>
                  <a:srgbClr val="222222"/>
                </a:solidFill>
              </a:defRPr>
            </a:pPr>
            <a:r>
              <a:t>• En termes de savoir-être :- Prendre soin du matériel universitaire</a:t>
            </a:r>
            <a:br/>
            <a:r>
              <a:t>- Organiser son espace de travail numérique</a:t>
            </a:r>
          </a:p>
          <a:p>
            <a:pPr>
              <a:spcAft>
                <a:spcPts val="600"/>
              </a:spcAft>
              <a:defRPr sz="1400">
                <a:solidFill>
                  <a:srgbClr val="222222"/>
                </a:solidFill>
              </a:defRPr>
            </a:pPr>
            <a:r>
              <a:t>• Mode d'évaluation :TD 40 % + QCM 20 % + mini-projet schéma machine 20 % + examen 20 %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Contexte réglementaire algérien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Ce cours s'inscrit dans le cadre réglementaire algérien de la formation des enseignants :</a:t>
            </a:r>
          </a:p>
          <a:p>
            <a:pPr>
              <a:spcAft>
                <a:spcPts val="600"/>
              </a:spcAft>
              <a:defRPr sz="1400">
                <a:solidFill>
                  <a:srgbClr val="222222"/>
                </a:solidFill>
              </a:defRPr>
            </a:pPr>
            <a:r>
              <a:t>• Arrêté ministériel portant création des ENS (cycle Licence/Master)— définit le cadre institutionnel.</a:t>
            </a:r>
          </a:p>
          <a:p>
            <a:pPr>
              <a:spcAft>
                <a:spcPts val="600"/>
              </a:spcAft>
              <a:defRPr sz="1400">
                <a:solidFill>
                  <a:srgbClr val="222222"/>
                </a:solidFill>
              </a:defRPr>
            </a:pPr>
            <a:r>
              <a:t>• Arrêté 712 fixant le programme des concours ENS— programme des concours.</a:t>
            </a:r>
          </a:p>
          <a:p>
            <a:pPr>
              <a:spcAft>
                <a:spcPts val="600"/>
              </a:spcAft>
              <a:defRPr sz="1400">
                <a:solidFill>
                  <a:srgbClr val="222222"/>
                </a:solidFill>
              </a:defRPr>
            </a:pPr>
            <a:r>
              <a:t>• Programme national de TIC pour les filières de langues étrangères— objectifs et contenus.</a:t>
            </a:r>
          </a:p>
          <a:p>
            <a:pPr>
              <a:spcAft>
                <a:spcPts val="600"/>
              </a:spcAft>
              <a:defRPr sz="1400">
                <a:solidFill>
                  <a:srgbClr val="222222"/>
                </a:solidFill>
              </a:defRPr>
            </a:pPr>
            <a:r>
              <a:t>• Référentiel des compétences numériques algérien— compétences attendues.</a:t>
            </a:r>
          </a:p>
          <a:p>
            <a:pPr>
              <a:spcAft>
                <a:spcPts val="600"/>
              </a:spcAft>
              <a:defRPr sz="1400">
                <a:solidFill>
                  <a:srgbClr val="222222"/>
                </a:solidFill>
              </a:defRPr>
            </a:pPr>
            <a:r>
              <a:t>• Benchmark des 10 universités algériennes— standards nationaux (BENCHMARK_10_UNIVERSITES_ELEARNING.md).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Bibliographie et ressources externes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Structure Machine 1 — Univ. Biskra (elearning.univ-biskra.dz) ; Goupille — Technologie des ordinateurs</a:t>
            </a:r>
          </a:p>
          <a:p>
            <a:pPr>
              <a:spcAft>
                <a:spcPts val="600"/>
              </a:spcAft>
              <a:defRPr sz="1400">
                <a:solidFill>
                  <a:srgbClr val="222222"/>
                </a:solidFill>
              </a:defRPr>
            </a:pPr>
            <a:r>
              <a:t>• Contact enseignant :BELACEL Madani —madani.belacel@univ-mosta.dz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Plan du Cours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Introduction : Pourquoi comprendre l'ordinateur ?</a:t>
            </a:r>
          </a:p>
          <a:p>
            <a:pPr>
              <a:spcAft>
                <a:spcPts val="600"/>
              </a:spcAft>
              <a:defRPr sz="1400">
                <a:solidFill>
                  <a:srgbClr val="222222"/>
                </a:solidFill>
              </a:defRPr>
            </a:pPr>
            <a:r>
              <a:t>• Définition de l'informatique</a:t>
            </a:r>
          </a:p>
          <a:p>
            <a:pPr>
              <a:spcAft>
                <a:spcPts val="600"/>
              </a:spcAft>
              <a:defRPr sz="1400">
                <a:solidFill>
                  <a:srgbClr val="222222"/>
                </a:solidFill>
              </a:defRPr>
            </a:pPr>
            <a:r>
              <a:t>• L'ordinateur : concept et modèle de von Neumann</a:t>
            </a:r>
          </a:p>
          <a:p>
            <a:pPr>
              <a:spcAft>
                <a:spcPts val="600"/>
              </a:spcAft>
              <a:defRPr sz="1400">
                <a:solidFill>
                  <a:srgbClr val="222222"/>
                </a:solidFill>
              </a:defRPr>
            </a:pPr>
            <a:r>
              <a:t>• Composants matériels (Hardware)</a:t>
            </a:r>
          </a:p>
          <a:p>
            <a:pPr>
              <a:spcAft>
                <a:spcPts val="600"/>
              </a:spcAft>
              <a:defRPr sz="1400">
                <a:solidFill>
                  <a:srgbClr val="222222"/>
                </a:solidFill>
              </a:defRPr>
            </a:pPr>
            <a:r>
              <a:t>• Logiciels et systèmes d'exploitation (Software)</a:t>
            </a:r>
          </a:p>
          <a:p>
            <a:pPr>
              <a:spcAft>
                <a:spcPts val="600"/>
              </a:spcAft>
              <a:defRPr sz="1400">
                <a:solidFill>
                  <a:srgbClr val="222222"/>
                </a:solidFill>
              </a:defRPr>
            </a:pPr>
            <a:r>
              <a:t>• Interaction entre Hardware et Software</a:t>
            </a:r>
          </a:p>
          <a:p>
            <a:pPr>
              <a:spcAft>
                <a:spcPts val="600"/>
              </a:spcAft>
              <a:defRPr sz="1400">
                <a:solidFill>
                  <a:srgbClr val="222222"/>
                </a:solidFill>
              </a:defRPr>
            </a:pPr>
            <a:r>
              <a:t>• Bonnes pratiques pour étudiants universitaires</a:t>
            </a:r>
          </a:p>
          <a:p>
            <a:pPr>
              <a:spcAft>
                <a:spcPts val="600"/>
              </a:spcAft>
              <a:defRPr sz="1400">
                <a:solidFill>
                  <a:srgbClr val="222222"/>
                </a:solidFill>
              </a:defRPr>
            </a:pPr>
            <a:r>
              <a:t>• Conclusion et transition vers Windows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1. Introduction(10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Comprendre le fonctionnement de l'ordinateur est essentiel pour tout étudiant, même en filière Langues. Cela permet de mieux utiliser ses outils (Word, navigateur, Moodle), éviter les pertes de données, diagnostiquer les problèmes simples et organiser efficacement son espace de travail numérique.</a:t>
            </a:r>
          </a:p>
          <a:p>
            <a:pPr>
              <a:spcAft>
                <a:spcPts val="600"/>
              </a:spcAft>
              <a:defRPr sz="1400">
                <a:solidFill>
                  <a:srgbClr val="222222"/>
                </a:solidFill>
              </a:defRPr>
            </a:pPr>
            <a:r>
              <a:t>• L'ordinateur est devenule principal instrument de travail universitaire.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2. Qu'est-ce que l'Informatique ?(10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L'informatiqueest la science dutraitement automatique de l'informationà l'aide d'algorithmes exécutés par des machines. Elle inclut la théorie, le matériel (hardware), les logiciels (software) et les réseaux.</a:t>
            </a:r>
          </a:p>
          <a:p>
            <a:pPr>
              <a:spcAft>
                <a:spcPts val="600"/>
              </a:spcAft>
              <a:defRPr sz="1400">
                <a:solidFill>
                  <a:srgbClr val="222222"/>
                </a:solidFill>
              </a:defRPr>
            </a:pPr>
            <a:r>
              <a:t>• Approcheutilisateur: comprendre suffisamment pour bien utiliser l'ordinateur dans ses études.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3. Modèle de von Neumann(15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Un ordinateur est une machine programmable capable de : recevoir des données (Entrée), les traiter (CPU), les stocker temporairement (RAM), les restituer (Sortie) et les conserver (Stockage secondaire).</a:t>
            </a:r>
          </a:p>
          <a:p>
            <a:pPr>
              <a:spcAft>
                <a:spcPts val="600"/>
              </a:spcAft>
              <a:defRPr sz="1400">
                <a:solidFill>
                  <a:srgbClr val="222222"/>
                </a:solidFill>
              </a:defRPr>
            </a:pPr>
            <a:r>
              <a:t>• Ce fonctionnement suit lemodèle de von Neumann(1945), toujours utilisé aujourd'hui. Les quatre composants essentiels sont : l'unité arithmétique et logique (UAL), l'unité de contrôle, la mémoire, et les dispositifs d'entrée/sortie — reliés par unbuscommun.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4. Composants Matériels(15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Processeur (CPU): le cerveau de l'ordinateur</a:t>
            </a:r>
          </a:p>
          <a:p>
            <a:pPr>
              <a:spcAft>
                <a:spcPts val="600"/>
              </a:spcAft>
              <a:defRPr sz="1400">
                <a:solidFill>
                  <a:srgbClr val="222222"/>
                </a:solidFill>
              </a:defRPr>
            </a:pPr>
            <a:r>
              <a:t>• Carte mère: interconnexion des composants</a:t>
            </a:r>
          </a:p>
          <a:p>
            <a:pPr>
              <a:spcAft>
                <a:spcPts val="600"/>
              </a:spcAft>
              <a:defRPr sz="1400">
                <a:solidFill>
                  <a:srgbClr val="222222"/>
                </a:solidFill>
              </a:defRPr>
            </a:pPr>
            <a:r>
              <a:t>• RAM: mémoire vive volatile, très rapide</a:t>
            </a:r>
          </a:p>
          <a:p>
            <a:pPr>
              <a:spcAft>
                <a:spcPts val="600"/>
              </a:spcAft>
              <a:defRPr sz="1400">
                <a:solidFill>
                  <a:srgbClr val="222222"/>
                </a:solidFill>
              </a:defRPr>
            </a:pPr>
            <a:r>
              <a:t>• Stockage: HDD ou SSD (plus rapide)</a:t>
            </a:r>
          </a:p>
          <a:p>
            <a:pPr>
              <a:spcAft>
                <a:spcPts val="600"/>
              </a:spcAft>
              <a:defRPr sz="1400">
                <a:solidFill>
                  <a:srgbClr val="222222"/>
                </a:solidFill>
              </a:defRPr>
            </a:pPr>
            <a:r>
              <a:t>• Périphériques: entrée (clavier, souris), sortie (écran, imprimante), stockage externe (clé USB)</a:t>
            </a:r>
          </a:p>
          <a:p>
            <a:pPr>
              <a:spcAft>
                <a:spcPts val="600"/>
              </a:spcAft>
              <a:defRPr sz="1400">
                <a:solidFill>
                  <a:srgbClr val="222222"/>
                </a:solidFill>
              </a:defRPr>
            </a:pPr>
            <a:r>
              <a:t>• Point important :la RAM perd les données non sauvegardées à l'extinction.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F0E9"/>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Points clés à retenir</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600">
                <a:solidFill>
                  <a:srgbClr val="222222"/>
                </a:solidFill>
              </a:defRPr>
            </a:pPr>
            <a:r>
              <a:t>• En termes de savoir :- Décrire le modèle de von Neumann (CPU, mémoire, E/S, bus)</a:t>
            </a:r>
            <a:br/>
            <a:r>
              <a:t>- Distinguer hardware et software</a:t>
            </a:r>
            <a:br/>
            <a:r>
              <a:t>- Expliquer le rôle du système d'exploitation</a:t>
            </a:r>
          </a:p>
          <a:p>
            <a:pPr>
              <a:spcAft>
                <a:spcPts val="600"/>
              </a:spcAft>
              <a:defRPr sz="1600">
                <a:solidFill>
                  <a:srgbClr val="222222"/>
                </a:solidFill>
              </a:defRPr>
            </a:pPr>
            <a:r>
              <a:t>• Ce cours s'inscrit dans le cadre réglementaire algérien de la formation des enseignants :</a:t>
            </a:r>
          </a:p>
          <a:p>
            <a:pPr>
              <a:spcAft>
                <a:spcPts val="600"/>
              </a:spcAft>
              <a:defRPr sz="1600">
                <a:solidFill>
                  <a:srgbClr val="222222"/>
                </a:solidFill>
              </a:defRPr>
            </a:pPr>
            <a:r>
              <a:t>• Structure Machine 1 — Univ. Biskra (elearning.univ-biskra.dz) ; Goupille — Technologie des ordinateurs</a:t>
            </a:r>
          </a:p>
          <a:p>
            <a:pPr>
              <a:spcAft>
                <a:spcPts val="600"/>
              </a:spcAft>
              <a:defRPr sz="1600">
                <a:solidFill>
                  <a:srgbClr val="222222"/>
                </a:solidFill>
              </a:defRPr>
            </a:pPr>
            <a:r>
              <a:t>• Introduction : Pourquoi comprendre l'ordinateur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Exercices d'application</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Définir les concepts principaux du cours</a:t>
            </a:r>
          </a:p>
          <a:p>
            <a:pPr>
              <a:spcAft>
                <a:spcPts val="600"/>
              </a:spcAft>
              <a:defRPr sz="1500">
                <a:solidFill>
                  <a:srgbClr val="222222"/>
                </a:solidFill>
              </a:defRPr>
            </a:pPr>
            <a:r>
              <a:t>• Identifier les applications pratiques</a:t>
            </a:r>
          </a:p>
          <a:p>
            <a:pPr>
              <a:spcAft>
                <a:spcPts val="600"/>
              </a:spcAft>
              <a:defRPr sz="1500">
                <a:solidFill>
                  <a:srgbClr val="222222"/>
                </a:solidFill>
              </a:defRPr>
            </a:pPr>
            <a:r>
              <a:t>• Résoudre les exercices du TD</a:t>
            </a:r>
          </a:p>
          <a:p>
            <a:pPr>
              <a:spcAft>
                <a:spcPts val="600"/>
              </a:spcAft>
              <a:defRPr sz="1500">
                <a:solidFill>
                  <a:srgbClr val="222222"/>
                </a:solidFill>
              </a:defRPr>
            </a:pPr>
            <a:r>
              <a:t>• Synthétiser les points clés en un paragraphe</a:t>
            </a:r>
          </a:p>
          <a:p>
            <a:pPr>
              <a:spcAft>
                <a:spcPts val="600"/>
              </a:spcAft>
              <a:defRPr sz="1500">
                <a:solidFill>
                  <a:srgbClr val="222222"/>
                </a:solidFill>
              </a:defRPr>
            </a:pPr>
            <a:r>
              <a:t>• Préparer une courte présentation orale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914400"/>
          </a:xfrm>
          <a:prstGeom prst="rect">
            <a:avLst/>
          </a:prstGeom>
          <a:noFill/>
        </p:spPr>
        <p:txBody>
          <a:bodyPr wrap="square">
            <a:spAutoFit/>
          </a:bodyPr>
          <a:lstStyle/>
          <a:p>
            <a:pPr algn="ctr">
              <a:defRPr sz="2800" b="1">
                <a:solidFill>
                  <a:srgbClr val="FFFFFF"/>
                </a:solidFill>
              </a:defRPr>
            </a:pPr>
            <a:r>
              <a:t>🎓 Conclusion</a:t>
            </a:r>
          </a:p>
        </p:txBody>
      </p:sp>
      <p:sp>
        <p:nvSpPr>
          <p:cNvPr id="3" name="TextBox 2"/>
          <p:cNvSpPr txBox="1"/>
          <p:nvPr/>
        </p:nvSpPr>
        <p:spPr>
          <a:xfrm>
            <a:off x="731520" y="2743200"/>
            <a:ext cx="7680960" cy="1828800"/>
          </a:xfrm>
          <a:prstGeom prst="rect">
            <a:avLst/>
          </a:prstGeom>
          <a:noFill/>
        </p:spPr>
        <p:txBody>
          <a:bodyPr wrap="square">
            <a:spAutoFit/>
          </a:bodyPr>
          <a:lstStyle/>
          <a:p>
            <a:pPr algn="ctr">
              <a:defRPr sz="1800" b="0">
                <a:solidFill>
                  <a:srgbClr val="C5D9C7"/>
                </a:solidFill>
              </a:defRPr>
            </a:pPr>
            <a:r>
              <a:t>Dr. BELACEL Madani</a:t>
            </a:r>
            <a:br/>
            <a:r>
              <a:t>Maître de Conférences B</a:t>
            </a:r>
            <a:br/>
            <a:r>
              <a:t>Université de Mostaganem</a:t>
            </a:r>
            <a:br/>
            <a:r>
              <a:t>madani.belacel@univ-mosta.dz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