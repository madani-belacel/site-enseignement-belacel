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02 — Informatique et Architecture de l'Ordinateur</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Décrire le modèle de von Neumann (CPU, mémoire, E/S, bus)</a:t>
            </a:r>
            <a:br/>
            <a:r>
              <a:t>- Distinguer hardware et software</a:t>
            </a:r>
            <a:br/>
            <a:r>
              <a:t>- Expliquer le rôle du système d'exploitation</a:t>
            </a:r>
          </a:p>
          <a:p>
            <a:pPr>
              <a:spcAft>
                <a:spcPts val="600"/>
              </a:spcAft>
              <a:defRPr sz="1500">
                <a:solidFill>val="22344A"/&gt;</a:solidFill>
              </a:defRPr>
            </a:pPr>
            <a:r>
              <a:t>• En termes de savoir-faire :- Identifier les composants d'un PC portable de cours</a:t>
            </a:r>
            <a:br/>
            <a:r>
              <a:t>- Gérer l'espace disque et les formats de fichiers</a:t>
            </a:r>
            <a:br/>
            <a:r>
              <a:t>- Diagnostiquer un problème simple (câble, redémarrage)</a:t>
            </a:r>
          </a:p>
          <a:p>
            <a:pPr>
              <a:spcAft>
                <a:spcPts val="600"/>
              </a:spcAft>
              <a:defRPr sz="1500">
                <a:solidFill>val="22344A"/&gt;</a:solidFill>
              </a:defRPr>
            </a:pPr>
            <a:r>
              <a:t>• En termes de savoir-être :- Prendre soin du matériel universitaire</a:t>
            </a:r>
            <a:br/>
            <a:r>
              <a:t>- Organiser son espace de travail numérique</a:t>
            </a:r>
          </a:p>
          <a:p>
            <a:pPr>
              <a:spcAft>
                <a:spcPts val="600"/>
              </a:spcAft>
              <a:defRPr sz="1500">
                <a:solidFill>val="22344A"/&gt;</a:solidFill>
              </a:defRPr>
            </a:pPr>
            <a:r>
              <a:t>• Mode d'évaluation :TD 40 % + QCM 20 % + mini-projet schéma machine 20 % + examen 20 %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Contexte réglementaire algérien</a:t>
            </a:r>
          </a:p>
          <a:p>
            <a:pPr>
              <a:spcAft>
                <a:spcPts val="600"/>
              </a:spcAft>
              <a:defRPr sz="1600">
                <a:solidFill>val="22344A"/&gt;</a:solidFill>
              </a:defRPr>
            </a:pPr>
            <a:r>
              <a:t>• Bibliographie et ressources externes</a:t>
            </a:r>
          </a:p>
          <a:p>
            <a:pPr>
              <a:spcAft>
                <a:spcPts val="600"/>
              </a:spcAft>
              <a:defRPr sz="1600">
                <a:solidFill>val="22344A"/&gt;</a:solidFill>
              </a:defRPr>
            </a:pPr>
            <a:r>
              <a:t>• Plan du Cours</a:t>
            </a:r>
          </a:p>
          <a:p>
            <a:pPr>
              <a:spcAft>
                <a:spcPts val="600"/>
              </a:spcAft>
              <a:defRPr sz="1600">
                <a:solidFill>val="22344A"/&gt;</a:solidFill>
              </a:defRPr>
            </a:pPr>
            <a:r>
              <a:t>• 1. Introduction(10 min)</a:t>
            </a:r>
          </a:p>
          <a:p>
            <a:pPr>
              <a:spcAft>
                <a:spcPts val="600"/>
              </a:spcAft>
              <a:defRPr sz="1600">
                <a:solidFill>val="22344A"/&gt;</a:solidFill>
              </a:defRPr>
            </a:pPr>
            <a:r>
              <a:t>• 2. Qu'est-ce que l'Informatique ?(10 min)</a:t>
            </a:r>
          </a:p>
          <a:p>
            <a:pPr>
              <a:spcAft>
                <a:spcPts val="600"/>
              </a:spcAft>
              <a:defRPr sz="1600">
                <a:solidFill>val="22344A"/&gt;</a:solidFill>
              </a:defRPr>
            </a:pPr>
            <a:r>
              <a:t>• 3. Modèle de von Neumann(15 min)</a:t>
            </a:r>
          </a:p>
          <a:p>
            <a:pPr>
              <a:spcAft>
                <a:spcPts val="600"/>
              </a:spcAft>
              <a:defRPr sz="1600">
                <a:solidFill>val="22344A"/&gt;</a:solidFill>
              </a:defRPr>
            </a:pPr>
            <a:r>
              <a:t>• 4. Composants Matériels(15 min)</a:t>
            </a:r>
          </a:p>
          <a:p>
            <a:pPr>
              <a:spcAft>
                <a:spcPts val="600"/>
              </a:spcAft>
              <a:defRPr sz="1600">
                <a:solidFill>val="22344A"/&gt;</a:solidFill>
              </a:defRPr>
            </a:pPr>
            <a:r>
              <a:t>• 5. Logiciels (Software)(15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400">
                <a:solidFill>val="22344A"/&gt;</a:solidFill>
              </a:defRPr>
            </a:pPr>
            <a:r>
              <a:t>• Public visé :Licence 1 Langues, ENS 1ère année</a:t>
            </a:r>
          </a:p>
          <a:p>
            <a:pPr>
              <a:spcAft>
                <a:spcPts val="600"/>
              </a:spcAft>
              <a:defRPr sz="1400">
                <a:solidFill>val="22344A"/&gt;</a:solidFill>
              </a:defRPr>
            </a:pPr>
            <a:r>
              <a:t>• Compétences pré-requises :Séance TIC 01 ; notions de fichiers et dossiers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Décrire le modèle de von Neumann (CPU, mémoire, E/S, bus)</a:t>
            </a:r>
            <a:br/>
            <a:r>
              <a:t>- Distinguer hardware et software</a:t>
            </a:r>
            <a:br/>
            <a:r>
              <a:t>- Expliquer le rôle du système d'exploitation</a:t>
            </a:r>
          </a:p>
          <a:p>
            <a:pPr>
              <a:spcAft>
                <a:spcPts val="600"/>
              </a:spcAft>
              <a:defRPr sz="1400">
                <a:solidFill>val="22344A"/&gt;</a:solidFill>
              </a:defRPr>
            </a:pPr>
            <a:r>
              <a:t>• En termes de savoir-faire :- Identifier les composants d'un PC portable de cours</a:t>
            </a:r>
            <a:br/>
            <a:r>
              <a:t>- Gérer l'espace disque et les formats de fichiers</a:t>
            </a:r>
            <a:br/>
            <a:r>
              <a:t>- Diagnostiquer un problème simple (câble, redémarrage)</a:t>
            </a:r>
          </a:p>
          <a:p>
            <a:pPr>
              <a:spcAft>
                <a:spcPts val="600"/>
              </a:spcAft>
              <a:defRPr sz="1400">
                <a:solidFill>val="22344A"/&gt;</a:solidFill>
              </a:defRPr>
            </a:pPr>
            <a:r>
              <a:t>• En termes de savoir-être :- Prendre soin du matériel universitaire</a:t>
            </a:r>
            <a:br/>
            <a:r>
              <a:t>- Organiser son espace de travail numérique</a:t>
            </a:r>
          </a:p>
          <a:p>
            <a:pPr>
              <a:spcAft>
                <a:spcPts val="600"/>
              </a:spcAft>
              <a:defRPr sz="1400">
                <a:solidFill>val="22344A"/&gt;</a:solidFill>
              </a:defRPr>
            </a:pPr>
            <a:r>
              <a:t>• Mode d'évaluation :TD 40 % + QCM 20 % + mini-projet schéma machine 20 % + examen 20 %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Ce cours s'inscrit dans le cadre réglementaire algérien de la formation des enseignants :</a:t>
            </a:r>
          </a:p>
          <a:p>
            <a:pPr>
              <a:spcAft>
                <a:spcPts val="600"/>
              </a:spcAft>
              <a:defRPr sz="1400">
                <a:solidFill>val="22344A"/&gt;</a:solidFill>
              </a:defRPr>
            </a:pPr>
            <a:r>
              <a:t>• Arrêté ministériel portant création des ENS (cycle Licence/Master)— définit le cadre institutionnel.</a:t>
            </a:r>
          </a:p>
          <a:p>
            <a:pPr>
              <a:spcAft>
                <a:spcPts val="600"/>
              </a:spcAft>
              <a:defRPr sz="1400">
                <a:solidFill>val="22344A"/&gt;</a:solidFill>
              </a:defRPr>
            </a:pPr>
            <a:r>
              <a:t>• Arrêté 712 fixant le programme des concours ENS— programme des concours.</a:t>
            </a:r>
          </a:p>
          <a:p>
            <a:pPr>
              <a:spcAft>
                <a:spcPts val="600"/>
              </a:spcAft>
              <a:defRPr sz="1400">
                <a:solidFill>val="22344A"/&gt;</a:solidFill>
              </a:defRPr>
            </a:pPr>
            <a:r>
              <a:t>• Programme national de TIC pour les filières de langues étrangères— objectifs et contenus.</a:t>
            </a:r>
          </a:p>
          <a:p>
            <a:pPr>
              <a:spcAft>
                <a:spcPts val="600"/>
              </a:spcAft>
              <a:defRPr sz="1400">
                <a:solidFill>val="22344A"/&gt;</a:solidFill>
              </a:defRPr>
            </a:pPr>
            <a:r>
              <a:t>• Référentiel des compétences numériques algérien— compétences attendues.</a:t>
            </a:r>
          </a:p>
          <a:p>
            <a:pPr>
              <a:spcAft>
                <a:spcPts val="600"/>
              </a:spcAft>
              <a:defRPr sz="1400">
                <a:solidFill>val="22344A"/&gt;</a:solidFill>
              </a:defRPr>
            </a:pPr>
            <a:r>
              <a:t>• Benchmark des 10 universités algériennes— standards nationaux (BENCHMARK_10_UNIVERSITES_ELEARNING.md).</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Structure Machine 1 — Univ. Biskra (elearning.univ-biskra.dz) ; Goupille — Technologie des ordinateurs</a:t>
            </a:r>
          </a:p>
          <a:p>
            <a:pPr>
              <a:spcAft>
                <a:spcPts val="600"/>
              </a:spcAft>
              <a:defRPr sz="1400">
                <a:solidFill>val="22344A"/&gt;</a:solidFill>
              </a:defRPr>
            </a:pPr>
            <a:r>
              <a:t>• Contact enseignant :BELACEL Madani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 Pourquoi comprendre l'ordinateur ?</a:t>
            </a:r>
          </a:p>
          <a:p>
            <a:pPr>
              <a:spcAft>
                <a:spcPts val="600"/>
              </a:spcAft>
              <a:defRPr sz="1400">
                <a:solidFill>val="22344A"/&gt;</a:solidFill>
              </a:defRPr>
            </a:pPr>
            <a:r>
              <a:t>• Définition de l'informatique</a:t>
            </a:r>
          </a:p>
          <a:p>
            <a:pPr>
              <a:spcAft>
                <a:spcPts val="600"/>
              </a:spcAft>
              <a:defRPr sz="1400">
                <a:solidFill>val="22344A"/&gt;</a:solidFill>
              </a:defRPr>
            </a:pPr>
            <a:r>
              <a:t>• L'ordinateur : concept et modèle de von Neumann</a:t>
            </a:r>
          </a:p>
          <a:p>
            <a:pPr>
              <a:spcAft>
                <a:spcPts val="600"/>
              </a:spcAft>
              <a:defRPr sz="1400">
                <a:solidFill>val="22344A"/&gt;</a:solidFill>
              </a:defRPr>
            </a:pPr>
            <a:r>
              <a:t>• Composants matériels (Hardware)</a:t>
            </a:r>
          </a:p>
          <a:p>
            <a:pPr>
              <a:spcAft>
                <a:spcPts val="600"/>
              </a:spcAft>
              <a:defRPr sz="1400">
                <a:solidFill>val="22344A"/&gt;</a:solidFill>
              </a:defRPr>
            </a:pPr>
            <a:r>
              <a:t>• Logiciels et systèmes d'exploitation (Software)</a:t>
            </a:r>
          </a:p>
          <a:p>
            <a:pPr>
              <a:spcAft>
                <a:spcPts val="600"/>
              </a:spcAft>
              <a:defRPr sz="1400">
                <a:solidFill>val="22344A"/&gt;</a:solidFill>
              </a:defRPr>
            </a:pPr>
            <a:r>
              <a:t>• Interaction entre Hardware et Software</a:t>
            </a:r>
          </a:p>
          <a:p>
            <a:pPr>
              <a:spcAft>
                <a:spcPts val="600"/>
              </a:spcAft>
              <a:defRPr sz="1400">
                <a:solidFill>val="22344A"/&gt;</a:solidFill>
              </a:defRPr>
            </a:pPr>
            <a:r>
              <a:t>• Bonnes pratiques pour étudiants universitaires</a:t>
            </a:r>
          </a:p>
          <a:p>
            <a:pPr>
              <a:spcAft>
                <a:spcPts val="600"/>
              </a:spcAft>
              <a:defRPr sz="1400">
                <a:solidFill>val="22344A"/&gt;</a:solidFill>
              </a:defRPr>
            </a:pPr>
            <a:r>
              <a:t>• Conclusion et transition vers Windows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1. Introduction(10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Comprendre le fonctionnement de l'ordinateur est essentiel pour tout étudiant, même en filière Langues. Cela permet de mieux utiliser ses outils (Word, navigateur, Moodle), éviter les pertes de données, diagnostiquer les problèmes simples et organiser efficacement son espace de travail numérique.</a:t>
            </a:r>
          </a:p>
          <a:p>
            <a:pPr>
              <a:spcAft>
                <a:spcPts val="600"/>
              </a:spcAft>
              <a:defRPr sz="1400">
                <a:solidFill>val="22344A"/&gt;</a:solidFill>
              </a:defRPr>
            </a:pPr>
            <a:r>
              <a:t>• L'ordinateur est devenule principal instrument de travail universitaire.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2. Qu'est-ce que l'Informatique ?(10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L'informatiqueest la science dutraitement automatique de l'informationà l'aide d'algorithmes exécutés par des machines. Elle inclut la théorie, le matériel (hardware), les logiciels (software) et les réseaux.</a:t>
            </a:r>
          </a:p>
          <a:p>
            <a:pPr>
              <a:spcAft>
                <a:spcPts val="600"/>
              </a:spcAft>
              <a:defRPr sz="1400">
                <a:solidFill>val="22344A"/&gt;</a:solidFill>
              </a:defRPr>
            </a:pPr>
            <a:r>
              <a:t>• Approcheutilisateur: comprendre suffisamment pour bien utiliser l'ordinateur dans ses études.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3. Modèle de von Neumann(15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Un ordinateur est une machine programmable capable de : recevoir des données (Entrée), les traiter (CPU), les stocker temporairement (RAM), les restituer (Sortie) et les conserver (Stockage secondaire).</a:t>
            </a:r>
          </a:p>
          <a:p>
            <a:pPr>
              <a:spcAft>
                <a:spcPts val="600"/>
              </a:spcAft>
              <a:defRPr sz="1400">
                <a:solidFill>val="22344A"/&gt;</a:solidFill>
              </a:defRPr>
            </a:pPr>
            <a:r>
              <a:t>• Ce fonctionnement suit lemodèle de von Neumann(1945), toujours utilisé aujourd'hui. Les quatre composants essentiels sont : l'unité arithmétique et logique (UAL), l'unité de contrôle, la mémoire, et les dispositifs d'entrée/sortie — reliés par unbuscommun.</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4. Composants Matériels(15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Processeur (CPU): le cerveau de l'ordinateur</a:t>
            </a:r>
          </a:p>
          <a:p>
            <a:pPr>
              <a:spcAft>
                <a:spcPts val="600"/>
              </a:spcAft>
              <a:defRPr sz="1400">
                <a:solidFill>val="22344A"/&gt;</a:solidFill>
              </a:defRPr>
            </a:pPr>
            <a:r>
              <a:t>• Carte mère: interconnexion des composants</a:t>
            </a:r>
          </a:p>
          <a:p>
            <a:pPr>
              <a:spcAft>
                <a:spcPts val="600"/>
              </a:spcAft>
              <a:defRPr sz="1400">
                <a:solidFill>val="22344A"/&gt;</a:solidFill>
              </a:defRPr>
            </a:pPr>
            <a:r>
              <a:t>• RAM: mémoire vive volatile, très rapide</a:t>
            </a:r>
          </a:p>
          <a:p>
            <a:pPr>
              <a:spcAft>
                <a:spcPts val="600"/>
              </a:spcAft>
              <a:defRPr sz="1400">
                <a:solidFill>val="22344A"/&gt;</a:solidFill>
              </a:defRPr>
            </a:pPr>
            <a:r>
              <a:t>• Stockage: HDD ou SSD (plus rapide)</a:t>
            </a:r>
          </a:p>
          <a:p>
            <a:pPr>
              <a:spcAft>
                <a:spcPts val="600"/>
              </a:spcAft>
              <a:defRPr sz="1400">
                <a:solidFill>val="22344A"/&gt;</a:solidFill>
              </a:defRPr>
            </a:pPr>
            <a:r>
              <a:t>• Périphériques: entrée (clavier, souris), sortie (écran, imprimante), stockage externe (clé USB)</a:t>
            </a:r>
          </a:p>
          <a:p>
            <a:pPr>
              <a:spcAft>
                <a:spcPts val="600"/>
              </a:spcAft>
              <a:defRPr sz="1400">
                <a:solidFill>val="22344A"/&gt;</a:solidFill>
              </a:defRPr>
            </a:pPr>
            <a:r>
              <a:t>• Point important :la RAM perd les données non sauvegardées à l'extinction.</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600">
                <a:solidFill>val="22344A"/&gt;</a:solidFill>
              </a:defRPr>
            </a:pPr>
            <a:r>
              <a:t>• En termes de savoir :- Décrire le modèle de von Neumann (CPU, mémoire, E/S, bus)</a:t>
            </a:r>
            <a:br/>
            <a:r>
              <a:t>- Distinguer hardware et software</a:t>
            </a:r>
            <a:br/>
            <a:r>
              <a:t>- Expliquer le rôle du système d'exploitation</a:t>
            </a:r>
          </a:p>
          <a:p>
            <a:pPr>
              <a:spcAft>
                <a:spcPts val="600"/>
              </a:spcAft>
              <a:defRPr sz="1600">
                <a:solidFill>val="22344A"/&gt;</a:solidFill>
              </a:defRPr>
            </a:pPr>
            <a:r>
              <a:t>• Ce cours s'inscrit dans le cadre réglementaire algérien de la formation des enseignants :</a:t>
            </a:r>
          </a:p>
          <a:p>
            <a:pPr>
              <a:spcAft>
                <a:spcPts val="600"/>
              </a:spcAft>
              <a:defRPr sz="1600">
                <a:solidFill>val="22344A"/&gt;</a:solidFill>
              </a:defRPr>
            </a:pPr>
            <a:r>
              <a:t>• Structure Machine 1 — Univ. Biskra (elearning.univ-biskra.dz) ; Goupille — Technologie des ordinateurs</a:t>
            </a:r>
          </a:p>
          <a:p>
            <a:pPr>
              <a:spcAft>
                <a:spcPts val="600"/>
              </a:spcAft>
              <a:defRPr sz="1600">
                <a:solidFill>val="22344A"/&gt;</a:solidFill>
              </a:defRPr>
            </a:pPr>
            <a:r>
              <a:t>• Introduction : Pourquoi comprendre l'ordinateur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