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Poppins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Poppins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Poppins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Poppins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Poppins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Poppins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val="006847"/&gt;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0"/>
            <a:ext cx="76809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val="FFFFFF"/&gt;</a:solidFill>
              </a:defRPr>
            </a:pPr>
            <a:r>
              <a:t>Cours TIC 05 — Microsoft Excel : Bases et Usages Académiques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926080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val="DFE5EA"/&gt;</a:solidFill>
              </a:defRPr>
            </a:pPr>
            <a:r>
              <a:t>Module TIC — Dr. BELACEL Madani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657600"/>
            <a:ext cx="7680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val="B7C9BE"/&gt;</a:solidFill>
              </a:defRPr>
            </a:pPr>
            <a:r>
              <a:t>Université de Mostaganem — MCB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2880360" y="9144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7772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val="006847"/&gt;</a:solidFill>
              </a:defRPr>
            </a:pPr>
            <a:r>
              <a:t>🎯 Objectifs pédagogiques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8288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val="22344A"/&gt;</a:solidFill>
              </a:defRPr>
            </a:pPr>
            <a:r>
              <a:t>• En termes de savoir :- Comprendre cellule, ligne, colonne, feuille, classeur</a:t>
            </a:r>
            <a:br/>
            <a:r>
              <a:t>- Utiliser formules SOMME, MOYENNE, SI</a:t>
            </a:r>
          </a:p>
          <a:p>
            <a:pPr>
              <a:spcAft>
                <a:spcPts val="600"/>
              </a:spcAft>
              <a:defRPr sz="1500">
                <a:solidFill>val="22344A"/&gt;</a:solidFill>
              </a:defRPr>
            </a:pPr>
            <a:r>
              <a:t>• En termes de savoir-faire :- Créer un tableau de notes avec calcul automatique</a:t>
            </a:r>
            <a:br/>
            <a:r>
              <a:t>- Mettre en forme et graphique simple</a:t>
            </a:r>
            <a:br/>
            <a:r>
              <a:t>- Exporter vers PowerPoint ou PDF</a:t>
            </a:r>
          </a:p>
          <a:p>
            <a:pPr>
              <a:spcAft>
                <a:spcPts val="600"/>
              </a:spcAft>
              <a:defRPr sz="1500">
                <a:solidFill>val="22344A"/&gt;</a:solidFill>
              </a:defRPr>
            </a:pPr>
            <a:r>
              <a:t>• En termes de savoir-être :- Vérifier cohérence des données saisies</a:t>
            </a:r>
          </a:p>
          <a:p>
            <a:pPr>
              <a:spcAft>
                <a:spcPts val="600"/>
              </a:spcAft>
              <a:defRPr sz="1500">
                <a:solidFill>val="22344A"/&gt;</a:solidFill>
              </a:defRPr>
            </a:pPr>
            <a:r>
              <a:t>• Mode d'évaluation :TD 45 % + fichier Excel noté 35 % + QCM 20 %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2971800" y="18288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7772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val="006847"/&gt;</a:solidFill>
              </a:defRPr>
            </a:pPr>
            <a:r>
              <a:t>📋 Plan du cours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8288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Fiche cours — Plateforme e-learning (Moodle)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Objectifs de l'enseignement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Bibliographie et ressources externes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Plan du Cours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2971800" y="18288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val="006847"/&gt;</a:solidFill>
              </a:defRPr>
            </a:pPr>
            <a:r>
              <a:t>Fiche cours — Plateforme e-learning (Moodle)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Référentiel :titres et structure alignés sur Canvas Univ-Mosta (elearning.univ-usto.dz) ; bonnes pratiques benchmark 10 universités algériennes (voirBENCHMARK_10_UNIVERSITES_ELEARNING.md).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Public visé :Licence 1 — tableaux et données simples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Compétences pré-requises :TIC 04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-228600" y="6400800"/>
            <a:ext cx="109728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val="006847"/&gt;</a:solidFill>
              </a:defRPr>
            </a:pPr>
            <a:r>
              <a:t>Objectifs de l'enseignement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En termes de savoir :- Comprendre cellule, ligne, colonne, feuille, classeur</a:t>
            </a:r>
            <a:br/>
            <a:r>
              <a:t>- Utiliser formules SOMME, MOYENNE, SI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En termes de savoir-faire :- Créer un tableau de notes avec calcul automatique</a:t>
            </a:r>
            <a:br/>
            <a:r>
              <a:t>- Mettre en forme et graphique simple</a:t>
            </a:r>
            <a:br/>
            <a:r>
              <a:t>- Exporter vers PowerPoint ou PDF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En termes de savoir-être :- Vérifier cohérence des données saisies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Mode d'évaluation :TD 45 % + fichier Excel noté 35 % + QCM 20 %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-228600" y="6400800"/>
            <a:ext cx="109728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val="006847"/&gt;</a:solidFill>
              </a:defRPr>
            </a:pPr>
            <a:r>
              <a:t>Bibliographie et ressources externes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Guides Microsoft Learn — Excel fondamentaux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Contact enseignant :BELACEL Madani —madani.belacel@univ-mosta.dz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-228600" y="6400800"/>
            <a:ext cx="109728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val="006847"/&gt;</a:solidFill>
              </a:defRPr>
            </a:pPr>
            <a:r>
              <a:t>Plan du Cours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Introduction : Pourquoi utiliser Excel à l'université ?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Interface et concepts de base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Saisie, mise en forme et organisation des données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Formules et fonctions essentielles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Références relatives et absolues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Création et personnalisation de graphiques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Bonnes pratiques et export pour usage académique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Conclusion et transition vers PowerPoint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-228600" y="6400800"/>
            <a:ext cx="109728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0"/>
            <a:ext cx="7772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val="006847"/&gt;</a:solidFill>
              </a:defRPr>
            </a:pPr>
            <a:r>
              <a:t>📝 Points clés à retenir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8288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Référentiel :titres et structure alignés sur Canvas Univ-Mosta (elearning.univ-usto.dz) ; bonnes pratiques benchmark 10 universités algériennes (voirBENCHMARK_10_UNIVERSITES_ELEARNING.md).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En termes de savoir :- Comprendre cellule, ligne, colonne, feuille, classeur</a:t>
            </a:r>
            <a:br/>
            <a:r>
              <a:t>- Utiliser formules SOMME, MOYENNE, SI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Guides Microsoft Learn — Excel fondamentaux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-228600" y="6400800"/>
            <a:ext cx="109728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0"/>
            <a:ext cx="7772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val="006847"/&gt;</a:solidFill>
              </a:defRPr>
            </a:pPr>
            <a:r>
              <a:t>📝 Points clés à retenir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8288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Référentiel :titres et structure alignés sur Canvas Univ-Mosta (elearning.univ-usto.dz) ; bonnes pratiques benchmark 10 universités algériennes (voirBENCHMARK_10_UNIVERSITES_ELEARNING.md).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En termes de savoir :- Comprendre cellule, ligne, colonne, feuille, classeur</a:t>
            </a:r>
            <a:br/>
            <a:r>
              <a:t>- Utiliser formules SOMME, MOYENNE, SI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Guides Microsoft Learn — Excel fondamentaux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-228600" y="6400800"/>
            <a:ext cx="109728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0"/>
            <a:ext cx="7772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val="006847"/&gt;</a:solidFill>
              </a:defRPr>
            </a:pPr>
            <a:r>
              <a:t>📝 Points clés à retenir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8288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Référentiel :titres et structure alignés sur Canvas Univ-Mosta (elearning.univ-usto.dz) ; bonnes pratiques benchmark 10 universités algériennes (voirBENCHMARK_10_UNIVERSITES_ELEARNING.md).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En termes de savoir :- Comprendre cellule, ligne, colonne, feuille, classeur</a:t>
            </a:r>
            <a:br/>
            <a:r>
              <a:t>- Utiliser formules SOMME, MOYENNE, SI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Guides Microsoft Learn — Excel fondamentaux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-228600" y="6400800"/>
            <a:ext cx="109728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0"/>
            <a:ext cx="7772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val="006847"/&gt;</a:solidFill>
              </a:defRPr>
            </a:pPr>
            <a:r>
              <a:t>📝 Points clés à retenir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8288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Référentiel :titres et structure alignés sur Canvas Univ-Mosta (elearning.univ-usto.dz) ; bonnes pratiques benchmark 10 universités algériennes (voirBENCHMARK_10_UNIVERSITES_ELEARNING.md).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En termes de savoir :- Comprendre cellule, ligne, colonne, feuille, classeur</a:t>
            </a:r>
            <a:br/>
            <a:r>
              <a:t>- Utiliser formules SOMME, MOYENNE, SI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Guides Microsoft Learn — Excel fondamentaux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-228600" y="6400800"/>
            <a:ext cx="109728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0"/>
            <a:ext cx="7772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val="006847"/&gt;</a:solidFill>
              </a:defRPr>
            </a:pPr>
            <a:r>
              <a:t>📝 Points clés à retenir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8288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Référentiel :titres et structure alignés sur Canvas Univ-Mosta (elearning.univ-usto.dz) ; bonnes pratiques benchmark 10 universités algériennes (voirBENCHMARK_10_UNIVERSITES_ELEARNING.md).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En termes de savoir :- Comprendre cellule, ligne, colonne, feuille, classeur</a:t>
            </a:r>
            <a:br/>
            <a:r>
              <a:t>- Utiliser formules SOMME, MOYENNE, SI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Guides Microsoft Learn — Excel fondamentaux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-228600" y="6400800"/>
            <a:ext cx="109728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val="F4F6F8"/&gt;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7772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val="006847"/&gt;</a:solidFill>
              </a:defRPr>
            </a:pPr>
            <a:r>
              <a:t>📝 Points clés à retenir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8288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Référentiel :titres et structure alignés sur Canvas Univ-Mosta (elearning.univ-usto.dz) ; bonnes pratiques benchmark 10 universités algériennes (voirBENCHMARK_10_UNIVERSITES_ELEARNING.md).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En termes de savoir :- Comprendre cellule, ligne, colonne, feuille, classeur</a:t>
            </a:r>
            <a:br/>
            <a:r>
              <a:t>- Utiliser formules SOMME, MOYENNE, SI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Guides Microsoft Learn — Excel fondamentaux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Introduction : Pourquoi utiliser Excel à l'université ?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2971800" y="18288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7772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val="006847"/&gt;</a:solidFill>
              </a:defRPr>
            </a:pPr>
            <a:r>
              <a:t>✏️ Exercices d'application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8288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val="22344A"/&gt;</a:solidFill>
              </a:defRPr>
            </a:pPr>
            <a:r>
              <a:t>• Définir les concepts principaux du cours</a:t>
            </a:r>
          </a:p>
          <a:p>
            <a:pPr>
              <a:spcAft>
                <a:spcPts val="600"/>
              </a:spcAft>
              <a:defRPr sz="1500">
                <a:solidFill>val="22344A"/&gt;</a:solidFill>
              </a:defRPr>
            </a:pPr>
            <a:r>
              <a:t>• Identifier les applications pratiques</a:t>
            </a:r>
          </a:p>
          <a:p>
            <a:pPr>
              <a:spcAft>
                <a:spcPts val="600"/>
              </a:spcAft>
              <a:defRPr sz="1500">
                <a:solidFill>val="22344A"/&gt;</a:solidFill>
              </a:defRPr>
            </a:pPr>
            <a:r>
              <a:t>• Résoudre les exercices du TD</a:t>
            </a:r>
          </a:p>
          <a:p>
            <a:pPr>
              <a:spcAft>
                <a:spcPts val="600"/>
              </a:spcAft>
              <a:defRPr sz="1500">
                <a:solidFill>val="22344A"/&gt;</a:solidFill>
              </a:defRPr>
            </a:pPr>
            <a:r>
              <a:t>• Synthétiser les points clés en un paragraphe</a:t>
            </a:r>
          </a:p>
          <a:p>
            <a:pPr>
              <a:spcAft>
                <a:spcPts val="600"/>
              </a:spcAft>
              <a:defRPr sz="1500">
                <a:solidFill>val="22344A"/&gt;</a:solidFill>
              </a:defRPr>
            </a:pPr>
            <a:r>
              <a:t>• Préparer une courte présentation orale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2971800" y="18288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val="006847"/&gt;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0"/>
            <a:ext cx="7680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val="FFFFFF"/&gt;</a:solidFill>
              </a:defRPr>
            </a:pPr>
            <a:r>
              <a:t>🎓 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743200"/>
            <a:ext cx="76809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val="DFE5EA"/&gt;</a:solidFill>
              </a:defRPr>
            </a:pPr>
            <a:r>
              <a:t>Dr. BELACEL Madani</a:t>
            </a:r>
            <a:br/>
            <a:r>
              <a:t>Maître de Conférences B</a:t>
            </a:r>
            <a:br/>
            <a:r>
              <a:t>Université de Mostaganem</a:t>
            </a:r>
            <a:br/>
            <a:r>
              <a:t>madani.belacel@univ-mosta.dz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2880360" y="4572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