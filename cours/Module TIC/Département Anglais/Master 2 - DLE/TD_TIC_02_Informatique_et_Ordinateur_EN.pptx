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5C3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1371600"/>
            <a:ext cx="768096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200" b="1">
                <a:solidFill>
                  <a:srgbClr val="FFFFFF"/>
                </a:solidFill>
              </a:defRPr>
            </a:pPr>
            <a:r>
              <a:t>ICT Tutorial 02 — Computer Science and Computer Architecture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2926080"/>
            <a:ext cx="76809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0">
                <a:solidFill>
                  <a:srgbClr val="C5D9C7"/>
                </a:solidFill>
              </a:defRPr>
            </a:pPr>
            <a:r>
              <a:t>Module TIC — Dr. BELACEL Madani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3657600"/>
            <a:ext cx="76809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0">
                <a:solidFill>
                  <a:srgbClr val="A0CFA0"/>
                </a:solidFill>
              </a:defRPr>
            </a:pPr>
            <a:r>
              <a:t>Université de Mostaganem — MCB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7772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>
                <a:solidFill>
                  <a:srgbClr val="1A5C33"/>
                </a:solidFill>
              </a:defRPr>
            </a:pPr>
            <a:r>
              <a:t>🎯 Objectifs pédagogiques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828800"/>
            <a:ext cx="77724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500">
                <a:solidFill>
                  <a:srgbClr val="222222"/>
                </a:solidFill>
              </a:defRPr>
            </a:pPr>
            <a:r>
              <a:t>• Comprendre les concepts clés</a:t>
            </a:r>
          </a:p>
          <a:p>
            <a:pPr>
              <a:spcAft>
                <a:spcPts val="600"/>
              </a:spcAft>
              <a:defRPr sz="1500">
                <a:solidFill>
                  <a:srgbClr val="222222"/>
                </a:solidFill>
              </a:defRPr>
            </a:pPr>
            <a:r>
              <a:t>• Appliquer les compétences</a:t>
            </a:r>
          </a:p>
          <a:p>
            <a:pPr>
              <a:spcAft>
                <a:spcPts val="600"/>
              </a:spcAft>
              <a:defRPr sz="1500">
                <a:solidFill>
                  <a:srgbClr val="222222"/>
                </a:solidFill>
              </a:defRPr>
            </a:pPr>
            <a:r>
              <a:t>• Évaluer les technologies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7772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>
                <a:solidFill>
                  <a:srgbClr val="1A5C33"/>
                </a:solidFill>
              </a:defRPr>
            </a:pPr>
            <a:r>
              <a:t>📋 Plan du cours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828800"/>
            <a:ext cx="77724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600">
                <a:solidFill>
                  <a:srgbClr val="222222"/>
                </a:solidFill>
              </a:defRPr>
            </a:pPr>
            <a:r>
              <a:t>• Exercise 1 — Basic vocabulary(15 min)</a:t>
            </a:r>
          </a:p>
          <a:p>
            <a:pPr>
              <a:spcAft>
                <a:spcPts val="600"/>
              </a:spcAft>
              <a:defRPr sz="1600">
                <a:solidFill>
                  <a:srgbClr val="222222"/>
                </a:solidFill>
              </a:defRPr>
            </a:pPr>
            <a:r>
              <a:t>• Exercise 2 — Input / Processing / Output(15 min)</a:t>
            </a:r>
          </a:p>
          <a:p>
            <a:pPr>
              <a:spcAft>
                <a:spcPts val="600"/>
              </a:spcAft>
              <a:defRPr sz="1600">
                <a:solidFill>
                  <a:srgbClr val="222222"/>
                </a:solidFill>
              </a:defRPr>
            </a:pPr>
            <a:r>
              <a:t>• Exercise 3 — RAM vs storage(18 min)</a:t>
            </a:r>
          </a:p>
          <a:p>
            <a:pPr>
              <a:spcAft>
                <a:spcPts val="600"/>
              </a:spcAft>
              <a:defRPr sz="1600">
                <a:solidFill>
                  <a:srgbClr val="222222"/>
                </a:solidFill>
              </a:defRPr>
            </a:pPr>
            <a:r>
              <a:t>• Exercise 4 — Choice of support(18 min)</a:t>
            </a:r>
          </a:p>
          <a:p>
            <a:pPr>
              <a:spcAft>
                <a:spcPts val="600"/>
              </a:spcAft>
              <a:defRPr sz="1600">
                <a:solidFill>
                  <a:srgbClr val="222222"/>
                </a:solidFill>
              </a:defRPr>
            </a:pPr>
            <a:r>
              <a:t>• Exercise 5 — Good practices(14 min)</a:t>
            </a:r>
          </a:p>
          <a:p>
            <a:pPr>
              <a:spcAft>
                <a:spcPts val="600"/>
              </a:spcAft>
              <a:defRPr sz="1600">
                <a:solidFill>
                  <a:srgbClr val="222222"/>
                </a:solidFill>
              </a:defRPr>
            </a:pPr>
            <a:r>
              <a:t>• Exercise 6 — Architecture des ordinateurs et recherche(10 min)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365760"/>
            <a:ext cx="8229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1A5C33"/>
                </a:solidFill>
              </a:defRPr>
            </a:pPr>
            <a:r>
              <a:t>Exercise 1 — Basic vocabulary(15 min)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371600"/>
            <a:ext cx="77724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400">
                <a:solidFill>
                  <a:srgbClr val="222222"/>
                </a:solidFill>
              </a:defRPr>
            </a:pPr>
            <a:r>
              <a:t>• Statement:Define: computing, hardware, software, CPU, RAM, SSD.</a:t>
            </a:r>
          </a:p>
          <a:p>
            <a:pPr>
              <a:spcAft>
                <a:spcPts val="600"/>
              </a:spcAft>
              <a:defRPr sz="1400">
                <a:solidFill>
                  <a:srgbClr val="222222"/>
                </a:solidFill>
              </a:defRPr>
            </a:pPr>
            <a:r>
              <a:t>• Corrected:Computer science = automatic processing of information; hardware = hardware; software = software; CPU = processor; RAM = volatile random access memory; SSD = fast non-volatile storage.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365760"/>
            <a:ext cx="8229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1A5C33"/>
                </a:solidFill>
              </a:defRPr>
            </a:pPr>
            <a:r>
              <a:t>Exercise 2 — Input / Processing / Output(15 min)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371600"/>
            <a:ext cx="77724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400">
                <a:solidFill>
                  <a:srgbClr val="222222"/>
                </a:solidFill>
              </a:defRPr>
            </a:pPr>
            <a:r>
              <a:t>• Statement:Classify: keyboard, screen, processor, printer, microphone, hard drive.</a:t>
            </a:r>
          </a:p>
          <a:p>
            <a:pPr>
              <a:spcAft>
                <a:spcPts val="600"/>
              </a:spcAft>
              <a:defRPr sz="1400">
                <a:solidFill>
                  <a:srgbClr val="222222"/>
                </a:solidFill>
              </a:defRPr>
            </a:pPr>
            <a:r>
              <a:t>• Fixed:Input: keyboard, microphone; Processing: processor; Output: screen, printer; Storage: hard drive.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365760"/>
            <a:ext cx="8229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1A5C33"/>
                </a:solidFill>
              </a:defRPr>
            </a:pPr>
            <a:r>
              <a:t>Exercise 3 — RAM vs storage(18 min)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371600"/>
            <a:ext cx="77724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400">
                <a:solidFill>
                  <a:srgbClr val="222222"/>
                </a:solidFill>
              </a:defRPr>
            </a:pPr>
            <a:r>
              <a:t>• Statement:Why does an unsaved document disappear after a power outage?</a:t>
            </a:r>
          </a:p>
          <a:p>
            <a:pPr>
              <a:spcAft>
                <a:spcPts val="600"/>
              </a:spcAft>
              <a:defRPr sz="1400">
                <a:solidFill>
                  <a:srgbClr val="222222"/>
                </a:solidFill>
              </a:defRPr>
            </a:pPr>
            <a:r>
              <a:t>• Fixed:The data being edited is in RAM (volatile). Without saving to disk/SSD/cloud, they are lost when shut down.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365760"/>
            <a:ext cx="8229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1A5C33"/>
                </a:solidFill>
              </a:defRPr>
            </a:pPr>
            <a:r>
              <a:t>Exercise 4 — Choice of support(18 min)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371600"/>
            <a:ext cx="77724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400">
                <a:solidFill>
                  <a:srgbClr val="222222"/>
                </a:solidFill>
              </a:defRPr>
            </a:pPr>
            <a:r>
              <a:t>• Statement:For daily work, long-term archive, file transport — recommend media and justify.</a:t>
            </a:r>
          </a:p>
          <a:p>
            <a:pPr>
              <a:spcAft>
                <a:spcPts val="600"/>
              </a:spcAft>
              <a:defRPr sz="1400">
                <a:solidFill>
                  <a:srgbClr val="222222"/>
                </a:solidFill>
              </a:defRPr>
            </a:pPr>
            <a:r>
              <a:t>• Fixed:SSD for everyday use; HDD or cloud for archives; USB key for occasional transport.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365760"/>
            <a:ext cx="8229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1A5C33"/>
                </a:solidFill>
              </a:defRPr>
            </a:pPr>
            <a:r>
              <a:t>Exercise 5 — Good practices(14 min)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371600"/>
            <a:ext cx="77724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400">
                <a:solidFill>
                  <a:srgbClr val="222222"/>
                </a:solidFill>
              </a:defRPr>
            </a:pPr>
            <a:r>
              <a:t>• Statement:List 6 important best practices for a student.</a:t>
            </a:r>
          </a:p>
          <a:p>
            <a:pPr>
              <a:spcAft>
                <a:spcPts val="600"/>
              </a:spcAft>
              <a:defRPr sz="1400">
                <a:solidFill>
                  <a:srgbClr val="222222"/>
                </a:solidFill>
              </a:defRPr>
            </a:pPr>
            <a:r>
              <a:t>• Fixed:Regular backups, updates, antivirus, folder organization, 3-2-1 rule, RAM/storage distinction.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365760"/>
            <a:ext cx="8229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1A5C33"/>
                </a:solidFill>
              </a:defRPr>
            </a:pPr>
            <a:r>
              <a:t>Exercise 6 — Architecture des ordinateurs et recherche(10 min)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371600"/>
            <a:ext cx="77724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400">
                <a:solidFill>
                  <a:srgbClr val="222222"/>
                </a:solidFill>
              </a:defRPr>
            </a:pPr>
            <a:r>
              <a:t>• Statement:Comparez l'architecture von Neumann et Harvard. Pour chaque modèle, citez un usage dans un contexte de recherche en didactique des langues.</a:t>
            </a:r>
          </a:p>
          <a:p>
            <a:pPr>
              <a:spcAft>
                <a:spcPts val="600"/>
              </a:spcAft>
              <a:defRPr sz="1400">
                <a:solidFill>
                  <a:srgbClr val="222222"/>
                </a:solidFill>
              </a:defRPr>
            </a:pPr>
            <a:r>
              <a:t>• Detailed correction:Von Neumann : bus unique pour données et instructions (PC classique). Harvard : bus séparés (microcontrôleurs, DSP). Usage recherche : simulation d'environnements d'apprentissage (von Neumann pour Moodle, Harvard pour systèmes embarqués pédagogiques).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286000"/>
            <a:ext cx="7772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600" b="1">
                <a:solidFill>
                  <a:srgbClr val="1A5C33"/>
                </a:solidFill>
              </a:defRPr>
            </a:pPr>
            <a:r>
              <a:t>📝 Points clés à retenir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828800"/>
            <a:ext cx="77724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600">
                <a:solidFill>
                  <a:srgbClr val="222222"/>
                </a:solidFill>
              </a:defRPr>
            </a:pPr>
            <a:r>
              <a:t>• Statement:Define: computing, hardware, software, CPU, RAM, SSD.</a:t>
            </a:r>
          </a:p>
          <a:p>
            <a:pPr>
              <a:spcAft>
                <a:spcPts val="600"/>
              </a:spcAft>
              <a:defRPr sz="1600">
                <a:solidFill>
                  <a:srgbClr val="222222"/>
                </a:solidFill>
              </a:defRPr>
            </a:pPr>
            <a:r>
              <a:t>• Statement:Classify: keyboard, screen, processor, printer, microphone, hard drive.</a:t>
            </a:r>
          </a:p>
          <a:p>
            <a:pPr>
              <a:spcAft>
                <a:spcPts val="600"/>
              </a:spcAft>
              <a:defRPr sz="1600">
                <a:solidFill>
                  <a:srgbClr val="222222"/>
                </a:solidFill>
              </a:defRPr>
            </a:pPr>
            <a:r>
              <a:t>• Statement:Why does an unsaved document disappear after a power outage?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286000"/>
            <a:ext cx="7772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600" b="1">
                <a:solidFill>
                  <a:srgbClr val="1A5C33"/>
                </a:solidFill>
              </a:defRPr>
            </a:pPr>
            <a:r>
              <a:t>📝 Points clés à retenir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828800"/>
            <a:ext cx="77724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600">
                <a:solidFill>
                  <a:srgbClr val="222222"/>
                </a:solidFill>
              </a:defRPr>
            </a:pPr>
            <a:r>
              <a:t>• Statement:Define: computing, hardware, software, CPU, RAM, SSD.</a:t>
            </a:r>
          </a:p>
          <a:p>
            <a:pPr>
              <a:spcAft>
                <a:spcPts val="600"/>
              </a:spcAft>
              <a:defRPr sz="1600">
                <a:solidFill>
                  <a:srgbClr val="222222"/>
                </a:solidFill>
              </a:defRPr>
            </a:pPr>
            <a:r>
              <a:t>• Statement:Classify: keyboard, screen, processor, printer, microphone, hard drive.</a:t>
            </a:r>
          </a:p>
          <a:p>
            <a:pPr>
              <a:spcAft>
                <a:spcPts val="600"/>
              </a:spcAft>
              <a:defRPr sz="1600">
                <a:solidFill>
                  <a:srgbClr val="222222"/>
                </a:solidFill>
              </a:defRPr>
            </a:pPr>
            <a:r>
              <a:t>• Statement:Why does an unsaved document disappear after a power outage?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286000"/>
            <a:ext cx="7772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600" b="1">
                <a:solidFill>
                  <a:srgbClr val="1A5C33"/>
                </a:solidFill>
              </a:defRPr>
            </a:pPr>
            <a:r>
              <a:t>📝 Points clés à retenir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828800"/>
            <a:ext cx="77724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600">
                <a:solidFill>
                  <a:srgbClr val="222222"/>
                </a:solidFill>
              </a:defRPr>
            </a:pPr>
            <a:r>
              <a:t>• Statement:Define: computing, hardware, software, CPU, RAM, SSD.</a:t>
            </a:r>
          </a:p>
          <a:p>
            <a:pPr>
              <a:spcAft>
                <a:spcPts val="600"/>
              </a:spcAft>
              <a:defRPr sz="1600">
                <a:solidFill>
                  <a:srgbClr val="222222"/>
                </a:solidFill>
              </a:defRPr>
            </a:pPr>
            <a:r>
              <a:t>• Statement:Classify: keyboard, screen, processor, printer, microphone, hard drive.</a:t>
            </a:r>
          </a:p>
          <a:p>
            <a:pPr>
              <a:spcAft>
                <a:spcPts val="600"/>
              </a:spcAft>
              <a:defRPr sz="1600">
                <a:solidFill>
                  <a:srgbClr val="222222"/>
                </a:solidFill>
              </a:defRPr>
            </a:pPr>
            <a:r>
              <a:t>• Statement:Why does an unsaved document disappear after a power outage?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8F0E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7772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600" b="1">
                <a:solidFill>
                  <a:srgbClr val="1A5C33"/>
                </a:solidFill>
              </a:defRPr>
            </a:pPr>
            <a:r>
              <a:t>📝 Points clés à retenir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828800"/>
            <a:ext cx="77724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600">
                <a:solidFill>
                  <a:srgbClr val="222222"/>
                </a:solidFill>
              </a:defRPr>
            </a:pPr>
            <a:r>
              <a:t>• Statement:Define: computing, hardware, software, CPU, RAM, SSD.</a:t>
            </a:r>
          </a:p>
          <a:p>
            <a:pPr>
              <a:spcAft>
                <a:spcPts val="600"/>
              </a:spcAft>
              <a:defRPr sz="1600">
                <a:solidFill>
                  <a:srgbClr val="222222"/>
                </a:solidFill>
              </a:defRPr>
            </a:pPr>
            <a:r>
              <a:t>• Statement:Classify: keyboard, screen, processor, printer, microphone, hard drive.</a:t>
            </a:r>
          </a:p>
          <a:p>
            <a:pPr>
              <a:spcAft>
                <a:spcPts val="600"/>
              </a:spcAft>
              <a:defRPr sz="1600">
                <a:solidFill>
                  <a:srgbClr val="222222"/>
                </a:solidFill>
              </a:defRPr>
            </a:pPr>
            <a:r>
              <a:t>• Statement:Why does an unsaved document disappear after a power outage?</a:t>
            </a:r>
          </a:p>
          <a:p>
            <a:pPr>
              <a:spcAft>
                <a:spcPts val="600"/>
              </a:spcAft>
              <a:defRPr sz="1600">
                <a:solidFill>
                  <a:srgbClr val="222222"/>
                </a:solidFill>
              </a:defRPr>
            </a:pPr>
            <a:r>
              <a:t>• Statement:For daily work, long-term archive, file transport — recommend media and justify.</a:t>
            </a:r>
          </a:p>
          <a:p>
            <a:pPr>
              <a:spcAft>
                <a:spcPts val="600"/>
              </a:spcAft>
              <a:defRPr sz="1600">
                <a:solidFill>
                  <a:srgbClr val="222222"/>
                </a:solidFill>
              </a:defRPr>
            </a:pPr>
            <a:r>
              <a:t>• Statement:List 6 important best practices for a student.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7772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600" b="1">
                <a:solidFill>
                  <a:srgbClr val="1A5C33"/>
                </a:solidFill>
              </a:defRPr>
            </a:pPr>
            <a:r>
              <a:t>✏️ Exercices d'application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828800"/>
            <a:ext cx="77724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500">
                <a:solidFill>
                  <a:srgbClr val="222222"/>
                </a:solidFill>
              </a:defRPr>
            </a:pPr>
            <a:r>
              <a:t>• Définir les concepts principaux du cours</a:t>
            </a:r>
          </a:p>
          <a:p>
            <a:pPr>
              <a:spcAft>
                <a:spcPts val="600"/>
              </a:spcAft>
              <a:defRPr sz="1500">
                <a:solidFill>
                  <a:srgbClr val="222222"/>
                </a:solidFill>
              </a:defRPr>
            </a:pPr>
            <a:r>
              <a:t>• Identifier les applications pratiques</a:t>
            </a:r>
          </a:p>
          <a:p>
            <a:pPr>
              <a:spcAft>
                <a:spcPts val="600"/>
              </a:spcAft>
              <a:defRPr sz="1500">
                <a:solidFill>
                  <a:srgbClr val="222222"/>
                </a:solidFill>
              </a:defRPr>
            </a:pPr>
            <a:r>
              <a:t>• Résoudre les exercices du TD</a:t>
            </a:r>
          </a:p>
          <a:p>
            <a:pPr>
              <a:spcAft>
                <a:spcPts val="600"/>
              </a:spcAft>
              <a:defRPr sz="1500">
                <a:solidFill>
                  <a:srgbClr val="222222"/>
                </a:solidFill>
              </a:defRPr>
            </a:pPr>
            <a:r>
              <a:t>• Synthétiser les points clés en un paragraphe</a:t>
            </a:r>
          </a:p>
          <a:p>
            <a:pPr>
              <a:spcAft>
                <a:spcPts val="600"/>
              </a:spcAft>
              <a:defRPr sz="1500">
                <a:solidFill>
                  <a:srgbClr val="222222"/>
                </a:solidFill>
              </a:defRPr>
            </a:pPr>
            <a:r>
              <a:t>• Préparer une courte présentation orale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5C3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1371600"/>
            <a:ext cx="768096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800" b="1">
                <a:solidFill>
                  <a:srgbClr val="FFFFFF"/>
                </a:solidFill>
              </a:defRPr>
            </a:pPr>
            <a:r>
              <a:t>🎓 Conclusion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2743200"/>
            <a:ext cx="768096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0">
                <a:solidFill>
                  <a:srgbClr val="C5D9C7"/>
                </a:solidFill>
              </a:defRPr>
            </a:pPr>
            <a:r>
              <a:t>Dr. BELACEL Madani</a:t>
            </a:r>
            <a:br/>
            <a:r>
              <a:t>Maître de Conférences B</a:t>
            </a:r>
            <a:br/>
            <a:r>
              <a:t>Université de Mostaganem</a:t>
            </a:r>
            <a:br/>
            <a:r>
              <a:t>madani.belacel@univ-mosta.dz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