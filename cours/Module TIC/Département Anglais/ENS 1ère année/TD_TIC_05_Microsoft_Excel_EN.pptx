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Poppins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Poppins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Poppins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Poppins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Poppins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Poppins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Poppins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Poppins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Poppins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Poppins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val="006847"/&gt;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1371600"/>
            <a:ext cx="768096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200" b="1">
                <a:solidFill>val="FFFFFF"/&gt;</a:solidFill>
              </a:defRPr>
            </a:pPr>
            <a:r>
              <a:t>ICT Tutorial 05 — Microsoft Excel: Basics and Academic Uses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2926080"/>
            <a:ext cx="76809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0">
                <a:solidFill>val="DFE5EA"/&gt;</a:solidFill>
              </a:defRPr>
            </a:pPr>
            <a:r>
              <a:t>Module TIC — Dr. BELACEL Madani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3657600"/>
            <a:ext cx="76809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0">
                <a:solidFill>val="B7C9BE"/&gt;</a:solidFill>
              </a:defRPr>
            </a:pPr>
            <a:r>
              <a:t>Université de Mostaganem — MCB</a:t>
            </a:r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2880360" y="914400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65760"/>
            <a:ext cx="7772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600" b="1">
                <a:solidFill>val="006847"/&gt;</a:solidFill>
              </a:defRPr>
            </a:pPr>
            <a:r>
              <a:t>🎯 Objectifs pédagogiques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828800"/>
            <a:ext cx="77724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500">
                <a:solidFill>val="22344A"/&gt;</a:solidFill>
              </a:defRPr>
            </a:pPr>
            <a:r>
              <a:t>• Comprendre les concepts clés</a:t>
            </a:r>
          </a:p>
          <a:p>
            <a:pPr>
              <a:spcAft>
                <a:spcPts val="600"/>
              </a:spcAft>
              <a:defRPr sz="1500">
                <a:solidFill>val="22344A"/&gt;</a:solidFill>
              </a:defRPr>
            </a:pPr>
            <a:r>
              <a:t>• Appliquer les compétences</a:t>
            </a:r>
          </a:p>
          <a:p>
            <a:pPr>
              <a:spcAft>
                <a:spcPts val="600"/>
              </a:spcAft>
              <a:defRPr sz="1500">
                <a:solidFill>val="22344A"/&gt;</a:solidFill>
              </a:defRPr>
            </a:pPr>
            <a:r>
              <a:t>• Évaluer les technologies</a:t>
            </a:r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2971800" y="182880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65760"/>
            <a:ext cx="7772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600" b="1">
                <a:solidFill>val="006847"/&gt;</a:solidFill>
              </a:defRPr>
            </a:pPr>
            <a:r>
              <a:t>📋 Plan du cours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828800"/>
            <a:ext cx="77724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600">
                <a:solidFill>val="22344A"/&gt;</a:solidFill>
              </a:defRPr>
            </a:pPr>
            <a:r>
              <a:t>• Exercise 1 — Note table(18 min)</a:t>
            </a:r>
          </a:p>
          <a:p>
            <a:pPr>
              <a:spcAft>
                <a:spcPts val="600"/>
              </a:spcAft>
              <a:defRPr sz="1600">
                <a:solidFill>val="22344A"/&gt;</a:solidFill>
              </a:defRPr>
            </a:pPr>
            <a:r>
              <a:t>• Exercise 2 — Formulas(18 min)</a:t>
            </a:r>
          </a:p>
          <a:p>
            <a:pPr>
              <a:spcAft>
                <a:spcPts val="600"/>
              </a:spcAft>
              <a:defRPr sz="1600">
                <a:solidFill>val="22344A"/&gt;</a:solidFill>
              </a:defRPr>
            </a:pPr>
            <a:r>
              <a:t>• Exercise 3 — Absolute references(15 min)</a:t>
            </a:r>
          </a:p>
          <a:p>
            <a:pPr>
              <a:spcAft>
                <a:spcPts val="600"/>
              </a:spcAft>
              <a:defRPr sz="1600">
                <a:solidFill>val="22344A"/&gt;</a:solidFill>
              </a:defRPr>
            </a:pPr>
            <a:r>
              <a:t>• Exercise 4 — Graph(15 min)</a:t>
            </a:r>
          </a:p>
          <a:p>
            <a:pPr>
              <a:spcAft>
                <a:spcPts val="600"/>
              </a:spcAft>
              <a:defRPr sz="1600">
                <a:solidFill>val="22344A"/&gt;</a:solidFill>
              </a:defRPr>
            </a:pPr>
            <a:r>
              <a:t>• Exercise 5 — Export(14 min)</a:t>
            </a:r>
          </a:p>
          <a:p>
            <a:pPr>
              <a:spcAft>
                <a:spcPts val="600"/>
              </a:spcAft>
              <a:defRPr sz="1600">
                <a:solidFill>val="22344A"/&gt;</a:solidFill>
              </a:defRPr>
            </a:pPr>
            <a:r>
              <a:t>• Exercise 6 — Excel : évaluation et suivi pédagogique(10 min)</a:t>
            </a:r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2971800" y="182880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val="00875B"/&gt;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365760"/>
            <a:ext cx="8229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val="006847"/&gt;</a:solidFill>
              </a:defRPr>
            </a:pPr>
            <a:r>
              <a:t>Exercise 1 — Note table(18 min)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371600"/>
            <a:ext cx="77724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400">
                <a:solidFill>val="22344A"/&gt;</a:solidFill>
              </a:defRPr>
            </a:pPr>
            <a:r>
              <a:t>• Statement:Create a table for 8 students: Name, TD1 Mark, TD2 Mark, Exam Mark, Average.</a:t>
            </a:r>
          </a:p>
          <a:p>
            <a:pPr>
              <a:spcAft>
                <a:spcPts val="600"/>
              </a:spcAft>
              <a:defRPr sz="1400">
                <a:solidFill>val="22344A"/&gt;</a:solidFill>
              </a:defRPr>
            </a:pPr>
            <a:r>
              <a:t>• Fixed:Bold headers, aligned columns, thin borders.</a:t>
            </a:r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-228600" y="6400800"/>
            <a:ext cx="109728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val="00875B"/&gt;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365760"/>
            <a:ext cx="8229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val="006847"/&gt;</a:solidFill>
              </a:defRPr>
            </a:pPr>
            <a:r>
              <a:t>Exercise 2 — Formulas(18 min)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371600"/>
            <a:ext cx="77724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400">
                <a:solidFill>val="22344A"/&gt;</a:solidFill>
              </a:defRPr>
            </a:pPr>
            <a:r>
              <a:t>• Statement:Calculate average per student, general average, min and max grade.</a:t>
            </a:r>
          </a:p>
          <a:p>
            <a:pPr>
              <a:spcAft>
                <a:spcPts val="600"/>
              </a:spcAft>
              <a:defRPr sz="1400">
                <a:solidFill>val="22344A"/&gt;</a:solidFill>
              </a:defRPr>
            </a:pPr>
            <a:r>
              <a:t>• Fixed:=AVERAGE(),=MIN(),=MAX()on correct ranges.</a:t>
            </a:r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-228600" y="6400800"/>
            <a:ext cx="109728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val="00875B"/&gt;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365760"/>
            <a:ext cx="8229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val="006847"/&gt;</a:solidFill>
              </a:defRPr>
            </a:pPr>
            <a:r>
              <a:t>Exercise 3 — Absolute references(15 min)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371600"/>
            <a:ext cx="77724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400">
                <a:solidFill>val="22344A"/&gt;</a:solidFill>
              </a:defRPr>
            </a:pPr>
            <a:r>
              <a:t>• Statement:Add a fixed exam coefficient and calculate weighted score.</a:t>
            </a:r>
          </a:p>
          <a:p>
            <a:pPr>
              <a:spcAft>
                <a:spcPts val="600"/>
              </a:spcAft>
              <a:defRPr sz="1400">
                <a:solidFill>val="22344A"/&gt;</a:solidFill>
              </a:defRPr>
            </a:pPr>
            <a:r>
              <a:t>• Corrected:Coefficient in $G$1, formula with absolute reference F4.</a:t>
            </a:r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-228600" y="6400800"/>
            <a:ext cx="109728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val="00875B"/&gt;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365760"/>
            <a:ext cx="8229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val="006847"/&gt;</a:solidFill>
              </a:defRPr>
            </a:pPr>
            <a:r>
              <a:t>Exercise 4 — Graph(15 min)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371600"/>
            <a:ext cx="77724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400">
                <a:solidFill>val="22344A"/&gt;</a:solidFill>
              </a:defRPr>
            </a:pPr>
            <a:r>
              <a:t>• Statement:Histogram of student averages.</a:t>
            </a:r>
          </a:p>
          <a:p>
            <a:pPr>
              <a:spcAft>
                <a:spcPts val="600"/>
              </a:spcAft>
              <a:defRPr sz="1400">
                <a:solidFill>val="22344A"/&gt;</a:solidFill>
              </a:defRPr>
            </a:pPr>
            <a:r>
              <a:t>• Corrected:Insertion → Histogram, title, legends, no 3D effect.</a:t>
            </a:r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-228600" y="6400800"/>
            <a:ext cx="109728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val="00875B"/&gt;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365760"/>
            <a:ext cx="8229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val="006847"/&gt;</a:solidFill>
              </a:defRPr>
            </a:pPr>
            <a:r>
              <a:t>Exercise 5 — Export(14 min)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371600"/>
            <a:ext cx="77724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400">
                <a:solidFill>val="22344A"/&gt;</a:solidFill>
              </a:defRPr>
            </a:pPr>
            <a:r>
              <a:t>• Statement:Save as .xlsx and export as PDF.</a:t>
            </a:r>
          </a:p>
          <a:p>
            <a:pPr>
              <a:spcAft>
                <a:spcPts val="600"/>
              </a:spcAft>
              <a:defRPr sz="1400">
                <a:solidFill>val="22344A"/&gt;</a:solidFill>
              </a:defRPr>
            </a:pPr>
            <a:r>
              <a:t>• Corrected:Naming2026-06-04_TIC_TD5_BELACEL_v1.xlsx+ PDF.</a:t>
            </a:r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-228600" y="6400800"/>
            <a:ext cx="109728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val="00875B"/&gt;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365760"/>
            <a:ext cx="8229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val="006847"/&gt;</a:solidFill>
              </a:defRPr>
            </a:pPr>
            <a:r>
              <a:t>Exercise 6 — Excel : évaluation et suivi pédagogique(10 min)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371600"/>
            <a:ext cx="77724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400">
                <a:solidFill>val="22344A"/&gt;</a:solidFill>
              </a:defRPr>
            </a:pPr>
            <a:r>
              <a:t>• Statement:Créez un tableau de suivi des notes pour une classe de 25 élèves sur un semestre (3 contrôles + 1 projet + moyenne). Utilisez des mises en forme conditionnelles (vert ≥ 15, orange 10-14, rouge &lt; 10).</a:t>
            </a:r>
          </a:p>
          <a:p>
            <a:pPr>
              <a:spcAft>
                <a:spcPts val="600"/>
              </a:spcAft>
              <a:defRPr sz="1400">
                <a:solidFill>val="22344A"/&gt;</a:solidFill>
              </a:defRPr>
            </a:pPr>
            <a:r>
              <a:t>• Detailed correction:Colonnes : Nom, Prénom, Contrôle1, Contrôle2, Contrôle3, Projet, Moyenne. Formules : MOYENNE() avec coefficients. Mise en forme conditionnelle : Accueil → MFC → Règles de cellule → Supérieur à. Appliquer à la colonne Moyenne. Ajouter un graphique en barres par élève.</a:t>
            </a:r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-228600" y="6400800"/>
            <a:ext cx="109728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val="00875B"/&gt;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286000"/>
            <a:ext cx="7772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600" b="1">
                <a:solidFill>val="006847"/&gt;</a:solidFill>
              </a:defRPr>
            </a:pPr>
            <a:r>
              <a:t>📝 Points clés à retenir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828800"/>
            <a:ext cx="77724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600">
                <a:solidFill>val="22344A"/&gt;</a:solidFill>
              </a:defRPr>
            </a:pPr>
            <a:r>
              <a:t>• Statement:Create a table for 8 students: Name, TD1 Mark, TD2 Mark, Exam Mark, Average.</a:t>
            </a:r>
          </a:p>
          <a:p>
            <a:pPr>
              <a:spcAft>
                <a:spcPts val="600"/>
              </a:spcAft>
              <a:defRPr sz="1600">
                <a:solidFill>val="22344A"/&gt;</a:solidFill>
              </a:defRPr>
            </a:pPr>
            <a:r>
              <a:t>• Statement:Calculate average per student, general average, min and max grade.</a:t>
            </a:r>
          </a:p>
          <a:p>
            <a:pPr>
              <a:spcAft>
                <a:spcPts val="600"/>
              </a:spcAft>
              <a:defRPr sz="1600">
                <a:solidFill>val="22344A"/&gt;</a:solidFill>
              </a:defRPr>
            </a:pPr>
            <a:r>
              <a:t>• Statement:Add a fixed exam coefficient and calculate weighted score.</a:t>
            </a:r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-228600" y="6400800"/>
            <a:ext cx="109728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val="00875B"/&gt;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286000"/>
            <a:ext cx="7772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600" b="1">
                <a:solidFill>val="006847"/&gt;</a:solidFill>
              </a:defRPr>
            </a:pPr>
            <a:r>
              <a:t>📝 Points clés à retenir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828800"/>
            <a:ext cx="77724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600">
                <a:solidFill>val="22344A"/&gt;</a:solidFill>
              </a:defRPr>
            </a:pPr>
            <a:r>
              <a:t>• Statement:Create a table for 8 students: Name, TD1 Mark, TD2 Mark, Exam Mark, Average.</a:t>
            </a:r>
          </a:p>
          <a:p>
            <a:pPr>
              <a:spcAft>
                <a:spcPts val="600"/>
              </a:spcAft>
              <a:defRPr sz="1600">
                <a:solidFill>val="22344A"/&gt;</a:solidFill>
              </a:defRPr>
            </a:pPr>
            <a:r>
              <a:t>• Statement:Calculate average per student, general average, min and max grade.</a:t>
            </a:r>
          </a:p>
          <a:p>
            <a:pPr>
              <a:spcAft>
                <a:spcPts val="600"/>
              </a:spcAft>
              <a:defRPr sz="1600">
                <a:solidFill>val="22344A"/&gt;</a:solidFill>
              </a:defRPr>
            </a:pPr>
            <a:r>
              <a:t>• Statement:Add a fixed exam coefficient and calculate weighted score.</a:t>
            </a:r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-228600" y="6400800"/>
            <a:ext cx="109728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val="00875B"/&gt;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286000"/>
            <a:ext cx="7772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600" b="1">
                <a:solidFill>val="006847"/&gt;</a:solidFill>
              </a:defRPr>
            </a:pPr>
            <a:r>
              <a:t>📝 Points clés à retenir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828800"/>
            <a:ext cx="77724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600">
                <a:solidFill>val="22344A"/&gt;</a:solidFill>
              </a:defRPr>
            </a:pPr>
            <a:r>
              <a:t>• Statement:Create a table for 8 students: Name, TD1 Mark, TD2 Mark, Exam Mark, Average.</a:t>
            </a:r>
          </a:p>
          <a:p>
            <a:pPr>
              <a:spcAft>
                <a:spcPts val="600"/>
              </a:spcAft>
              <a:defRPr sz="1600">
                <a:solidFill>val="22344A"/&gt;</a:solidFill>
              </a:defRPr>
            </a:pPr>
            <a:r>
              <a:t>• Statement:Calculate average per student, general average, min and max grade.</a:t>
            </a:r>
          </a:p>
          <a:p>
            <a:pPr>
              <a:spcAft>
                <a:spcPts val="600"/>
              </a:spcAft>
              <a:defRPr sz="1600">
                <a:solidFill>val="22344A"/&gt;</a:solidFill>
              </a:defRPr>
            </a:pPr>
            <a:r>
              <a:t>• Statement:Add a fixed exam coefficient and calculate weighted score.</a:t>
            </a:r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-228600" y="6400800"/>
            <a:ext cx="109728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val="F4F6F8"/&gt;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65760"/>
            <a:ext cx="7772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600" b="1">
                <a:solidFill>val="006847"/&gt;</a:solidFill>
              </a:defRPr>
            </a:pPr>
            <a:r>
              <a:t>📝 Points clés à retenir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828800"/>
            <a:ext cx="77724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600">
                <a:solidFill>val="22344A"/&gt;</a:solidFill>
              </a:defRPr>
            </a:pPr>
            <a:r>
              <a:t>• Statement:Create a table for 8 students: Name, TD1 Mark, TD2 Mark, Exam Mark, Average.</a:t>
            </a:r>
          </a:p>
          <a:p>
            <a:pPr>
              <a:spcAft>
                <a:spcPts val="600"/>
              </a:spcAft>
              <a:defRPr sz="1600">
                <a:solidFill>val="22344A"/&gt;</a:solidFill>
              </a:defRPr>
            </a:pPr>
            <a:r>
              <a:t>• Statement:Calculate average per student, general average, min and max grade.</a:t>
            </a:r>
          </a:p>
          <a:p>
            <a:pPr>
              <a:spcAft>
                <a:spcPts val="600"/>
              </a:spcAft>
              <a:defRPr sz="1600">
                <a:solidFill>val="22344A"/&gt;</a:solidFill>
              </a:defRPr>
            </a:pPr>
            <a:r>
              <a:t>• Statement:Add a fixed exam coefficient and calculate weighted score.</a:t>
            </a:r>
          </a:p>
          <a:p>
            <a:pPr>
              <a:spcAft>
                <a:spcPts val="600"/>
              </a:spcAft>
              <a:defRPr sz="1600">
                <a:solidFill>val="22344A"/&gt;</a:solidFill>
              </a:defRPr>
            </a:pPr>
            <a:r>
              <a:t>• Statement:Histogram of student averages.</a:t>
            </a:r>
          </a:p>
          <a:p>
            <a:pPr>
              <a:spcAft>
                <a:spcPts val="600"/>
              </a:spcAft>
              <a:defRPr sz="1600">
                <a:solidFill>val="22344A"/&gt;</a:solidFill>
              </a:defRPr>
            </a:pPr>
            <a:r>
              <a:t>• Statement:Save as .xlsx and export as PDF.</a:t>
            </a:r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2971800" y="182880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65760"/>
            <a:ext cx="7772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600" b="1">
                <a:solidFill>val="006847"/&gt;</a:solidFill>
              </a:defRPr>
            </a:pPr>
            <a:r>
              <a:t>✏️ Exercices d'application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828800"/>
            <a:ext cx="77724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500">
                <a:solidFill>val="22344A"/&gt;</a:solidFill>
              </a:defRPr>
            </a:pPr>
            <a:r>
              <a:t>• Définir les concepts principaux du cours</a:t>
            </a:r>
          </a:p>
          <a:p>
            <a:pPr>
              <a:spcAft>
                <a:spcPts val="600"/>
              </a:spcAft>
              <a:defRPr sz="1500">
                <a:solidFill>val="22344A"/&gt;</a:solidFill>
              </a:defRPr>
            </a:pPr>
            <a:r>
              <a:t>• Identifier les applications pratiques</a:t>
            </a:r>
          </a:p>
          <a:p>
            <a:pPr>
              <a:spcAft>
                <a:spcPts val="600"/>
              </a:spcAft>
              <a:defRPr sz="1500">
                <a:solidFill>val="22344A"/&gt;</a:solidFill>
              </a:defRPr>
            </a:pPr>
            <a:r>
              <a:t>• Résoudre les exercices du TD</a:t>
            </a:r>
          </a:p>
          <a:p>
            <a:pPr>
              <a:spcAft>
                <a:spcPts val="600"/>
              </a:spcAft>
              <a:defRPr sz="1500">
                <a:solidFill>val="22344A"/&gt;</a:solidFill>
              </a:defRPr>
            </a:pPr>
            <a:r>
              <a:t>• Synthétiser les points clés en un paragraphe</a:t>
            </a:r>
          </a:p>
          <a:p>
            <a:pPr>
              <a:spcAft>
                <a:spcPts val="600"/>
              </a:spcAft>
              <a:defRPr sz="1500">
                <a:solidFill>val="22344A"/&gt;</a:solidFill>
              </a:defRPr>
            </a:pPr>
            <a:r>
              <a:t>• Préparer une courte présentation orale</a:t>
            </a:r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2971800" y="182880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val="006847"/&gt;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1371600"/>
            <a:ext cx="768096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800" b="1">
                <a:solidFill>val="FFFFFF"/&gt;</a:solidFill>
              </a:defRPr>
            </a:pPr>
            <a:r>
              <a:t>🎓 Conclusion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2743200"/>
            <a:ext cx="768096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0">
                <a:solidFill>val="DFE5EA"/&gt;</a:solidFill>
              </a:defRPr>
            </a:pPr>
            <a:r>
              <a:t>Dr. BELACEL Madani</a:t>
            </a:r>
            <a:br/>
            <a:r>
              <a:t>Maître de Conférences B</a:t>
            </a:r>
            <a:br/>
            <a:r>
              <a:t>Université de Mostaganem</a:t>
            </a:r>
            <a:br/>
            <a:r>
              <a:t>madani.belacel@univ-mosta.dz</a:t>
            </a:r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2880360" y="457200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Poppins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Poppins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