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: Problématique</a:t>
            </a:r>
          </a:p>
          <a:p>
            <a:r>
              <a:t>Module RD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2/10</a:t>
            </a:r>
          </a:p>
          <a:p>
            <a:r>
              <a:t>Problématique</a:t>
            </a:r>
          </a:p>
          <a:p>
            <a:r>
              <a:t>Construction d'une problématique, hypothèses,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3/10</a:t>
            </a:r>
          </a:p>
          <a:p>
            <a:r>
              <a:t>Problématique</a:t>
            </a:r>
          </a:p>
          <a:p>
            <a:r>
              <a:t>Construction d'une problématique, hypothèses,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4/10</a:t>
            </a:r>
          </a:p>
          <a:p>
            <a:r>
              <a:t>Problématique</a:t>
            </a:r>
          </a:p>
          <a:p>
            <a:r>
              <a:t>Construction d'une problématique, hypothèses,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5/10</a:t>
            </a:r>
          </a:p>
          <a:p>
            <a:r>
              <a:t>Problématique</a:t>
            </a:r>
          </a:p>
          <a:p>
            <a:r>
              <a:t>Construction d'une problématique, hypothèses,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6/10</a:t>
            </a:r>
          </a:p>
          <a:p>
            <a:r>
              <a:t>Problématique</a:t>
            </a:r>
          </a:p>
          <a:p>
            <a:r>
              <a:t>Construction d'une problématique, hypothèses,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7/10</a:t>
            </a:r>
          </a:p>
          <a:p>
            <a:r>
              <a:t>Problématique</a:t>
            </a:r>
          </a:p>
          <a:p>
            <a:r>
              <a:t>Construction d'une problématique, hypothèses,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8/10</a:t>
            </a:r>
          </a:p>
          <a:p>
            <a:r>
              <a:t>Problématique</a:t>
            </a:r>
          </a:p>
          <a:p>
            <a:r>
              <a:t>Construction d'une problématique, hypothèses,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9/10</a:t>
            </a:r>
          </a:p>
          <a:p>
            <a:r>
              <a:t>Problématique</a:t>
            </a:r>
          </a:p>
          <a:p>
            <a:r>
              <a:t>Construction d'une problématique, hypothèses,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10/10</a:t>
            </a:r>
          </a:p>
          <a:p>
            <a:r>
              <a:t>Problématique</a:t>
            </a:r>
          </a:p>
          <a:p>
            <a:r>
              <a:t>Construction d'une problématique, hypothèses,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 thesis research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Course RD 01 | 1h30 (90 min)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01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Master thesis strategy</a:t>
            </a:r>
          </a:p>
          <a:p>
            <a:pPr>
              <a:defRPr sz="2000"/>
            </a:pPr>
            <a:r>
              <a:t>🎯 Academic databases</a:t>
            </a:r>
          </a:p>
          <a:p>
            <a:pPr>
              <a:defRPr sz="2000"/>
            </a:pPr>
            <a:r>
              <a:t>🎯 CRAP evaluation</a:t>
            </a:r>
          </a:p>
          <a:p>
            <a:pPr>
              <a:defRPr sz="2000"/>
            </a:pPr>
            <a:r>
              <a:t>🎯 Zotero / APA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01  •  Diapositive 2/10</a:t>
            </a:r>
          </a:p>
        </p:txBody>
      </p:sp>
      <p:pic>
        <p:nvPicPr>
          <p:cNvPr id="5" name="Picture 4" descr="RD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outline (1h30)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8 parties — 90 min</a:t>
            </a:r>
          </a:p>
          <a:p>
            <a:pPr>
              <a:defRPr sz="2000"/>
            </a:pPr>
            <a:r>
              <a:t>📋 Documentary research epistemology</a:t>
            </a:r>
          </a:p>
          <a:p>
            <a:pPr>
              <a:defRPr sz="2000"/>
            </a:pPr>
            <a:r>
              <a:t>📋 Source types in language didactics</a:t>
            </a:r>
          </a:p>
          <a:p>
            <a:pPr>
              <a:defRPr sz="2000"/>
            </a:pPr>
            <a:r>
              <a:t>📋 Thesis structure</a:t>
            </a:r>
          </a:p>
          <a:p>
            <a:pPr>
              <a:defRPr sz="2000"/>
            </a:pPr>
            <a:r>
              <a:t>📋 Module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01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Documentary research epistemology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💡 Points clés polycopié</a:t>
            </a:r>
          </a:p>
          <a:p>
            <a:pPr>
              <a:defRPr sz="2000"/>
            </a:pPr>
            <a:r>
              <a:t>💡 Exemples M2 DLE</a:t>
            </a:r>
          </a:p>
          <a:p>
            <a:pPr>
              <a:defRPr sz="2000"/>
            </a:pPr>
            <a:r>
              <a:t>💡 Atelier guidé</a:t>
            </a:r>
          </a:p>
          <a:p>
            <a:pPr>
              <a:defRPr sz="2000"/>
            </a:pPr>
            <a:r>
              <a:t>💡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01  •  Diapositive 4/10</a:t>
            </a:r>
          </a:p>
        </p:txBody>
      </p:sp>
      <p:pic>
        <p:nvPicPr>
          <p:cNvPr id="5" name="Picture 4" descr="RD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 types in language didactics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Points clés polycopié</a:t>
            </a:r>
          </a:p>
          <a:p>
            <a:pPr>
              <a:defRPr sz="2000"/>
            </a:pPr>
            <a:r>
              <a:t>📚 Exemples M2 DLE</a:t>
            </a:r>
          </a:p>
          <a:p>
            <a:pPr>
              <a:defRPr sz="2000"/>
            </a:pPr>
            <a:r>
              <a:t>📚 Atelier guidé</a:t>
            </a:r>
          </a:p>
          <a:p>
            <a:pPr>
              <a:defRPr sz="2000"/>
            </a:pPr>
            <a:r>
              <a:t>📚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01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Thesis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🔎 Points clés polycopié</a:t>
            </a:r>
          </a:p>
          <a:p>
            <a:pPr>
              <a:defRPr sz="2000"/>
            </a:pPr>
            <a:r>
              <a:t>🔎 Exemples M2 DLE</a:t>
            </a:r>
          </a:p>
          <a:p>
            <a:pPr>
              <a:defRPr sz="2000"/>
            </a:pPr>
            <a:r>
              <a:t>🔎 Atelier guidé</a:t>
            </a:r>
          </a:p>
          <a:p>
            <a:pPr>
              <a:defRPr sz="2000"/>
            </a:pPr>
            <a:r>
              <a:t>🔎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01  •  Diapositive 6/10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Points clés polycopié</a:t>
            </a:r>
          </a:p>
          <a:p>
            <a:pPr>
              <a:defRPr sz="2000"/>
            </a:pPr>
            <a:r>
              <a:t>✔️ Exemples M2 DLE</a:t>
            </a:r>
          </a:p>
          <a:p>
            <a:pPr>
              <a:defRPr sz="2000"/>
            </a:pPr>
            <a:r>
              <a:t>✔️ Atelier guidé</a:t>
            </a:r>
          </a:p>
          <a:p>
            <a:pPr>
              <a:defRPr sz="2000"/>
            </a:pPr>
            <a:r>
              <a:t>✔️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01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10-session series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📎 Points clés polycopié</a:t>
            </a:r>
          </a:p>
          <a:p>
            <a:pPr>
              <a:defRPr sz="2000"/>
            </a:pPr>
            <a:r>
              <a:t>📎 Exemples M2 DLE</a:t>
            </a:r>
          </a:p>
          <a:p>
            <a:pPr>
              <a:defRPr sz="2000"/>
            </a:pPr>
            <a:r>
              <a:t>📎 Atelier guidé</a:t>
            </a:r>
          </a:p>
          <a:p>
            <a:pPr>
              <a:defRPr sz="2000"/>
            </a:pPr>
            <a:r>
              <a:t>📎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01  •  Diapositive 8/10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Workshop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🛠️ Travail sur poste</a:t>
            </a:r>
          </a:p>
          <a:p>
            <a:pPr>
              <a:defRPr sz="2000"/>
            </a:pPr>
            <a:r>
              <a:t>🛠️ TD 01 — 1h30</a:t>
            </a:r>
          </a:p>
          <a:p>
            <a:pPr>
              <a:defRPr sz="2000"/>
            </a:pPr>
            <a:r>
              <a:t>🛠️ Protocole mémoire</a:t>
            </a:r>
          </a:p>
          <a:p>
            <a:pPr>
              <a:defRPr sz="2000"/>
            </a:pPr>
            <a:r>
              <a:t>🛠️ Support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01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Synthèse séance</a:t>
            </a:r>
          </a:p>
          <a:p>
            <a:pPr>
              <a:defRPr sz="2000"/>
            </a:pPr>
            <a:r>
              <a:t>✅ TD 01</a:t>
            </a:r>
          </a:p>
          <a:p>
            <a:pPr>
              <a:defRPr sz="2000"/>
            </a:pPr>
            <a:r>
              <a:t>✅ Séance suivante</a:t>
            </a:r>
          </a:p>
          <a:p>
            <a:pPr>
              <a:defRPr sz="2000"/>
            </a:pPr>
            <a:r>
              <a:t>✅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01  •  Diapositive 10/10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