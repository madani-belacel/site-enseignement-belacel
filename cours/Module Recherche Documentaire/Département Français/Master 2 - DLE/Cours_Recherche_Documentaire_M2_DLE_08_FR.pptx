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: Rédaction scientifique</a:t>
            </a:r>
          </a:p>
          <a:p>
            <a:r>
              <a:t>Module RD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2/10</a:t>
            </a:r>
          </a:p>
          <a:p>
            <a:r>
              <a:t>Rédaction scientifique</a:t>
            </a:r>
          </a:p>
          <a:p>
            <a:r>
              <a:t>Structure article, argumentation, relecture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3/10</a:t>
            </a:r>
          </a:p>
          <a:p>
            <a:r>
              <a:t>Rédaction scientifique</a:t>
            </a:r>
          </a:p>
          <a:p>
            <a:r>
              <a:t>Structure article, argumentation, relecture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4/10</a:t>
            </a:r>
          </a:p>
          <a:p>
            <a:r>
              <a:t>Rédaction scientifique</a:t>
            </a:r>
          </a:p>
          <a:p>
            <a:r>
              <a:t>Structure article, argumentation, relecture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5/10</a:t>
            </a:r>
          </a:p>
          <a:p>
            <a:r>
              <a:t>Rédaction scientifique</a:t>
            </a:r>
          </a:p>
          <a:p>
            <a:r>
              <a:t>Structure article, argumentation, relecture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6/10</a:t>
            </a:r>
          </a:p>
          <a:p>
            <a:r>
              <a:t>Rédaction scientifique</a:t>
            </a:r>
          </a:p>
          <a:p>
            <a:r>
              <a:t>Structure article, argumentation, relecture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7/10</a:t>
            </a:r>
          </a:p>
          <a:p>
            <a:r>
              <a:t>Rédaction scientifique</a:t>
            </a:r>
          </a:p>
          <a:p>
            <a:r>
              <a:t>Structure article, argumentation, relecture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8/10</a:t>
            </a:r>
          </a:p>
          <a:p>
            <a:r>
              <a:t>Rédaction scientifique</a:t>
            </a:r>
          </a:p>
          <a:p>
            <a:r>
              <a:t>Structure article, argumentation, relecture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9/10</a:t>
            </a:r>
          </a:p>
          <a:p>
            <a:r>
              <a:t>Rédaction scientifique</a:t>
            </a:r>
          </a:p>
          <a:p>
            <a:r>
              <a:t>Structure article, argumentation, relecture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10/10</a:t>
            </a:r>
          </a:p>
          <a:p>
            <a:r>
              <a:t>Rédaction scientifique</a:t>
            </a:r>
          </a:p>
          <a:p>
            <a:r>
              <a:t>Structure article, argumentation, relecture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APA 7 et ISO 690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RD 08 |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08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Stratégie mémoire M2</a:t>
            </a:r>
          </a:p>
          <a:p>
            <a:pPr>
              <a:defRPr sz="2000"/>
            </a:pPr>
            <a:r>
              <a:t>🎯 Bases académiques</a:t>
            </a:r>
          </a:p>
          <a:p>
            <a:pPr>
              <a:defRPr sz="2000"/>
            </a:pPr>
            <a:r>
              <a:t>🎯 Évaluation CRAP</a:t>
            </a:r>
          </a:p>
          <a:p>
            <a:pPr>
              <a:defRPr sz="2000"/>
            </a:pPr>
            <a:r>
              <a:t>🎯 Zotero /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08  •  Diapositive 2/10</a:t>
            </a:r>
          </a:p>
        </p:txBody>
      </p:sp>
      <p:pic>
        <p:nvPicPr>
          <p:cNvPr id="5" name="Picture 4" descr="RD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 du cours (1h30)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parties — 90 min</a:t>
            </a:r>
          </a:p>
          <a:p>
            <a:pPr>
              <a:defRPr sz="2000"/>
            </a:pPr>
            <a:r>
              <a:t>📋 Pourquoi citer ?</a:t>
            </a:r>
          </a:p>
          <a:p>
            <a:pPr>
              <a:defRPr sz="2000"/>
            </a:pPr>
            <a:r>
              <a:t>📋 Citation directe vs paraphrase</a:t>
            </a:r>
          </a:p>
          <a:p>
            <a:pPr>
              <a:defRPr sz="2000"/>
            </a:pPr>
            <a:r>
              <a:t>📋 APA 7 — règles essentielles</a:t>
            </a:r>
          </a:p>
          <a:p>
            <a:pPr>
              <a:defRPr sz="2000"/>
            </a:pPr>
            <a:r>
              <a:t>📋 ISO 690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08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Pourquoi citer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💡 Points clés polycopié</a:t>
            </a:r>
          </a:p>
          <a:p>
            <a:pPr>
              <a:defRPr sz="2000"/>
            </a:pPr>
            <a:r>
              <a:t>💡 Exemples M2 DLE</a:t>
            </a:r>
          </a:p>
          <a:p>
            <a:pPr>
              <a:defRPr sz="2000"/>
            </a:pPr>
            <a:r>
              <a:t>💡 Atelier guidé</a:t>
            </a:r>
          </a:p>
          <a:p>
            <a:pPr>
              <a:defRPr sz="2000"/>
            </a:pPr>
            <a:r>
              <a:t>💡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08  •  Diapositive 4/10</a:t>
            </a:r>
          </a:p>
        </p:txBody>
      </p:sp>
      <p:pic>
        <p:nvPicPr>
          <p:cNvPr id="5" name="Picture 4" descr="RD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Citation directe vs paraphrase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Points clés polycopié</a:t>
            </a:r>
          </a:p>
          <a:p>
            <a:pPr>
              <a:defRPr sz="2000"/>
            </a:pPr>
            <a:r>
              <a:t>📚 Exemples M2 DLE</a:t>
            </a:r>
          </a:p>
          <a:p>
            <a:pPr>
              <a:defRPr sz="2000"/>
            </a:pPr>
            <a:r>
              <a:t>📚 Atelier guidé</a:t>
            </a:r>
          </a:p>
          <a:p>
            <a:pPr>
              <a:defRPr sz="2000"/>
            </a:pPr>
            <a:r>
              <a:t>📚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08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APA 7 — règles essentielles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🔎 Points clés polycopié</a:t>
            </a:r>
          </a:p>
          <a:p>
            <a:pPr>
              <a:defRPr sz="2000"/>
            </a:pPr>
            <a:r>
              <a:t>🔎 Exemples M2 DLE</a:t>
            </a:r>
          </a:p>
          <a:p>
            <a:pPr>
              <a:defRPr sz="2000"/>
            </a:pPr>
            <a:r>
              <a:t>🔎 Atelier guidé</a:t>
            </a:r>
          </a:p>
          <a:p>
            <a:pPr>
              <a:defRPr sz="2000"/>
            </a:pPr>
            <a:r>
              <a:t>🔎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08  •  Diapositive 6/10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ISO 690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Points clés polycopié</a:t>
            </a:r>
          </a:p>
          <a:p>
            <a:pPr>
              <a:defRPr sz="2000"/>
            </a:pPr>
            <a:r>
              <a:t>✔️ Exemples M2 DLE</a:t>
            </a:r>
          </a:p>
          <a:p>
            <a:pPr>
              <a:defRPr sz="2000"/>
            </a:pPr>
            <a:r>
              <a:t>✔️ Atelier guidé</a:t>
            </a:r>
          </a:p>
          <a:p>
            <a:pPr>
              <a:defRPr sz="2000"/>
            </a:pPr>
            <a:r>
              <a:t>✔️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08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Références primaires/secondaires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📎 Points clés polycopié</a:t>
            </a:r>
          </a:p>
          <a:p>
            <a:pPr>
              <a:defRPr sz="2000"/>
            </a:pPr>
            <a:r>
              <a:t>📎 Exemples M2 DLE</a:t>
            </a:r>
          </a:p>
          <a:p>
            <a:pPr>
              <a:defRPr sz="2000"/>
            </a:pPr>
            <a:r>
              <a:t>📎 Atelier guidé</a:t>
            </a:r>
          </a:p>
          <a:p>
            <a:pPr>
              <a:defRPr sz="2000"/>
            </a:pPr>
            <a:r>
              <a:t>📎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08  •  Diapositive 8/10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Atelier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🛠️ Travail sur poste</a:t>
            </a:r>
          </a:p>
          <a:p>
            <a:pPr>
              <a:defRPr sz="2000"/>
            </a:pPr>
            <a:r>
              <a:t>🛠️ TD 08 — 1h30</a:t>
            </a:r>
          </a:p>
          <a:p>
            <a:pPr>
              <a:defRPr sz="2000"/>
            </a:pPr>
            <a:r>
              <a:t>🛠️ Protocole mémoire</a:t>
            </a:r>
          </a:p>
          <a:p>
            <a:pPr>
              <a:defRPr sz="2000"/>
            </a:pPr>
            <a:r>
              <a:t>🛠️ Support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08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Synthèse séance</a:t>
            </a:r>
          </a:p>
          <a:p>
            <a:pPr>
              <a:defRPr sz="2000"/>
            </a:pPr>
            <a:r>
              <a:t>✅ TD 08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08  •  Diapositive 10/10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