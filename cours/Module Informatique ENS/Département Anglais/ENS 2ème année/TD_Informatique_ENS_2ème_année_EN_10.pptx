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33"/>
  </p:notes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</p:sldIdLst>
  <p:sldSz cx="9144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0066FF"/>
    <a:srgbClr val="990033"/>
    <a:srgbClr val="0053D3"/>
    <a:srgbClr val="0782F0"/>
    <a:srgbClr val="3333B2"/>
    <a:srgbClr val="262686"/>
    <a:srgbClr val="191959"/>
    <a:srgbClr val="0083F7"/>
    <a:srgbClr val="0152FF"/>
    <a:srgbClr val="0078EB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Style moyen 2 - Accentuation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2D5ABB26-0587-4C30-8999-92F81FD0307C}" styleName="Aucun style, aucune grille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>
              <a:noFill/>
            </a:ln>
          </a:top>
          <a:bottom>
            <a:ln>
              <a:noFill/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</a:tblStyle>
  <a:tblStyle styleId="{69012ECD-51FC-41F1-AA8D-1B2483CD663E}" styleName="Style léger 2 - Accentuation 1">
    <a:wholeTbl>
      <a:tcTxStyle>
        <a:fontRef idx="minor">
          <a:scrgbClr r="0" g="0" b="0"/>
        </a:fontRef>
        <a:schemeClr val="tx1"/>
      </a:tcTxStyle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</a:tcBdr>
      </a:tcStyle>
    </a:band1H>
    <a:band1V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</a:tcBdr>
      </a:tcStyle>
    </a:band1V>
    <a:band2V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</a:tcBdr>
      </a:tcStyle>
    </a:band2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1"/>
              </a:solidFill>
            </a:ln>
          </a:top>
        </a:tcBdr>
      </a:tcStyle>
    </a:lastRow>
    <a:firstRow>
      <a:tcTxStyle b="on">
        <a:fontRef idx="minor">
          <a:scrgbClr r="0" g="0" b="0"/>
        </a:fontRef>
        <a:schemeClr val="bg1"/>
      </a:tcTxStyle>
      <a:tcStyle>
        <a:tcBdr/>
        <a:fillRef idx="1">
          <a:schemeClr val="accent1"/>
        </a:fillRef>
      </a:tcStyle>
    </a:firstRow>
  </a:tblStyle>
  <a:tblStyle styleId="{BC89EF96-8CEA-46FF-86C4-4CE0E7609802}" styleName="Style léger 3 - Accentuation 1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accent1"/>
              </a:solidFill>
            </a:ln>
          </a:left>
          <a:right>
            <a:ln w="12700" cmpd="sng">
              <a:solidFill>
                <a:schemeClr val="accent1"/>
              </a:solidFill>
            </a:ln>
          </a:right>
          <a:top>
            <a:ln w="12700" cmpd="sng">
              <a:solidFill>
                <a:schemeClr val="accent1"/>
              </a:solidFill>
            </a:ln>
          </a:top>
          <a:bottom>
            <a:ln w="12700" cmpd="sng">
              <a:solidFill>
                <a:schemeClr val="accent1"/>
              </a:solidFill>
            </a:ln>
          </a:bottom>
          <a:insideH>
            <a:ln w="12700" cmpd="sng">
              <a:solidFill>
                <a:schemeClr val="accent1"/>
              </a:solidFill>
            </a:ln>
          </a:insideH>
          <a:insideV>
            <a:ln w="12700" cmpd="sng">
              <a:solidFill>
                <a:schemeClr val="accent1"/>
              </a:solidFill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accent1">
              <a:alpha val="20000"/>
            </a:schemeClr>
          </a:solidFill>
        </a:fill>
      </a:tcStyle>
    </a:band1H>
    <a:band1V>
      <a:tcStyle>
        <a:tcBdr/>
        <a:fill>
          <a:solidFill>
            <a:schemeClr val="accent1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1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25400" cmpd="sng">
              <a:solidFill>
                <a:schemeClr val="accent1"/>
              </a:solidFill>
            </a:ln>
          </a:bottom>
        </a:tcBdr>
        <a:fill>
          <a:noFill/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4706" autoAdjust="0"/>
    <p:restoredTop sz="93969" autoAdjust="0"/>
  </p:normalViewPr>
  <p:slideViewPr>
    <p:cSldViewPr snapToGrid="0" snapToObjects="1">
      <p:cViewPr>
        <p:scale>
          <a:sx n="100" d="100"/>
          <a:sy n="100" d="100"/>
        </p:scale>
        <p:origin x="468" y="-948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-408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33" Type="http://schemas.openxmlformats.org/officeDocument/2006/relationships/notesMaster" Target="notesMasters/notesMaster1.xml"/><Relationship Id="rId34" Type="http://schemas.openxmlformats.org/officeDocument/2006/relationships/presProps" Target="presProps.xml"/><Relationship Id="rId35" Type="http://schemas.openxmlformats.org/officeDocument/2006/relationships/viewProps" Target="viewProps.xml"/><Relationship Id="rId36" Type="http://schemas.openxmlformats.org/officeDocument/2006/relationships/theme" Target="theme/theme1.xml"/><Relationship Id="rId37" Type="http://schemas.openxmlformats.org/officeDocument/2006/relationships/tableStyles" Target="tableStyles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ce réservé de l'en-tête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fr-FR"/>
          </a:p>
        </p:txBody>
      </p:sp>
      <p:sp>
        <p:nvSpPr>
          <p:cNvPr id="3" name="Espace réservé de la date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B8F0B2C1-4194-45A7-9834-731A4F36BABD}" type="datetimeFigureOut">
              <a:rPr lang="fr-FR" smtClean="0"/>
              <a:t>16/05/2026</a:t>
            </a:fld>
            <a:endParaRPr lang="fr-FR"/>
          </a:p>
        </p:txBody>
      </p:sp>
      <p:sp>
        <p:nvSpPr>
          <p:cNvPr id="4" name="Espace réservé de l'image des diapositives 3"/>
          <p:cNvSpPr>
            <a:spLocks noGrp="1" noRot="1" noChangeAspect="1"/>
          </p:cNvSpPr>
          <p:nvPr>
            <p:ph type="sldImg" idx="2"/>
          </p:nvPr>
        </p:nvSpPr>
        <p:spPr>
          <a:xfrm>
            <a:off x="1371600" y="1143000"/>
            <a:ext cx="41148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fr-FR"/>
          </a:p>
        </p:txBody>
      </p:sp>
      <p:sp>
        <p:nvSpPr>
          <p:cNvPr id="5" name="Espace réservé des notes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</a:p>
        </p:txBody>
      </p:sp>
      <p:sp>
        <p:nvSpPr>
          <p:cNvPr id="6" name="Espace réservé du pied de page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fr-FR"/>
          </a:p>
        </p:txBody>
      </p:sp>
      <p:sp>
        <p:nvSpPr>
          <p:cNvPr id="7" name="Espace réservé du numéro de diapositive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EDB5666F-E79B-4A29-9A64-FA4855FAABBD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4057233482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TD 10 : Didactique informatique</a:t>
            </a:r>
          </a:p>
          <a:p>
            <a:r>
              <a:t>Module ENS</a:t>
            </a:r>
          </a:p>
          <a:p>
            <a:r>
              <a:t>Dr. BELACEL Madani — Université de Mostaganem</a:t>
            </a:r>
          </a:p>
          <a:p>
            <a:r>
              <a:t>Année 2026-2027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TD 10 — Diapo 2/10</a:t>
            </a:r>
          </a:p>
          <a:p>
            <a:r>
              <a:t>Didactique informatique</a:t>
            </a:r>
          </a:p>
          <a:p>
            <a:r>
              <a:t>Pédagogie, méthodes d'enseignement, évaluation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TD 10 — Diapo 3/10</a:t>
            </a:r>
          </a:p>
          <a:p>
            <a:r>
              <a:t>Didactique informatique</a:t>
            </a:r>
          </a:p>
          <a:p>
            <a:r>
              <a:t>Pédagogie, méthodes d'enseignement, évaluation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TD 10 — Diapo 4/10</a:t>
            </a:r>
          </a:p>
          <a:p>
            <a:r>
              <a:t>Didactique informatique</a:t>
            </a:r>
          </a:p>
          <a:p>
            <a:r>
              <a:t>Pédagogie, méthodes d'enseignement, évaluation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TD 10 — Diapo 5/10</a:t>
            </a:r>
          </a:p>
          <a:p>
            <a:r>
              <a:t>Didactique informatique</a:t>
            </a:r>
          </a:p>
          <a:p>
            <a:r>
              <a:t>Pédagogie, méthodes d'enseignement, évaluation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TD 10 — Diapo 6/10</a:t>
            </a:r>
          </a:p>
          <a:p>
            <a:r>
              <a:t>Didactique informatique</a:t>
            </a:r>
          </a:p>
          <a:p>
            <a:r>
              <a:t>Pédagogie, méthodes d'enseignement, évaluation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TD 10 — Diapo 7/10</a:t>
            </a:r>
          </a:p>
          <a:p>
            <a:r>
              <a:t>Didactique informatique</a:t>
            </a:r>
          </a:p>
          <a:p>
            <a:r>
              <a:t>Pédagogie, méthodes d'enseignement, évaluation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TD 10 — Diapo 8/10</a:t>
            </a:r>
          </a:p>
          <a:p>
            <a:r>
              <a:t>Didactique informatique</a:t>
            </a:r>
          </a:p>
          <a:p>
            <a:r>
              <a:t>Pédagogie, méthodes d'enseignement, évaluation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TD 10 — Diapo 9/10</a:t>
            </a:r>
          </a:p>
          <a:p>
            <a:r>
              <a:t>Didactique informatique</a:t>
            </a:r>
          </a:p>
          <a:p>
            <a:r>
              <a:t>Pédagogie, méthodes d'enseignement, évaluation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TD 10 — Diapo 10/10</a:t>
            </a:r>
          </a:p>
          <a:p>
            <a:r>
              <a:t>Didactique informatique</a:t>
            </a:r>
          </a:p>
          <a:p>
            <a:r>
              <a:t>Pédagogie, méthodes d'enseignement, évaluation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5/16/2026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5/16/2026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5/16/2026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5/16/2026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5/16/2026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5/16/2026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5/16/2026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5/16/2026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5/16/2026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5/16/2026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5/16/2026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5/16/2026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Relationship Id="rId3" Type="http://schemas.openxmlformats.org/officeDocument/2006/relationships/image" Target="../media/image1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Relationship Id="rId3" Type="http://schemas.openxmlformats.org/officeDocument/2006/relationships/image" Target="../media/image2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Relationship Id="rId3" Type="http://schemas.openxmlformats.org/officeDocument/2006/relationships/image" Target="../media/image3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3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3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t>TD TIC 10 — TD_Informatique_ENS_2ème_année_AN_10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r>
              <a:t>5 exercices + corrigés détaillés | BELACEL Madani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6446520"/>
            <a:ext cx="84124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900">
                <a:solidFill>
                  <a:srgbClr val="404040"/>
                </a:solidFill>
              </a:defRPr>
            </a:pPr>
            <a:r>
              <a:t>TD 10  •  Diapositive 1/10</a:t>
            </a:r>
          </a:p>
        </p:txBody>
      </p:sp>
    </p:spTree>
  </p:cSld>
  <p:clrMapOvr>
    <a:masterClrMapping/>
  </p:clrMapOvr>
  <p:transition spd="med">
    <p:fade/>
  </p:transition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Objectif du TD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defRPr sz="2000"/>
            </a:pPr>
            <a:r>
              <a:t>📋 Appliquer les notions du cours</a:t>
            </a:r>
          </a:p>
          <a:p>
            <a:pPr>
              <a:defRPr sz="2000"/>
            </a:pPr>
            <a:r>
              <a:t>📋 Travail autonome et binôme</a:t>
            </a:r>
          </a:p>
          <a:p>
            <a:pPr>
              <a:defRPr sz="2000"/>
            </a:pPr>
            <a:r>
              <a:t>📋 Correction collective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6446520"/>
            <a:ext cx="84124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900">
                <a:solidFill>
                  <a:srgbClr val="404040"/>
                </a:solidFill>
              </a:defRPr>
            </a:pPr>
            <a:r>
              <a:t>TD 10  •  Diapositive 2/10</a:t>
            </a:r>
          </a:p>
        </p:txBody>
      </p:sp>
      <p:pic>
        <p:nvPicPr>
          <p:cNvPr id="5" name="Picture 4" descr="ENS_s01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858000" y="5001768"/>
            <a:ext cx="2011680" cy="1124712"/>
          </a:xfrm>
          <a:prstGeom prst="rect">
            <a:avLst/>
          </a:prstGeom>
        </p:spPr>
      </p:pic>
    </p:spTree>
  </p:cSld>
  <p:clrMapOvr>
    <a:masterClrMapping/>
  </p:clrMapOvr>
  <p:transition spd="med">
    <p:fade/>
  </p:transition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Exercice 1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defRPr sz="2000"/>
            </a:pPr>
            <a:r>
              <a:t>1️⃣ Énoncé : voir polycopié TD</a:t>
            </a:r>
          </a:p>
          <a:p>
            <a:pPr>
              <a:defRPr sz="2000"/>
            </a:pPr>
            <a:r>
              <a:t>1️⃣ 10 min individuel</a:t>
            </a:r>
          </a:p>
          <a:p>
            <a:pPr>
              <a:defRPr sz="2000"/>
            </a:pPr>
            <a:r>
              <a:t>1️⃣ Mise en commun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6446520"/>
            <a:ext cx="84124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900">
                <a:solidFill>
                  <a:srgbClr val="404040"/>
                </a:solidFill>
              </a:defRPr>
            </a:pPr>
            <a:r>
              <a:t>TD 10  •  Diapositive 3/10</a:t>
            </a:r>
          </a:p>
        </p:txBody>
      </p:sp>
    </p:spTree>
  </p:cSld>
  <p:clrMapOvr>
    <a:masterClrMapping/>
  </p:clrMapOvr>
  <p:transition spd="med">
    <p:fade/>
  </p:transition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Exercice 2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defRPr sz="2000"/>
            </a:pPr>
            <a:r>
              <a:t>2️⃣ Application directe</a:t>
            </a:r>
          </a:p>
          <a:p>
            <a:pPr>
              <a:defRPr sz="2000"/>
            </a:pPr>
            <a:r>
              <a:t>2️⃣ Procédure pas à pas</a:t>
            </a:r>
          </a:p>
          <a:p>
            <a:pPr>
              <a:defRPr sz="2000"/>
            </a:pPr>
            <a:r>
              <a:t>2️⃣ Corrigé détaillé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6446520"/>
            <a:ext cx="84124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900">
                <a:solidFill>
                  <a:srgbClr val="404040"/>
                </a:solidFill>
              </a:defRPr>
            </a:pPr>
            <a:r>
              <a:t>TD 10  •  Diapositive 4/10</a:t>
            </a:r>
          </a:p>
        </p:txBody>
      </p:sp>
      <p:pic>
        <p:nvPicPr>
          <p:cNvPr id="5" name="Picture 4" descr="ENS_s03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74320" y="5001768"/>
            <a:ext cx="2011680" cy="1124712"/>
          </a:xfrm>
          <a:prstGeom prst="rect">
            <a:avLst/>
          </a:prstGeom>
        </p:spPr>
      </p:pic>
    </p:spTree>
  </p:cSld>
  <p:clrMapOvr>
    <a:masterClrMapping/>
  </p:clrMapOvr>
  <p:transition spd="med">
    <p:fade/>
  </p:transition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Exercice 3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defRPr sz="2000"/>
            </a:pPr>
            <a:r>
              <a:t>3️⃣ Cas pratique</a:t>
            </a:r>
          </a:p>
          <a:p>
            <a:pPr>
              <a:defRPr sz="2000"/>
            </a:pPr>
            <a:r>
              <a:t>3️⃣ Manipulation poste</a:t>
            </a:r>
          </a:p>
          <a:p>
            <a:pPr>
              <a:defRPr sz="2000"/>
            </a:pPr>
            <a:r>
              <a:t>3️⃣ Critères de réussite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6446520"/>
            <a:ext cx="84124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900">
                <a:solidFill>
                  <a:srgbClr val="404040"/>
                </a:solidFill>
              </a:defRPr>
            </a:pPr>
            <a:r>
              <a:t>TD 10  •  Diapositive 5/10</a:t>
            </a:r>
          </a:p>
        </p:txBody>
      </p:sp>
    </p:spTree>
  </p:cSld>
  <p:clrMapOvr>
    <a:masterClrMapping/>
  </p:clrMapOvr>
  <p:transition spd="med">
    <p:fade/>
  </p:transition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Exercice 4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defRPr sz="2000"/>
            </a:pPr>
            <a:r>
              <a:t>4️⃣ Analyse / synthèse</a:t>
            </a:r>
          </a:p>
          <a:p>
            <a:pPr>
              <a:defRPr sz="2000"/>
            </a:pPr>
            <a:r>
              <a:t>4️⃣ Esprit critique</a:t>
            </a:r>
          </a:p>
          <a:p>
            <a:pPr>
              <a:defRPr sz="2000"/>
            </a:pPr>
            <a:r>
              <a:t>4️⃣ Auto-évaluation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6446520"/>
            <a:ext cx="84124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900">
                <a:solidFill>
                  <a:srgbClr val="404040"/>
                </a:solidFill>
              </a:defRPr>
            </a:pPr>
            <a:r>
              <a:t>TD 10  •  Diapositive 6/10</a:t>
            </a:r>
          </a:p>
        </p:txBody>
      </p:sp>
      <p:pic>
        <p:nvPicPr>
          <p:cNvPr id="5" name="Picture 4" descr="ENS_s05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858000" y="1005840"/>
            <a:ext cx="2011680" cy="1124712"/>
          </a:xfrm>
          <a:prstGeom prst="rect">
            <a:avLst/>
          </a:prstGeom>
        </p:spPr>
      </p:pic>
    </p:spTree>
  </p:cSld>
  <p:clrMapOvr>
    <a:masterClrMapping/>
  </p:clrMapOvr>
  <p:transition spd="med">
    <p:fade/>
  </p:transition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Exercice 5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defRPr sz="2000"/>
            </a:pPr>
            <a:r>
              <a:t>5️⃣ Réflexion transversale</a:t>
            </a:r>
          </a:p>
          <a:p>
            <a:pPr>
              <a:defRPr sz="2000"/>
            </a:pPr>
            <a:r>
              <a:t>5️⃣ Problème réel</a:t>
            </a:r>
          </a:p>
          <a:p>
            <a:pPr>
              <a:defRPr sz="2000"/>
            </a:pPr>
            <a:r>
              <a:t>5️⃣ Corrigé argumenté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6446520"/>
            <a:ext cx="84124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900">
                <a:solidFill>
                  <a:srgbClr val="404040"/>
                </a:solidFill>
              </a:defRPr>
            </a:pPr>
            <a:r>
              <a:t>TD 10  •  Diapositive 7/10</a:t>
            </a:r>
          </a:p>
        </p:txBody>
      </p:sp>
    </p:spTree>
  </p:cSld>
  <p:clrMapOvr>
    <a:masterClrMapping/>
  </p:clrMapOvr>
  <p:transition spd="med">
    <p:fade/>
  </p:transition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Grille de correction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defRPr sz="2000"/>
            </a:pPr>
            <a:r>
              <a:t>✔️ Exactitude 40 %</a:t>
            </a:r>
          </a:p>
          <a:p>
            <a:pPr>
              <a:defRPr sz="2000"/>
            </a:pPr>
            <a:r>
              <a:t>✔️ Méthode 30 %</a:t>
            </a:r>
          </a:p>
          <a:p>
            <a:pPr>
              <a:defRPr sz="2000"/>
            </a:pPr>
            <a:r>
              <a:t>✔️ Présentation 30 %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6446520"/>
            <a:ext cx="84124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900">
                <a:solidFill>
                  <a:srgbClr val="404040"/>
                </a:solidFill>
              </a:defRPr>
            </a:pPr>
            <a:r>
              <a:t>TD 10  •  Diapositive 8/10</a:t>
            </a:r>
          </a:p>
        </p:txBody>
      </p:sp>
      <p:pic>
        <p:nvPicPr>
          <p:cNvPr id="5" name="Picture 4" descr="ENS_s05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858000" y="5001768"/>
            <a:ext cx="2011680" cy="1124712"/>
          </a:xfrm>
          <a:prstGeom prst="rect">
            <a:avLst/>
          </a:prstGeom>
        </p:spPr>
      </p:pic>
    </p:spTree>
  </p:cSld>
  <p:clrMapOvr>
    <a:masterClrMapping/>
  </p:clrMapOvr>
  <p:transition spd="med">
    <p:fade/>
  </p:transition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Devoirs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defRPr sz="2000"/>
            </a:pPr>
            <a:r>
              <a:t>📚 Relire cours PDF</a:t>
            </a:r>
          </a:p>
          <a:p>
            <a:pPr>
              <a:defRPr sz="2000"/>
            </a:pPr>
            <a:r>
              <a:t>📚 Préparer questions</a:t>
            </a:r>
          </a:p>
          <a:p>
            <a:pPr>
              <a:defRPr sz="2000"/>
            </a:pPr>
            <a:r>
              <a:t>📚 Séance suivante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6446520"/>
            <a:ext cx="84124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900">
                <a:solidFill>
                  <a:srgbClr val="404040"/>
                </a:solidFill>
              </a:defRPr>
            </a:pPr>
            <a:r>
              <a:t>TD 10  •  Diapositive 9/10</a:t>
            </a:r>
          </a:p>
        </p:txBody>
      </p:sp>
    </p:spTree>
  </p:cSld>
  <p:clrMapOvr>
    <a:masterClrMapping/>
  </p:clrMapOvr>
  <p:transition spd="med">
    <p:fade/>
  </p:transition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Fin du TD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defRPr sz="2000"/>
            </a:pPr>
            <a:r>
              <a:t>✅ Corrigés dans TD_*.md</a:t>
            </a:r>
          </a:p>
          <a:p>
            <a:pPr>
              <a:defRPr sz="2000"/>
            </a:pPr>
            <a:r>
              <a:t>✅ BELACEL Madani</a:t>
            </a:r>
          </a:p>
          <a:p>
            <a:pPr>
              <a:defRPr sz="2000"/>
            </a:pPr>
            <a:r>
              <a:t>✅ Questions ?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6446520"/>
            <a:ext cx="84124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900">
                <a:solidFill>
                  <a:srgbClr val="404040"/>
                </a:solidFill>
              </a:defRPr>
            </a:pPr>
            <a:r>
              <a:t>TD 10  •  Diapositive 10/10</a:t>
            </a:r>
          </a:p>
        </p:txBody>
      </p:sp>
      <p:pic>
        <p:nvPicPr>
          <p:cNvPr id="5" name="Picture 4" descr="ENS_s05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74320" y="5001768"/>
            <a:ext cx="2011680" cy="1124712"/>
          </a:xfrm>
          <a:prstGeom prst="rect">
            <a:avLst/>
          </a:prstGeom>
        </p:spPr>
      </p:pic>
    </p:spTree>
  </p:cSld>
  <p:clrMapOvr>
    <a:masterClrMapping/>
  </p:clrMapOvr>
  <p:transition spd="med">
    <p:fade/>
  </p:transition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Thème Offic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14840</TotalTime>
  <Words>9927</Words>
  <Application>Microsoft Office PowerPoint</Application>
  <PresentationFormat>Affichage à l'écran (4:3)</PresentationFormat>
  <Paragraphs>973</Paragraphs>
  <Slides>31</Slides>
  <Notes>31</Notes>
  <HiddenSlides>0</HiddenSlides>
  <MMClips>0</MMClips>
  <ScaleCrop>false</ScaleCrop>
  <HeadingPairs>
    <vt:vector size="6" baseType="variant">
      <vt:variant>
        <vt:lpstr>Polices utilisées</vt:lpstr>
      </vt:variant>
      <vt:variant>
        <vt:i4>14</vt:i4>
      </vt:variant>
      <vt:variant>
        <vt:lpstr>Thème</vt:lpstr>
      </vt:variant>
      <vt:variant>
        <vt:i4>1</vt:i4>
      </vt:variant>
      <vt:variant>
        <vt:lpstr>Titres des diapositives</vt:lpstr>
      </vt:variant>
      <vt:variant>
        <vt:i4>31</vt:i4>
      </vt:variant>
    </vt:vector>
  </HeadingPairs>
  <TitlesOfParts>
    <vt:vector size="46" baseType="lpstr">
      <vt:lpstr>Aptos</vt:lpstr>
      <vt:lpstr>Arial</vt:lpstr>
      <vt:lpstr>Calibri</vt:lpstr>
      <vt:lpstr>Century</vt:lpstr>
      <vt:lpstr>Inter</vt:lpstr>
      <vt:lpstr>Liberation Serif</vt:lpstr>
      <vt:lpstr>LMSans12-Regular</vt:lpstr>
      <vt:lpstr>NimbusRomNo9L-Medi</vt:lpstr>
      <vt:lpstr>Palatino Linotype</vt:lpstr>
      <vt:lpstr>Segoe UI Emoji</vt:lpstr>
      <vt:lpstr>Segoe UI Symbol</vt:lpstr>
      <vt:lpstr>Times New Roman</vt:lpstr>
      <vt:lpstr>ui-sans-serif</vt:lpstr>
      <vt:lpstr>Wingdings</vt:lpstr>
      <vt:lpstr>Office Theme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</vt:vector>
  </TitlesOfParts>
  <Manager/>
  <Company/>
  <LinksUpToDate>false</LinksUpToDate>
  <SharedDoc>false</SharedDoc>
  <HyperlinkBase/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>islem oussama</dc:creator>
  <cp:keywords/>
  <dc:description>generated using python-pptx</dc:description>
  <cp:lastModifiedBy>islem oussama</cp:lastModifiedBy>
  <cp:revision>479</cp:revision>
  <dcterms:created xsi:type="dcterms:W3CDTF">2013-01-27T09:14:16Z</dcterms:created>
  <dcterms:modified xsi:type="dcterms:W3CDTF">2026-05-16T20:31:18Z</dcterms:modified>
  <cp:category/>
</cp:coreProperties>
</file>