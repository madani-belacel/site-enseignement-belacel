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Poppins"/>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Poppin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Poppin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Poppin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Poppins"/>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Poppins"/>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Poppins"/>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Poppins"/>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Poppins"/>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Poppins"/>
          <a:ea typeface="+mn-ea"/>
          <a:cs typeface="+mn-cs"/>
        </a:defRPr>
      </a:lvl9pPr>
    </p:bodyStyle>
    <p:otherStyle>
      <a:defPPr>
        <a:defRPr lang="en-US"/>
      </a:defPPr>
      <a:lvl1pPr marL="0" algn="l" defTabSz="457200" rtl="0" eaLnBrk="1" latinLnBrk="0" hangingPunct="1">
        <a:defRPr sz="1800" kern="1200">
          <a:solidFill>
            <a:schemeClr val="tx1"/>
          </a:solidFill>
          <a:latin typeface="Poppins"/>
          <a:ea typeface="+mn-ea"/>
          <a:cs typeface="+mn-cs"/>
        </a:defRPr>
      </a:lvl1pPr>
      <a:lvl2pPr marL="457200" algn="l" defTabSz="457200" rtl="0" eaLnBrk="1" latinLnBrk="0" hangingPunct="1">
        <a:defRPr sz="1800" kern="1200">
          <a:solidFill>
            <a:schemeClr val="tx1"/>
          </a:solidFill>
          <a:latin typeface="Poppins"/>
          <a:ea typeface="+mn-ea"/>
          <a:cs typeface="+mn-cs"/>
        </a:defRPr>
      </a:lvl2pPr>
      <a:lvl3pPr marL="914400" algn="l" defTabSz="457200" rtl="0" eaLnBrk="1" latinLnBrk="0" hangingPunct="1">
        <a:defRPr sz="1800" kern="1200">
          <a:solidFill>
            <a:schemeClr val="tx1"/>
          </a:solidFill>
          <a:latin typeface="Poppins"/>
          <a:ea typeface="+mn-ea"/>
          <a:cs typeface="+mn-cs"/>
        </a:defRPr>
      </a:lvl3pPr>
      <a:lvl4pPr marL="1371600" algn="l" defTabSz="457200" rtl="0" eaLnBrk="1" latinLnBrk="0" hangingPunct="1">
        <a:defRPr sz="1800" kern="1200">
          <a:solidFill>
            <a:schemeClr val="tx1"/>
          </a:solidFill>
          <a:latin typeface="Poppins"/>
          <a:ea typeface="+mn-ea"/>
          <a:cs typeface="+mn-cs"/>
        </a:defRPr>
      </a:lvl4pPr>
      <a:lvl5pPr marL="1828800" algn="l" defTabSz="457200" rtl="0" eaLnBrk="1" latinLnBrk="0" hangingPunct="1">
        <a:defRPr sz="1800" kern="1200">
          <a:solidFill>
            <a:schemeClr val="tx1"/>
          </a:solidFill>
          <a:latin typeface="Poppins"/>
          <a:ea typeface="+mn-ea"/>
          <a:cs typeface="+mn-cs"/>
        </a:defRPr>
      </a:lvl5pPr>
      <a:lvl6pPr marL="2286000" algn="l" defTabSz="457200" rtl="0" eaLnBrk="1" latinLnBrk="0" hangingPunct="1">
        <a:defRPr sz="1800" kern="1200">
          <a:solidFill>
            <a:schemeClr val="tx1"/>
          </a:solidFill>
          <a:latin typeface="Poppins"/>
          <a:ea typeface="+mn-ea"/>
          <a:cs typeface="+mn-cs"/>
        </a:defRPr>
      </a:lvl6pPr>
      <a:lvl7pPr marL="2743200" algn="l" defTabSz="457200" rtl="0" eaLnBrk="1" latinLnBrk="0" hangingPunct="1">
        <a:defRPr sz="1800" kern="1200">
          <a:solidFill>
            <a:schemeClr val="tx1"/>
          </a:solidFill>
          <a:latin typeface="Poppins"/>
          <a:ea typeface="+mn-ea"/>
          <a:cs typeface="+mn-cs"/>
        </a:defRPr>
      </a:lvl7pPr>
      <a:lvl8pPr marL="3200400" algn="l" defTabSz="457200" rtl="0" eaLnBrk="1" latinLnBrk="0" hangingPunct="1">
        <a:defRPr sz="1800" kern="1200">
          <a:solidFill>
            <a:schemeClr val="tx1"/>
          </a:solidFill>
          <a:latin typeface="Poppins"/>
          <a:ea typeface="+mn-ea"/>
          <a:cs typeface="+mn-cs"/>
        </a:defRPr>
      </a:lvl8pPr>
      <a:lvl9pPr marL="3657600" algn="l" defTabSz="457200" rtl="0" eaLnBrk="1" latinLnBrk="0" hangingPunct="1">
        <a:defRPr sz="1800" kern="1200">
          <a:solidFill>
            <a:schemeClr val="tx1"/>
          </a:solidFill>
          <a:latin typeface="Poppins"/>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val="34495E"/&gt;</a:solidFill>
        <a:effectLst/>
      </p:bgPr>
    </p:bg>
    <p:spTree>
      <p:nvGrpSpPr>
        <p:cNvPr id="1" name=""/>
        <p:cNvGrpSpPr/>
        <p:nvPr/>
      </p:nvGrpSpPr>
      <p:grpSpPr/>
      <p:sp>
        <p:nvSpPr>
          <p:cNvPr id="2" name="TextBox 1"/>
          <p:cNvSpPr txBox="1"/>
          <p:nvPr/>
        </p:nvSpPr>
        <p:spPr>
          <a:xfrm>
            <a:off x="914400" y="1828800"/>
            <a:ext cx="10362895" cy="2743200"/>
          </a:xfrm>
          <a:prstGeom prst="rect">
            <a:avLst/>
          </a:prstGeom>
          <a:noFill/>
        </p:spPr>
        <p:txBody>
          <a:bodyPr wrap="square">
            <a:spAutoFit/>
          </a:bodyPr>
          <a:lstStyle/>
          <a:p>
            <a:pPr algn="ctr"/>
            <a:r>
              <a:rPr sz="3200" b="1">
                <a:solidFill>val="FFFFFF"/&gt;</a:solidFill>
              </a:rPr>
              <a:t>Cours 01 — Introduction à RPL-MQoS</a:t>
            </a:r>
          </a:p>
          <a:p>
            <a:pPr algn="ctr">
              <a:spcBef>
                <a:spcPts val="1600"/>
              </a:spcBef>
            </a:pPr>
            <a:r>
              <a:rPr sz="1400">
                <a:solidFill>val="9AA7B6"/&gt;</a:solidFill>
              </a:rPr>
              <a:t>2h CMDurée : 2h CMObjectif : Comprendre les motivations, le contexte et la contribution du protocole RPL-MQoS</a:t>
            </a:r>
          </a:p>
          <a:p>
            <a:pPr algn="ctr">
              <a:spcBef>
                <a:spcPts val="800"/>
              </a:spcBef>
            </a:pPr>
            <a:r>
              <a:rPr sz="1200">
                <a:solidFill>val="9AA7B6"/&gt;</a:solidFill>
              </a:rPr>
              <a:t>Dr. BELACEL Madani | Universite de Mostaganem</a:t>
            </a:r>
          </a:p>
        </p:txBody>
      </p:sp>
      <p:sp>
        <p:nvSpPr>
          <p:cNvPr id="990001" name="Pied de page FLE"/>
          <p:cNvSpPr>
            <a:spLocks noGrp="1"/>
          </p:cNvSpPr>
          <p:nvPr/>
        </p:nvSpPr>
        <p:spPr>
          <a:xfrm>
            <a:off x="5562295" y="22860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1. Contexte : QoS dans les réseaux IoT</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Les réseaux de capteurs sans fil (WSN) et l'Internet des Objets (IoT) nécessitent une gestion fine de la Qualité de Service (QoS). Le protocole RPL (RFC 6550) est le standard de routage pour les LLN, mais il utilise principalement l'ETX comme métrique unique.</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2. Limites de RPL standard</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914400" y="457200"/>
            <a:ext cx="10515600" cy="320040"/>
          </a:xfrm>
          <a:prstGeom prst="rect">
            <a:avLst/>
          </a:prstGeom>
          <a:noFill/>
        </p:spPr>
        <p:txBody>
          <a:bodyPr wrap="square">
            <a:spAutoFit/>
          </a:bodyPr>
          <a:lstStyle/>
          <a:p>
            <a:r>
              <a:rPr sz="1200" b="0" i="0">
                <a:solidFill>val="162B40"/&gt;</a:solidFill>
              </a:rPr>
              <a:t>  Métrique unique ETX — pas de différenciation de trafic</a:t>
            </a:r>
          </a:p>
        </p:txBody>
      </p:sp>
      <p:sp>
        <p:nvSpPr>
          <p:cNvPr id="3" name="TextBox 2"/>
          <p:cNvSpPr txBox="1"/>
          <p:nvPr/>
        </p:nvSpPr>
        <p:spPr>
          <a:xfrm>
            <a:off x="914400" y="713232"/>
            <a:ext cx="10515600" cy="320040"/>
          </a:xfrm>
          <a:prstGeom prst="rect">
            <a:avLst/>
          </a:prstGeom>
          <a:noFill/>
        </p:spPr>
        <p:txBody>
          <a:bodyPr wrap="square">
            <a:spAutoFit/>
          </a:bodyPr>
          <a:lstStyle/>
          <a:p>
            <a:r>
              <a:rPr sz="1200" b="0" i="0">
                <a:solidFill>val="162B40"/&gt;</a:solidFill>
              </a:rPr>
              <a:t>  Pas de garantie de délai pour les applications temps réel</a:t>
            </a:r>
          </a:p>
        </p:txBody>
      </p:sp>
      <p:sp>
        <p:nvSpPr>
          <p:cNvPr id="4" name="TextBox 3"/>
          <p:cNvSpPr txBox="1"/>
          <p:nvPr/>
        </p:nvSpPr>
        <p:spPr>
          <a:xfrm>
            <a:off x="914400" y="969264"/>
            <a:ext cx="10515600" cy="320040"/>
          </a:xfrm>
          <a:prstGeom prst="rect">
            <a:avLst/>
          </a:prstGeom>
          <a:noFill/>
        </p:spPr>
        <p:txBody>
          <a:bodyPr wrap="square">
            <a:spAutoFit/>
          </a:bodyPr>
          <a:lstStyle/>
          <a:p>
            <a:r>
              <a:rPr sz="1200" b="0" i="0">
                <a:solidFill>val="162B40"/&gt;</a:solidFill>
              </a:rPr>
              <a:t>  Absence de gestion de priorité entre flux</a:t>
            </a:r>
          </a:p>
        </p:txBody>
      </p:sp>
      <p:sp>
        <p:nvSpPr>
          <p:cNvPr id="5" name="TextBox 4"/>
          <p:cNvSpPr txBox="1"/>
          <p:nvPr/>
        </p:nvSpPr>
        <p:spPr>
          <a:xfrm>
            <a:off x="914400" y="1225296"/>
            <a:ext cx="10515600" cy="320040"/>
          </a:xfrm>
          <a:prstGeom prst="rect">
            <a:avLst/>
          </a:prstGeom>
          <a:noFill/>
        </p:spPr>
        <p:txBody>
          <a:bodyPr wrap="square">
            <a:spAutoFit/>
          </a:bodyPr>
          <a:lstStyle/>
          <a:p>
            <a:r>
              <a:rPr sz="1200" b="0" i="0">
                <a:solidFill>val="162B40"/&gt;</a:solidFill>
              </a:rPr>
              <a:t>  Équilibrage de charge limité</a:t>
            </a:r>
          </a:p>
        </p:txBody>
      </p:sp>
      <p:sp>
        <p:nvSpPr>
          <p:cNvPr id="990001" name="Pied de page FLE"/>
          <p:cNvSpPr>
            <a:spLocks noGrp="1"/>
          </p:cNvSpPr>
          <p:nvPr/>
        </p:nvSpPr>
        <p:spPr>
          <a:xfrm>
            <a:off x="5715000" y="-13716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3. Concept RPL-MQoS</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RPL-MQoS introduit quatre classes de trafic avec des poids distincts : Critique, Priorité, Normal, Background. Chaque classe a des pondérations différentes pour l'ETX, le délai et la gigue, permettant une sélection de parent adaptée au type de trafic.</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4. Architecture du code source</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r>
              <a:rPr sz="1300" b="0" i="0">
                <a:solidFill>val="162B40"/&gt;</a:solidFill>
              </a:rPr>
              <a:t/>
            </a:r>
          </a:p>
        </p:txBody>
      </p:sp>
      <p:sp>
        <p:nvSpPr>
          <p:cNvPr id="990001" name="Pied de page FLE"/>
          <p:cNvSpPr>
            <a:spLocks noGrp="1"/>
          </p:cNvSpPr>
          <p:nvPr/>
        </p:nvSpPr>
        <p:spPr>
          <a:xfrm>
            <a:off x="5897880" y="27432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r>
              <a:rPr sz="2800" b="1" i="0">
                <a:solidFill>val="FFFFFF"/&gt;</a:solidFill>
              </a:rPr>
              <a:t>5. Définition des classes de trafic</a:t>
            </a:r>
          </a:p>
        </p:txBody>
      </p:sp>
      <p:sp>
        <p:nvSpPr>
          <p:cNvPr id="990001" name="Pied de page FLE"/>
          <p:cNvSpPr>
            <a:spLocks noGrp="1"/>
          </p:cNvSpPr>
          <p:nvPr/>
        </p:nvSpPr>
        <p:spPr>
          <a:xfrm>
            <a:off x="5562295"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914400" y="457200"/>
            <a:ext cx="10515600" cy="320040"/>
          </a:xfrm>
          <a:prstGeom prst="rect">
            <a:avLst/>
          </a:prstGeom>
          <a:noFill/>
        </p:spPr>
        <p:txBody>
          <a:bodyPr wrap="square">
            <a:spAutoFit/>
          </a:bodyPr>
          <a:lstStyle/>
          <a:p>
            <a:r>
              <a:rPr sz="1200" b="0" i="0">
                <a:solidFill>val="162B40"/&gt;</a:solidFill>
              </a:rPr>
              <a:t>  Comprendre les limites de RPL standard en termes de QoS</a:t>
            </a:r>
          </a:p>
        </p:txBody>
      </p:sp>
      <p:sp>
        <p:nvSpPr>
          <p:cNvPr id="3" name="TextBox 2"/>
          <p:cNvSpPr txBox="1"/>
          <p:nvPr/>
        </p:nvSpPr>
        <p:spPr>
          <a:xfrm>
            <a:off x="914400" y="713232"/>
            <a:ext cx="10515600" cy="320040"/>
          </a:xfrm>
          <a:prstGeom prst="rect">
            <a:avLst/>
          </a:prstGeom>
          <a:noFill/>
        </p:spPr>
        <p:txBody>
          <a:bodyPr wrap="square">
            <a:spAutoFit/>
          </a:bodyPr>
          <a:lstStyle/>
          <a:p>
            <a:r>
              <a:rPr sz="1200" b="0" i="0">
                <a:solidFill>val="162B40"/&gt;</a:solidFill>
              </a:rPr>
              <a:t>  Connaître le concept des classes de trafic multiples</a:t>
            </a:r>
          </a:p>
        </p:txBody>
      </p:sp>
      <p:sp>
        <p:nvSpPr>
          <p:cNvPr id="4" name="TextBox 3"/>
          <p:cNvSpPr txBox="1"/>
          <p:nvPr/>
        </p:nvSpPr>
        <p:spPr>
          <a:xfrm>
            <a:off x="914400" y="969264"/>
            <a:ext cx="10515600" cy="320040"/>
          </a:xfrm>
          <a:prstGeom prst="rect">
            <a:avLst/>
          </a:prstGeom>
          <a:noFill/>
        </p:spPr>
        <p:txBody>
          <a:bodyPr wrap="square">
            <a:spAutoFit/>
          </a:bodyPr>
          <a:lstStyle/>
          <a:p>
            <a:r>
              <a:rPr sz="1200" b="0" i="0">
                <a:solidFill>val="162B40"/&gt;</a:solidFill>
              </a:rPr>
              <a:t>  Identifier la structure du projet RPL-MQoS</a:t>
            </a:r>
          </a:p>
        </p:txBody>
      </p:sp>
      <p:sp>
        <p:nvSpPr>
          <p:cNvPr id="5" name="TextBox 4"/>
          <p:cNvSpPr txBox="1"/>
          <p:nvPr/>
        </p:nvSpPr>
        <p:spPr>
          <a:xfrm>
            <a:off x="914400" y="1225296"/>
            <a:ext cx="10515600" cy="320040"/>
          </a:xfrm>
          <a:prstGeom prst="rect">
            <a:avLst/>
          </a:prstGeom>
          <a:noFill/>
        </p:spPr>
        <p:txBody>
          <a:bodyPr wrap="square">
            <a:spAutoFit/>
          </a:bodyPr>
          <a:lstStyle/>
          <a:p>
            <a:r>
              <a:rPr sz="1200" b="0" i="0">
                <a:solidFill>val="162B40"/&gt;</a:solidFill>
              </a:rPr>
              <a:t>  Quelles sont les quatre classes de trafic de RPL-MQoS ?</a:t>
            </a:r>
          </a:p>
        </p:txBody>
      </p:sp>
      <p:sp>
        <p:nvSpPr>
          <p:cNvPr id="6" name="TextBox 5"/>
          <p:cNvSpPr txBox="1"/>
          <p:nvPr/>
        </p:nvSpPr>
        <p:spPr>
          <a:xfrm>
            <a:off x="914400" y="1481328"/>
            <a:ext cx="10515600" cy="320040"/>
          </a:xfrm>
          <a:prstGeom prst="rect">
            <a:avLst/>
          </a:prstGeom>
          <a:noFill/>
        </p:spPr>
        <p:txBody>
          <a:bodyPr wrap="square">
            <a:spAutoFit/>
          </a:bodyPr>
          <a:lstStyle/>
          <a:p>
            <a:r>
              <a:rPr sz="1200" b="0" i="0">
                <a:solidFill>val="162B40"/&gt;</a:solidFill>
              </a:rPr>
              <a:t>  Pourquoi RPL standard ne peut-il pas garantir la QoS ?</a:t>
            </a:r>
          </a:p>
        </p:txBody>
      </p:sp>
      <p:sp>
        <p:nvSpPr>
          <p:cNvPr id="7" name="TextBox 6"/>
          <p:cNvSpPr txBox="1"/>
          <p:nvPr/>
        </p:nvSpPr>
        <p:spPr>
          <a:xfrm>
            <a:off x="914400" y="1737360"/>
            <a:ext cx="10515600" cy="320040"/>
          </a:xfrm>
          <a:prstGeom prst="rect">
            <a:avLst/>
          </a:prstGeom>
          <a:noFill/>
        </p:spPr>
        <p:txBody>
          <a:bodyPr wrap="square">
            <a:spAutoFit/>
          </a:bodyPr>
          <a:lstStyle/>
          <a:p>
            <a:r>
              <a:rPr sz="1200" b="0" i="0">
                <a:solidFill>val="162B40"/&gt;</a:solidFill>
              </a:rPr>
              <a:t>  Combien de lignes fait le fichier rpl-mqos.c (528) ?</a:t>
            </a:r>
          </a:p>
        </p:txBody>
      </p:sp>
      <p:sp>
        <p:nvSpPr>
          <p:cNvPr id="990001" name="Pied de page FLE"/>
          <p:cNvSpPr>
            <a:spLocks noGrp="1"/>
          </p:cNvSpPr>
          <p:nvPr/>
        </p:nvSpPr>
        <p:spPr>
          <a:xfrm>
            <a:off x="5715000" y="-13716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