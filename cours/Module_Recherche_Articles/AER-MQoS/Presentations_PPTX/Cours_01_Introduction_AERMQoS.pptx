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828800"/>
            <a:ext cx="10362895" cy="2743200"/>
          </a:xfrm>
          <a:prstGeom prst="rect">
            <a:avLst/>
          </a:prstGeom>
          <a:noFill/>
        </p:spPr>
        <p:txBody>
          <a:bodyPr wrap="square">
            <a:spAutoFit/>
          </a:bodyPr>
          <a:lstStyle/>
          <a:p>
            <a:pPr algn="ctr"/>
            <a:r>
              <a:rPr sz="3200" b="1">
                <a:solidFill>val="FFFFFF"/&gt;</a:solidFill>
              </a:rPr>
              <a:t>Cours 01 — Introduction à AER-MQoS</a:t>
            </a:r>
          </a:p>
          <a:p>
            <a:pPr algn="ctr">
              <a:spcBef>
                <a:spcPts val="1600"/>
              </a:spcBef>
            </a:pPr>
            <a:r>
              <a:rPr sz="1400">
                <a:solidFill>val="9AA7B6"/&gt;</a:solidFill>
              </a:rPr>
              <a:t>Type : Cours théorique &amp;mdash; Durée : 1h30
 Objectif : Comprendre le contexte, la problématique et les contributions du protocole AER-MQoS
Prérequis : Connaissances de base en RPL (RFC 6550), IoT, r</a:t>
            </a:r>
          </a:p>
          <a:p>
            <a:pPr algn="ctr">
              <a:spcBef>
                <a:spcPts val="800"/>
              </a:spcBef>
            </a:pPr>
            <a:r>
              <a:rPr sz="1200">
                <a:solidFill>val="9AA7B6"/&gt;</a:solidFill>
              </a:rPr>
              <a:t>Dr. BELACEL Madani | Universite de Mostaganem</a:t>
            </a:r>
          </a:p>
        </p:txBody>
      </p:sp>
      <p:sp>
        <p:nvSpPr>
          <p:cNvPr id="990001" name="Pied de page FLE"/>
          <p:cNvSpPr>
            <a:spLocks noGrp="1"/>
          </p:cNvSpPr>
          <p:nvPr/>
        </p:nvSpPr>
        <p:spPr>
          <a:xfrm>
            <a:off x="5562295" y="22860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1. Contexte : l'IoT et les réseaux de capteurs sans fil</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L'Internet des Objets (IoT) connecte des milliards d'objets physiques &amp;mdash; capteurs, actionneurs, dispositifs intelligents &amp;mdash; capables de collecter, traiter et échanger des données via Internet. Dans ce contexte, les réseaux de capteurs sans fil (WSN) forment l'infrastructure de base : des nœuds contraints en énergie, mémoire et puissance de calcul communiquent sans fil pour acheminer des données vers un point de collecte (puits).</a:t>
            </a:r>
          </a:p>
        </p:txBody>
      </p:sp>
      <p:sp>
        <p:nvSpPr>
          <p:cNvPr id="3" name="TextBox 2"/>
          <p:cNvSpPr txBox="1"/>
          <p:nvPr/>
        </p:nvSpPr>
        <p:spPr>
          <a:xfrm>
            <a:off x="731520" y="1261872"/>
            <a:ext cx="10698480" cy="731520"/>
          </a:xfrm>
          <a:prstGeom prst="rect">
            <a:avLst/>
          </a:prstGeom>
          <a:noFill/>
        </p:spPr>
        <p:txBody>
          <a:bodyPr wrap="square">
            <a:spAutoFit/>
          </a:bodyPr>
          <a:lstStyle/>
          <a:p>
            <a:r>
              <a:rPr sz="1300" b="0" i="0">
                <a:solidFill>val="162B40"/&gt;</a:solidFill>
              </a:rPr>
              <a:t>Le protocole RPL (Routing Protocol for Low-Power and Lossy Networks, RFC 6550) est le standard IETF pour le routage dans les LLN. Il construit un DODAG (Destination-Oriented Directed Acyclic Graph) orienté vers un puits en utilisant des fonctions objectives (OF) qui définissent la métrique de routage.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2. Problématique : les limites de RPL standard</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RPL standard utilise des métriques simples comme ETX (Expected Transmission Count) via MRHOF (Multi-Hop Routing Objective Function). Cette approche présente plusieurs limitations :</a:t>
            </a:r>
          </a:p>
        </p:txBody>
      </p:sp>
      <p:sp>
        <p:nvSpPr>
          <p:cNvPr id="3" name="TextBox 2"/>
          <p:cNvSpPr txBox="1"/>
          <p:nvPr/>
        </p:nvSpPr>
        <p:spPr>
          <a:xfrm>
            <a:off x="914400" y="859536"/>
            <a:ext cx="10515600" cy="320040"/>
          </a:xfrm>
          <a:prstGeom prst="rect">
            <a:avLst/>
          </a:prstGeom>
          <a:noFill/>
        </p:spPr>
        <p:txBody>
          <a:bodyPr wrap="square">
            <a:spAutoFit/>
          </a:bodyPr>
          <a:lstStyle/>
          <a:p>
            <a:r>
              <a:rPr sz="1200" b="0" i="0">
                <a:solidFill>val="162B40"/&gt;</a:solidFill>
              </a:rPr>
              <a:t>  Absence de différenciation QoS : tous les paquets sont traités de la même façon, qu'ils soient une alarme critique ou un relevé périodique.</a:t>
            </a:r>
          </a:p>
        </p:txBody>
      </p:sp>
      <p:sp>
        <p:nvSpPr>
          <p:cNvPr id="4" name="TextBox 3"/>
          <p:cNvSpPr txBox="1"/>
          <p:nvPr/>
        </p:nvSpPr>
        <p:spPr>
          <a:xfrm>
            <a:off x="914400" y="1115568"/>
            <a:ext cx="10515600" cy="320040"/>
          </a:xfrm>
          <a:prstGeom prst="rect">
            <a:avLst/>
          </a:prstGeom>
          <a:noFill/>
        </p:spPr>
        <p:txBody>
          <a:bodyPr wrap="square">
            <a:spAutoFit/>
          </a:bodyPr>
          <a:lstStyle/>
          <a:p>
            <a:r>
              <a:rPr sz="1200" b="0" i="0">
                <a:solidFill>val="162B40"/&gt;</a:solidFill>
              </a:rPr>
              <a:t>  Métrique unique : ETX ne capture que la fiabilité du lien, ignorant l'énergie résiduelle ou la confiance.</a:t>
            </a:r>
          </a:p>
        </p:txBody>
      </p:sp>
      <p:sp>
        <p:nvSpPr>
          <p:cNvPr id="5" name="TextBox 4"/>
          <p:cNvSpPr txBox="1"/>
          <p:nvPr/>
        </p:nvSpPr>
        <p:spPr>
          <a:xfrm>
            <a:off x="914400" y="1371600"/>
            <a:ext cx="10515600" cy="320040"/>
          </a:xfrm>
          <a:prstGeom prst="rect">
            <a:avLst/>
          </a:prstGeom>
          <a:noFill/>
        </p:spPr>
        <p:txBody>
          <a:bodyPr wrap="square">
            <a:spAutoFit/>
          </a:bodyPr>
          <a:lstStyle/>
          <a:p>
            <a:r>
              <a:rPr sz="1200" b="0" i="0">
                <a:solidFill>val="162B40"/&gt;</a:solidFill>
              </a:rPr>
              <a:t>  Pas d'adaptation contextuelle : les poids de métriques sont statiques, incapables de s'adapter aux changements du réseau.</a:t>
            </a:r>
          </a:p>
        </p:txBody>
      </p:sp>
      <p:sp>
        <p:nvSpPr>
          <p:cNvPr id="6" name="TextBox 5"/>
          <p:cNvSpPr txBox="1"/>
          <p:nvPr/>
        </p:nvSpPr>
        <p:spPr>
          <a:xfrm>
            <a:off x="914400" y="1627632"/>
            <a:ext cx="10515600" cy="320040"/>
          </a:xfrm>
          <a:prstGeom prst="rect">
            <a:avLst/>
          </a:prstGeom>
          <a:noFill/>
        </p:spPr>
        <p:txBody>
          <a:bodyPr wrap="square">
            <a:spAutoFit/>
          </a:bodyPr>
          <a:lstStyle/>
          <a:p>
            <a:r>
              <a:rPr sz="1200" b="0" i="0">
                <a:solidFill>val="162B40"/&gt;</a:solidFill>
              </a:rPr>
              <a:t>  Vulnérabilité aux attaques : l'absence de mécanisme de confiance rend RPL sensible aux attaques de routage.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3. AER-MQoS : une extension multi-objectifs contextuelle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AER-MQoS (v1.1) est une extension de RPL qui introduit :</a:t>
            </a:r>
          </a:p>
        </p:txBody>
      </p:sp>
      <p:sp>
        <p:nvSpPr>
          <p:cNvPr id="3" name="TextBox 2"/>
          <p:cNvSpPr txBox="1"/>
          <p:nvPr/>
        </p:nvSpPr>
        <p:spPr>
          <a:xfrm>
            <a:off x="914400" y="658368"/>
            <a:ext cx="10515600" cy="320040"/>
          </a:xfrm>
          <a:prstGeom prst="rect">
            <a:avLst/>
          </a:prstGeom>
          <a:noFill/>
        </p:spPr>
        <p:txBody>
          <a:bodyPr wrap="square">
            <a:spAutoFit/>
          </a:bodyPr>
          <a:lstStyle/>
          <a:p>
            <a:r>
              <a:rPr sz="1200" b="0" i="0">
                <a:solidFill>val="162B40"/&gt;</a:solidFill>
              </a:rPr>
              <a:t>  Une métrique composite contextuelle (MCS) combinant l'énergie résiduelle normalisée (NRE), la fiabilité des liens (ETX normalisé) et un score de confi</a:t>
            </a:r>
          </a:p>
        </p:txBody>
      </p:sp>
      <p:sp>
        <p:nvSpPr>
          <p:cNvPr id="4" name="TextBox 3"/>
          <p:cNvSpPr txBox="1"/>
          <p:nvPr/>
        </p:nvSpPr>
        <p:spPr>
          <a:xfrm>
            <a:off x="914400" y="914400"/>
            <a:ext cx="10515600" cy="320040"/>
          </a:xfrm>
          <a:prstGeom prst="rect">
            <a:avLst/>
          </a:prstGeom>
          <a:noFill/>
        </p:spPr>
        <p:txBody>
          <a:bodyPr wrap="square">
            <a:spAutoFit/>
          </a:bodyPr>
          <a:lstStyle/>
          <a:p>
            <a:r>
              <a:rPr sz="1200" b="0" i="0">
                <a:solidFill>val="162B40"/&gt;</a:solidFill>
              </a:rPr>
              <a:t>  Quatre classes de trafic QoS (C0–C3) avec des priorités distinctes, ordonnancées par WRR (Weighted Round Robin) selon les proportions 6:3:2:1.</a:t>
            </a:r>
          </a:p>
        </p:txBody>
      </p:sp>
      <p:sp>
        <p:nvSpPr>
          <p:cNvPr id="5" name="TextBox 4"/>
          <p:cNvSpPr txBox="1"/>
          <p:nvPr/>
        </p:nvSpPr>
        <p:spPr>
          <a:xfrm>
            <a:off x="914400" y="1170432"/>
            <a:ext cx="10515600" cy="320040"/>
          </a:xfrm>
          <a:prstGeom prst="rect">
            <a:avLst/>
          </a:prstGeom>
          <a:noFill/>
        </p:spPr>
        <p:txBody>
          <a:bodyPr wrap="square">
            <a:spAutoFit/>
          </a:bodyPr>
          <a:lstStyle/>
          <a:p>
            <a:r>
              <a:rPr sz="1200" b="0" i="0">
                <a:solidFill>val="162B40"/&gt;</a:solidFill>
              </a:rPr>
              <a:t>  Un mécanisme d'adaptation par Q-learning qui ajuste dynamiquement le poids gamma de la confiance dans la métrique MCS en fonction des conditions du ré</a:t>
            </a:r>
          </a:p>
        </p:txBody>
      </p:sp>
      <p:sp>
        <p:nvSpPr>
          <p:cNvPr id="6" name="TextBox 5"/>
          <p:cNvSpPr txBox="1"/>
          <p:nvPr/>
        </p:nvSpPr>
        <p:spPr>
          <a:xfrm>
            <a:off x="914400" y="1426464"/>
            <a:ext cx="10515600" cy="320040"/>
          </a:xfrm>
          <a:prstGeom prst="rect">
            <a:avLst/>
          </a:prstGeom>
          <a:noFill/>
        </p:spPr>
        <p:txBody>
          <a:bodyPr wrap="square">
            <a:spAutoFit/>
          </a:bodyPr>
          <a:lstStyle/>
          <a:p>
            <a:r>
              <a:rPr sz="1200" b="0" i="0">
                <a:solidFill>val="162B40"/&gt;</a:solidFill>
              </a:rPr>
              <a:t>  Un modèle d'énergie NRE étendu du protocole RPL-AER, intégrant la capacité de batterie et la consommation résiduelle.</a:t>
            </a:r>
          </a:p>
        </p:txBody>
      </p:sp>
      <p:sp>
        <p:nvSpPr>
          <p:cNvPr id="7" name="TextBox 6"/>
          <p:cNvSpPr txBox="1"/>
          <p:nvPr/>
        </p:nvSpPr>
        <p:spPr>
          <a:xfrm>
            <a:off x="914400" y="1682496"/>
            <a:ext cx="10515600" cy="320040"/>
          </a:xfrm>
          <a:prstGeom prst="rect">
            <a:avLst/>
          </a:prstGeom>
          <a:noFill/>
        </p:spPr>
        <p:txBody>
          <a:bodyPr wrap="square">
            <a:spAutoFit/>
          </a:bodyPr>
          <a:lstStyle/>
          <a:p>
            <a:r>
              <a:rPr sz="1200" b="0" i="0">
                <a:solidFill>val="162B40"/&gt;</a:solidFill>
              </a:rPr>
              <a:t>  Un score de confiance basé sur l'ETX et les anomalies de routage, renforçant la résilience aux attaques.</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4. Architecture logicielle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 code source est organisé autour de modules spécialisés :</a:t>
            </a:r>
          </a:p>
        </p:txBody>
      </p:sp>
      <p:sp>
        <p:nvSpPr>
          <p:cNvPr id="3" name="TextBox 2"/>
          <p:cNvSpPr txBox="1"/>
          <p:nvPr/>
        </p:nvSpPr>
        <p:spPr>
          <a:xfrm>
            <a:off x="914400" y="658368"/>
            <a:ext cx="10515600" cy="320040"/>
          </a:xfrm>
          <a:prstGeom prst="rect">
            <a:avLst/>
          </a:prstGeom>
          <a:noFill/>
        </p:spPr>
        <p:txBody>
          <a:bodyPr wrap="square">
            <a:spAutoFit/>
          </a:bodyPr>
          <a:lstStyle/>
          <a:p>
            <a:r>
              <a:rPr sz="1200" b="0" i="0">
                <a:solidFill>val="162B40"/&gt;</a:solidFill>
              </a:rPr>
              <a:t>  aer_rpl_plus.c/h : module central implémentant la métrique MCS et la pondération contextuelle (alpha, beta, gamma).</a:t>
            </a:r>
          </a:p>
        </p:txBody>
      </p:sp>
      <p:sp>
        <p:nvSpPr>
          <p:cNvPr id="4" name="TextBox 3"/>
          <p:cNvSpPr txBox="1"/>
          <p:nvPr/>
        </p:nvSpPr>
        <p:spPr>
          <a:xfrm>
            <a:off x="914400" y="914400"/>
            <a:ext cx="10515600" cy="320040"/>
          </a:xfrm>
          <a:prstGeom prst="rect">
            <a:avLst/>
          </a:prstGeom>
          <a:noFill/>
        </p:spPr>
        <p:txBody>
          <a:bodyPr wrap="square">
            <a:spAutoFit/>
          </a:bodyPr>
          <a:lstStyle/>
          <a:p>
            <a:r>
              <a:rPr sz="1200" b="0" i="0">
                <a:solidFill>val="162B40"/&gt;</a:solidFill>
              </a:rPr>
              <a:t>  aer_qos_queue.c/h : gestion des quatre files d'attente QoS et de l'ordonnanceur WRR.</a:t>
            </a:r>
          </a:p>
        </p:txBody>
      </p:sp>
      <p:sp>
        <p:nvSpPr>
          <p:cNvPr id="5" name="TextBox 4"/>
          <p:cNvSpPr txBox="1"/>
          <p:nvPr/>
        </p:nvSpPr>
        <p:spPr>
          <a:xfrm>
            <a:off x="914400" y="1170432"/>
            <a:ext cx="10515600" cy="320040"/>
          </a:xfrm>
          <a:prstGeom prst="rect">
            <a:avLst/>
          </a:prstGeom>
          <a:noFill/>
        </p:spPr>
        <p:txBody>
          <a:bodyPr wrap="square">
            <a:spAutoFit/>
          </a:bodyPr>
          <a:lstStyle/>
          <a:p>
            <a:r>
              <a:rPr sz="1200" b="0" i="0">
                <a:solidFill>val="162B40"/&gt;</a:solidFill>
              </a:rPr>
              <a:t>  aer_rpl_energy.c/h : modèle de consommation énergétique NRE avec suivi de la capacité de batterie.</a:t>
            </a:r>
          </a:p>
        </p:txBody>
      </p:sp>
      <p:sp>
        <p:nvSpPr>
          <p:cNvPr id="6" name="TextBox 5"/>
          <p:cNvSpPr txBox="1"/>
          <p:nvPr/>
        </p:nvSpPr>
        <p:spPr>
          <a:xfrm>
            <a:off x="914400" y="1426464"/>
            <a:ext cx="10515600" cy="320040"/>
          </a:xfrm>
          <a:prstGeom prst="rect">
            <a:avLst/>
          </a:prstGeom>
          <a:noFill/>
        </p:spPr>
        <p:txBody>
          <a:bodyPr wrap="square">
            <a:spAutoFit/>
          </a:bodyPr>
          <a:lstStyle/>
          <a:p>
            <a:r>
              <a:rPr sz="1200" b="0" i="0">
                <a:solidFill>val="162B40"/&gt;</a:solidFill>
              </a:rPr>
              <a:t>  aer_rpl_qlearn.c/h : agent Q-learning pour l'ajustement du poids gamma.</a:t>
            </a:r>
          </a:p>
        </p:txBody>
      </p:sp>
      <p:sp>
        <p:nvSpPr>
          <p:cNvPr id="7" name="TextBox 6"/>
          <p:cNvSpPr txBox="1"/>
          <p:nvPr/>
        </p:nvSpPr>
        <p:spPr>
          <a:xfrm>
            <a:off x="914400" y="1682496"/>
            <a:ext cx="10515600" cy="320040"/>
          </a:xfrm>
          <a:prstGeom prst="rect">
            <a:avLst/>
          </a:prstGeom>
          <a:noFill/>
        </p:spPr>
        <p:txBody>
          <a:bodyPr wrap="square">
            <a:spAutoFit/>
          </a:bodyPr>
          <a:lstStyle/>
          <a:p>
            <a:r>
              <a:rPr sz="1200" b="0" i="0">
                <a:solidFill>val="162B40"/&gt;</a:solidFill>
              </a:rPr>
              <a:t>  aer_rpl_trust.c/h : calcul du score de confiance basé sur l'ETX.</a:t>
            </a:r>
          </a:p>
        </p:txBody>
      </p:sp>
      <p:sp>
        <p:nvSpPr>
          <p:cNvPr id="8" name="TextBox 7"/>
          <p:cNvSpPr txBox="1"/>
          <p:nvPr/>
        </p:nvSpPr>
        <p:spPr>
          <a:xfrm>
            <a:off x="914400" y="1938528"/>
            <a:ext cx="10515600" cy="320040"/>
          </a:xfrm>
          <a:prstGeom prst="rect">
            <a:avLst/>
          </a:prstGeom>
          <a:noFill/>
        </p:spPr>
        <p:txBody>
          <a:bodyPr wrap="square">
            <a:spAutoFit/>
          </a:bodyPr>
          <a:lstStyle/>
          <a:p>
            <a:r>
              <a:rPr sz="1200" b="0" i="0">
                <a:solidFill>val="162B40"/&gt;</a:solidFill>
              </a:rPr>
              <a:t>  rpl-of-aer-plus.c/h : fonction objective personnalisée utilisant la métrique MCS.</a:t>
            </a:r>
          </a:p>
        </p:txBody>
      </p:sp>
      <p:sp>
        <p:nvSpPr>
          <p:cNvPr id="9" name="TextBox 8"/>
          <p:cNvSpPr txBox="1"/>
          <p:nvPr/>
        </p:nvSpPr>
        <p:spPr>
          <a:xfrm>
            <a:off x="914400" y="2194560"/>
            <a:ext cx="10515600" cy="320040"/>
          </a:xfrm>
          <a:prstGeom prst="rect">
            <a:avLst/>
          </a:prstGeom>
          <a:noFill/>
        </p:spPr>
        <p:txBody>
          <a:bodyPr wrap="square">
            <a:spAutoFit/>
          </a:bodyPr>
          <a:lstStyle/>
          <a:p>
            <a:r>
              <a:rPr sz="1200" b="0" i="0">
                <a:solidFill>val="162B40"/&gt;</a:solidFill>
              </a:rPr>
              <a:t>  variants/imacros-*.h : quatre fichiers de macros définissant les variantes du protocole (RPL-MRHOF, RPL-MQoS-style, RPL-AER-style, AER-MQoS).</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5. Variantes du protocole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AER-MQoS supporte quatre variantes sélectionnables via des macros de préprocesseur :</a:t>
            </a:r>
          </a:p>
        </p:txBody>
      </p:sp>
      <p:sp>
        <p:nvSpPr>
          <p:cNvPr id="3" name="TextBox 2"/>
          <p:cNvSpPr txBox="1"/>
          <p:nvPr/>
        </p:nvSpPr>
        <p:spPr>
          <a:xfrm>
            <a:off x="731520" y="658368"/>
            <a:ext cx="10698480" cy="1097280"/>
          </a:xfrm>
          <a:prstGeom prst="rect">
            <a:avLst/>
          </a:prstGeom>
          <a:noFill/>
        </p:spPr>
        <p:txBody>
          <a:bodyPr wrap="square">
            <a:spAutoFit/>
          </a:bodyPr>
          <a:lstStyle/>
          <a:p>
            <a:r>
              <a:rPr sz="1000" b="0" i="0">
                <a:solidFill>val="162B40"/&gt;</a:solidFill>
              </a:rPr>
              <a:t>Variante | Macro | Description
RPL-MRHOF | RPL_MRHOF | ETX uniquement, sans QoS (baseline)
RPL-MQoS-style | RPL_MQOS_STYLE | Métrique composite + QoS sans adaptation
RPL-AER-style | RPL_AER_STYLE | Métrique NRE + énergie uniquement
AER-MQoS | AER_MQOS | Version complète avec MCS, WRR, Q-learni</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6. Publication scientifique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AER-MQoS fait l'objet d'un article scientifique détaillant l'architecture, les algorithmes et les résultats expérimentaux. Le dépôt GitHub (v1.1) contient l'ensemble du code source, les scripts de campagne et les templates de simulation Cooja permettant de reproduire les résultats.</a:t>
            </a:r>
          </a:p>
        </p:txBody>
      </p:sp>
      <p:sp>
        <p:nvSpPr>
          <p:cNvPr id="3" name="TextBox 2"/>
          <p:cNvSpPr txBox="1"/>
          <p:nvPr/>
        </p:nvSpPr>
        <p:spPr>
          <a:xfrm>
            <a:off x="1097280" y="1060704"/>
            <a:ext cx="10058400" cy="731520"/>
          </a:xfrm>
          <a:prstGeom prst="rect">
            <a:avLst/>
          </a:prstGeom>
          <a:noFill/>
        </p:spPr>
        <p:txBody>
          <a:bodyPr wrap="square">
            <a:spAutoFit/>
          </a:bodyPr>
          <a:lstStyle/>
          <a:p>
            <a:r>
              <a:rPr sz="1300" b="0" i="1">
                <a:solidFill>val="34495E"/&gt;</a:solidFill>
              </a:rPr>
              <a:t>"Point clé : AER-MQoS est un protocole de recherche complet, implémenté dans Contiki-NG, validé par simulation avec Cooja, et conçu pour démontrer l'apport du routage contextuel multi-objectifs dans les LLN."</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7. Résumé</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Dans ce cours introductif, nous avons planté le décor : l'IoT a besoin de différenciation QoS, RPL standard ne la fournit pas, et AER-MQoS répond à ce besoin par une approche multi-objectifs contextuelle. Les prochains cours détailleront chaque composant : classes de trafic, métrique MCS, ordonnancement WRR, Q-learning, modèle d'énergie, confiance et analyse des résultats.</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