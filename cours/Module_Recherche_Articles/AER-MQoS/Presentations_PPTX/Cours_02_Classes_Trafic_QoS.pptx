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828800"/>
            <a:ext cx="10362895" cy="2743200"/>
          </a:xfrm>
          <a:prstGeom prst="rect">
            <a:avLst/>
          </a:prstGeom>
          <a:noFill/>
        </p:spPr>
        <p:txBody>
          <a:bodyPr wrap="square">
            <a:spAutoFit/>
          </a:bodyPr>
          <a:lstStyle/>
          <a:p>
            <a:pPr algn="ctr"/>
            <a:r>
              <a:rPr sz="3200" b="1">
                <a:solidFill>val="FFFFFF"/&gt;</a:solidFill>
              </a:rPr>
              <a:t>Cours 02 — Classes de trafic et QoS (C0–C3)</a:t>
            </a:r>
          </a:p>
          <a:p>
            <a:pPr algn="ctr">
              <a:spcBef>
                <a:spcPts val="1600"/>
              </a:spcBef>
            </a:pPr>
            <a:r>
              <a:rPr sz="1400">
                <a:solidFill>val="9AA7B6"/&gt;</a:solidFill>
              </a:rPr>
              <a:t>Type : Cours théorique &amp;mdash; Durée : 1h00
 Objectif : Comprendre les quatre classes de trafic QoS et leur rôle dans la différenciation de service
Prérequis : Cours 01, notions de QoS réseau</a:t>
            </a:r>
          </a:p>
          <a:p>
            <a:pPr algn="ctr">
              <a:spcBef>
                <a:spcPts val="800"/>
              </a:spcBef>
            </a:pPr>
            <a:r>
              <a:rPr sz="1200">
                <a:solidFill>val="9AA7B6"/&gt;</a:solidFill>
              </a:rPr>
              <a:t>Dr. BELACEL Madani | Universite de Mostaganem</a:t>
            </a:r>
          </a:p>
        </p:txBody>
      </p:sp>
      <p:sp>
        <p:nvSpPr>
          <p:cNvPr id="990001" name="Pied de page FLE"/>
          <p:cNvSpPr>
            <a:spLocks noGrp="1"/>
          </p:cNvSpPr>
          <p:nvPr/>
        </p:nvSpPr>
        <p:spPr>
          <a:xfrm>
            <a:off x="5562295" y="22860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1. Pourquoi différencier les trafics dans l'IoT ?</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Dans un réseau IoT typique, les nœuds capteurs produisent des flux de données hétérogènes : des alarmes critiques nécessitant un acheminement immédiat, des relevés périodiques de température, des diagnostics de maintenance, ou des mises à jour logicielles. Traiter tous ces flux avec la même priorité conduit à une dégradation des performances pour les applications temps réel.</a:t>
            </a:r>
          </a:p>
        </p:txBody>
      </p:sp>
      <p:sp>
        <p:nvSpPr>
          <p:cNvPr id="3" name="TextBox 2"/>
          <p:cNvSpPr txBox="1"/>
          <p:nvPr/>
        </p:nvSpPr>
        <p:spPr>
          <a:xfrm>
            <a:off x="731520" y="1261872"/>
            <a:ext cx="10698480" cy="731520"/>
          </a:xfrm>
          <a:prstGeom prst="rect">
            <a:avLst/>
          </a:prstGeom>
          <a:noFill/>
        </p:spPr>
        <p:txBody>
          <a:bodyPr wrap="square">
            <a:spAutoFit/>
          </a:bodyPr>
          <a:lstStyle/>
          <a:p>
            <a:r>
              <a:rPr sz="1300" b="0" i="0">
                <a:solidFill>val="162B40"/&gt;</a:solidFill>
              </a:rPr>
              <a:t>La différenciation QoS (Quality of Service) permet d'attribuer des traitements distincts aux paquets selon leur classe, garantissant aux flux prioritaires une latence réduite, un taux de livraison élevé et une bande passante réservée.</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2. Les quatre classes AER-MQoS</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AER-MQoS définit quatre classes de trafic, numérotées de C0 (priorité maximale) à C3 (priorité minimale) :</a:t>
            </a:r>
          </a:p>
        </p:txBody>
      </p:sp>
      <p:sp>
        <p:nvSpPr>
          <p:cNvPr id="3" name="TextBox 2"/>
          <p:cNvSpPr txBox="1"/>
          <p:nvPr/>
        </p:nvSpPr>
        <p:spPr>
          <a:xfrm>
            <a:off x="731520" y="658368"/>
            <a:ext cx="10698480" cy="1097280"/>
          </a:xfrm>
          <a:prstGeom prst="rect">
            <a:avLst/>
          </a:prstGeom>
          <a:noFill/>
        </p:spPr>
        <p:txBody>
          <a:bodyPr wrap="square">
            <a:spAutoFit/>
          </a:bodyPr>
          <a:lstStyle/>
          <a:p>
            <a:r>
              <a:rPr sz="1000" b="0" i="0">
                <a:solidFill>val="162B40"/&gt;</a:solidFill>
              </a:rPr>
              <a:t>Classe | Nom | Priorité | Exemples d'application | Poids WRR
C0 | Haute priorité | Critique | Alarmes, détection d'intrusion, urgence  | 6
C1 | Moyenne priorité | Importante | Données capteurs temps réel, vidéo surve | 3
C2 | Basse priorité | Normale | Relevés périodiques, rapports de diagnos | 2
C3 | Meilleur effort | Faible | Maintenance, mise à jour firmware, logs | 1</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3. Marquage des paquets</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 marquage de classe est effectué au niveau de l'application émettrice via un champ dédié dans la structure de données du paquet. Dans l'implémentation Contiki-NG, chaque application UDP associe une classe à ses paquets :</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4. Gestion des files d'attente</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 module aer_qos_queue.c implémente quatre files d'attente FIFO distinctes, une par classe. Chaque file maintient :</a:t>
            </a:r>
          </a:p>
        </p:txBody>
      </p:sp>
      <p:sp>
        <p:nvSpPr>
          <p:cNvPr id="3" name="TextBox 2"/>
          <p:cNvSpPr txBox="1"/>
          <p:nvPr/>
        </p:nvSpPr>
        <p:spPr>
          <a:xfrm>
            <a:off x="914400" y="658368"/>
            <a:ext cx="10515600" cy="320040"/>
          </a:xfrm>
          <a:prstGeom prst="rect">
            <a:avLst/>
          </a:prstGeom>
          <a:noFill/>
        </p:spPr>
        <p:txBody>
          <a:bodyPr wrap="square">
            <a:spAutoFit/>
          </a:bodyPr>
          <a:lstStyle/>
          <a:p>
            <a:r>
              <a:rPr sz="1200" b="0" i="0">
                <a:solidFill>val="162B40"/&gt;</a:solidFill>
              </a:rPr>
              <a:t>  Un compteur de paquets en attente (queue_length)</a:t>
            </a:r>
          </a:p>
        </p:txBody>
      </p:sp>
      <p:sp>
        <p:nvSpPr>
          <p:cNvPr id="4" name="TextBox 3"/>
          <p:cNvSpPr txBox="1"/>
          <p:nvPr/>
        </p:nvSpPr>
        <p:spPr>
          <a:xfrm>
            <a:off x="914400" y="914400"/>
            <a:ext cx="10515600" cy="320040"/>
          </a:xfrm>
          <a:prstGeom prst="rect">
            <a:avLst/>
          </a:prstGeom>
          <a:noFill/>
        </p:spPr>
        <p:txBody>
          <a:bodyPr wrap="square">
            <a:spAutoFit/>
          </a:bodyPr>
          <a:lstStyle/>
          <a:p>
            <a:r>
              <a:rPr sz="1200" b="0" i="0">
                <a:solidFill>val="162B40"/&gt;</a:solidFill>
              </a:rPr>
              <a:t>  Un pointeur de tête et de queue pour l'accès FIFO</a:t>
            </a:r>
          </a:p>
        </p:txBody>
      </p:sp>
      <p:sp>
        <p:nvSpPr>
          <p:cNvPr id="5" name="TextBox 4"/>
          <p:cNvSpPr txBox="1"/>
          <p:nvPr/>
        </p:nvSpPr>
        <p:spPr>
          <a:xfrm>
            <a:off x="914400" y="1170432"/>
            <a:ext cx="10515600" cy="320040"/>
          </a:xfrm>
          <a:prstGeom prst="rect">
            <a:avLst/>
          </a:prstGeom>
          <a:noFill/>
        </p:spPr>
        <p:txBody>
          <a:bodyPr wrap="square">
            <a:spAutoFit/>
          </a:bodyPr>
          <a:lstStyle/>
          <a:p>
            <a:r>
              <a:rPr sz="1200" b="0" i="0">
                <a:solidFill>val="162B40"/&gt;</a:solidFill>
              </a:rPr>
              <a:t>  Un mécanisme de drop en cas de saturation (priorité inverse : on drop C3 d'abord)</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5. Interaction avec la métrique MCS</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La classe de trafic influence également le choix du parent dans le DODAG. AER-MQoS utilise la métrique MCS qui intègre la confiance et l'énergie, et le routage peut favoriser des parents fiables et énergétiquement stables pour les classes prioritaires. Cependant, la décision de routage reste unifiée (un seul DODAG), c'est l'ordonnancement local qui différencie le service.</a:t>
            </a:r>
          </a:p>
        </p:txBody>
      </p:sp>
      <p:sp>
        <p:nvSpPr>
          <p:cNvPr id="3" name="TextBox 2"/>
          <p:cNvSpPr txBox="1"/>
          <p:nvPr/>
        </p:nvSpPr>
        <p:spPr>
          <a:xfrm>
            <a:off x="1097280" y="1261872"/>
            <a:ext cx="10058400" cy="731520"/>
          </a:xfrm>
          <a:prstGeom prst="rect">
            <a:avLst/>
          </a:prstGeom>
          <a:noFill/>
        </p:spPr>
        <p:txBody>
          <a:bodyPr wrap="square">
            <a:spAutoFit/>
          </a:bodyPr>
          <a:lstStyle/>
          <a:p>
            <a:r>
              <a:rPr sz="1300" b="0" i="1">
                <a:solidFill>val="34495E"/&gt;</a:solidFill>
              </a:rPr>
              <a:t>"Principe : Un seul DODAG est construit pour tout le trafic. La différenciation QoS s'opère au niveau de l'ordonnancement local (WRR) et non au niveau de la construction du graphe de routage."</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6. Avantages de la classification</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914400" y="457200"/>
            <a:ext cx="10515600" cy="320040"/>
          </a:xfrm>
          <a:prstGeom prst="rect">
            <a:avLst/>
          </a:prstGeom>
          <a:noFill/>
        </p:spPr>
        <p:txBody>
          <a:bodyPr wrap="square">
            <a:spAutoFit/>
          </a:bodyPr>
          <a:lstStyle/>
          <a:p>
            <a:r>
              <a:rPr sz="1200" b="0" i="0">
                <a:solidFill>val="162B40"/&gt;</a:solidFill>
              </a:rPr>
              <a:t>  Garantie de service : les paquets C0 sont toujours transmis avant C1, C2, C3.</a:t>
            </a:r>
          </a:p>
        </p:txBody>
      </p:sp>
      <p:sp>
        <p:nvSpPr>
          <p:cNvPr id="3" name="TextBox 2"/>
          <p:cNvSpPr txBox="1"/>
          <p:nvPr/>
        </p:nvSpPr>
        <p:spPr>
          <a:xfrm>
            <a:off x="914400" y="713232"/>
            <a:ext cx="10515600" cy="320040"/>
          </a:xfrm>
          <a:prstGeom prst="rect">
            <a:avLst/>
          </a:prstGeom>
          <a:noFill/>
        </p:spPr>
        <p:txBody>
          <a:bodyPr wrap="square">
            <a:spAutoFit/>
          </a:bodyPr>
          <a:lstStyle/>
          <a:p>
            <a:r>
              <a:rPr sz="1200" b="0" i="0">
                <a:solidFill>val="162B40"/&gt;</a:solidFill>
              </a:rPr>
              <a:t>  Équité pondérée : les classes inférieures ne sont pas affamées grâce au ratio WRR 6:3:2:1.</a:t>
            </a:r>
          </a:p>
        </p:txBody>
      </p:sp>
      <p:sp>
        <p:nvSpPr>
          <p:cNvPr id="4" name="TextBox 3"/>
          <p:cNvSpPr txBox="1"/>
          <p:nvPr/>
        </p:nvSpPr>
        <p:spPr>
          <a:xfrm>
            <a:off x="914400" y="969264"/>
            <a:ext cx="10515600" cy="320040"/>
          </a:xfrm>
          <a:prstGeom prst="rect">
            <a:avLst/>
          </a:prstGeom>
          <a:noFill/>
        </p:spPr>
        <p:txBody>
          <a:bodyPr wrap="square">
            <a:spAutoFit/>
          </a:bodyPr>
          <a:lstStyle/>
          <a:p>
            <a:r>
              <a:rPr sz="1200" b="0" i="0">
                <a:solidFill>val="162B40"/&gt;</a:solidFill>
              </a:rPr>
              <a:t>  Adaptabilité : le ratio peut être ajusté selon les besoins de l'application.</a:t>
            </a:r>
          </a:p>
        </p:txBody>
      </p:sp>
      <p:sp>
        <p:nvSpPr>
          <p:cNvPr id="5" name="TextBox 4"/>
          <p:cNvSpPr txBox="1"/>
          <p:nvPr/>
        </p:nvSpPr>
        <p:spPr>
          <a:xfrm>
            <a:off x="914400" y="1225296"/>
            <a:ext cx="10515600" cy="320040"/>
          </a:xfrm>
          <a:prstGeom prst="rect">
            <a:avLst/>
          </a:prstGeom>
          <a:noFill/>
        </p:spPr>
        <p:txBody>
          <a:bodyPr wrap="square">
            <a:spAutoFit/>
          </a:bodyPr>
          <a:lstStyle/>
          <a:p>
            <a:r>
              <a:rPr sz="1200" b="0" i="0">
                <a:solidFill>val="162B40"/&gt;</a:solidFill>
              </a:rPr>
              <a:t>  Simplicité : le modèle à 4 classes est suffisamment expressif sans complexité excessive.</a:t>
            </a:r>
          </a:p>
        </p:txBody>
      </p:sp>
      <p:sp>
        <p:nvSpPr>
          <p:cNvPr id="990001" name="Pied de page FLE"/>
          <p:cNvSpPr>
            <a:spLocks noGrp="1"/>
          </p:cNvSpPr>
          <p:nvPr/>
        </p:nvSpPr>
        <p:spPr>
          <a:xfrm>
            <a:off x="5715000" y="-13716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7. Résumé</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Les quatre classes de trafic C0–C3 sont le fondement de la QoS dans AER-MQoS. Elles permettent une différenciation fine des flux IoT, garantissant que les applications critiques reçoivent le service qu'elles exigent. Le prochain cours détaille la métrique MCS qui, combinée à ces classes, offre un routage contextuel adapté aux besoins hétérogènes des LLN.</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