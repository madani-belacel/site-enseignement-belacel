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828800"/>
            <a:ext cx="10362895" cy="2743200"/>
          </a:xfrm>
          <a:prstGeom prst="rect">
            <a:avLst/>
          </a:prstGeom>
          <a:noFill/>
        </p:spPr>
        <p:txBody>
          <a:bodyPr wrap="square">
            <a:spAutoFit/>
          </a:bodyPr>
          <a:lstStyle/>
          <a:p>
            <a:pPr algn="ctr"/>
            <a:r>
              <a:rPr sz="3200" b="1">
                <a:solidFill>val="FFFFFF"/&gt;</a:solidFill>
              </a:rPr>
              <a:t>Introduction à la détection d'intrusion pour IoT</a:t>
            </a:r>
          </a:p>
          <a:p>
            <a:pPr algn="ctr">
              <a:spcBef>
                <a:spcPts val="1600"/>
              </a:spcBef>
            </a:pPr>
            <a:r>
              <a:rPr sz="1400">
                <a:solidFill>val="9AA7B6"/&gt;</a:solidFill>
              </a:rPr>
              <a:t>Cours 01 — Module IDS-IOT / RPL-ClusterIDS
Auteur : Dr. Madani BELACEL
Durée : 2 séances
Objectif : Comprendre pourquoi les réseaux IoT RPL ont besoin d'un IDS distribué</a:t>
            </a:r>
          </a:p>
          <a:p>
            <a:pPr algn="ctr">
              <a:spcBef>
                <a:spcPts val="800"/>
              </a:spcBef>
            </a:pPr>
            <a:r>
              <a:rPr sz="1200">
                <a:solidFill>val="9AA7B6"/&gt;</a:solidFill>
              </a:rPr>
              <a:t>Dr. BELACEL Madani | Universite de Mostaganem</a:t>
            </a:r>
          </a:p>
        </p:txBody>
      </p:sp>
      <p:sp>
        <p:nvSpPr>
          <p:cNvPr id="990001" name="Pied de page FLE"/>
          <p:cNvSpPr>
            <a:spLocks noGrp="1"/>
          </p:cNvSpPr>
          <p:nvPr/>
        </p:nvSpPr>
        <p:spPr>
          <a:xfrm>
            <a:off x="5562295" y="22860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1. Contexte : sécurité des réseaux IoT</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Les réseaux de capteurs sans fil (WSN) et l'Internet des Objets (IoT) sont vulnérables à de nombreuses attaques en raison de leurs ressources limitées (énergie, mémoire, calcul), de leur nature sans fil et de leur déploiement souvent non surveillé. Le protocole de routage RPL (RFC 6550) est largement utilisé dans ces réseaux mais n'intègre aucun mécanisme de sécurité natif contre les nœuds malveillants internes.</a:t>
            </a:r>
          </a:p>
        </p:txBody>
      </p:sp>
      <p:sp>
        <p:nvSpPr>
          <p:cNvPr id="3" name="TextBox 2"/>
          <p:cNvSpPr txBox="1"/>
          <p:nvPr/>
        </p:nvSpPr>
        <p:spPr>
          <a:xfrm>
            <a:off x="731520" y="1261872"/>
            <a:ext cx="10698480" cy="731520"/>
          </a:xfrm>
          <a:prstGeom prst="rect">
            <a:avLst/>
          </a:prstGeom>
          <a:noFill/>
        </p:spPr>
        <p:txBody>
          <a:bodyPr wrap="square">
            <a:spAutoFit/>
          </a:bodyPr>
          <a:lstStyle/>
          <a:p>
            <a:r>
              <a:rPr sz="1300" b="0" i="0">
                <a:solidFill>val="162B40"/&gt;</a:solidFill>
              </a:rPr>
              <a:t>1.1 Contraintes des nœuds IoT</a:t>
            </a:r>
          </a:p>
        </p:txBody>
      </p:sp>
      <p:sp>
        <p:nvSpPr>
          <p:cNvPr id="4" name="TextBox 3"/>
          <p:cNvSpPr txBox="1"/>
          <p:nvPr/>
        </p:nvSpPr>
        <p:spPr>
          <a:xfrm>
            <a:off x="914400" y="1463040"/>
            <a:ext cx="10515600" cy="320040"/>
          </a:xfrm>
          <a:prstGeom prst="rect">
            <a:avLst/>
          </a:prstGeom>
          <a:noFill/>
        </p:spPr>
        <p:txBody>
          <a:bodyPr wrap="square">
            <a:spAutoFit/>
          </a:bodyPr>
          <a:lstStyle/>
          <a:p>
            <a:r>
              <a:rPr sz="1200" b="0" i="0">
                <a:solidFill>val="162B40"/&gt;</a:solidFill>
              </a:rPr>
              <a:t>  Énergie : batteries limitées (typ. 2 AA pour Zolertia RE-Mote), pas de recharge</a:t>
            </a:r>
          </a:p>
        </p:txBody>
      </p:sp>
      <p:sp>
        <p:nvSpPr>
          <p:cNvPr id="5" name="TextBox 4"/>
          <p:cNvSpPr txBox="1"/>
          <p:nvPr/>
        </p:nvSpPr>
        <p:spPr>
          <a:xfrm>
            <a:off x="914400" y="1719072"/>
            <a:ext cx="10515600" cy="320040"/>
          </a:xfrm>
          <a:prstGeom prst="rect">
            <a:avLst/>
          </a:prstGeom>
          <a:noFill/>
        </p:spPr>
        <p:txBody>
          <a:bodyPr wrap="square">
            <a:spAutoFit/>
          </a:bodyPr>
          <a:lstStyle/>
          <a:p>
            <a:r>
              <a:rPr sz="1200" b="0" i="0">
                <a:solidFill>val="162B40"/&gt;</a:solidFill>
              </a:rPr>
              <a:t>  Mémoire : RAM 32-64 Ko, Flash 256-512 Ko</a:t>
            </a:r>
          </a:p>
        </p:txBody>
      </p:sp>
      <p:sp>
        <p:nvSpPr>
          <p:cNvPr id="6" name="TextBox 5"/>
          <p:cNvSpPr txBox="1"/>
          <p:nvPr/>
        </p:nvSpPr>
        <p:spPr>
          <a:xfrm>
            <a:off x="914400" y="1975104"/>
            <a:ext cx="10515600" cy="320040"/>
          </a:xfrm>
          <a:prstGeom prst="rect">
            <a:avLst/>
          </a:prstGeom>
          <a:noFill/>
        </p:spPr>
        <p:txBody>
          <a:bodyPr wrap="square">
            <a:spAutoFit/>
          </a:bodyPr>
          <a:lstStyle/>
          <a:p>
            <a:r>
              <a:rPr sz="1200" b="0" i="0">
                <a:solidFill>val="162B40"/&gt;</a:solidFill>
              </a:rPr>
              <a:t>  CPU : ARM Cortex-M3 32 MHz, pas de FPU matériel</a:t>
            </a:r>
          </a:p>
        </p:txBody>
      </p:sp>
      <p:sp>
        <p:nvSpPr>
          <p:cNvPr id="7" name="TextBox 6"/>
          <p:cNvSpPr txBox="1"/>
          <p:nvPr/>
        </p:nvSpPr>
        <p:spPr>
          <a:xfrm>
            <a:off x="914400" y="2231136"/>
            <a:ext cx="10515600" cy="320040"/>
          </a:xfrm>
          <a:prstGeom prst="rect">
            <a:avLst/>
          </a:prstGeom>
          <a:noFill/>
        </p:spPr>
        <p:txBody>
          <a:bodyPr wrap="square">
            <a:spAutoFit/>
          </a:bodyPr>
          <a:lstStyle/>
          <a:p>
            <a:r>
              <a:rPr sz="1200" b="0" i="0">
                <a:solidFill>val="162B40"/&gt;</a:solidFill>
              </a:rPr>
              <a:t>  Bande passante : IEEE 802.15.4 à 250 kbps, MTU 127 octets</a:t>
            </a:r>
          </a:p>
        </p:txBody>
      </p:sp>
      <p:sp>
        <p:nvSpPr>
          <p:cNvPr id="8" name="TextBox 7"/>
          <p:cNvSpPr txBox="1"/>
          <p:nvPr/>
        </p:nvSpPr>
        <p:spPr>
          <a:xfrm>
            <a:off x="731520" y="2487168"/>
            <a:ext cx="10698480" cy="731520"/>
          </a:xfrm>
          <a:prstGeom prst="rect">
            <a:avLst/>
          </a:prstGeom>
          <a:noFill/>
        </p:spPr>
        <p:txBody>
          <a:bodyPr wrap="square">
            <a:spAutoFit/>
          </a:bodyPr>
          <a:lstStyle/>
          <a:p>
            <a:r>
              <a:rPr sz="1300" b="0" i="0">
                <a:solidFill>val="162B40"/&gt;</a:solidFill>
              </a:rPr>
              <a:t>1.2 Cinq attaques RPL simulées</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914400" y="457200"/>
            <a:ext cx="10515600" cy="320040"/>
          </a:xfrm>
          <a:prstGeom prst="rect">
            <a:avLst/>
          </a:prstGeom>
          <a:noFill/>
        </p:spPr>
        <p:txBody>
          <a:bodyPr wrap="square">
            <a:spAutoFit/>
          </a:bodyPr>
          <a:lstStyle/>
          <a:p>
            <a:r>
              <a:rPr sz="1200" b="0" i="0">
                <a:solidFill>val="162B40"/&gt;</a:solidFill>
              </a:rPr>
              <a:t>  Rank Attack : nœud malveillant annonce un rang artificiellement bas pour attirer le trafic. Signal : 75-85.</a:t>
            </a:r>
          </a:p>
        </p:txBody>
      </p:sp>
      <p:sp>
        <p:nvSpPr>
          <p:cNvPr id="3" name="TextBox 2"/>
          <p:cNvSpPr txBox="1"/>
          <p:nvPr/>
        </p:nvSpPr>
        <p:spPr>
          <a:xfrm>
            <a:off x="914400" y="713232"/>
            <a:ext cx="10515600" cy="320040"/>
          </a:xfrm>
          <a:prstGeom prst="rect">
            <a:avLst/>
          </a:prstGeom>
          <a:noFill/>
        </p:spPr>
        <p:txBody>
          <a:bodyPr wrap="square">
            <a:spAutoFit/>
          </a:bodyPr>
          <a:lstStyle/>
          <a:p>
            <a:r>
              <a:rPr sz="1200" b="0" i="0">
                <a:solidFill>val="162B40"/&gt;</a:solidFill>
              </a:rPr>
              <a:t>  Selective Forwarding : nœud droppe sélectivement certains paquets. Plus agressif sur trafic C3 (65-75) que C0-C2 (35-45).</a:t>
            </a:r>
          </a:p>
        </p:txBody>
      </p:sp>
      <p:sp>
        <p:nvSpPr>
          <p:cNvPr id="4" name="TextBox 3"/>
          <p:cNvSpPr txBox="1"/>
          <p:nvPr/>
        </p:nvSpPr>
        <p:spPr>
          <a:xfrm>
            <a:off x="914400" y="969264"/>
            <a:ext cx="10515600" cy="320040"/>
          </a:xfrm>
          <a:prstGeom prst="rect">
            <a:avLst/>
          </a:prstGeom>
          <a:noFill/>
        </p:spPr>
        <p:txBody>
          <a:bodyPr wrap="square">
            <a:spAutoFit/>
          </a:bodyPr>
          <a:lstStyle/>
          <a:p>
            <a:r>
              <a:rPr sz="1200" b="0" i="0">
                <a:solidFill>val="162B40"/&gt;</a:solidFill>
              </a:rPr>
              <a:t>  DAO Flood : inondation de messages DAO pour épuiser la mémoire du routeur frontalier. Signal : 60-70.</a:t>
            </a:r>
          </a:p>
        </p:txBody>
      </p:sp>
      <p:sp>
        <p:nvSpPr>
          <p:cNvPr id="5" name="TextBox 4"/>
          <p:cNvSpPr txBox="1"/>
          <p:nvPr/>
        </p:nvSpPr>
        <p:spPr>
          <a:xfrm>
            <a:off x="914400" y="1225296"/>
            <a:ext cx="10515600" cy="320040"/>
          </a:xfrm>
          <a:prstGeom prst="rect">
            <a:avLst/>
          </a:prstGeom>
          <a:noFill/>
        </p:spPr>
        <p:txBody>
          <a:bodyPr wrap="square">
            <a:spAutoFit/>
          </a:bodyPr>
          <a:lstStyle/>
          <a:p>
            <a:r>
              <a:rPr sz="1200" b="0" i="0">
                <a:solidFill>val="162B40"/&gt;</a:solidFill>
              </a:rPr>
              <a:t>  Wormhole : deux nœuds collusoires tunnelent le trafic hors bande. Signal 70-80 avec 25% de silence.</a:t>
            </a:r>
          </a:p>
        </p:txBody>
      </p:sp>
      <p:sp>
        <p:nvSpPr>
          <p:cNvPr id="6" name="TextBox 5"/>
          <p:cNvSpPr txBox="1"/>
          <p:nvPr/>
        </p:nvSpPr>
        <p:spPr>
          <a:xfrm>
            <a:off x="914400" y="1481328"/>
            <a:ext cx="10515600" cy="320040"/>
          </a:xfrm>
          <a:prstGeom prst="rect">
            <a:avLst/>
          </a:prstGeom>
          <a:noFill/>
        </p:spPr>
        <p:txBody>
          <a:bodyPr wrap="square">
            <a:spAutoFit/>
          </a:bodyPr>
          <a:lstStyle/>
          <a:p>
            <a:r>
              <a:rPr sz="1200" b="0" i="0">
                <a:solidFill>val="162B40"/&gt;</a:solidFill>
              </a:rPr>
              <a:t>  Mixed Attack : combinaison des quatre types simultanément.</a:t>
            </a:r>
          </a:p>
        </p:txBody>
      </p:sp>
      <p:sp>
        <p:nvSpPr>
          <p:cNvPr id="990001" name="Pied de page FLE"/>
          <p:cNvSpPr>
            <a:spLocks noGrp="1"/>
          </p:cNvSpPr>
          <p:nvPr/>
        </p:nvSpPr>
        <p:spPr>
          <a:xfrm>
            <a:off x="5715000" y="-13716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2. Limites des IDS centralisés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914400" y="457200"/>
            <a:ext cx="10515600" cy="320040"/>
          </a:xfrm>
          <a:prstGeom prst="rect">
            <a:avLst/>
          </a:prstGeom>
          <a:noFill/>
        </p:spPr>
        <p:txBody>
          <a:bodyPr wrap="square">
            <a:spAutoFit/>
          </a:bodyPr>
          <a:lstStyle/>
          <a:p>
            <a:r>
              <a:rPr sz="1200" b="0" i="0">
                <a:solidFill>val="162B40"/&gt;</a:solidFill>
              </a:rPr>
              <a:t>  Point de défaillance unique : si le nœud central est compromis, tout le système est paralysé</a:t>
            </a:r>
          </a:p>
        </p:txBody>
      </p:sp>
      <p:sp>
        <p:nvSpPr>
          <p:cNvPr id="3" name="TextBox 2"/>
          <p:cNvSpPr txBox="1"/>
          <p:nvPr/>
        </p:nvSpPr>
        <p:spPr>
          <a:xfrm>
            <a:off x="914400" y="713232"/>
            <a:ext cx="10515600" cy="320040"/>
          </a:xfrm>
          <a:prstGeom prst="rect">
            <a:avLst/>
          </a:prstGeom>
          <a:noFill/>
        </p:spPr>
        <p:txBody>
          <a:bodyPr wrap="square">
            <a:spAutoFit/>
          </a:bodyPr>
          <a:lstStyle/>
          <a:p>
            <a:r>
              <a:rPr sz="1200" b="0" i="0">
                <a:solidFill>val="162B40"/&gt;</a:solidFill>
              </a:rPr>
              <a:t>  Congestion du réseau : tous les nœuds envoient leurs données vers un point central</a:t>
            </a:r>
          </a:p>
        </p:txBody>
      </p:sp>
      <p:sp>
        <p:nvSpPr>
          <p:cNvPr id="4" name="TextBox 3"/>
          <p:cNvSpPr txBox="1"/>
          <p:nvPr/>
        </p:nvSpPr>
        <p:spPr>
          <a:xfrm>
            <a:off x="914400" y="969264"/>
            <a:ext cx="10515600" cy="320040"/>
          </a:xfrm>
          <a:prstGeom prst="rect">
            <a:avLst/>
          </a:prstGeom>
          <a:noFill/>
        </p:spPr>
        <p:txBody>
          <a:bodyPr wrap="square">
            <a:spAutoFit/>
          </a:bodyPr>
          <a:lstStyle/>
          <a:p>
            <a:r>
              <a:rPr sz="1200" b="0" i="0">
                <a:solidFill>val="162B40"/&gt;</a:solidFill>
              </a:rPr>
              <a:t>  Latence de détection : le temps de transmission retarde la réaction</a:t>
            </a:r>
          </a:p>
        </p:txBody>
      </p:sp>
      <p:sp>
        <p:nvSpPr>
          <p:cNvPr id="5" name="TextBox 4"/>
          <p:cNvSpPr txBox="1"/>
          <p:nvPr/>
        </p:nvSpPr>
        <p:spPr>
          <a:xfrm>
            <a:off x="914400" y="1225296"/>
            <a:ext cx="10515600" cy="320040"/>
          </a:xfrm>
          <a:prstGeom prst="rect">
            <a:avLst/>
          </a:prstGeom>
          <a:noFill/>
        </p:spPr>
        <p:txBody>
          <a:bodyPr wrap="square">
            <a:spAutoFit/>
          </a:bodyPr>
          <a:lstStyle/>
          <a:p>
            <a:r>
              <a:rPr sz="1200" b="0" i="0">
                <a:solidFill>val="162B40"/&gt;</a:solidFill>
              </a:rPr>
              <a:t>  Consommation d'énergie : transmissions longue distance épuisent les batteries</a:t>
            </a:r>
          </a:p>
        </p:txBody>
      </p:sp>
      <p:sp>
        <p:nvSpPr>
          <p:cNvPr id="6" name="TextBox 5"/>
          <p:cNvSpPr txBox="1"/>
          <p:nvPr/>
        </p:nvSpPr>
        <p:spPr>
          <a:xfrm>
            <a:off x="914400" y="1481328"/>
            <a:ext cx="10515600" cy="320040"/>
          </a:xfrm>
          <a:prstGeom prst="rect">
            <a:avLst/>
          </a:prstGeom>
          <a:noFill/>
        </p:spPr>
        <p:txBody>
          <a:bodyPr wrap="square">
            <a:spAutoFit/>
          </a:bodyPr>
          <a:lstStyle/>
          <a:p>
            <a:r>
              <a:rPr sz="1200" b="0" i="0">
                <a:solidFill>val="162B40"/&gt;</a:solidFill>
              </a:rPr>
              <a:t>  Non passage à l'échelle : difficile au-delà de 50 nœuds</a:t>
            </a:r>
          </a:p>
        </p:txBody>
      </p:sp>
      <p:sp>
        <p:nvSpPr>
          <p:cNvPr id="990001" name="Pied de page FLE"/>
          <p:cNvSpPr>
            <a:spLocks noGrp="1"/>
          </p:cNvSpPr>
          <p:nvPr/>
        </p:nvSpPr>
        <p:spPr>
          <a:xfrm>
            <a:off x="5715000" y="-13716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3. Approche IDS distribuée (DIDS)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Un IDS distribué (DIDS) répartit la charge de détection sur l'ensemble du réseau.</a:t>
            </a:r>
          </a:p>
        </p:txBody>
      </p:sp>
      <p:sp>
        <p:nvSpPr>
          <p:cNvPr id="3" name="TextBox 2"/>
          <p:cNvSpPr txBox="1"/>
          <p:nvPr/>
        </p:nvSpPr>
        <p:spPr>
          <a:xfrm>
            <a:off x="914400" y="658368"/>
            <a:ext cx="10515600" cy="320040"/>
          </a:xfrm>
          <a:prstGeom prst="rect">
            <a:avLst/>
          </a:prstGeom>
          <a:noFill/>
        </p:spPr>
        <p:txBody>
          <a:bodyPr wrap="square">
            <a:spAutoFit/>
          </a:bodyPr>
          <a:lstStyle/>
          <a:p>
            <a:r>
              <a:rPr sz="1200" b="0" i="0">
                <a:solidFill>val="162B40"/&gt;</a:solidFill>
              </a:rPr>
              <a:t>  Résilience (pas de point unique)</a:t>
            </a:r>
          </a:p>
        </p:txBody>
      </p:sp>
      <p:sp>
        <p:nvSpPr>
          <p:cNvPr id="4" name="TextBox 3"/>
          <p:cNvSpPr txBox="1"/>
          <p:nvPr/>
        </p:nvSpPr>
        <p:spPr>
          <a:xfrm>
            <a:off x="914400" y="914400"/>
            <a:ext cx="10515600" cy="320040"/>
          </a:xfrm>
          <a:prstGeom prst="rect">
            <a:avLst/>
          </a:prstGeom>
          <a:noFill/>
        </p:spPr>
        <p:txBody>
          <a:bodyPr wrap="square">
            <a:spAutoFit/>
          </a:bodyPr>
          <a:lstStyle/>
          <a:p>
            <a:r>
              <a:rPr sz="1200" b="0" i="0">
                <a:solidFill>val="162B40"/&gt;</a:solidFill>
              </a:rPr>
              <a:t>  Réduction du trafic de signalisation</a:t>
            </a:r>
          </a:p>
        </p:txBody>
      </p:sp>
      <p:sp>
        <p:nvSpPr>
          <p:cNvPr id="5" name="TextBox 4"/>
          <p:cNvSpPr txBox="1"/>
          <p:nvPr/>
        </p:nvSpPr>
        <p:spPr>
          <a:xfrm>
            <a:off x="914400" y="1170432"/>
            <a:ext cx="10515600" cy="320040"/>
          </a:xfrm>
          <a:prstGeom prst="rect">
            <a:avLst/>
          </a:prstGeom>
          <a:noFill/>
        </p:spPr>
        <p:txBody>
          <a:bodyPr wrap="square">
            <a:spAutoFit/>
          </a:bodyPr>
          <a:lstStyle/>
          <a:p>
            <a:r>
              <a:rPr sz="1200" b="0" i="0">
                <a:solidFill>val="162B40"/&gt;</a:solidFill>
              </a:rPr>
              <a:t>  Détection plus rapide (traitement local)</a:t>
            </a:r>
          </a:p>
        </p:txBody>
      </p:sp>
      <p:sp>
        <p:nvSpPr>
          <p:cNvPr id="6" name="TextBox 5"/>
          <p:cNvSpPr txBox="1"/>
          <p:nvPr/>
        </p:nvSpPr>
        <p:spPr>
          <a:xfrm>
            <a:off x="914400" y="1426464"/>
            <a:ext cx="10515600" cy="320040"/>
          </a:xfrm>
          <a:prstGeom prst="rect">
            <a:avLst/>
          </a:prstGeom>
          <a:noFill/>
        </p:spPr>
        <p:txBody>
          <a:bodyPr wrap="square">
            <a:spAutoFit/>
          </a:bodyPr>
          <a:lstStyle/>
          <a:p>
            <a:r>
              <a:rPr sz="1200" b="0" i="0">
                <a:solidFill>val="162B40"/&gt;</a:solidFill>
              </a:rPr>
              <a:t>  Meilleure efficacité énergétique</a:t>
            </a:r>
          </a:p>
        </p:txBody>
      </p:sp>
      <p:sp>
        <p:nvSpPr>
          <p:cNvPr id="7" name="TextBox 6"/>
          <p:cNvSpPr txBox="1"/>
          <p:nvPr/>
        </p:nvSpPr>
        <p:spPr>
          <a:xfrm>
            <a:off x="914400" y="1682496"/>
            <a:ext cx="10515600" cy="320040"/>
          </a:xfrm>
          <a:prstGeom prst="rect">
            <a:avLst/>
          </a:prstGeom>
          <a:noFill/>
        </p:spPr>
        <p:txBody>
          <a:bodyPr wrap="square">
            <a:spAutoFit/>
          </a:bodyPr>
          <a:lstStyle/>
          <a:p>
            <a:r>
              <a:rPr sz="1200" b="0" i="0">
                <a:solidFill>val="162B40"/&gt;</a:solidFill>
              </a:rPr>
              <a:t>  Passage à l'échelle facilité</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4. Contributions de RPL-ClusterIDS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914400" y="457200"/>
            <a:ext cx="10515600" cy="320040"/>
          </a:xfrm>
          <a:prstGeom prst="rect">
            <a:avLst/>
          </a:prstGeom>
          <a:noFill/>
        </p:spPr>
        <p:txBody>
          <a:bodyPr wrap="square">
            <a:spAutoFit/>
          </a:bodyPr>
          <a:lstStyle/>
          <a:p>
            <a:r>
              <a:rPr sz="1200" b="0" i="0">
                <a:solidFill>val="162B40"/&gt;</a:solidFill>
              </a:rPr>
              <a:t>  Clustering adaptatif : fonction d'affinité = topologie×3 + énergie×2 + trafic×1. Re-clustering tous les 120 ticks si score &gt; 70.</a:t>
            </a:r>
          </a:p>
        </p:txBody>
      </p:sp>
      <p:sp>
        <p:nvSpPr>
          <p:cNvPr id="3" name="TextBox 2"/>
          <p:cNvSpPr txBox="1"/>
          <p:nvPr/>
        </p:nvSpPr>
        <p:spPr>
          <a:xfrm>
            <a:off x="914400" y="713232"/>
            <a:ext cx="10515600" cy="320040"/>
          </a:xfrm>
          <a:prstGeom prst="rect">
            <a:avLst/>
          </a:prstGeom>
          <a:noFill/>
        </p:spPr>
        <p:txBody>
          <a:bodyPr wrap="square">
            <a:spAutoFit/>
          </a:bodyPr>
          <a:lstStyle/>
          <a:p>
            <a:r>
              <a:rPr sz="1200" b="0" i="0">
                <a:solidFill>val="162B40"/&gt;</a:solidFill>
              </a:rPr>
              <a:t>  Élection de CH : fitness = NRE×2 + (100 - ETX×5). Rotation basée sur seuil 140+(id%8)×12+(id/8)×4.</a:t>
            </a:r>
          </a:p>
        </p:txBody>
      </p:sp>
      <p:sp>
        <p:nvSpPr>
          <p:cNvPr id="4" name="TextBox 3"/>
          <p:cNvSpPr txBox="1"/>
          <p:nvPr/>
        </p:nvSpPr>
        <p:spPr>
          <a:xfrm>
            <a:off x="914400" y="969264"/>
            <a:ext cx="10515600" cy="320040"/>
          </a:xfrm>
          <a:prstGeom prst="rect">
            <a:avLst/>
          </a:prstGeom>
          <a:noFill/>
        </p:spPr>
        <p:txBody>
          <a:bodyPr wrap="square">
            <a:spAutoFit/>
          </a:bodyPr>
          <a:lstStyle/>
          <a:p>
            <a:r>
              <a:rPr sz="1200" b="0" i="0">
                <a:solidFill>val="162B40"/&gt;</a:solidFill>
              </a:rPr>
              <a:t>  Détection à deux niveaux : règles R1-R4 avec EWMA, LAS = (R1×3+R2×2+R3+R4)/4. Seuil LAS &gt; 50.</a:t>
            </a:r>
          </a:p>
        </p:txBody>
      </p:sp>
      <p:sp>
        <p:nvSpPr>
          <p:cNvPr id="5" name="TextBox 4"/>
          <p:cNvSpPr txBox="1"/>
          <p:nvPr/>
        </p:nvSpPr>
        <p:spPr>
          <a:xfrm>
            <a:off x="914400" y="1225296"/>
            <a:ext cx="10515600" cy="320040"/>
          </a:xfrm>
          <a:prstGeom prst="rect">
            <a:avLst/>
          </a:prstGeom>
          <a:noFill/>
        </p:spPr>
        <p:txBody>
          <a:bodyPr wrap="square">
            <a:spAutoFit/>
          </a:bodyPr>
          <a:lstStyle/>
          <a:p>
            <a:r>
              <a:rPr sz="1200" b="0" i="0">
                <a:solidFill>val="162B40"/&gt;</a:solidFill>
              </a:rPr>
              <a:t>  Politiques contextuelles : Full (0x0F), Balanced (0x07), Eco (0x03).</a:t>
            </a:r>
          </a:p>
        </p:txBody>
      </p:sp>
      <p:sp>
        <p:nvSpPr>
          <p:cNvPr id="6" name="TextBox 5"/>
          <p:cNvSpPr txBox="1"/>
          <p:nvPr/>
        </p:nvSpPr>
        <p:spPr>
          <a:xfrm>
            <a:off x="914400" y="1481328"/>
            <a:ext cx="10515600" cy="320040"/>
          </a:xfrm>
          <a:prstGeom prst="rect">
            <a:avLst/>
          </a:prstGeom>
          <a:noFill/>
        </p:spPr>
        <p:txBody>
          <a:bodyPr wrap="square">
            <a:spAutoFit/>
          </a:bodyPr>
          <a:lstStyle/>
          <a:p>
            <a:r>
              <a:rPr sz="1200" b="0" i="0">
                <a:solidFill>val="162B40"/&gt;</a:solidFill>
              </a:rPr>
              <a:t>  Pipeline reproductible : de Cooja aux figures LaTeX/TikZ.</a:t>
            </a:r>
          </a:p>
        </p:txBody>
      </p:sp>
      <p:sp>
        <p:nvSpPr>
          <p:cNvPr id="990001" name="Pied de page FLE"/>
          <p:cNvSpPr>
            <a:spLocks noGrp="1"/>
          </p:cNvSpPr>
          <p:nvPr/>
        </p:nvSpPr>
        <p:spPr>
          <a:xfrm>
            <a:off x="5715000" y="-13716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5. Architecture à deux niveaux</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914400" y="457200"/>
            <a:ext cx="10515600" cy="320040"/>
          </a:xfrm>
          <a:prstGeom prst="rect">
            <a:avLst/>
          </a:prstGeom>
          <a:noFill/>
        </p:spPr>
        <p:txBody>
          <a:bodyPr wrap="square">
            <a:spAutoFit/>
          </a:bodyPr>
          <a:lstStyle/>
          <a:p>
            <a:r>
              <a:rPr sz="1200" b="0" i="0">
                <a:solidFill>val="162B40"/&gt;</a:solidFill>
              </a:rPr>
              <a:t>  Niveau 1 — Membre : ids_member_tick() avec masque de règles, LAS via EWMA. Si LAS &gt; 50, alarme.</a:t>
            </a:r>
          </a:p>
        </p:txBody>
      </p:sp>
      <p:sp>
        <p:nvSpPr>
          <p:cNvPr id="3" name="TextBox 2"/>
          <p:cNvSpPr txBox="1"/>
          <p:nvPr/>
        </p:nvSpPr>
        <p:spPr>
          <a:xfrm>
            <a:off x="914400" y="713232"/>
            <a:ext cx="10515600" cy="320040"/>
          </a:xfrm>
          <a:prstGeom prst="rect">
            <a:avLst/>
          </a:prstGeom>
          <a:noFill/>
        </p:spPr>
        <p:txBody>
          <a:bodyPr wrap="square">
            <a:spAutoFit/>
          </a:bodyPr>
          <a:lstStyle/>
          <a:p>
            <a:r>
              <a:rPr sz="1200" b="0" i="0">
                <a:solidFill>val="162B40"/&gt;</a:solidFill>
              </a:rPr>
              <a:t>  Niveau 2 — CH : reçoit LAS et alarme. Si alarme ET LAS &gt; 50, attaque confirmée.</a:t>
            </a:r>
          </a:p>
        </p:txBody>
      </p:sp>
      <p:sp>
        <p:nvSpPr>
          <p:cNvPr id="4" name="TextBox 3"/>
          <p:cNvSpPr txBox="1"/>
          <p:nvPr/>
        </p:nvSpPr>
        <p:spPr>
          <a:xfrm>
            <a:off x="914400" y="969264"/>
            <a:ext cx="10515600" cy="320040"/>
          </a:xfrm>
          <a:prstGeom prst="rect">
            <a:avLst/>
          </a:prstGeom>
          <a:noFill/>
        </p:spPr>
        <p:txBody>
          <a:bodyPr wrap="square">
            <a:spAutoFit/>
          </a:bodyPr>
          <a:lstStyle/>
          <a:p>
            <a:r>
              <a:rPr sz="1200" b="0" i="0">
                <a:solidFill>val="162B40"/&gt;</a:solidFill>
              </a:rPr>
              <a:t>  Variants : B1 (border router only), B2 (flat), B3 (centralisé), MAIN (complet), ablations.</a:t>
            </a:r>
          </a:p>
        </p:txBody>
      </p:sp>
      <p:sp>
        <p:nvSpPr>
          <p:cNvPr id="5" name="TextBox 4"/>
          <p:cNvSpPr txBox="1"/>
          <p:nvPr/>
        </p:nvSpPr>
        <p:spPr>
          <a:xfrm>
            <a:off x="731520" y="1225296"/>
            <a:ext cx="10698480" cy="731520"/>
          </a:xfrm>
          <a:prstGeom prst="rect">
            <a:avLst/>
          </a:prstGeom>
          <a:noFill/>
        </p:spPr>
        <p:txBody>
          <a:bodyPr wrap="square">
            <a:spAutoFit/>
          </a:bodyPr>
          <a:lstStyle/>
          <a:p>
            <a:r>
              <a:rPr sz="1200" b="0" i="0">
                <a:solidFill>val="3E536A"/&gt;</a:solidFill>
              </a:rPr>
              <a:t>[QUESTION] Question réflexive : Quels sont les avantages décisifs d'un DIDS par rapport à un IDS centralisé pour un réseau de 50 nœuds IoT avec RPL ? Comment le clustering adaptatif répond-il aux limitations des DIDS plats (flat) ?</a:t>
            </a:r>
          </a:p>
        </p:txBody>
      </p:sp>
      <p:sp>
        <p:nvSpPr>
          <p:cNvPr id="990001" name="Pied de page FLE"/>
          <p:cNvSpPr>
            <a:spLocks noGrp="1"/>
          </p:cNvSpPr>
          <p:nvPr/>
        </p:nvSpPr>
        <p:spPr>
          <a:xfrm>
            <a:off x="5715000" y="-13716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