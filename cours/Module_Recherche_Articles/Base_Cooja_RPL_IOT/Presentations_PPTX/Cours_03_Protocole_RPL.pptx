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03 — Le Protocole RPL : Principes Fondamentaux</a:t>
            </a:r>
          </a:p>
          <a:p>
            <a:pPr algn="ctr">
              <a:spcBef>
                <a:spcPts val="1600"/>
              </a:spcBef>
            </a:pPr>
            <a:r>
              <a:rPr sz="1400">
                <a:solidFill>val="9AA7B6"/&gt;</a:solidFill>
              </a:rPr>
              <a:t>Cours 03 — Durée estimée : 2h30 — Référence : RFC 6550</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Introduction à RPL</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RPL (RFC 6550) est le protocole de routage standard pour les réseaux LLN (Low-Power and Lossy Networks). Il construit un DODAG orienté vers la racine, utilise le rank pour éviter les boucles, et emploie trois messages de contrôle (DIO, DAO, DIS) régulés par Trickle Timer.</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Le DODAG</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Graphe acyclique orienté partant de la racine vers les feuilles. Propriétés : orientation vers la racine, acyclique, plusieurs instances possibles.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Le Rank</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Entier représentant la distance logique à la racine (rank=256 pour la racine). Le rank augmente en s'éloignant. Un nœud ne peut pas être parent d'un nœud de rank supérieur.</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Messages de contrôle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r>
              <a:rPr sz="1000" b="0" i="0">
                <a:solidFill>val="162B40"/&gt;</a:solidFill>
              </a:rPr>
              <a:t>Message | Rôle | Direction
DIO | Annonce le DODAG (configuration, rank) | Racine → Feuilles
DAO | Enregistre les routes descendantes | Feuilles → Racine
DIS | Sollicite un DIO d'un voisin | Nouveau nœud → Réseau</a:t>
            </a:r>
          </a:p>
        </p:txBody>
      </p:sp>
      <p:sp>
        <p:nvSpPr>
          <p:cNvPr id="990001" name="Pied de page FLE"/>
          <p:cNvSpPr>
            <a:spLocks noGrp="1"/>
          </p:cNvSpPr>
          <p:nvPr/>
        </p:nvSpPr>
        <p:spPr>
          <a:xfrm>
            <a:off x="5897880" y="6400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Fonctions Objectifs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OF0 (RFC 6552) : rank = 256 × nombre de sauts</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MRHOF (RFC 6719) : rank = parent_rank + ETX(parent) avec hystérésis</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6. Configuration RPL dans Contiki-NG</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rpl-dag.c rpl-icmp6.c rpl-of0.c rpl-mrhof.c rpl-timers.c rpl-config.h</a:t>
            </a:r>
          </a:p>
        </p:txBody>
      </p:sp>
      <p:sp>
        <p:nvSpPr>
          <p:cNvPr id="3" name="TextBox 2"/>
          <p:cNvSpPr txBox="1"/>
          <p:nvPr/>
        </p:nvSpPr>
        <p:spPr>
          <a:xfrm>
            <a:off x="914400" y="658368"/>
            <a:ext cx="10515600" cy="320040"/>
          </a:xfrm>
          <a:prstGeom prst="rect">
            <a:avLst/>
          </a:prstGeom>
          <a:noFill/>
        </p:spPr>
        <p:txBody>
          <a:bodyPr wrap="square">
            <a:spAutoFit/>
          </a:bodyPr>
          <a:lstStyle/>
          <a:p>
            <a:r>
              <a:rPr sz="1200" b="0" i="0">
                <a:solidFill>val="162B40"/&gt;</a:solidFill>
              </a:rPr>
              <a:t>  Pourquoi le DODAG doit-il être acyclique ?</a:t>
            </a:r>
          </a:p>
        </p:txBody>
      </p:sp>
      <p:sp>
        <p:nvSpPr>
          <p:cNvPr id="4" name="TextBox 3"/>
          <p:cNvSpPr txBox="1"/>
          <p:nvPr/>
        </p:nvSpPr>
        <p:spPr>
          <a:xfrm>
            <a:off x="914400" y="914400"/>
            <a:ext cx="10515600" cy="320040"/>
          </a:xfrm>
          <a:prstGeom prst="rect">
            <a:avLst/>
          </a:prstGeom>
          <a:noFill/>
        </p:spPr>
        <p:txBody>
          <a:bodyPr wrap="square">
            <a:spAutoFit/>
          </a:bodyPr>
          <a:lstStyle/>
          <a:p>
            <a:r>
              <a:rPr sz="1200" b="0" i="0">
                <a:solidFill>val="162B40"/&gt;</a:solidFill>
              </a:rPr>
              <a:t>  Comment le Trickle Timer réduit-il la surcharge ?</a:t>
            </a:r>
          </a:p>
        </p:txBody>
      </p:sp>
      <p:sp>
        <p:nvSpPr>
          <p:cNvPr id="5" name="TextBox 4"/>
          <p:cNvSpPr txBox="1"/>
          <p:nvPr/>
        </p:nvSpPr>
        <p:spPr>
          <a:xfrm>
            <a:off x="914400" y="1170432"/>
            <a:ext cx="10515600" cy="320040"/>
          </a:xfrm>
          <a:prstGeom prst="rect">
            <a:avLst/>
          </a:prstGeom>
          <a:noFill/>
        </p:spPr>
        <p:txBody>
          <a:bodyPr wrap="square">
            <a:spAutoFit/>
          </a:bodyPr>
          <a:lstStyle/>
          <a:p>
            <a:r>
              <a:rPr sz="1200" b="0" i="0">
                <a:solidFill>val="162B40"/&gt;</a:solidFill>
              </a:rPr>
              <a:t>  Différence entre routage montant et descendant ?</a:t>
            </a:r>
          </a:p>
        </p:txBody>
      </p:sp>
      <p:sp>
        <p:nvSpPr>
          <p:cNvPr id="6" name="TextBox 5"/>
          <p:cNvSpPr txBox="1"/>
          <p:nvPr/>
        </p:nvSpPr>
        <p:spPr>
          <a:xfrm>
            <a:off x="914400" y="1426464"/>
            <a:ext cx="10515600" cy="320040"/>
          </a:xfrm>
          <a:prstGeom prst="rect">
            <a:avLst/>
          </a:prstGeom>
          <a:noFill/>
        </p:spPr>
        <p:txBody>
          <a:bodyPr wrap="square">
            <a:spAutoFit/>
          </a:bodyPr>
          <a:lstStyle/>
          <a:p>
            <a:r>
              <a:rPr sz="1200" b="0" i="0">
                <a:solidFill>val="162B40"/&gt;</a:solidFill>
              </a:rPr>
              <a:t>  Quand utiliser OF0 plutôt que MRHOF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