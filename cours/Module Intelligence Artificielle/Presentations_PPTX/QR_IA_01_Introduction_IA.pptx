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Page de garde — Q/R IA Cours 01 : Introduction à l'Intelligence Artificielle.</a:t>
            </a:r>
          </a:p>
          <a:p>
            <a:r>
              <a:t>Dr. Madani BELACEL — MCB — Université de Mostaganem.</a:t>
            </a:r>
          </a:p>
          <a:p>
            <a:r>
              <a:t>10 idées, 32 questions-réponses (français).</a:t>
            </a:r>
          </a:p>
          <a:p>
            <a:r>
              <a:t>Séance 2ème année PEP — ENS, filière Français : présentation en français seul.</a:t>
            </a:r>
          </a:p>
          <a:p>
            <a:r>
              <a:t>Les Q/R sont dans les notes : mode Présentateur (Affichage → Mode Présentateur) pour les lire pendant la séance.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1 — Qu'est-ce que l'Intelligence Artificielle ?</a:t>
            </a:r>
          </a:p>
          <a:p/>
          <a:p>
            <a:r>
              <a:t>── QUESTIONS &amp; RÉPONSES (FR) ──</a:t>
            </a:r>
          </a:p>
          <a:p>
            <a:r>
              <a:t>Q1. Qu'est-ce que l'IA en une phrase ?</a:t>
            </a:r>
          </a:p>
          <a:p>
            <a:r>
              <a:t>R1. L'IA est un programme informatique qui peut apprendre à partir de données et prendre des décisions tout seul.</a:t>
            </a:r>
          </a:p>
          <a:p/>
          <a:p>
            <a:r>
              <a:t>Q2. L'IA est-elle un robot ?</a:t>
            </a:r>
          </a:p>
          <a:p>
            <a:r>
              <a:t>R2. Pas toujours. L'IA est un logiciel. Un robot est une machine qui peut bouger, et un robot peut contenir de l'IA.</a:t>
            </a:r>
          </a:p>
          <a:p/>
          <a:p>
            <a:r>
              <a:t>Q3. L'IA pense-t-elle comme un humain ?</a:t>
            </a:r>
          </a:p>
          <a:p>
            <a:r>
              <a:t>R3. Non. L'IA imite certaines tâches humaines, comme reconnaître ou décider, mais elle ne ressent pas et ne comprend pas comme un humain.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2 — Comment l'IA travaille-t-elle, en mots simples ?</a:t>
            </a:r>
          </a:p>
          <a:p/>
          <a:p>
            <a:r>
              <a:t>── QUESTIONS &amp; RÉPONSES (FR) ──</a:t>
            </a:r>
          </a:p>
          <a:p>
            <a:r>
              <a:t>Q1. Est-ce que l'IA ressemble à Excel ?</a:t>
            </a:r>
          </a:p>
          <a:p>
            <a:r>
              <a:t>R1. Bien plus qu'on ne le croit. Dans Excel, vous mettez 4 dans une cellule et 8 dans la cellule suivante, puis vous faites glisser la petite poignée en bas à droite : Excel calcule 12 tout seul. L'IA fait la même chose avec des exemples — vous lui donnez deux cas, elle trouve la règle qui les relie, puis elle applique la règle au suivant.</a:t>
            </a:r>
          </a:p>
          <a:p/>
          <a:p>
            <a:r>
              <a:t>Q2. Donnez-moi un exemple concret.</a:t>
            </a:r>
          </a:p>
          <a:p>
            <a:r>
              <a:t>R2. Vous donnez au programme un dossier qui contient 1 000 photos de chats et 1 000 photos de chiens, déjà étiquetées « chat » ou « chien ». Vous lui montrez ensuite une photo qu'il n'a jamais vue, et il vous répond : chat ou chien. C'est tout ce qu'il fait — et c'est déjà très utile. La même idée fonctionne avec un dossier de factures, un dossier de CV ou un dossier de sujets d'examen.</a:t>
            </a:r>
          </a:p>
          <a:p/>
          <a:p>
            <a:r>
              <a:t>Q3. Que se passe-t-il si les exemples sont faux ?</a:t>
            </a:r>
          </a:p>
          <a:p>
            <a:r>
              <a:t>R3. L'IA recopie l'erreur. Des exemples de mauvaise qualité donnent des réponses de mauvaise qualité : c'est pourquoi la qualité des données compte plus que leur quantité. Si quelques chiens se glissent dans votre dossier de chats sans être étiquetés, le programme s'embrouille — il apprend de ce que vous lui donnez.</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3 — Deux familles d'IA : lui parler, ou coder avec elle</a:t>
            </a:r>
          </a:p>
          <a:p/>
          <a:p>
            <a:r>
              <a:t>── QUESTIONS &amp; RÉPONSES (FR) ──</a:t>
            </a:r>
          </a:p>
          <a:p>
            <a:r>
              <a:t>Q1. Quelle est la différence entre ChatGPT et Cursor ?</a:t>
            </a:r>
          </a:p>
          <a:p>
            <a:r>
              <a:t>R1. ChatGPT parle : il vous répond avec des phrases, dans la fenêtre de discussion. Cursor agit : il écrit et modifie directement les lignes de votre programme dans votre éditeur. Les deux sont des outils de la même famille, mais ils ne travaillent pas du tout de la même façon.</a:t>
            </a:r>
          </a:p>
          <a:p/>
          <a:p>
            <a:r>
              <a:t>Q2. OpenCode, Cursor ou GitHub Copilot peuvent-ils toucher à mes fichiers ?</a:t>
            </a:r>
          </a:p>
          <a:p>
            <a:r>
              <a:t>R2. Oui, et il faut le savoir. Ils travaillent sur votre disque dur : ils lisent les fichiers d'un dossier, en créent de nouveaux, modifient les fichiers existants, et peuvent analyser un projet entier. C'est précisément pour cela qu'il faut toujours commencer dans un dossier de test, et ne jamais laisser un assistant toucher à vos documents personnels.</a:t>
            </a:r>
          </a:p>
          <a:p/>
          <a:p>
            <a:r>
              <a:t>Q3. OpenCode exige-t-il de savoir déjà programmer ?</a:t>
            </a:r>
          </a:p>
          <a:p>
            <a:r>
              <a:t>R3. Non, il vous aide à apprendre. Vous décrivez en mots ce que vous voulez, il propose le code et il explique chaque ligne — vous pouvez donc partir de zéro.</a:t>
            </a:r>
          </a:p>
          <a:p/>
          <a:p>
            <a:r>
              <a:t>Q4. Cursor repose-t-il sur le même principe que ChatGPT ?</a:t>
            </a:r>
          </a:p>
          <a:p>
            <a:r>
              <a:t>R4. Oui, exactement le même principe : des exemples, une règle, puis une application sur un cas nouveau. Ce qui n'est pas le même, ce n'est pas le principe, c'est ce qu'il a sous les yeux. ChatGPT répond à partir de ce qu'il a appris avant votre arrivée. Cursor, avant de répondre, ouvre vos fichiers et les lit — puis il applique le même principe sur ce qu'il vient de lire. C'est le même cerveau ; on lui montre simplement un dossier en plus. Donc votre code ne lui apprend rien : on se contente de le lui montrer.</a:t>
            </a:r>
          </a:p>
          <a:p/>
          <a:p>
            <a:r>
              <a:t>Q5. J'ai vu Cursor et OpenCode exécuter des scripts et du code. C'est l'IA qui exécute ?</a:t>
            </a:r>
          </a:p>
          <a:p>
            <a:r>
              <a:t>R5. Non : c'est l'outil qui exécute, pas l'IA. L'IA écrit la commande, l'ordinateur la lance, et le résultat revient à l'IA. Elle ne sait pas faire tourner un programme toute seule. Mais c'est justement très utile : quand elle écrit du code, elle peut le tester, voir l'erreur, et se corriger. Cela forme une boucle — écrire, exécuter, corriger — et c'est ce que ChatGPT ne peut pas faire, lui qui ne fait que répondre en texte.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4 — Où rencontre-t-on l'IA ?</a:t>
            </a:r>
          </a:p>
          <a:p/>
          <a:p>
            <a:r>
              <a:t>── QUESTIONS &amp; RÉPONSES (FR) ──</a:t>
            </a:r>
          </a:p>
          <a:p>
            <a:r>
              <a:t>Q1. Où est l'IA dans un smartphone ?</a:t>
            </a:r>
          </a:p>
          <a:p>
            <a:r>
              <a:t>R1. Dans le déverrouillage par visage, le tri des photos, les assistants vocaux et le clavier prédictif.</a:t>
            </a:r>
          </a:p>
          <a:p/>
          <a:p>
            <a:r>
              <a:t>Q2. L'IA existe-t-elle dans le courriel ?</a:t>
            </a:r>
          </a:p>
          <a:p>
            <a:r>
              <a:t>R2. Oui, le filtre anti-spam qui envoie le courrier indésirable dans le dossier spam est une petite IA.</a:t>
            </a:r>
          </a:p>
          <a:p/>
          <a:p>
            <a:r>
              <a:t>Q3. L'IA est-elle réservée aux scientifiques ?</a:t>
            </a:r>
          </a:p>
          <a:p>
            <a:r>
              <a:t>R3. Non, tout le monde utilise l'IA tous les jours, souvent sans le savoir.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5 — Pourquoi l'IA est-elle possible aujourd'hui ?</a:t>
            </a:r>
          </a:p>
          <a:p/>
          <a:p>
            <a:r>
              <a:t>── QUESTIONS &amp; RÉPONSES (FR) ──</a:t>
            </a:r>
          </a:p>
          <a:p>
            <a:r>
              <a:t>Q1. Quel rôle jouent les données ?</a:t>
            </a:r>
          </a:p>
          <a:p>
            <a:r>
              <a:t>R1. Les données sont le carburant de l'IA : plus la machine a de bons exemples, mieux elle apprend.</a:t>
            </a:r>
          </a:p>
          <a:p/>
          <a:p>
            <a:r>
              <a:t>Q2. Quel rôle joue l'ordinateur ?</a:t>
            </a:r>
          </a:p>
          <a:p>
            <a:r>
              <a:t>R2. Les ordinateurs modernes sont assez rapides et puissants pour faire tous les calculs dont l'IA a besoin.</a:t>
            </a:r>
          </a:p>
          <a:p/>
          <a:p>
            <a:r>
              <a:t>Q3. Les algorithmes ont-ils toujours existé ?</a:t>
            </a:r>
          </a:p>
          <a:p>
            <a:r>
              <a:t>R3. Beaucoup d'idées sont anciennes, mais aujourd'hui nous avons enfin les données et la puissance de calcul pour bien les utiliser.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6 — Le rôle des données</a:t>
            </a:r>
          </a:p>
          <a:p/>
          <a:p>
            <a:r>
              <a:t>── QUESTIONS &amp; RÉPONSES (FR) ──</a:t>
            </a:r>
          </a:p>
          <a:p>
            <a:r>
              <a:t>Q1. Qu'est-ce que les données d'entraînement ?</a:t>
            </a:r>
          </a:p>
          <a:p>
            <a:r>
              <a:t>R1. Ce sont les exemples utilisés pour apprendre à l'IA, comme des photos de chiens et de chats avec leurs étiquettes.</a:t>
            </a:r>
          </a:p>
          <a:p/>
          <a:p>
            <a:r>
              <a:t>Q2. Pourquoi l'IA a-t-elle besoin de beaucoup de données ?</a:t>
            </a:r>
          </a:p>
          <a:p>
            <a:r>
              <a:t>R2. Plus d'exemples de qualité aident l'IA à mieux trouver les régularités et à faire moins d'erreurs.</a:t>
            </a:r>
          </a:p>
          <a:p/>
          <a:p>
            <a:r>
              <a:t>Q3. L'IA peut-elle apprendre sans données ?</a:t>
            </a:r>
          </a:p>
          <a:p>
            <a:r>
              <a:t>R3. Non. Sans données, il n'y a rien à partir de quoi apprendre.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7 — L'IA dans l'éducation</a:t>
            </a:r>
          </a:p>
          <a:p/>
          <a:p>
            <a:r>
              <a:t>── QUESTIONS &amp; RÉPONSES (FR) ──</a:t>
            </a:r>
          </a:p>
          <a:p>
            <a:r>
              <a:t>Q1. Comment l'IA peut-elle t'aider à apprendre l'anglais ?</a:t>
            </a:r>
          </a:p>
          <a:p>
            <a:r>
              <a:t>R1. Elle peut traduire, corriger tes phrases et te donner des exemples de dialogues.</a:t>
            </a:r>
          </a:p>
          <a:p/>
          <a:p>
            <a:r>
              <a:t>Q2. L'IA peut-elle faire tes devoirs ?</a:t>
            </a:r>
          </a:p>
          <a:p>
            <a:r>
              <a:t>R2. Elle peut aider, mais tu dois apprendre. Si elle pense à ta place, tu n'apprendras rien.</a:t>
            </a:r>
          </a:p>
          <a:p/>
          <a:p>
            <a:r>
              <a:t>Q3. L'IA peut-elle remplacer un enseignant ?</a:t>
            </a:r>
          </a:p>
          <a:p>
            <a:r>
              <a:t>R3. Non. C'est un outil qui aide, mais seul un humain peut comprendre, motiver et guider un étudiant.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8 — Est-ce que l'IA comprend vraiment ?</a:t>
            </a:r>
          </a:p>
          <a:p/>
          <a:p>
            <a:r>
              <a:t>── QUESTIONS &amp; RÉPONSES (FR) ──</a:t>
            </a:r>
          </a:p>
          <a:p>
            <a:r>
              <a:t>Q1. L'IA comprend-elle les mots ?</a:t>
            </a:r>
          </a:p>
          <a:p>
            <a:r>
              <a:t>R1. Elle voit des régularités et des statistiques, pas le vrai sens. Elle prédit quel mot vient probablement ensuite.</a:t>
            </a:r>
          </a:p>
          <a:p/>
          <a:p>
            <a:r>
              <a:t>Q2. L'IA a-t-elle des sentiments ?</a:t>
            </a:r>
          </a:p>
          <a:p>
            <a:r>
              <a:t>R2. Non. Elle peut imiter des émotions dans un texte, mais elle ne ressent rien.</a:t>
            </a:r>
          </a:p>
          <a:p/>
          <a:p>
            <a:r>
              <a:t>Q3. Pourquoi l'IA fait-elle parfois des erreurs ?</a:t>
            </a:r>
          </a:p>
          <a:p>
            <a:r>
              <a:t>R3. Parce qu'elle ne connaît que ce qu'elle a vu. Si la situation est nouvelle ou si les données contiennent des erreurs, elle peut se tromper.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9 — L'IA et l'éthique</a:t>
            </a:r>
          </a:p>
          <a:p/>
          <a:p>
            <a:r>
              <a:t>── QUESTIONS &amp; RÉPONSES (FR) ──</a:t>
            </a:r>
          </a:p>
          <a:p>
            <a:r>
              <a:t>Q1. Qu'est-ce que le biais d'une IA ?</a:t>
            </a:r>
          </a:p>
          <a:p>
            <a:r>
              <a:t>R1. C'est le moment où l'IA a appris à partir d'exemples déséquilibrés et fait donc des choix injustes ou faux.</a:t>
            </a:r>
          </a:p>
          <a:p/>
          <a:p>
            <a:r>
              <a:t>Q2. Qui est responsable d'une décision prise par l'IA ?</a:t>
            </a:r>
          </a:p>
          <a:p>
            <a:r>
              <a:t>R2. Les humains qui ont conçu, choisi et utilisé l'IA.</a:t>
            </a:r>
          </a:p>
          <a:p/>
          <a:p>
            <a:r>
              <a:t>Q3. Doit-on faire entièrement confiance à l'IA ?</a:t>
            </a:r>
          </a:p>
          <a:p>
            <a:r>
              <a:t>R3. Non. On doit vérifier ses réponses, comme on vérifie une calculatrice ou un dictionnaire.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10 — Une brève histoire de l'IA</a:t>
            </a:r>
          </a:p>
          <a:p/>
          <a:p>
            <a:r>
              <a:t>── QUESTIONS &amp; RÉPONSES (FR) ──</a:t>
            </a:r>
          </a:p>
          <a:p>
            <a:r>
              <a:t>Q1. Quand le terme IA a-t-il été créé ?</a:t>
            </a:r>
          </a:p>
          <a:p>
            <a:r>
              <a:t>R1. En 1956, lors d'une conférence aux États-Unis.</a:t>
            </a:r>
          </a:p>
          <a:p/>
          <a:p>
            <a:r>
              <a:t>Q2. Pourquoi ChatGPT est-il célèbre ?</a:t>
            </a:r>
          </a:p>
          <a:p>
            <a:r>
              <a:t>R2. Parce qu'il parle si naturellement que n'importe qui peut utiliser l'IA sans compétence particulière.</a:t>
            </a:r>
          </a:p>
          <a:p/>
          <a:p>
            <a:r>
              <a:t>Q3. L'IA est-elle nouvelle ?</a:t>
            </a:r>
          </a:p>
          <a:p>
            <a:r>
              <a:t>R3. L'idée est ancienne, mais l'explosion réelle est très récente, depuis une quinzaine d'années environ.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371600"/>
            <a:ext cx="12191695" cy="41148"/>
          </a:xfrm>
          <a:prstGeom prst="rect">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Université_de_Mostaganem.png"/>
          <p:cNvPicPr>
            <a:picLocks noChangeAspect="1"/>
          </p:cNvPicPr>
          <p:nvPr/>
        </p:nvPicPr>
        <p:blipFill>
          <a:blip r:embed="rId2"/>
          <a:stretch>
            <a:fillRect/>
          </a:stretch>
        </p:blipFill>
        <p:spPr>
          <a:xfrm>
            <a:off x="731520" y="201167"/>
            <a:ext cx="999743" cy="969264"/>
          </a:xfrm>
          <a:prstGeom prst="rect">
            <a:avLst/>
          </a:prstGeom>
        </p:spPr>
      </p:pic>
      <p:pic>
        <p:nvPicPr>
          <p:cNvPr id="5" name="Picture 4" descr="LOGO-FLE-UNIV-Mosta.jpeg"/>
          <p:cNvPicPr>
            <a:picLocks noChangeAspect="1"/>
          </p:cNvPicPr>
          <p:nvPr/>
        </p:nvPicPr>
        <p:blipFill>
          <a:blip r:embed="rId3"/>
          <a:stretch>
            <a:fillRect/>
          </a:stretch>
        </p:blipFill>
        <p:spPr>
          <a:xfrm>
            <a:off x="2042160" y="201167"/>
            <a:ext cx="825669" cy="969264"/>
          </a:xfrm>
          <a:prstGeom prst="rect">
            <a:avLst/>
          </a:prstGeom>
        </p:spPr>
      </p:pic>
      <p:sp>
        <p:nvSpPr>
          <p:cNvPr id="6" name="Rectangle 5"/>
          <p:cNvSpPr/>
          <p:nvPr/>
        </p:nvSpPr>
        <p:spPr>
          <a:xfrm>
            <a:off x="3288453" y="438912"/>
            <a:ext cx="10972" cy="493776"/>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62773" y="384048"/>
            <a:ext cx="7897401" cy="621792"/>
          </a:xfrm>
          <a:prstGeom prst="rect">
            <a:avLst/>
          </a:prstGeom>
          <a:noFill/>
        </p:spPr>
        <p:txBody>
          <a:bodyPr wrap="square" lIns="0" rIns="0" tIns="0" bIns="0" anchor="ctr">
            <a:spAutoFit/>
          </a:bodyPr>
          <a:lstStyle/>
          <a:p>
            <a:pPr algn="l">
              <a:lnSpc>
                <a:spcPct val="112000"/>
              </a:lnSpc>
              <a:spcBef>
                <a:spcPts val="0"/>
              </a:spcBef>
              <a:spcAft>
                <a:spcPts val="200"/>
              </a:spcAft>
            </a:pPr>
            <a:r>
              <a:rPr sz="1250" b="1" i="0">
                <a:solidFill>
                  <a:srgbClr val="122A4F"/>
                </a:solidFill>
                <a:latin typeface="Calibri"/>
              </a:rPr>
              <a:t>Université de Mostaganem  ·  Faculté des Langues Étrangères</a:t>
            </a:r>
          </a:p>
          <a:p>
            <a:pPr algn="l">
              <a:lnSpc>
                <a:spcPct val="112000"/>
              </a:lnSpc>
              <a:spcBef>
                <a:spcPts val="0"/>
              </a:spcBef>
              <a:spcAft>
                <a:spcPts val="0"/>
              </a:spcAft>
            </a:pPr>
            <a:r>
              <a:rPr sz="1100" b="0" i="0">
                <a:solidFill>
                  <a:srgbClr val="5B6879"/>
                </a:solidFill>
                <a:latin typeface="Calibri"/>
              </a:rPr>
              <a:t>2ᵉ année PEP  ·  Année universitaire 2026 – 2027</a:t>
            </a:r>
          </a:p>
        </p:txBody>
      </p:sp>
      <p:sp>
        <p:nvSpPr>
          <p:cNvPr id="8" name="Rectangle 7"/>
          <p:cNvSpPr/>
          <p:nvPr/>
        </p:nvSpPr>
        <p:spPr>
          <a:xfrm>
            <a:off x="0" y="1412748"/>
            <a:ext cx="12191695" cy="5445252"/>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412748"/>
            <a:ext cx="164592" cy="5445252"/>
          </a:xfrm>
          <a:prstGeom prst="rect">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2212848"/>
            <a:ext cx="1463040" cy="64008"/>
          </a:xfrm>
          <a:prstGeom prst="rect">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487168"/>
            <a:ext cx="10332720" cy="1005840"/>
          </a:xfrm>
          <a:prstGeom prst="rect">
            <a:avLst/>
          </a:prstGeom>
          <a:noFill/>
        </p:spPr>
        <p:txBody>
          <a:bodyPr wrap="square" lIns="0" rIns="0" tIns="0" bIns="0" anchor="t">
            <a:spAutoFit/>
          </a:bodyPr>
          <a:lstStyle/>
          <a:p>
            <a:pPr algn="l">
              <a:lnSpc>
                <a:spcPct val="100000"/>
              </a:lnSpc>
              <a:spcBef>
                <a:spcPts val="0"/>
              </a:spcBef>
              <a:spcAft>
                <a:spcPts val="0"/>
              </a:spcAft>
            </a:pPr>
            <a:r>
              <a:rPr sz="4000" b="1" i="0">
                <a:solidFill>
                  <a:srgbClr val="FFFFFF"/>
                </a:solidFill>
                <a:latin typeface="Calibri"/>
              </a:rPr>
              <a:t>Introduction à l'Intelligence Artificielle</a:t>
            </a:r>
          </a:p>
        </p:txBody>
      </p:sp>
      <p:sp>
        <p:nvSpPr>
          <p:cNvPr id="12" name="TextBox 11"/>
          <p:cNvSpPr txBox="1"/>
          <p:nvPr/>
        </p:nvSpPr>
        <p:spPr>
          <a:xfrm>
            <a:off x="914400" y="3621024"/>
            <a:ext cx="9692640" cy="457200"/>
          </a:xfrm>
          <a:prstGeom prst="rect">
            <a:avLst/>
          </a:prstGeom>
          <a:noFill/>
        </p:spPr>
        <p:txBody>
          <a:bodyPr wrap="square" lIns="0" rIns="0" tIns="0" bIns="0" anchor="t">
            <a:spAutoFit/>
          </a:bodyPr>
          <a:lstStyle/>
          <a:p>
            <a:pPr algn="l">
              <a:lnSpc>
                <a:spcPct val="112000"/>
              </a:lnSpc>
              <a:spcBef>
                <a:spcPts val="0"/>
              </a:spcBef>
              <a:spcAft>
                <a:spcPts val="0"/>
              </a:spcAft>
            </a:pPr>
            <a:r>
              <a:rPr sz="1700" b="0" i="1">
                <a:solidFill>
                  <a:srgbClr val="9EBADA"/>
                </a:solidFill>
                <a:latin typeface="Calibri"/>
              </a:rPr>
              <a:t>Comprendre l'IA, ses usages et ses limites — puis réaliser sa première IA</a:t>
            </a:r>
          </a:p>
        </p:txBody>
      </p:sp>
      <p:sp>
        <p:nvSpPr>
          <p:cNvPr id="13" name="Rounded Rectangle 12"/>
          <p:cNvSpPr/>
          <p:nvPr/>
        </p:nvSpPr>
        <p:spPr>
          <a:xfrm>
            <a:off x="914400" y="4315968"/>
            <a:ext cx="4663440" cy="530352"/>
          </a:xfrm>
          <a:prstGeom prst="roundRect">
            <a:avLst>
              <a:gd name="adj" fmla="val 35000"/>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315968"/>
            <a:ext cx="4663440" cy="530352"/>
          </a:xfrm>
          <a:prstGeom prst="rect">
            <a:avLst/>
          </a:prstGeom>
          <a:noFill/>
        </p:spPr>
        <p:txBody>
          <a:bodyPr wrap="square" lIns="0" rIns="0" tIns="0" bIns="0" anchor="ctr">
            <a:spAutoFit/>
          </a:bodyPr>
          <a:lstStyle/>
          <a:p>
            <a:pPr algn="ctr">
              <a:lnSpc>
                <a:spcPct val="112000"/>
              </a:lnSpc>
              <a:spcBef>
                <a:spcPts val="0"/>
              </a:spcBef>
              <a:spcAft>
                <a:spcPts val="0"/>
              </a:spcAft>
            </a:pPr>
            <a:r>
              <a:rPr sz="1500" b="1" i="0">
                <a:solidFill>
                  <a:srgbClr val="122A4F"/>
                </a:solidFill>
                <a:latin typeface="Calibri"/>
              </a:rPr>
              <a:t>Questions &amp; Réponses — Cours 01</a:t>
            </a:r>
          </a:p>
        </p:txBody>
      </p:sp>
      <p:sp>
        <p:nvSpPr>
          <p:cNvPr id="15" name="Rectangle 14"/>
          <p:cNvSpPr/>
          <p:nvPr/>
        </p:nvSpPr>
        <p:spPr>
          <a:xfrm>
            <a:off x="914400" y="5230368"/>
            <a:ext cx="10360152" cy="10972"/>
          </a:xfrm>
          <a:prstGeom prst="rect">
            <a:avLst/>
          </a:prstGeom>
          <a:solidFill>
            <a:srgbClr val="2C45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449824"/>
            <a:ext cx="10332720" cy="914400"/>
          </a:xfrm>
          <a:prstGeom prst="rect">
            <a:avLst/>
          </a:prstGeom>
          <a:noFill/>
        </p:spPr>
        <p:txBody>
          <a:bodyPr wrap="square" lIns="0" rIns="0" tIns="0" bIns="0" anchor="t">
            <a:spAutoFit/>
          </a:bodyPr>
          <a:lstStyle/>
          <a:p>
            <a:pPr algn="l">
              <a:lnSpc>
                <a:spcPct val="112000"/>
              </a:lnSpc>
              <a:spcBef>
                <a:spcPts val="0"/>
              </a:spcBef>
              <a:spcAft>
                <a:spcPts val="300"/>
              </a:spcAft>
            </a:pPr>
            <a:r>
              <a:rPr sz="1600" b="1" i="0">
                <a:solidFill>
                  <a:srgbClr val="FFFFFF"/>
                </a:solidFill>
                <a:latin typeface="Calibri"/>
              </a:rPr>
              <a:t>Dr. Madani BELACEL — MCB</a:t>
            </a:r>
          </a:p>
          <a:p>
            <a:pPr algn="l">
              <a:lnSpc>
                <a:spcPct val="112000"/>
              </a:lnSpc>
              <a:spcBef>
                <a:spcPts val="0"/>
              </a:spcBef>
              <a:spcAft>
                <a:spcPts val="0"/>
              </a:spcAft>
            </a:pPr>
            <a:r>
              <a:rPr sz="1250" b="0" i="0">
                <a:solidFill>
                  <a:srgbClr val="C5D6EA"/>
                </a:solidFill>
                <a:latin typeface="Calibri"/>
              </a:rPr>
              <a:t>Module Intelligence Artificielle  ·  10 idées  ·  32 questions et réponses</a:t>
            </a:r>
          </a:p>
        </p:txBody>
      </p:sp>
      <p:sp>
        <p:nvSpPr>
          <p:cNvPr id="17" name="TextBox 16"/>
          <p:cNvSpPr txBox="1"/>
          <p:nvPr/>
        </p:nvSpPr>
        <p:spPr>
          <a:xfrm>
            <a:off x="914400" y="6272784"/>
            <a:ext cx="10332720" cy="274320"/>
          </a:xfrm>
          <a:prstGeom prst="rect">
            <a:avLst/>
          </a:prstGeom>
          <a:noFill/>
        </p:spPr>
        <p:txBody>
          <a:bodyPr wrap="square" lIns="0" rIns="0" tIns="0" bIns="0" anchor="t">
            <a:spAutoFit/>
          </a:bodyPr>
          <a:lstStyle/>
          <a:p>
            <a:pPr algn="l">
              <a:lnSpc>
                <a:spcPct val="112000"/>
              </a:lnSpc>
              <a:spcBef>
                <a:spcPts val="0"/>
              </a:spcBef>
              <a:spcAft>
                <a:spcPts val="0"/>
              </a:spcAft>
            </a:pPr>
            <a:r>
              <a:rPr sz="1000" b="0" i="0">
                <a:solidFill>
                  <a:srgbClr val="7E93AD"/>
                </a:solidFill>
                <a:latin typeface="Calibri"/>
              </a:rPr>
              <a:t>Cours en ligne : madani-belacel.github.io/site-enseignement-belacel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37744"/>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530352"/>
            <a:ext cx="1234440" cy="310896"/>
          </a:xfrm>
          <a:prstGeom prst="roundRect">
            <a:avLst>
              <a:gd name="adj" fmla="val 45000"/>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30352"/>
            <a:ext cx="1234440" cy="310896"/>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1</a:t>
            </a:r>
          </a:p>
        </p:txBody>
      </p:sp>
      <p:sp>
        <p:nvSpPr>
          <p:cNvPr id="5" name="TextBox 4"/>
          <p:cNvSpPr txBox="1"/>
          <p:nvPr/>
        </p:nvSpPr>
        <p:spPr>
          <a:xfrm>
            <a:off x="685800" y="969264"/>
            <a:ext cx="10835640" cy="640080"/>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22A4F"/>
                </a:solidFill>
                <a:latin typeface="Calibri"/>
              </a:rPr>
              <a:t>Qu'est-ce que l'Intelligence Artificielle ?</a:t>
            </a:r>
          </a:p>
        </p:txBody>
      </p:sp>
      <p:sp>
        <p:nvSpPr>
          <p:cNvPr id="6" name="Rectangle 5"/>
          <p:cNvSpPr/>
          <p:nvPr/>
        </p:nvSpPr>
        <p:spPr>
          <a:xfrm>
            <a:off x="685800" y="1956816"/>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2920" y="2048256"/>
            <a:ext cx="11183112" cy="1143380"/>
          </a:xfrm>
          <a:prstGeom prst="roundRect">
            <a:avLst>
              <a:gd name="adj" fmla="val 5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76272"/>
            <a:ext cx="10634472" cy="832485"/>
          </a:xfrm>
          <a:prstGeom prst="rect">
            <a:avLst/>
          </a:prstGeom>
          <a:noFill/>
        </p:spPr>
        <p:txBody>
          <a:bodyPr wrap="square" lIns="0" rIns="0" tIns="0" bIns="0" anchor="t">
            <a:spAutoFit/>
          </a:bodyPr>
          <a:lstStyle/>
          <a:p>
            <a:pPr algn="l">
              <a:lnSpc>
                <a:spcPct val="115000"/>
              </a:lnSpc>
              <a:spcBef>
                <a:spcPts val="0"/>
              </a:spcBef>
              <a:spcAft>
                <a:spcPts val="0"/>
              </a:spcAft>
            </a:pPr>
            <a:r>
              <a:rPr sz="1900" b="0" i="0">
                <a:solidFill>
                  <a:srgbClr val="1B2433"/>
                </a:solidFill>
                <a:latin typeface="Calibri"/>
              </a:rPr>
              <a:t>L'IA est un programme informatique qui peut apprendre, reconnaître des choses et prendre des décisions, un peu comme un humain. Ce n'est pas de la magie : c'est basé sur des données et des règles.</a:t>
            </a:r>
          </a:p>
        </p:txBody>
      </p:sp>
      <p:sp>
        <p:nvSpPr>
          <p:cNvPr id="9" name="Rounded Rectangle 8"/>
          <p:cNvSpPr/>
          <p:nvPr/>
        </p:nvSpPr>
        <p:spPr>
          <a:xfrm>
            <a:off x="685800" y="4082986"/>
            <a:ext cx="3349752" cy="1298448"/>
          </a:xfrm>
          <a:prstGeom prst="roundRect">
            <a:avLst>
              <a:gd name="adj" fmla="val 14000"/>
            </a:avLst>
          </a:prstGeom>
          <a:solidFill>
            <a:srgbClr val="E4EFF9"/>
          </a:solidFill>
          <a:ln w="1587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spcBef>
                <a:spcPts val="0"/>
              </a:spcBef>
              <a:spcAft>
                <a:spcPts val="0"/>
              </a:spcAft>
            </a:pPr>
            <a:r>
              <a:rPr sz="1550" b="1" i="0">
                <a:solidFill>
                  <a:srgbClr val="122A4F"/>
                </a:solidFill>
                <a:latin typeface="Calibri"/>
              </a:rPr>
              <a:t>Exemples</a:t>
            </a:r>
          </a:p>
          <a:p>
            <a:pPr algn="ctr">
              <a:lnSpc>
                <a:spcPct val="100000"/>
              </a:lnSpc>
              <a:spcBef>
                <a:spcPts val="300"/>
              </a:spcBef>
              <a:spcAft>
                <a:spcPts val="0"/>
              </a:spcAft>
            </a:pPr>
            <a:r>
              <a:rPr sz="1200" b="0" i="0">
                <a:solidFill>
                  <a:srgbClr val="5B6879"/>
                </a:solidFill>
                <a:latin typeface="Calibri"/>
              </a:rPr>
              <a:t>Données</a:t>
            </a:r>
          </a:p>
        </p:txBody>
      </p:sp>
      <p:sp>
        <p:nvSpPr>
          <p:cNvPr id="10" name="TextBox 9"/>
          <p:cNvSpPr txBox="1"/>
          <p:nvPr/>
        </p:nvSpPr>
        <p:spPr>
          <a:xfrm>
            <a:off x="4035552" y="4082986"/>
            <a:ext cx="384048" cy="1298448"/>
          </a:xfrm>
          <a:prstGeom prst="rect">
            <a:avLst/>
          </a:prstGeom>
          <a:noFill/>
        </p:spPr>
        <p:txBody>
          <a:bodyPr wrap="none" anchor="ctr" lIns="0" rIns="0" tIns="0" bIns="0">
            <a:spAutoFit/>
          </a:bodyPr>
          <a:lstStyle/>
          <a:p>
            <a:pPr algn="ctr">
              <a:lnSpc>
                <a:spcPct val="100000"/>
              </a:lnSpc>
              <a:spcBef>
                <a:spcPts val="0"/>
              </a:spcBef>
              <a:spcAft>
                <a:spcPts val="0"/>
              </a:spcAft>
            </a:pPr>
            <a:r>
              <a:rPr sz="2100" b="1" i="0">
                <a:solidFill>
                  <a:srgbClr val="1F5C99"/>
                </a:solidFill>
                <a:latin typeface="Calibri"/>
              </a:rPr>
              <a:t>→</a:t>
            </a:r>
          </a:p>
        </p:txBody>
      </p:sp>
      <p:sp>
        <p:nvSpPr>
          <p:cNvPr id="11" name="Rounded Rectangle 10"/>
          <p:cNvSpPr/>
          <p:nvPr/>
        </p:nvSpPr>
        <p:spPr>
          <a:xfrm>
            <a:off x="4419600" y="4082986"/>
            <a:ext cx="3349752" cy="1298448"/>
          </a:xfrm>
          <a:prstGeom prst="roundRect">
            <a:avLst>
              <a:gd name="adj" fmla="val 14000"/>
            </a:avLst>
          </a:prstGeom>
          <a:solidFill>
            <a:srgbClr val="E4F5EC"/>
          </a:solidFill>
          <a:ln w="15875">
            <a:solidFill>
              <a:srgbClr val="1B7A5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spcBef>
                <a:spcPts val="0"/>
              </a:spcBef>
              <a:spcAft>
                <a:spcPts val="0"/>
              </a:spcAft>
            </a:pPr>
            <a:r>
              <a:rPr sz="1550" b="1" i="0">
                <a:solidFill>
                  <a:srgbClr val="0F4A32"/>
                </a:solidFill>
                <a:latin typeface="Calibri"/>
              </a:rPr>
              <a:t>Régularités</a:t>
            </a:r>
          </a:p>
          <a:p>
            <a:pPr algn="ctr">
              <a:lnSpc>
                <a:spcPct val="100000"/>
              </a:lnSpc>
              <a:spcBef>
                <a:spcPts val="300"/>
              </a:spcBef>
              <a:spcAft>
                <a:spcPts val="0"/>
              </a:spcAft>
            </a:pPr>
            <a:r>
              <a:rPr sz="1200" b="0" i="0">
                <a:solidFill>
                  <a:srgbClr val="5B6879"/>
                </a:solidFill>
                <a:latin typeface="Calibri"/>
              </a:rPr>
              <a:t>Les règles qu'il trouve</a:t>
            </a:r>
          </a:p>
        </p:txBody>
      </p:sp>
      <p:sp>
        <p:nvSpPr>
          <p:cNvPr id="12" name="TextBox 11"/>
          <p:cNvSpPr txBox="1"/>
          <p:nvPr/>
        </p:nvSpPr>
        <p:spPr>
          <a:xfrm>
            <a:off x="7769352" y="4082986"/>
            <a:ext cx="384048" cy="1298448"/>
          </a:xfrm>
          <a:prstGeom prst="rect">
            <a:avLst/>
          </a:prstGeom>
          <a:noFill/>
        </p:spPr>
        <p:txBody>
          <a:bodyPr wrap="none" anchor="ctr" lIns="0" rIns="0" tIns="0" bIns="0">
            <a:spAutoFit/>
          </a:bodyPr>
          <a:lstStyle/>
          <a:p>
            <a:pPr algn="ctr">
              <a:lnSpc>
                <a:spcPct val="100000"/>
              </a:lnSpc>
              <a:spcBef>
                <a:spcPts val="0"/>
              </a:spcBef>
              <a:spcAft>
                <a:spcPts val="0"/>
              </a:spcAft>
            </a:pPr>
            <a:r>
              <a:rPr sz="2100" b="1" i="0">
                <a:solidFill>
                  <a:srgbClr val="1F5C99"/>
                </a:solidFill>
                <a:latin typeface="Calibri"/>
              </a:rPr>
              <a:t>→</a:t>
            </a:r>
          </a:p>
        </p:txBody>
      </p:sp>
      <p:sp>
        <p:nvSpPr>
          <p:cNvPr id="13" name="Rounded Rectangle 12"/>
          <p:cNvSpPr/>
          <p:nvPr/>
        </p:nvSpPr>
        <p:spPr>
          <a:xfrm>
            <a:off x="8153400" y="4082986"/>
            <a:ext cx="3349752" cy="1298448"/>
          </a:xfrm>
          <a:prstGeom prst="roundRect">
            <a:avLst>
              <a:gd name="adj" fmla="val 14000"/>
            </a:avLst>
          </a:prstGeom>
          <a:solidFill>
            <a:srgbClr val="FDF0DD"/>
          </a:solidFill>
          <a:ln w="15875">
            <a:solidFill>
              <a:srgbClr val="C26A0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spcBef>
                <a:spcPts val="0"/>
              </a:spcBef>
              <a:spcAft>
                <a:spcPts val="0"/>
              </a:spcAft>
            </a:pPr>
            <a:r>
              <a:rPr sz="1550" b="1" i="0">
                <a:solidFill>
                  <a:srgbClr val="7A4205"/>
                </a:solidFill>
                <a:latin typeface="Calibri"/>
              </a:rPr>
              <a:t>Une réponse</a:t>
            </a:r>
          </a:p>
          <a:p>
            <a:pPr algn="ctr">
              <a:lnSpc>
                <a:spcPct val="100000"/>
              </a:lnSpc>
              <a:spcBef>
                <a:spcPts val="300"/>
              </a:spcBef>
              <a:spcAft>
                <a:spcPts val="0"/>
              </a:spcAft>
            </a:pPr>
            <a:r>
              <a:rPr sz="1200" b="0" i="0">
                <a:solidFill>
                  <a:srgbClr val="5B6879"/>
                </a:solidFill>
                <a:latin typeface="Calibri"/>
              </a:rPr>
              <a:t>Sur un cas nouveau</a:t>
            </a:r>
          </a:p>
        </p:txBody>
      </p:sp>
      <p:sp>
        <p:nvSpPr>
          <p:cNvPr id="14" name="Rectangle 13"/>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Q/R — Cours 01 · Introduction à l'IA   |   Dr. Madani BELACEL — Université de Mostaganem</a:t>
            </a:r>
          </a:p>
        </p:txBody>
      </p:sp>
      <p:sp>
        <p:nvSpPr>
          <p:cNvPr id="16" name="TextBox 15"/>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37744"/>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530352"/>
            <a:ext cx="1234440" cy="310896"/>
          </a:xfrm>
          <a:prstGeom prst="roundRect">
            <a:avLst>
              <a:gd name="adj" fmla="val 45000"/>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30352"/>
            <a:ext cx="1234440" cy="310896"/>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2</a:t>
            </a:r>
          </a:p>
        </p:txBody>
      </p:sp>
      <p:sp>
        <p:nvSpPr>
          <p:cNvPr id="5" name="TextBox 4"/>
          <p:cNvSpPr txBox="1"/>
          <p:nvPr/>
        </p:nvSpPr>
        <p:spPr>
          <a:xfrm>
            <a:off x="685800" y="969264"/>
            <a:ext cx="10835640" cy="640080"/>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22A4F"/>
                </a:solidFill>
                <a:latin typeface="Calibri"/>
              </a:rPr>
              <a:t>Comment l'IA travaille-t-elle, en mots simples ?</a:t>
            </a:r>
          </a:p>
        </p:txBody>
      </p:sp>
      <p:sp>
        <p:nvSpPr>
          <p:cNvPr id="6" name="Rectangle 5"/>
          <p:cNvSpPr/>
          <p:nvPr/>
        </p:nvSpPr>
        <p:spPr>
          <a:xfrm>
            <a:off x="685800" y="1956816"/>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2920" y="2048256"/>
            <a:ext cx="11183112" cy="1975865"/>
          </a:xfrm>
          <a:prstGeom prst="roundRect">
            <a:avLst>
              <a:gd name="adj" fmla="val 5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76272"/>
            <a:ext cx="10634472" cy="1664970"/>
          </a:xfrm>
          <a:prstGeom prst="rect">
            <a:avLst/>
          </a:prstGeom>
          <a:noFill/>
        </p:spPr>
        <p:txBody>
          <a:bodyPr wrap="square" lIns="0" rIns="0" tIns="0" bIns="0" anchor="t">
            <a:spAutoFit/>
          </a:bodyPr>
          <a:lstStyle/>
          <a:p>
            <a:pPr algn="l">
              <a:lnSpc>
                <a:spcPct val="115000"/>
              </a:lnSpc>
              <a:spcBef>
                <a:spcPts val="0"/>
              </a:spcBef>
              <a:spcAft>
                <a:spcPts val="0"/>
              </a:spcAft>
            </a:pPr>
            <a:r>
              <a:rPr sz="1900" b="0" i="0">
                <a:solidFill>
                  <a:srgbClr val="1B2433"/>
                </a:solidFill>
                <a:latin typeface="Calibri"/>
              </a:rPr>
              <a:t>Un programme d'IA reçoit un très grand nombre d'exemples, chacun déjà étiqueté avec la bonne réponse. Il cherche la règle qui les relie, puis il applique cette règle à des cas qu'il n'a jamais vus. Personne n'écrit toutes les règles à la main : le programme les retrouve lui-même. Et il ne comprend pas vraiment : il reconnaît des formes et des statistiques, pas du sens. C'est précisément pour cela qu'il faut toujours vérifier ce qu'il vous donne.</a:t>
            </a:r>
          </a:p>
        </p:txBody>
      </p:sp>
      <p:sp>
        <p:nvSpPr>
          <p:cNvPr id="9" name="Rounded Rectangle 8"/>
          <p:cNvSpPr/>
          <p:nvPr/>
        </p:nvSpPr>
        <p:spPr>
          <a:xfrm>
            <a:off x="685800" y="4499229"/>
            <a:ext cx="2416302" cy="1298448"/>
          </a:xfrm>
          <a:prstGeom prst="roundRect">
            <a:avLst>
              <a:gd name="adj" fmla="val 14000"/>
            </a:avLst>
          </a:prstGeom>
          <a:solidFill>
            <a:srgbClr val="E4EFF9"/>
          </a:solidFill>
          <a:ln w="1587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spcBef>
                <a:spcPts val="0"/>
              </a:spcBef>
              <a:spcAft>
                <a:spcPts val="0"/>
              </a:spcAft>
            </a:pPr>
            <a:r>
              <a:rPr sz="1550" b="1" i="0">
                <a:solidFill>
                  <a:srgbClr val="122A4F"/>
                </a:solidFill>
                <a:latin typeface="Calibri"/>
              </a:rPr>
              <a:t>1 000 photos de chats</a:t>
            </a:r>
          </a:p>
          <a:p>
            <a:pPr algn="ctr">
              <a:lnSpc>
                <a:spcPct val="100000"/>
              </a:lnSpc>
              <a:spcBef>
                <a:spcPts val="300"/>
              </a:spcBef>
              <a:spcAft>
                <a:spcPts val="0"/>
              </a:spcAft>
            </a:pPr>
            <a:r>
              <a:rPr sz="1200" b="0" i="0">
                <a:solidFill>
                  <a:srgbClr val="5B6879"/>
                </a:solidFill>
                <a:latin typeface="Calibri"/>
              </a:rPr>
              <a:t>étiquetées « chat »</a:t>
            </a:r>
          </a:p>
        </p:txBody>
      </p:sp>
      <p:sp>
        <p:nvSpPr>
          <p:cNvPr id="10" name="TextBox 9"/>
          <p:cNvSpPr txBox="1"/>
          <p:nvPr/>
        </p:nvSpPr>
        <p:spPr>
          <a:xfrm>
            <a:off x="3102102" y="4499229"/>
            <a:ext cx="384048" cy="1298448"/>
          </a:xfrm>
          <a:prstGeom prst="rect">
            <a:avLst/>
          </a:prstGeom>
          <a:noFill/>
        </p:spPr>
        <p:txBody>
          <a:bodyPr wrap="none" anchor="ctr" lIns="0" rIns="0" tIns="0" bIns="0">
            <a:spAutoFit/>
          </a:bodyPr>
          <a:lstStyle/>
          <a:p>
            <a:pPr algn="ctr">
              <a:lnSpc>
                <a:spcPct val="100000"/>
              </a:lnSpc>
              <a:spcBef>
                <a:spcPts val="0"/>
              </a:spcBef>
              <a:spcAft>
                <a:spcPts val="0"/>
              </a:spcAft>
            </a:pPr>
            <a:r>
              <a:rPr sz="2100" b="1" i="0">
                <a:solidFill>
                  <a:srgbClr val="1F5C99"/>
                </a:solidFill>
                <a:latin typeface="Calibri"/>
              </a:rPr>
              <a:t>+</a:t>
            </a:r>
          </a:p>
        </p:txBody>
      </p:sp>
      <p:sp>
        <p:nvSpPr>
          <p:cNvPr id="11" name="Rounded Rectangle 10"/>
          <p:cNvSpPr/>
          <p:nvPr/>
        </p:nvSpPr>
        <p:spPr>
          <a:xfrm>
            <a:off x="3486150" y="4499229"/>
            <a:ext cx="2416302" cy="1298448"/>
          </a:xfrm>
          <a:prstGeom prst="roundRect">
            <a:avLst>
              <a:gd name="adj" fmla="val 14000"/>
            </a:avLst>
          </a:prstGeom>
          <a:solidFill>
            <a:srgbClr val="E4EFF9"/>
          </a:solidFill>
          <a:ln w="1587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spcBef>
                <a:spcPts val="0"/>
              </a:spcBef>
              <a:spcAft>
                <a:spcPts val="0"/>
              </a:spcAft>
            </a:pPr>
            <a:r>
              <a:rPr sz="1550" b="1" i="0">
                <a:solidFill>
                  <a:srgbClr val="122A4F"/>
                </a:solidFill>
                <a:latin typeface="Calibri"/>
              </a:rPr>
              <a:t>1 000 photos de chiens</a:t>
            </a:r>
          </a:p>
          <a:p>
            <a:pPr algn="ctr">
              <a:lnSpc>
                <a:spcPct val="100000"/>
              </a:lnSpc>
              <a:spcBef>
                <a:spcPts val="300"/>
              </a:spcBef>
              <a:spcAft>
                <a:spcPts val="0"/>
              </a:spcAft>
            </a:pPr>
            <a:r>
              <a:rPr sz="1200" b="0" i="0">
                <a:solidFill>
                  <a:srgbClr val="5B6879"/>
                </a:solidFill>
                <a:latin typeface="Calibri"/>
              </a:rPr>
              <a:t>étiquetées « chien »</a:t>
            </a:r>
          </a:p>
        </p:txBody>
      </p:sp>
      <p:sp>
        <p:nvSpPr>
          <p:cNvPr id="12" name="TextBox 11"/>
          <p:cNvSpPr txBox="1"/>
          <p:nvPr/>
        </p:nvSpPr>
        <p:spPr>
          <a:xfrm>
            <a:off x="5902452" y="4499229"/>
            <a:ext cx="384048" cy="1298448"/>
          </a:xfrm>
          <a:prstGeom prst="rect">
            <a:avLst/>
          </a:prstGeom>
          <a:noFill/>
        </p:spPr>
        <p:txBody>
          <a:bodyPr wrap="none" anchor="ctr" lIns="0" rIns="0" tIns="0" bIns="0">
            <a:spAutoFit/>
          </a:bodyPr>
          <a:lstStyle/>
          <a:p>
            <a:pPr algn="ctr">
              <a:lnSpc>
                <a:spcPct val="100000"/>
              </a:lnSpc>
              <a:spcBef>
                <a:spcPts val="0"/>
              </a:spcBef>
              <a:spcAft>
                <a:spcPts val="0"/>
              </a:spcAft>
            </a:pPr>
            <a:r>
              <a:rPr sz="2100" b="1" i="0">
                <a:solidFill>
                  <a:srgbClr val="1F5C99"/>
                </a:solidFill>
                <a:latin typeface="Calibri"/>
              </a:rPr>
              <a:t>→</a:t>
            </a:r>
          </a:p>
        </p:txBody>
      </p:sp>
      <p:sp>
        <p:nvSpPr>
          <p:cNvPr id="13" name="Rounded Rectangle 12"/>
          <p:cNvSpPr/>
          <p:nvPr/>
        </p:nvSpPr>
        <p:spPr>
          <a:xfrm>
            <a:off x="6286500" y="4499229"/>
            <a:ext cx="2416302" cy="1298448"/>
          </a:xfrm>
          <a:prstGeom prst="roundRect">
            <a:avLst>
              <a:gd name="adj" fmla="val 14000"/>
            </a:avLst>
          </a:prstGeom>
          <a:solidFill>
            <a:srgbClr val="E4F5EC"/>
          </a:solidFill>
          <a:ln w="15875">
            <a:solidFill>
              <a:srgbClr val="1B7A5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spcBef>
                <a:spcPts val="0"/>
              </a:spcBef>
              <a:spcAft>
                <a:spcPts val="0"/>
              </a:spcAft>
            </a:pPr>
            <a:r>
              <a:rPr sz="1550" b="1" i="0">
                <a:solidFill>
                  <a:srgbClr val="0F4A32"/>
                </a:solidFill>
                <a:latin typeface="Calibri"/>
              </a:rPr>
              <a:t>Une photo nouvelle</a:t>
            </a:r>
          </a:p>
          <a:p>
            <a:pPr algn="ctr">
              <a:lnSpc>
                <a:spcPct val="100000"/>
              </a:lnSpc>
              <a:spcBef>
                <a:spcPts val="300"/>
              </a:spcBef>
              <a:spcAft>
                <a:spcPts val="0"/>
              </a:spcAft>
            </a:pPr>
            <a:r>
              <a:rPr sz="1200" b="0" i="0">
                <a:solidFill>
                  <a:srgbClr val="5B6879"/>
                </a:solidFill>
                <a:latin typeface="Calibri"/>
              </a:rPr>
              <a:t>jamais vue</a:t>
            </a:r>
          </a:p>
        </p:txBody>
      </p:sp>
      <p:sp>
        <p:nvSpPr>
          <p:cNvPr id="14" name="TextBox 13"/>
          <p:cNvSpPr txBox="1"/>
          <p:nvPr/>
        </p:nvSpPr>
        <p:spPr>
          <a:xfrm>
            <a:off x="8702802" y="4499229"/>
            <a:ext cx="384048" cy="1298448"/>
          </a:xfrm>
          <a:prstGeom prst="rect">
            <a:avLst/>
          </a:prstGeom>
          <a:noFill/>
        </p:spPr>
        <p:txBody>
          <a:bodyPr wrap="none" anchor="ctr" lIns="0" rIns="0" tIns="0" bIns="0">
            <a:spAutoFit/>
          </a:bodyPr>
          <a:lstStyle/>
          <a:p>
            <a:pPr algn="ctr">
              <a:lnSpc>
                <a:spcPct val="100000"/>
              </a:lnSpc>
              <a:spcBef>
                <a:spcPts val="0"/>
              </a:spcBef>
              <a:spcAft>
                <a:spcPts val="0"/>
              </a:spcAft>
            </a:pPr>
            <a:r>
              <a:rPr sz="2100" b="1" i="0">
                <a:solidFill>
                  <a:srgbClr val="1F5C99"/>
                </a:solidFill>
                <a:latin typeface="Calibri"/>
              </a:rPr>
              <a:t>→</a:t>
            </a:r>
          </a:p>
        </p:txBody>
      </p:sp>
      <p:sp>
        <p:nvSpPr>
          <p:cNvPr id="15" name="Rounded Rectangle 14"/>
          <p:cNvSpPr/>
          <p:nvPr/>
        </p:nvSpPr>
        <p:spPr>
          <a:xfrm>
            <a:off x="9086850" y="4499229"/>
            <a:ext cx="2416302" cy="1298448"/>
          </a:xfrm>
          <a:prstGeom prst="roundRect">
            <a:avLst>
              <a:gd name="adj" fmla="val 14000"/>
            </a:avLst>
          </a:prstGeom>
          <a:solidFill>
            <a:srgbClr val="FDF0DD"/>
          </a:solidFill>
          <a:ln w="15875">
            <a:solidFill>
              <a:srgbClr val="C26A0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spcBef>
                <a:spcPts val="0"/>
              </a:spcBef>
              <a:spcAft>
                <a:spcPts val="0"/>
              </a:spcAft>
            </a:pPr>
            <a:r>
              <a:rPr sz="1550" b="1" i="0">
                <a:solidFill>
                  <a:srgbClr val="7A4205"/>
                </a:solidFill>
                <a:latin typeface="Calibri"/>
              </a:rPr>
              <a:t>chat ou chien</a:t>
            </a:r>
          </a:p>
          <a:p>
            <a:pPr algn="ctr">
              <a:lnSpc>
                <a:spcPct val="100000"/>
              </a:lnSpc>
              <a:spcBef>
                <a:spcPts val="300"/>
              </a:spcBef>
              <a:spcAft>
                <a:spcPts val="0"/>
              </a:spcAft>
            </a:pPr>
            <a:r>
              <a:rPr sz="1200" b="0" i="0">
                <a:solidFill>
                  <a:srgbClr val="5B6879"/>
                </a:solidFill>
                <a:latin typeface="Calibri"/>
              </a:rPr>
              <a:t>la réponse</a:t>
            </a:r>
          </a:p>
        </p:txBody>
      </p:sp>
      <p:sp>
        <p:nvSpPr>
          <p:cNvPr id="16" name="Rectangle 15"/>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Q/R — Cours 01 · Introduction à l'IA   |   Dr. Madani BELACEL — Université de Mostaganem</a:t>
            </a:r>
          </a:p>
        </p:txBody>
      </p:sp>
      <p:sp>
        <p:nvSpPr>
          <p:cNvPr id="18" name="TextBox 17"/>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37744"/>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530352"/>
            <a:ext cx="1234440" cy="310896"/>
          </a:xfrm>
          <a:prstGeom prst="roundRect">
            <a:avLst>
              <a:gd name="adj" fmla="val 45000"/>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30352"/>
            <a:ext cx="1234440" cy="310896"/>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3</a:t>
            </a:r>
          </a:p>
        </p:txBody>
      </p:sp>
      <p:sp>
        <p:nvSpPr>
          <p:cNvPr id="5" name="TextBox 4"/>
          <p:cNvSpPr txBox="1"/>
          <p:nvPr/>
        </p:nvSpPr>
        <p:spPr>
          <a:xfrm>
            <a:off x="685800" y="969264"/>
            <a:ext cx="10835640" cy="640080"/>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22A4F"/>
                </a:solidFill>
                <a:latin typeface="Calibri"/>
              </a:rPr>
              <a:t>Deux familles d'IA : lui parler, ou coder avec elle</a:t>
            </a:r>
          </a:p>
        </p:txBody>
      </p:sp>
      <p:sp>
        <p:nvSpPr>
          <p:cNvPr id="6" name="Rectangle 5"/>
          <p:cNvSpPr/>
          <p:nvPr/>
        </p:nvSpPr>
        <p:spPr>
          <a:xfrm>
            <a:off x="685800" y="1956816"/>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2920" y="2048256"/>
            <a:ext cx="11183112" cy="2530855"/>
          </a:xfrm>
          <a:prstGeom prst="roundRect">
            <a:avLst>
              <a:gd name="adj" fmla="val 5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76272"/>
            <a:ext cx="10634472" cy="2219960"/>
          </a:xfrm>
          <a:prstGeom prst="rect">
            <a:avLst/>
          </a:prstGeom>
          <a:noFill/>
        </p:spPr>
        <p:txBody>
          <a:bodyPr wrap="square" lIns="0" rIns="0" tIns="0" bIns="0" anchor="t">
            <a:spAutoFit/>
          </a:bodyPr>
          <a:lstStyle/>
          <a:p>
            <a:pPr algn="l">
              <a:lnSpc>
                <a:spcPct val="115000"/>
              </a:lnSpc>
              <a:spcBef>
                <a:spcPts val="0"/>
              </a:spcBef>
              <a:spcAft>
                <a:spcPts val="0"/>
              </a:spcAft>
            </a:pPr>
            <a:r>
              <a:rPr sz="1900" b="0" i="0">
                <a:solidFill>
                  <a:srgbClr val="1B2433"/>
                </a:solidFill>
                <a:latin typeface="Calibri"/>
              </a:rPr>
              <a:t>Vous connaissez déjà deux familles d'IA très différentes sans être informaticien. D'un côté, les assistants de conversation — ChatGPT, Grok, DeepSeek — où vous écrivez une question en langue normale et vous obtenez une réponse rédigée, sans que rien ne soit touché sur votre ordinateur. De l'autre côté, les assistants de code — OpenCode, Cursor, GitHub Copilot — où l'IA travaille directement sur vos fichiers : elle peut les lire, en créer de nouveaux, les modifier, et analyser tout un dossier pour vous. Le premier aide à penser et à rédiger ; le second construit des logiciels avec vous, sur votre propre disque dur.</a:t>
            </a:r>
          </a:p>
        </p:txBody>
      </p:sp>
      <p:sp>
        <p:nvSpPr>
          <p:cNvPr id="9" name="Rounded Rectangle 8"/>
          <p:cNvSpPr/>
          <p:nvPr/>
        </p:nvSpPr>
        <p:spPr>
          <a:xfrm>
            <a:off x="685800" y="4776723"/>
            <a:ext cx="5216652" cy="1298448"/>
          </a:xfrm>
          <a:prstGeom prst="roundRect">
            <a:avLst>
              <a:gd name="adj" fmla="val 14000"/>
            </a:avLst>
          </a:prstGeom>
          <a:solidFill>
            <a:srgbClr val="E4EFF9"/>
          </a:solidFill>
          <a:ln w="1587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spcBef>
                <a:spcPts val="0"/>
              </a:spcBef>
              <a:spcAft>
                <a:spcPts val="0"/>
              </a:spcAft>
            </a:pPr>
            <a:r>
              <a:rPr sz="1550" b="1" i="0">
                <a:solidFill>
                  <a:srgbClr val="122A4F"/>
                </a:solidFill>
                <a:latin typeface="Calibri"/>
              </a:rPr>
              <a:t>Assistants de conversation</a:t>
            </a:r>
          </a:p>
          <a:p>
            <a:pPr algn="ctr">
              <a:lnSpc>
                <a:spcPct val="100000"/>
              </a:lnSpc>
              <a:spcBef>
                <a:spcPts val="300"/>
              </a:spcBef>
              <a:spcAft>
                <a:spcPts val="0"/>
              </a:spcAft>
            </a:pPr>
            <a:r>
              <a:rPr sz="1200" b="0" i="0">
                <a:solidFill>
                  <a:srgbClr val="5B6879"/>
                </a:solidFill>
                <a:latin typeface="Calibri"/>
              </a:rPr>
              <a:t>ChatGPT · Grok · DeepSeek
Vous écrivez → il répond en texte</a:t>
            </a:r>
          </a:p>
        </p:txBody>
      </p:sp>
      <p:sp>
        <p:nvSpPr>
          <p:cNvPr id="10" name="TextBox 9"/>
          <p:cNvSpPr txBox="1"/>
          <p:nvPr/>
        </p:nvSpPr>
        <p:spPr>
          <a:xfrm>
            <a:off x="5902452" y="4776723"/>
            <a:ext cx="384048" cy="1298448"/>
          </a:xfrm>
          <a:prstGeom prst="rect">
            <a:avLst/>
          </a:prstGeom>
          <a:noFill/>
        </p:spPr>
        <p:txBody>
          <a:bodyPr wrap="none" anchor="ctr" lIns="0" rIns="0" tIns="0" bIns="0">
            <a:spAutoFit/>
          </a:bodyPr>
          <a:lstStyle/>
          <a:p>
            <a:pPr algn="ctr">
              <a:lnSpc>
                <a:spcPct val="100000"/>
              </a:lnSpc>
              <a:spcBef>
                <a:spcPts val="0"/>
              </a:spcBef>
              <a:spcAft>
                <a:spcPts val="0"/>
              </a:spcAft>
            </a:pPr>
            <a:r>
              <a:rPr sz="2100" b="1" i="0">
                <a:solidFill>
                  <a:srgbClr val="1F5C99"/>
                </a:solidFill>
                <a:latin typeface="Calibri"/>
              </a:rPr>
              <a:t>|</a:t>
            </a:r>
          </a:p>
        </p:txBody>
      </p:sp>
      <p:sp>
        <p:nvSpPr>
          <p:cNvPr id="11" name="Rounded Rectangle 10"/>
          <p:cNvSpPr/>
          <p:nvPr/>
        </p:nvSpPr>
        <p:spPr>
          <a:xfrm>
            <a:off x="6286500" y="4776723"/>
            <a:ext cx="5216652" cy="1298448"/>
          </a:xfrm>
          <a:prstGeom prst="roundRect">
            <a:avLst>
              <a:gd name="adj" fmla="val 14000"/>
            </a:avLst>
          </a:prstGeom>
          <a:solidFill>
            <a:srgbClr val="FDF0DD"/>
          </a:solidFill>
          <a:ln w="15875">
            <a:solidFill>
              <a:srgbClr val="C26A0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spcBef>
                <a:spcPts val="0"/>
              </a:spcBef>
              <a:spcAft>
                <a:spcPts val="0"/>
              </a:spcAft>
            </a:pPr>
            <a:r>
              <a:rPr sz="1550" b="1" i="0">
                <a:solidFill>
                  <a:srgbClr val="7A4205"/>
                </a:solidFill>
                <a:latin typeface="Calibri"/>
              </a:rPr>
              <a:t>Assistants de code</a:t>
            </a:r>
          </a:p>
          <a:p>
            <a:pPr algn="ctr">
              <a:lnSpc>
                <a:spcPct val="100000"/>
              </a:lnSpc>
              <a:spcBef>
                <a:spcPts val="300"/>
              </a:spcBef>
              <a:spcAft>
                <a:spcPts val="0"/>
              </a:spcAft>
            </a:pPr>
            <a:r>
              <a:rPr sz="1200" b="0" i="0">
                <a:solidFill>
                  <a:srgbClr val="5B6879"/>
                </a:solidFill>
                <a:latin typeface="Calibri"/>
              </a:rPr>
              <a:t>OpenCode · Cursor · Copilot
Il lit, crée, modifie vos fichiers</a:t>
            </a:r>
          </a:p>
        </p:txBody>
      </p:sp>
      <p:sp>
        <p:nvSpPr>
          <p:cNvPr id="12" name="Rectangle 11"/>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Q/R — Cours 01 · Introduction à l'IA   |   Dr. Madani BELACEL — Université de Mostaganem</a:t>
            </a:r>
          </a:p>
        </p:txBody>
      </p:sp>
      <p:sp>
        <p:nvSpPr>
          <p:cNvPr id="14" name="TextBox 13"/>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37744"/>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530352"/>
            <a:ext cx="1234440" cy="310896"/>
          </a:xfrm>
          <a:prstGeom prst="roundRect">
            <a:avLst>
              <a:gd name="adj" fmla="val 45000"/>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30352"/>
            <a:ext cx="1234440" cy="310896"/>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4</a:t>
            </a:r>
          </a:p>
        </p:txBody>
      </p:sp>
      <p:sp>
        <p:nvSpPr>
          <p:cNvPr id="5" name="TextBox 4"/>
          <p:cNvSpPr txBox="1"/>
          <p:nvPr/>
        </p:nvSpPr>
        <p:spPr>
          <a:xfrm>
            <a:off x="685800" y="969264"/>
            <a:ext cx="10835640" cy="640080"/>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22A4F"/>
                </a:solidFill>
                <a:latin typeface="Calibri"/>
              </a:rPr>
              <a:t>Où rencontre-t-on l'IA ?</a:t>
            </a:r>
          </a:p>
        </p:txBody>
      </p:sp>
      <p:sp>
        <p:nvSpPr>
          <p:cNvPr id="6" name="Rectangle 5"/>
          <p:cNvSpPr/>
          <p:nvPr/>
        </p:nvSpPr>
        <p:spPr>
          <a:xfrm>
            <a:off x="685800" y="1956816"/>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2920" y="2048256"/>
            <a:ext cx="11183112" cy="1143380"/>
          </a:xfrm>
          <a:prstGeom prst="roundRect">
            <a:avLst>
              <a:gd name="adj" fmla="val 5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76272"/>
            <a:ext cx="10634472" cy="832485"/>
          </a:xfrm>
          <a:prstGeom prst="rect">
            <a:avLst/>
          </a:prstGeom>
          <a:noFill/>
        </p:spPr>
        <p:txBody>
          <a:bodyPr wrap="square" lIns="0" rIns="0" tIns="0" bIns="0" anchor="t">
            <a:spAutoFit/>
          </a:bodyPr>
          <a:lstStyle/>
          <a:p>
            <a:pPr algn="l">
              <a:lnSpc>
                <a:spcPct val="115000"/>
              </a:lnSpc>
              <a:spcBef>
                <a:spcPts val="0"/>
              </a:spcBef>
              <a:spcAft>
                <a:spcPts val="0"/>
              </a:spcAft>
            </a:pPr>
            <a:r>
              <a:rPr sz="1900" b="0" i="0">
                <a:solidFill>
                  <a:srgbClr val="1B2433"/>
                </a:solidFill>
                <a:latin typeface="Calibri"/>
              </a:rPr>
              <a:t>On rencontre l'IA partout : dans ton téléphone (photos, voix), dans ton courriel (anti-spam), sur les réseaux sociaux (recommandations), dans les cartes en ligne, dans la météo et même dans le diagnostic médical.</a:t>
            </a:r>
          </a:p>
        </p:txBody>
      </p:sp>
      <p:sp>
        <p:nvSpPr>
          <p:cNvPr id="9" name="Rounded Rectangle 8"/>
          <p:cNvSpPr/>
          <p:nvPr/>
        </p:nvSpPr>
        <p:spPr>
          <a:xfrm>
            <a:off x="685800" y="4082986"/>
            <a:ext cx="1665732" cy="1298448"/>
          </a:xfrm>
          <a:prstGeom prst="roundRect">
            <a:avLst>
              <a:gd name="adj" fmla="val 14000"/>
            </a:avLst>
          </a:prstGeom>
          <a:solidFill>
            <a:srgbClr val="E4EFF9"/>
          </a:solidFill>
          <a:ln w="1587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spcBef>
                <a:spcPts val="0"/>
              </a:spcBef>
              <a:spcAft>
                <a:spcPts val="0"/>
              </a:spcAft>
            </a:pPr>
            <a:r>
              <a:rPr sz="1250" b="1" i="0">
                <a:solidFill>
                  <a:srgbClr val="122A4F"/>
                </a:solidFill>
                <a:latin typeface="Calibri"/>
              </a:rPr>
              <a:t>Téléphone</a:t>
            </a:r>
          </a:p>
        </p:txBody>
      </p:sp>
      <p:sp>
        <p:nvSpPr>
          <p:cNvPr id="10" name="Rounded Rectangle 9"/>
          <p:cNvSpPr/>
          <p:nvPr/>
        </p:nvSpPr>
        <p:spPr>
          <a:xfrm>
            <a:off x="2516124" y="4082986"/>
            <a:ext cx="1665732" cy="1298448"/>
          </a:xfrm>
          <a:prstGeom prst="roundRect">
            <a:avLst>
              <a:gd name="adj" fmla="val 14000"/>
            </a:avLst>
          </a:prstGeom>
          <a:solidFill>
            <a:srgbClr val="E4EFF9"/>
          </a:solidFill>
          <a:ln w="1587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spcBef>
                <a:spcPts val="0"/>
              </a:spcBef>
              <a:spcAft>
                <a:spcPts val="0"/>
              </a:spcAft>
            </a:pPr>
            <a:r>
              <a:rPr sz="1250" b="1" i="0">
                <a:solidFill>
                  <a:srgbClr val="122A4F"/>
                </a:solidFill>
                <a:latin typeface="Calibri"/>
              </a:rPr>
              <a:t>Courriel</a:t>
            </a:r>
          </a:p>
        </p:txBody>
      </p:sp>
      <p:sp>
        <p:nvSpPr>
          <p:cNvPr id="11" name="Rounded Rectangle 10"/>
          <p:cNvSpPr/>
          <p:nvPr/>
        </p:nvSpPr>
        <p:spPr>
          <a:xfrm>
            <a:off x="4346448" y="4082986"/>
            <a:ext cx="1665732" cy="1298448"/>
          </a:xfrm>
          <a:prstGeom prst="roundRect">
            <a:avLst>
              <a:gd name="adj" fmla="val 14000"/>
            </a:avLst>
          </a:prstGeom>
          <a:solidFill>
            <a:srgbClr val="E4F5EC"/>
          </a:solidFill>
          <a:ln w="15875">
            <a:solidFill>
              <a:srgbClr val="1B7A5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spcBef>
                <a:spcPts val="0"/>
              </a:spcBef>
              <a:spcAft>
                <a:spcPts val="0"/>
              </a:spcAft>
            </a:pPr>
            <a:r>
              <a:rPr sz="1250" b="1" i="0">
                <a:solidFill>
                  <a:srgbClr val="0F4A32"/>
                </a:solidFill>
                <a:latin typeface="Calibri"/>
              </a:rPr>
              <a:t>Cartes</a:t>
            </a:r>
          </a:p>
        </p:txBody>
      </p:sp>
      <p:sp>
        <p:nvSpPr>
          <p:cNvPr id="12" name="Rounded Rectangle 11"/>
          <p:cNvSpPr/>
          <p:nvPr/>
        </p:nvSpPr>
        <p:spPr>
          <a:xfrm>
            <a:off x="6176771" y="4082986"/>
            <a:ext cx="1665732" cy="1298448"/>
          </a:xfrm>
          <a:prstGeom prst="roundRect">
            <a:avLst>
              <a:gd name="adj" fmla="val 14000"/>
            </a:avLst>
          </a:prstGeom>
          <a:solidFill>
            <a:srgbClr val="E4F5EC"/>
          </a:solidFill>
          <a:ln w="15875">
            <a:solidFill>
              <a:srgbClr val="1B7A5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spcBef>
                <a:spcPts val="0"/>
              </a:spcBef>
              <a:spcAft>
                <a:spcPts val="0"/>
              </a:spcAft>
            </a:pPr>
            <a:r>
              <a:rPr sz="1250" b="1" i="0">
                <a:solidFill>
                  <a:srgbClr val="0F4A32"/>
                </a:solidFill>
                <a:latin typeface="Calibri"/>
              </a:rPr>
              <a:t>Météo</a:t>
            </a:r>
          </a:p>
        </p:txBody>
      </p:sp>
      <p:sp>
        <p:nvSpPr>
          <p:cNvPr id="13" name="Rounded Rectangle 12"/>
          <p:cNvSpPr/>
          <p:nvPr/>
        </p:nvSpPr>
        <p:spPr>
          <a:xfrm>
            <a:off x="8007095" y="4082986"/>
            <a:ext cx="1665732" cy="1298448"/>
          </a:xfrm>
          <a:prstGeom prst="roundRect">
            <a:avLst>
              <a:gd name="adj" fmla="val 14000"/>
            </a:avLst>
          </a:prstGeom>
          <a:solidFill>
            <a:srgbClr val="FDF0DD"/>
          </a:solidFill>
          <a:ln w="15875">
            <a:solidFill>
              <a:srgbClr val="C26A0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spcBef>
                <a:spcPts val="0"/>
              </a:spcBef>
              <a:spcAft>
                <a:spcPts val="0"/>
              </a:spcAft>
            </a:pPr>
            <a:r>
              <a:rPr sz="1250" b="1" i="0">
                <a:solidFill>
                  <a:srgbClr val="7A4205"/>
                </a:solidFill>
                <a:latin typeface="Calibri"/>
              </a:rPr>
              <a:t>Streaming</a:t>
            </a:r>
          </a:p>
        </p:txBody>
      </p:sp>
      <p:sp>
        <p:nvSpPr>
          <p:cNvPr id="14" name="Rounded Rectangle 13"/>
          <p:cNvSpPr/>
          <p:nvPr/>
        </p:nvSpPr>
        <p:spPr>
          <a:xfrm>
            <a:off x="9837420" y="4082986"/>
            <a:ext cx="1665732" cy="1298448"/>
          </a:xfrm>
          <a:prstGeom prst="roundRect">
            <a:avLst>
              <a:gd name="adj" fmla="val 14000"/>
            </a:avLst>
          </a:prstGeom>
          <a:solidFill>
            <a:srgbClr val="FDF0DD"/>
          </a:solidFill>
          <a:ln w="15875">
            <a:solidFill>
              <a:srgbClr val="C26A0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spcBef>
                <a:spcPts val="0"/>
              </a:spcBef>
              <a:spcAft>
                <a:spcPts val="0"/>
              </a:spcAft>
            </a:pPr>
            <a:r>
              <a:rPr sz="1250" b="1" i="0">
                <a:solidFill>
                  <a:srgbClr val="7A4205"/>
                </a:solidFill>
                <a:latin typeface="Calibri"/>
              </a:rPr>
              <a:t>Médecine</a:t>
            </a:r>
          </a:p>
        </p:txBody>
      </p:sp>
      <p:sp>
        <p:nvSpPr>
          <p:cNvPr id="15" name="Rectangle 14"/>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Q/R — Cours 01 · Introduction à l'IA   |   Dr. Madani BELACEL — Université de Mostaganem</a:t>
            </a:r>
          </a:p>
        </p:txBody>
      </p:sp>
      <p:sp>
        <p:nvSpPr>
          <p:cNvPr id="17" name="TextBox 16"/>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37744"/>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530352"/>
            <a:ext cx="1234440" cy="310896"/>
          </a:xfrm>
          <a:prstGeom prst="roundRect">
            <a:avLst>
              <a:gd name="adj" fmla="val 45000"/>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30352"/>
            <a:ext cx="1234440" cy="310896"/>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5</a:t>
            </a:r>
          </a:p>
        </p:txBody>
      </p:sp>
      <p:sp>
        <p:nvSpPr>
          <p:cNvPr id="5" name="TextBox 4"/>
          <p:cNvSpPr txBox="1"/>
          <p:nvPr/>
        </p:nvSpPr>
        <p:spPr>
          <a:xfrm>
            <a:off x="685800" y="969264"/>
            <a:ext cx="10835640" cy="640080"/>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22A4F"/>
                </a:solidFill>
                <a:latin typeface="Calibri"/>
              </a:rPr>
              <a:t>Pourquoi l'IA est-elle possible aujourd'hui ?</a:t>
            </a:r>
          </a:p>
        </p:txBody>
      </p:sp>
      <p:sp>
        <p:nvSpPr>
          <p:cNvPr id="6" name="Rectangle 5"/>
          <p:cNvSpPr/>
          <p:nvPr/>
        </p:nvSpPr>
        <p:spPr>
          <a:xfrm>
            <a:off x="685800" y="1956816"/>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2920" y="2048256"/>
            <a:ext cx="11183112" cy="865885"/>
          </a:xfrm>
          <a:prstGeom prst="roundRect">
            <a:avLst>
              <a:gd name="adj" fmla="val 5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76272"/>
            <a:ext cx="10634472" cy="554990"/>
          </a:xfrm>
          <a:prstGeom prst="rect">
            <a:avLst/>
          </a:prstGeom>
          <a:noFill/>
        </p:spPr>
        <p:txBody>
          <a:bodyPr wrap="square" lIns="0" rIns="0" tIns="0" bIns="0" anchor="t">
            <a:spAutoFit/>
          </a:bodyPr>
          <a:lstStyle/>
          <a:p>
            <a:pPr algn="l">
              <a:lnSpc>
                <a:spcPct val="115000"/>
              </a:lnSpc>
              <a:spcBef>
                <a:spcPts val="0"/>
              </a:spcBef>
              <a:spcAft>
                <a:spcPts val="0"/>
              </a:spcAft>
            </a:pPr>
            <a:r>
              <a:rPr sz="1900" b="0" i="0">
                <a:solidFill>
                  <a:srgbClr val="1B2433"/>
                </a:solidFill>
                <a:latin typeface="Calibri"/>
              </a:rPr>
              <a:t>L'IA est devenue possible grâce à trois choses : beaucoup de données (photos, textes, vidéos), des ordinateurs très puissants et de meilleurs algorithmes.</a:t>
            </a:r>
          </a:p>
        </p:txBody>
      </p:sp>
      <p:sp>
        <p:nvSpPr>
          <p:cNvPr id="9" name="Rounded Rectangle 8"/>
          <p:cNvSpPr/>
          <p:nvPr/>
        </p:nvSpPr>
        <p:spPr>
          <a:xfrm>
            <a:off x="685800" y="3944238"/>
            <a:ext cx="2416302" cy="1298448"/>
          </a:xfrm>
          <a:prstGeom prst="roundRect">
            <a:avLst>
              <a:gd name="adj" fmla="val 14000"/>
            </a:avLst>
          </a:prstGeom>
          <a:solidFill>
            <a:srgbClr val="E4EFF9"/>
          </a:solidFill>
          <a:ln w="1587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spcBef>
                <a:spcPts val="0"/>
              </a:spcBef>
              <a:spcAft>
                <a:spcPts val="0"/>
              </a:spcAft>
            </a:pPr>
            <a:r>
              <a:rPr sz="1550" b="1" i="0">
                <a:solidFill>
                  <a:srgbClr val="122A4F"/>
                </a:solidFill>
                <a:latin typeface="Calibri"/>
              </a:rPr>
              <a:t>Plus de données</a:t>
            </a:r>
          </a:p>
          <a:p>
            <a:pPr algn="ctr">
              <a:lnSpc>
                <a:spcPct val="100000"/>
              </a:lnSpc>
              <a:spcBef>
                <a:spcPts val="300"/>
              </a:spcBef>
              <a:spcAft>
                <a:spcPts val="0"/>
              </a:spcAft>
            </a:pPr>
            <a:r>
              <a:rPr sz="1200" b="0" i="0">
                <a:solidFill>
                  <a:srgbClr val="5B6879"/>
                </a:solidFill>
                <a:latin typeface="Calibri"/>
              </a:rPr>
              <a:t>sur Internet</a:t>
            </a:r>
          </a:p>
        </p:txBody>
      </p:sp>
      <p:sp>
        <p:nvSpPr>
          <p:cNvPr id="10" name="TextBox 9"/>
          <p:cNvSpPr txBox="1"/>
          <p:nvPr/>
        </p:nvSpPr>
        <p:spPr>
          <a:xfrm>
            <a:off x="3102102" y="3944238"/>
            <a:ext cx="384048" cy="1298448"/>
          </a:xfrm>
          <a:prstGeom prst="rect">
            <a:avLst/>
          </a:prstGeom>
          <a:noFill/>
        </p:spPr>
        <p:txBody>
          <a:bodyPr wrap="none" anchor="ctr" lIns="0" rIns="0" tIns="0" bIns="0">
            <a:spAutoFit/>
          </a:bodyPr>
          <a:lstStyle/>
          <a:p>
            <a:pPr algn="ctr">
              <a:lnSpc>
                <a:spcPct val="100000"/>
              </a:lnSpc>
              <a:spcBef>
                <a:spcPts val="0"/>
              </a:spcBef>
              <a:spcAft>
                <a:spcPts val="0"/>
              </a:spcAft>
            </a:pPr>
            <a:r>
              <a:rPr sz="2100" b="1" i="0">
                <a:solidFill>
                  <a:srgbClr val="1F5C99"/>
                </a:solidFill>
                <a:latin typeface="Calibri"/>
              </a:rPr>
              <a:t>+</a:t>
            </a:r>
          </a:p>
        </p:txBody>
      </p:sp>
      <p:sp>
        <p:nvSpPr>
          <p:cNvPr id="11" name="Rounded Rectangle 10"/>
          <p:cNvSpPr/>
          <p:nvPr/>
        </p:nvSpPr>
        <p:spPr>
          <a:xfrm>
            <a:off x="3486150" y="3944238"/>
            <a:ext cx="2416302" cy="1298448"/>
          </a:xfrm>
          <a:prstGeom prst="roundRect">
            <a:avLst>
              <a:gd name="adj" fmla="val 14000"/>
            </a:avLst>
          </a:prstGeom>
          <a:solidFill>
            <a:srgbClr val="E4EFF9"/>
          </a:solidFill>
          <a:ln w="1587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spcBef>
                <a:spcPts val="0"/>
              </a:spcBef>
              <a:spcAft>
                <a:spcPts val="0"/>
              </a:spcAft>
            </a:pPr>
            <a:r>
              <a:rPr sz="1550" b="1" i="0">
                <a:solidFill>
                  <a:srgbClr val="122A4F"/>
                </a:solidFill>
                <a:latin typeface="Calibri"/>
              </a:rPr>
              <a:t>Plus de puissance</a:t>
            </a:r>
          </a:p>
          <a:p>
            <a:pPr algn="ctr">
              <a:lnSpc>
                <a:spcPct val="100000"/>
              </a:lnSpc>
              <a:spcBef>
                <a:spcPts val="300"/>
              </a:spcBef>
              <a:spcAft>
                <a:spcPts val="0"/>
              </a:spcAft>
            </a:pPr>
            <a:r>
              <a:rPr sz="1200" b="0" i="0">
                <a:solidFill>
                  <a:srgbClr val="5B6879"/>
                </a:solidFill>
                <a:latin typeface="Calibri"/>
              </a:rPr>
              <a:t>GPU, serveurs abordables</a:t>
            </a:r>
          </a:p>
        </p:txBody>
      </p:sp>
      <p:sp>
        <p:nvSpPr>
          <p:cNvPr id="12" name="TextBox 11"/>
          <p:cNvSpPr txBox="1"/>
          <p:nvPr/>
        </p:nvSpPr>
        <p:spPr>
          <a:xfrm>
            <a:off x="5902452" y="3944238"/>
            <a:ext cx="384048" cy="1298448"/>
          </a:xfrm>
          <a:prstGeom prst="rect">
            <a:avLst/>
          </a:prstGeom>
          <a:noFill/>
        </p:spPr>
        <p:txBody>
          <a:bodyPr wrap="none" anchor="ctr" lIns="0" rIns="0" tIns="0" bIns="0">
            <a:spAutoFit/>
          </a:bodyPr>
          <a:lstStyle/>
          <a:p>
            <a:pPr algn="ctr">
              <a:lnSpc>
                <a:spcPct val="100000"/>
              </a:lnSpc>
              <a:spcBef>
                <a:spcPts val="0"/>
              </a:spcBef>
              <a:spcAft>
                <a:spcPts val="0"/>
              </a:spcAft>
            </a:pPr>
            <a:r>
              <a:rPr sz="2100" b="1" i="0">
                <a:solidFill>
                  <a:srgbClr val="1F5C99"/>
                </a:solidFill>
                <a:latin typeface="Calibri"/>
              </a:rPr>
              <a:t>+</a:t>
            </a:r>
          </a:p>
        </p:txBody>
      </p:sp>
      <p:sp>
        <p:nvSpPr>
          <p:cNvPr id="13" name="Rounded Rectangle 12"/>
          <p:cNvSpPr/>
          <p:nvPr/>
        </p:nvSpPr>
        <p:spPr>
          <a:xfrm>
            <a:off x="6286500" y="3944238"/>
            <a:ext cx="2416302" cy="1298448"/>
          </a:xfrm>
          <a:prstGeom prst="roundRect">
            <a:avLst>
              <a:gd name="adj" fmla="val 14000"/>
            </a:avLst>
          </a:prstGeom>
          <a:solidFill>
            <a:srgbClr val="E4EFF9"/>
          </a:solidFill>
          <a:ln w="1587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spcBef>
                <a:spcPts val="0"/>
              </a:spcBef>
              <a:spcAft>
                <a:spcPts val="0"/>
              </a:spcAft>
            </a:pPr>
            <a:r>
              <a:rPr sz="1550" b="1" i="0">
                <a:solidFill>
                  <a:srgbClr val="122A4F"/>
                </a:solidFill>
                <a:latin typeface="Calibri"/>
              </a:rPr>
              <a:t>De meilleurs outils</a:t>
            </a:r>
          </a:p>
          <a:p>
            <a:pPr algn="ctr">
              <a:lnSpc>
                <a:spcPct val="100000"/>
              </a:lnSpc>
              <a:spcBef>
                <a:spcPts val="300"/>
              </a:spcBef>
              <a:spcAft>
                <a:spcPts val="0"/>
              </a:spcAft>
            </a:pPr>
            <a:r>
              <a:rPr sz="1200" b="0" i="0">
                <a:solidFill>
                  <a:srgbClr val="5B6879"/>
                </a:solidFill>
                <a:latin typeface="Calibri"/>
              </a:rPr>
              <a:t>gratuits, dans le navigateur</a:t>
            </a:r>
          </a:p>
        </p:txBody>
      </p:sp>
      <p:sp>
        <p:nvSpPr>
          <p:cNvPr id="14" name="TextBox 13"/>
          <p:cNvSpPr txBox="1"/>
          <p:nvPr/>
        </p:nvSpPr>
        <p:spPr>
          <a:xfrm>
            <a:off x="8702802" y="3944238"/>
            <a:ext cx="384048" cy="1298448"/>
          </a:xfrm>
          <a:prstGeom prst="rect">
            <a:avLst/>
          </a:prstGeom>
          <a:noFill/>
        </p:spPr>
        <p:txBody>
          <a:bodyPr wrap="none" anchor="ctr" lIns="0" rIns="0" tIns="0" bIns="0">
            <a:spAutoFit/>
          </a:bodyPr>
          <a:lstStyle/>
          <a:p>
            <a:pPr algn="ctr">
              <a:lnSpc>
                <a:spcPct val="100000"/>
              </a:lnSpc>
              <a:spcBef>
                <a:spcPts val="0"/>
              </a:spcBef>
              <a:spcAft>
                <a:spcPts val="0"/>
              </a:spcAft>
            </a:pPr>
            <a:r>
              <a:rPr sz="2100" b="1" i="0">
                <a:solidFill>
                  <a:srgbClr val="1F5C99"/>
                </a:solidFill>
                <a:latin typeface="Calibri"/>
              </a:rPr>
              <a:t>→</a:t>
            </a:r>
          </a:p>
        </p:txBody>
      </p:sp>
      <p:sp>
        <p:nvSpPr>
          <p:cNvPr id="15" name="Rounded Rectangle 14"/>
          <p:cNvSpPr/>
          <p:nvPr/>
        </p:nvSpPr>
        <p:spPr>
          <a:xfrm>
            <a:off x="9086850" y="3944238"/>
            <a:ext cx="2416302" cy="1298448"/>
          </a:xfrm>
          <a:prstGeom prst="roundRect">
            <a:avLst>
              <a:gd name="adj" fmla="val 14000"/>
            </a:avLst>
          </a:prstGeom>
          <a:solidFill>
            <a:srgbClr val="FDF0DD"/>
          </a:solidFill>
          <a:ln w="15875">
            <a:solidFill>
              <a:srgbClr val="C26A0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spcBef>
                <a:spcPts val="0"/>
              </a:spcBef>
              <a:spcAft>
                <a:spcPts val="0"/>
              </a:spcAft>
            </a:pPr>
            <a:r>
              <a:rPr sz="1550" b="1" i="0">
                <a:solidFill>
                  <a:srgbClr val="7A4205"/>
                </a:solidFill>
                <a:latin typeface="Calibri"/>
              </a:rPr>
              <a:t>L'IA pour tous</a:t>
            </a:r>
          </a:p>
        </p:txBody>
      </p:sp>
      <p:sp>
        <p:nvSpPr>
          <p:cNvPr id="16" name="Rectangle 15"/>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Q/R — Cours 01 · Introduction à l'IA   |   Dr. Madani BELACEL — Université de Mostaganem</a:t>
            </a:r>
          </a:p>
        </p:txBody>
      </p:sp>
      <p:sp>
        <p:nvSpPr>
          <p:cNvPr id="18" name="TextBox 17"/>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37744"/>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530352"/>
            <a:ext cx="1234440" cy="310896"/>
          </a:xfrm>
          <a:prstGeom prst="roundRect">
            <a:avLst>
              <a:gd name="adj" fmla="val 45000"/>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30352"/>
            <a:ext cx="1234440" cy="310896"/>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6</a:t>
            </a:r>
          </a:p>
        </p:txBody>
      </p:sp>
      <p:sp>
        <p:nvSpPr>
          <p:cNvPr id="5" name="TextBox 4"/>
          <p:cNvSpPr txBox="1"/>
          <p:nvPr/>
        </p:nvSpPr>
        <p:spPr>
          <a:xfrm>
            <a:off x="685800" y="969264"/>
            <a:ext cx="10835640" cy="640080"/>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22A4F"/>
                </a:solidFill>
                <a:latin typeface="Calibri"/>
              </a:rPr>
              <a:t>Le rôle des données</a:t>
            </a:r>
          </a:p>
        </p:txBody>
      </p:sp>
      <p:sp>
        <p:nvSpPr>
          <p:cNvPr id="6" name="Rectangle 5"/>
          <p:cNvSpPr/>
          <p:nvPr/>
        </p:nvSpPr>
        <p:spPr>
          <a:xfrm>
            <a:off x="685800" y="1956816"/>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2920" y="2048256"/>
            <a:ext cx="11183112" cy="865885"/>
          </a:xfrm>
          <a:prstGeom prst="roundRect">
            <a:avLst>
              <a:gd name="adj" fmla="val 5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76272"/>
            <a:ext cx="10634472" cy="554990"/>
          </a:xfrm>
          <a:prstGeom prst="rect">
            <a:avLst/>
          </a:prstGeom>
          <a:noFill/>
        </p:spPr>
        <p:txBody>
          <a:bodyPr wrap="square" lIns="0" rIns="0" tIns="0" bIns="0" anchor="t">
            <a:spAutoFit/>
          </a:bodyPr>
          <a:lstStyle/>
          <a:p>
            <a:pPr algn="l">
              <a:lnSpc>
                <a:spcPct val="115000"/>
              </a:lnSpc>
              <a:spcBef>
                <a:spcPts val="0"/>
              </a:spcBef>
              <a:spcAft>
                <a:spcPts val="0"/>
              </a:spcAft>
            </a:pPr>
            <a:r>
              <a:rPr sz="1900" b="0" i="0">
                <a:solidFill>
                  <a:srgbClr val="1B2433"/>
                </a:solidFill>
                <a:latin typeface="Calibri"/>
              </a:rPr>
              <a:t>L'IA a besoin d'exemples pour apprendre. Si on montre 1000 photos de chats et 1000 photos de chiens, l'IA apprend à les distinguer. Pas de données, pas d'IA.</a:t>
            </a:r>
          </a:p>
        </p:txBody>
      </p:sp>
      <p:sp>
        <p:nvSpPr>
          <p:cNvPr id="9" name="Rounded Rectangle 8"/>
          <p:cNvSpPr/>
          <p:nvPr/>
        </p:nvSpPr>
        <p:spPr>
          <a:xfrm>
            <a:off x="685800" y="3743071"/>
            <a:ext cx="5216652" cy="786384"/>
          </a:xfrm>
          <a:prstGeom prst="roundRect">
            <a:avLst>
              <a:gd name="adj" fmla="val 14000"/>
            </a:avLst>
          </a:prstGeom>
          <a:solidFill>
            <a:srgbClr val="E4F5EC"/>
          </a:solidFill>
          <a:ln w="15875">
            <a:solidFill>
              <a:srgbClr val="1B7A5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spcBef>
                <a:spcPts val="0"/>
              </a:spcBef>
              <a:spcAft>
                <a:spcPts val="0"/>
              </a:spcAft>
            </a:pPr>
            <a:r>
              <a:rPr sz="1550" b="1" i="0">
                <a:solidFill>
                  <a:srgbClr val="0F4A32"/>
                </a:solidFill>
                <a:latin typeface="Calibri"/>
              </a:rPr>
              <a:t>Peu mais propres</a:t>
            </a:r>
          </a:p>
          <a:p>
            <a:pPr algn="ctr">
              <a:lnSpc>
                <a:spcPct val="100000"/>
              </a:lnSpc>
              <a:spcBef>
                <a:spcPts val="300"/>
              </a:spcBef>
              <a:spcAft>
                <a:spcPts val="0"/>
              </a:spcAft>
            </a:pPr>
            <a:r>
              <a:rPr sz="1200" b="0" i="0">
                <a:solidFill>
                  <a:srgbClr val="5B6879"/>
                </a:solidFill>
                <a:latin typeface="Calibri"/>
              </a:rPr>
              <a:t>500 bons exemples</a:t>
            </a:r>
          </a:p>
        </p:txBody>
      </p:sp>
      <p:sp>
        <p:nvSpPr>
          <p:cNvPr id="10" name="TextBox 9"/>
          <p:cNvSpPr txBox="1"/>
          <p:nvPr/>
        </p:nvSpPr>
        <p:spPr>
          <a:xfrm>
            <a:off x="5902452" y="3743071"/>
            <a:ext cx="384048" cy="786384"/>
          </a:xfrm>
          <a:prstGeom prst="rect">
            <a:avLst/>
          </a:prstGeom>
          <a:noFill/>
        </p:spPr>
        <p:txBody>
          <a:bodyPr wrap="none" anchor="ctr" lIns="0" rIns="0" tIns="0" bIns="0">
            <a:spAutoFit/>
          </a:bodyPr>
          <a:lstStyle/>
          <a:p>
            <a:pPr algn="ctr">
              <a:lnSpc>
                <a:spcPct val="100000"/>
              </a:lnSpc>
              <a:spcBef>
                <a:spcPts val="0"/>
              </a:spcBef>
              <a:spcAft>
                <a:spcPts val="0"/>
              </a:spcAft>
            </a:pPr>
            <a:r>
              <a:rPr sz="2100" b="1" i="0">
                <a:solidFill>
                  <a:srgbClr val="1F5C99"/>
                </a:solidFill>
                <a:latin typeface="Calibri"/>
              </a:rPr>
              <a:t>→</a:t>
            </a:r>
          </a:p>
        </p:txBody>
      </p:sp>
      <p:sp>
        <p:nvSpPr>
          <p:cNvPr id="11" name="Rounded Rectangle 10"/>
          <p:cNvSpPr/>
          <p:nvPr/>
        </p:nvSpPr>
        <p:spPr>
          <a:xfrm>
            <a:off x="6286500" y="3743071"/>
            <a:ext cx="5216652" cy="786384"/>
          </a:xfrm>
          <a:prstGeom prst="roundRect">
            <a:avLst>
              <a:gd name="adj" fmla="val 14000"/>
            </a:avLst>
          </a:prstGeom>
          <a:solidFill>
            <a:srgbClr val="E4F5EC"/>
          </a:solidFill>
          <a:ln w="15875">
            <a:solidFill>
              <a:srgbClr val="1B7A5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spcBef>
                <a:spcPts val="0"/>
              </a:spcBef>
              <a:spcAft>
                <a:spcPts val="0"/>
              </a:spcAft>
            </a:pPr>
            <a:r>
              <a:rPr sz="1550" b="1" i="0">
                <a:solidFill>
                  <a:srgbClr val="0F4A32"/>
                </a:solidFill>
                <a:latin typeface="Calibri"/>
              </a:rPr>
              <a:t>Réponse fiable</a:t>
            </a:r>
          </a:p>
        </p:txBody>
      </p:sp>
      <p:sp>
        <p:nvSpPr>
          <p:cNvPr id="12" name="Rounded Rectangle 11"/>
          <p:cNvSpPr/>
          <p:nvPr/>
        </p:nvSpPr>
        <p:spPr>
          <a:xfrm>
            <a:off x="685800" y="4657471"/>
            <a:ext cx="5216652" cy="786384"/>
          </a:xfrm>
          <a:prstGeom prst="roundRect">
            <a:avLst>
              <a:gd name="adj" fmla="val 14000"/>
            </a:avLst>
          </a:prstGeom>
          <a:solidFill>
            <a:srgbClr val="FDF0DD"/>
          </a:solidFill>
          <a:ln w="15875">
            <a:solidFill>
              <a:srgbClr val="C26A0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spcBef>
                <a:spcPts val="0"/>
              </a:spcBef>
              <a:spcAft>
                <a:spcPts val="0"/>
              </a:spcAft>
            </a:pPr>
            <a:r>
              <a:rPr sz="1550" b="1" i="0">
                <a:solidFill>
                  <a:srgbClr val="7A4205"/>
                </a:solidFill>
                <a:latin typeface="Calibri"/>
              </a:rPr>
              <a:t>Beaucoup mais sales</a:t>
            </a:r>
          </a:p>
          <a:p>
            <a:pPr algn="ctr">
              <a:lnSpc>
                <a:spcPct val="100000"/>
              </a:lnSpc>
              <a:spcBef>
                <a:spcPts val="300"/>
              </a:spcBef>
              <a:spcAft>
                <a:spcPts val="0"/>
              </a:spcAft>
            </a:pPr>
            <a:r>
              <a:rPr sz="1200" b="0" i="0">
                <a:solidFill>
                  <a:srgbClr val="5B6879"/>
                </a:solidFill>
                <a:latin typeface="Calibri"/>
              </a:rPr>
              <a:t>10 000, la moitié mal étiquetée</a:t>
            </a:r>
          </a:p>
        </p:txBody>
      </p:sp>
      <p:sp>
        <p:nvSpPr>
          <p:cNvPr id="13" name="TextBox 12"/>
          <p:cNvSpPr txBox="1"/>
          <p:nvPr/>
        </p:nvSpPr>
        <p:spPr>
          <a:xfrm>
            <a:off x="5902452" y="4657471"/>
            <a:ext cx="384048" cy="786384"/>
          </a:xfrm>
          <a:prstGeom prst="rect">
            <a:avLst/>
          </a:prstGeom>
          <a:noFill/>
        </p:spPr>
        <p:txBody>
          <a:bodyPr wrap="none" anchor="ctr" lIns="0" rIns="0" tIns="0" bIns="0">
            <a:spAutoFit/>
          </a:bodyPr>
          <a:lstStyle/>
          <a:p>
            <a:pPr algn="ctr">
              <a:lnSpc>
                <a:spcPct val="100000"/>
              </a:lnSpc>
              <a:spcBef>
                <a:spcPts val="0"/>
              </a:spcBef>
              <a:spcAft>
                <a:spcPts val="0"/>
              </a:spcAft>
            </a:pPr>
            <a:r>
              <a:rPr sz="2100" b="1" i="0">
                <a:solidFill>
                  <a:srgbClr val="1F5C99"/>
                </a:solidFill>
                <a:latin typeface="Calibri"/>
              </a:rPr>
              <a:t>→</a:t>
            </a:r>
          </a:p>
        </p:txBody>
      </p:sp>
      <p:sp>
        <p:nvSpPr>
          <p:cNvPr id="14" name="Rounded Rectangle 13"/>
          <p:cNvSpPr/>
          <p:nvPr/>
        </p:nvSpPr>
        <p:spPr>
          <a:xfrm>
            <a:off x="6286500" y="4657471"/>
            <a:ext cx="5216652" cy="786384"/>
          </a:xfrm>
          <a:prstGeom prst="roundRect">
            <a:avLst>
              <a:gd name="adj" fmla="val 14000"/>
            </a:avLst>
          </a:prstGeom>
          <a:solidFill>
            <a:srgbClr val="FFFFFF"/>
          </a:solidFill>
          <a:ln w="15875">
            <a:solidFill>
              <a:srgbClr val="5B687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spcBef>
                <a:spcPts val="0"/>
              </a:spcBef>
              <a:spcAft>
                <a:spcPts val="0"/>
              </a:spcAft>
            </a:pPr>
            <a:r>
              <a:rPr sz="1550" b="1" i="0">
                <a:solidFill>
                  <a:srgbClr val="5B6879"/>
                </a:solidFill>
                <a:latin typeface="Calibri"/>
              </a:rPr>
              <a:t>Réponse confuse</a:t>
            </a:r>
          </a:p>
        </p:txBody>
      </p:sp>
      <p:sp>
        <p:nvSpPr>
          <p:cNvPr id="15" name="Rectangle 14"/>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Q/R — Cours 01 · Introduction à l'IA   |   Dr. Madani BELACEL — Université de Mostaganem</a:t>
            </a:r>
          </a:p>
        </p:txBody>
      </p:sp>
      <p:sp>
        <p:nvSpPr>
          <p:cNvPr id="17" name="TextBox 16"/>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37744"/>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530352"/>
            <a:ext cx="1234440" cy="310896"/>
          </a:xfrm>
          <a:prstGeom prst="roundRect">
            <a:avLst>
              <a:gd name="adj" fmla="val 45000"/>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30352"/>
            <a:ext cx="1234440" cy="310896"/>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7</a:t>
            </a:r>
          </a:p>
        </p:txBody>
      </p:sp>
      <p:sp>
        <p:nvSpPr>
          <p:cNvPr id="5" name="TextBox 4"/>
          <p:cNvSpPr txBox="1"/>
          <p:nvPr/>
        </p:nvSpPr>
        <p:spPr>
          <a:xfrm>
            <a:off x="685800" y="969264"/>
            <a:ext cx="10835640" cy="640080"/>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22A4F"/>
                </a:solidFill>
                <a:latin typeface="Calibri"/>
              </a:rPr>
              <a:t>L'IA dans l'éducation</a:t>
            </a:r>
          </a:p>
        </p:txBody>
      </p:sp>
      <p:sp>
        <p:nvSpPr>
          <p:cNvPr id="6" name="Rectangle 5"/>
          <p:cNvSpPr/>
          <p:nvPr/>
        </p:nvSpPr>
        <p:spPr>
          <a:xfrm>
            <a:off x="685800" y="1956816"/>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2920" y="2048256"/>
            <a:ext cx="11183112" cy="865885"/>
          </a:xfrm>
          <a:prstGeom prst="roundRect">
            <a:avLst>
              <a:gd name="adj" fmla="val 5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76272"/>
            <a:ext cx="10634472" cy="554990"/>
          </a:xfrm>
          <a:prstGeom prst="rect">
            <a:avLst/>
          </a:prstGeom>
          <a:noFill/>
        </p:spPr>
        <p:txBody>
          <a:bodyPr wrap="square" lIns="0" rIns="0" tIns="0" bIns="0" anchor="t">
            <a:spAutoFit/>
          </a:bodyPr>
          <a:lstStyle/>
          <a:p>
            <a:pPr algn="l">
              <a:lnSpc>
                <a:spcPct val="115000"/>
              </a:lnSpc>
              <a:spcBef>
                <a:spcPts val="0"/>
              </a:spcBef>
              <a:spcAft>
                <a:spcPts val="0"/>
              </a:spcAft>
            </a:pPr>
            <a:r>
              <a:rPr sz="1900" b="0" i="0">
                <a:solidFill>
                  <a:srgbClr val="1B2433"/>
                </a:solidFill>
                <a:latin typeface="Calibri"/>
              </a:rPr>
              <a:t>L'IA aide les étudiants : elle traduit, corrige la grammaire, explique les exercices, crée des exercices et aide les enseignants à gagner du temps.</a:t>
            </a:r>
          </a:p>
        </p:txBody>
      </p:sp>
      <p:sp>
        <p:nvSpPr>
          <p:cNvPr id="9" name="Rounded Rectangle 8"/>
          <p:cNvSpPr/>
          <p:nvPr/>
        </p:nvSpPr>
        <p:spPr>
          <a:xfrm>
            <a:off x="685800" y="3944238"/>
            <a:ext cx="2416302" cy="1298448"/>
          </a:xfrm>
          <a:prstGeom prst="roundRect">
            <a:avLst>
              <a:gd name="adj" fmla="val 14000"/>
            </a:avLst>
          </a:prstGeom>
          <a:solidFill>
            <a:srgbClr val="E4EFF9"/>
          </a:solidFill>
          <a:ln w="1587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spcBef>
                <a:spcPts val="0"/>
              </a:spcBef>
              <a:spcAft>
                <a:spcPts val="0"/>
              </a:spcAft>
            </a:pPr>
            <a:r>
              <a:rPr sz="1550" b="1" i="0">
                <a:solidFill>
                  <a:srgbClr val="122A4F"/>
                </a:solidFill>
                <a:latin typeface="Calibri"/>
              </a:rPr>
              <a:t>Préparer</a:t>
            </a:r>
          </a:p>
          <a:p>
            <a:pPr algn="ctr">
              <a:lnSpc>
                <a:spcPct val="100000"/>
              </a:lnSpc>
              <a:spcBef>
                <a:spcPts val="300"/>
              </a:spcBef>
              <a:spcAft>
                <a:spcPts val="0"/>
              </a:spcAft>
            </a:pPr>
            <a:r>
              <a:rPr sz="1200" b="0" i="0">
                <a:solidFill>
                  <a:srgbClr val="5B6879"/>
                </a:solidFill>
                <a:latin typeface="Calibri"/>
              </a:rPr>
              <a:t>résumé, plan</a:t>
            </a:r>
          </a:p>
        </p:txBody>
      </p:sp>
      <p:sp>
        <p:nvSpPr>
          <p:cNvPr id="10" name="TextBox 9"/>
          <p:cNvSpPr txBox="1"/>
          <p:nvPr/>
        </p:nvSpPr>
        <p:spPr>
          <a:xfrm>
            <a:off x="3102102" y="3944238"/>
            <a:ext cx="384048" cy="1298448"/>
          </a:xfrm>
          <a:prstGeom prst="rect">
            <a:avLst/>
          </a:prstGeom>
          <a:noFill/>
        </p:spPr>
        <p:txBody>
          <a:bodyPr wrap="none" anchor="ctr" lIns="0" rIns="0" tIns="0" bIns="0">
            <a:spAutoFit/>
          </a:bodyPr>
          <a:lstStyle/>
          <a:p>
            <a:pPr algn="ctr">
              <a:lnSpc>
                <a:spcPct val="100000"/>
              </a:lnSpc>
              <a:spcBef>
                <a:spcPts val="0"/>
              </a:spcBef>
              <a:spcAft>
                <a:spcPts val="0"/>
              </a:spcAft>
            </a:pPr>
            <a:r>
              <a:rPr sz="2100" b="1" i="0">
                <a:solidFill>
                  <a:srgbClr val="1F5C99"/>
                </a:solidFill>
                <a:latin typeface="Calibri"/>
              </a:rPr>
              <a:t>→</a:t>
            </a:r>
          </a:p>
        </p:txBody>
      </p:sp>
      <p:sp>
        <p:nvSpPr>
          <p:cNvPr id="11" name="Rounded Rectangle 10"/>
          <p:cNvSpPr/>
          <p:nvPr/>
        </p:nvSpPr>
        <p:spPr>
          <a:xfrm>
            <a:off x="3486150" y="3944238"/>
            <a:ext cx="2416302" cy="1298448"/>
          </a:xfrm>
          <a:prstGeom prst="roundRect">
            <a:avLst>
              <a:gd name="adj" fmla="val 14000"/>
            </a:avLst>
          </a:prstGeom>
          <a:solidFill>
            <a:srgbClr val="E4F5EC"/>
          </a:solidFill>
          <a:ln w="15875">
            <a:solidFill>
              <a:srgbClr val="1B7A5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spcBef>
                <a:spcPts val="0"/>
              </a:spcBef>
              <a:spcAft>
                <a:spcPts val="0"/>
              </a:spcAft>
            </a:pPr>
            <a:r>
              <a:rPr sz="1550" b="1" i="0">
                <a:solidFill>
                  <a:srgbClr val="0F4A32"/>
                </a:solidFill>
                <a:latin typeface="Calibri"/>
              </a:rPr>
              <a:t>S'entraîner</a:t>
            </a:r>
          </a:p>
          <a:p>
            <a:pPr algn="ctr">
              <a:lnSpc>
                <a:spcPct val="100000"/>
              </a:lnSpc>
              <a:spcBef>
                <a:spcPts val="300"/>
              </a:spcBef>
              <a:spcAft>
                <a:spcPts val="0"/>
              </a:spcAft>
            </a:pPr>
            <a:r>
              <a:rPr sz="1200" b="0" i="0">
                <a:solidFill>
                  <a:srgbClr val="5B6879"/>
                </a:solidFill>
                <a:latin typeface="Calibri"/>
              </a:rPr>
              <a:t>QCM, fiches</a:t>
            </a:r>
          </a:p>
        </p:txBody>
      </p:sp>
      <p:sp>
        <p:nvSpPr>
          <p:cNvPr id="12" name="TextBox 11"/>
          <p:cNvSpPr txBox="1"/>
          <p:nvPr/>
        </p:nvSpPr>
        <p:spPr>
          <a:xfrm>
            <a:off x="5902452" y="3944238"/>
            <a:ext cx="384048" cy="1298448"/>
          </a:xfrm>
          <a:prstGeom prst="rect">
            <a:avLst/>
          </a:prstGeom>
          <a:noFill/>
        </p:spPr>
        <p:txBody>
          <a:bodyPr wrap="none" anchor="ctr" lIns="0" rIns="0" tIns="0" bIns="0">
            <a:spAutoFit/>
          </a:bodyPr>
          <a:lstStyle/>
          <a:p>
            <a:pPr algn="ctr">
              <a:lnSpc>
                <a:spcPct val="100000"/>
              </a:lnSpc>
              <a:spcBef>
                <a:spcPts val="0"/>
              </a:spcBef>
              <a:spcAft>
                <a:spcPts val="0"/>
              </a:spcAft>
            </a:pPr>
            <a:r>
              <a:rPr sz="2100" b="1" i="0">
                <a:solidFill>
                  <a:srgbClr val="1F5C99"/>
                </a:solidFill>
                <a:latin typeface="Calibri"/>
              </a:rPr>
              <a:t>→</a:t>
            </a:r>
          </a:p>
        </p:txBody>
      </p:sp>
      <p:sp>
        <p:nvSpPr>
          <p:cNvPr id="13" name="Rounded Rectangle 12"/>
          <p:cNvSpPr/>
          <p:nvPr/>
        </p:nvSpPr>
        <p:spPr>
          <a:xfrm>
            <a:off x="6286500" y="3944238"/>
            <a:ext cx="2416302" cy="1298448"/>
          </a:xfrm>
          <a:prstGeom prst="roundRect">
            <a:avLst>
              <a:gd name="adj" fmla="val 14000"/>
            </a:avLst>
          </a:prstGeom>
          <a:solidFill>
            <a:srgbClr val="E4EFF9"/>
          </a:solidFill>
          <a:ln w="1587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spcBef>
                <a:spcPts val="0"/>
              </a:spcBef>
              <a:spcAft>
                <a:spcPts val="0"/>
              </a:spcAft>
            </a:pPr>
            <a:r>
              <a:rPr sz="1550" b="1" i="0">
                <a:solidFill>
                  <a:srgbClr val="122A4F"/>
                </a:solidFill>
                <a:latin typeface="Calibri"/>
              </a:rPr>
              <a:t>Rédiger</a:t>
            </a:r>
          </a:p>
          <a:p>
            <a:pPr algn="ctr">
              <a:lnSpc>
                <a:spcPct val="100000"/>
              </a:lnSpc>
              <a:spcBef>
                <a:spcPts val="300"/>
              </a:spcBef>
              <a:spcAft>
                <a:spcPts val="0"/>
              </a:spcAft>
            </a:pPr>
            <a:r>
              <a:rPr sz="1200" b="0" i="0">
                <a:solidFill>
                  <a:srgbClr val="5B6879"/>
                </a:solidFill>
                <a:latin typeface="Calibri"/>
              </a:rPr>
              <a:t>corriger, traduire</a:t>
            </a:r>
          </a:p>
        </p:txBody>
      </p:sp>
      <p:sp>
        <p:nvSpPr>
          <p:cNvPr id="14" name="TextBox 13"/>
          <p:cNvSpPr txBox="1"/>
          <p:nvPr/>
        </p:nvSpPr>
        <p:spPr>
          <a:xfrm>
            <a:off x="8702802" y="3944238"/>
            <a:ext cx="384048" cy="1298448"/>
          </a:xfrm>
          <a:prstGeom prst="rect">
            <a:avLst/>
          </a:prstGeom>
          <a:noFill/>
        </p:spPr>
        <p:txBody>
          <a:bodyPr wrap="none" anchor="ctr" lIns="0" rIns="0" tIns="0" bIns="0">
            <a:spAutoFit/>
          </a:bodyPr>
          <a:lstStyle/>
          <a:p>
            <a:pPr algn="ctr">
              <a:lnSpc>
                <a:spcPct val="100000"/>
              </a:lnSpc>
              <a:spcBef>
                <a:spcPts val="0"/>
              </a:spcBef>
              <a:spcAft>
                <a:spcPts val="0"/>
              </a:spcAft>
            </a:pPr>
            <a:r>
              <a:rPr sz="2100" b="1" i="0">
                <a:solidFill>
                  <a:srgbClr val="1F5C99"/>
                </a:solidFill>
                <a:latin typeface="Calibri"/>
              </a:rPr>
              <a:t>→</a:t>
            </a:r>
          </a:p>
        </p:txBody>
      </p:sp>
      <p:sp>
        <p:nvSpPr>
          <p:cNvPr id="15" name="Rounded Rectangle 14"/>
          <p:cNvSpPr/>
          <p:nvPr/>
        </p:nvSpPr>
        <p:spPr>
          <a:xfrm>
            <a:off x="9086850" y="3944238"/>
            <a:ext cx="2416302" cy="1298448"/>
          </a:xfrm>
          <a:prstGeom prst="roundRect">
            <a:avLst>
              <a:gd name="adj" fmla="val 14000"/>
            </a:avLst>
          </a:prstGeom>
          <a:solidFill>
            <a:srgbClr val="FDF0DD"/>
          </a:solidFill>
          <a:ln w="15875">
            <a:solidFill>
              <a:srgbClr val="C26A0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spcBef>
                <a:spcPts val="0"/>
              </a:spcBef>
              <a:spcAft>
                <a:spcPts val="0"/>
              </a:spcAft>
            </a:pPr>
            <a:r>
              <a:rPr sz="1550" b="1" i="0">
                <a:solidFill>
                  <a:srgbClr val="7A4205"/>
                </a:solidFill>
                <a:latin typeface="Calibri"/>
              </a:rPr>
              <a:t>Toujours vérifier</a:t>
            </a:r>
          </a:p>
        </p:txBody>
      </p:sp>
      <p:sp>
        <p:nvSpPr>
          <p:cNvPr id="16" name="Rectangle 15"/>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Q/R — Cours 01 · Introduction à l'IA   |   Dr. Madani BELACEL — Université de Mostaganem</a:t>
            </a:r>
          </a:p>
        </p:txBody>
      </p:sp>
      <p:sp>
        <p:nvSpPr>
          <p:cNvPr id="18" name="TextBox 17"/>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37744"/>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530352"/>
            <a:ext cx="1234440" cy="310896"/>
          </a:xfrm>
          <a:prstGeom prst="roundRect">
            <a:avLst>
              <a:gd name="adj" fmla="val 45000"/>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30352"/>
            <a:ext cx="1234440" cy="310896"/>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8</a:t>
            </a:r>
          </a:p>
        </p:txBody>
      </p:sp>
      <p:sp>
        <p:nvSpPr>
          <p:cNvPr id="5" name="TextBox 4"/>
          <p:cNvSpPr txBox="1"/>
          <p:nvPr/>
        </p:nvSpPr>
        <p:spPr>
          <a:xfrm>
            <a:off x="685800" y="969264"/>
            <a:ext cx="10835640" cy="640080"/>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22A4F"/>
                </a:solidFill>
                <a:latin typeface="Calibri"/>
              </a:rPr>
              <a:t>Est-ce que l'IA comprend vraiment ?</a:t>
            </a:r>
          </a:p>
        </p:txBody>
      </p:sp>
      <p:sp>
        <p:nvSpPr>
          <p:cNvPr id="6" name="Rectangle 5"/>
          <p:cNvSpPr/>
          <p:nvPr/>
        </p:nvSpPr>
        <p:spPr>
          <a:xfrm>
            <a:off x="685800" y="1956816"/>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2920" y="2048256"/>
            <a:ext cx="11183112" cy="1143380"/>
          </a:xfrm>
          <a:prstGeom prst="roundRect">
            <a:avLst>
              <a:gd name="adj" fmla="val 5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76272"/>
            <a:ext cx="10634472" cy="832485"/>
          </a:xfrm>
          <a:prstGeom prst="rect">
            <a:avLst/>
          </a:prstGeom>
          <a:noFill/>
        </p:spPr>
        <p:txBody>
          <a:bodyPr wrap="square" lIns="0" rIns="0" tIns="0" bIns="0" anchor="t">
            <a:spAutoFit/>
          </a:bodyPr>
          <a:lstStyle/>
          <a:p>
            <a:pPr algn="l">
              <a:lnSpc>
                <a:spcPct val="115000"/>
              </a:lnSpc>
              <a:spcBef>
                <a:spcPts val="0"/>
              </a:spcBef>
              <a:spcAft>
                <a:spcPts val="0"/>
              </a:spcAft>
            </a:pPr>
            <a:r>
              <a:rPr sz="1900" b="0" i="0">
                <a:solidFill>
                  <a:srgbClr val="1B2433"/>
                </a:solidFill>
                <a:latin typeface="Calibri"/>
              </a:rPr>
              <a:t>L'IA réagit aux régularités dans les données. Elle peut écrire une phrase correcte, mais elle ne comprend pas vraiment comme un humain. Elle n'a ni sentiments ni convictions.</a:t>
            </a:r>
          </a:p>
        </p:txBody>
      </p:sp>
      <p:sp>
        <p:nvSpPr>
          <p:cNvPr id="9" name="Rounded Rectangle 8"/>
          <p:cNvSpPr/>
          <p:nvPr/>
        </p:nvSpPr>
        <p:spPr>
          <a:xfrm>
            <a:off x="685800" y="4082986"/>
            <a:ext cx="3349752" cy="1298448"/>
          </a:xfrm>
          <a:prstGeom prst="roundRect">
            <a:avLst>
              <a:gd name="adj" fmla="val 14000"/>
            </a:avLst>
          </a:prstGeom>
          <a:solidFill>
            <a:srgbClr val="E4EFF9"/>
          </a:solidFill>
          <a:ln w="1587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spcBef>
                <a:spcPts val="0"/>
              </a:spcBef>
              <a:spcAft>
                <a:spcPts val="0"/>
              </a:spcAft>
            </a:pPr>
            <a:r>
              <a:rPr sz="1550" b="1" i="0">
                <a:solidFill>
                  <a:srgbClr val="122A4F"/>
                </a:solidFill>
                <a:latin typeface="Calibri"/>
              </a:rPr>
              <a:t>Texte</a:t>
            </a:r>
          </a:p>
        </p:txBody>
      </p:sp>
      <p:sp>
        <p:nvSpPr>
          <p:cNvPr id="10" name="TextBox 9"/>
          <p:cNvSpPr txBox="1"/>
          <p:nvPr/>
        </p:nvSpPr>
        <p:spPr>
          <a:xfrm>
            <a:off x="4035552" y="4082986"/>
            <a:ext cx="384048" cy="1298448"/>
          </a:xfrm>
          <a:prstGeom prst="rect">
            <a:avLst/>
          </a:prstGeom>
          <a:noFill/>
        </p:spPr>
        <p:txBody>
          <a:bodyPr wrap="none" anchor="ctr" lIns="0" rIns="0" tIns="0" bIns="0">
            <a:spAutoFit/>
          </a:bodyPr>
          <a:lstStyle/>
          <a:p>
            <a:pPr algn="ctr">
              <a:lnSpc>
                <a:spcPct val="100000"/>
              </a:lnSpc>
              <a:spcBef>
                <a:spcPts val="0"/>
              </a:spcBef>
              <a:spcAft>
                <a:spcPts val="0"/>
              </a:spcAft>
            </a:pPr>
            <a:r>
              <a:rPr sz="2100" b="1" i="0">
                <a:solidFill>
                  <a:srgbClr val="1F5C99"/>
                </a:solidFill>
                <a:latin typeface="Calibri"/>
              </a:rPr>
              <a:t>→</a:t>
            </a:r>
          </a:p>
        </p:txBody>
      </p:sp>
      <p:sp>
        <p:nvSpPr>
          <p:cNvPr id="11" name="Rounded Rectangle 10"/>
          <p:cNvSpPr/>
          <p:nvPr/>
        </p:nvSpPr>
        <p:spPr>
          <a:xfrm>
            <a:off x="4419600" y="4082986"/>
            <a:ext cx="3349752" cy="1298448"/>
          </a:xfrm>
          <a:prstGeom prst="roundRect">
            <a:avLst>
              <a:gd name="adj" fmla="val 14000"/>
            </a:avLst>
          </a:prstGeom>
          <a:solidFill>
            <a:srgbClr val="E4F5EC"/>
          </a:solidFill>
          <a:ln w="15875">
            <a:solidFill>
              <a:srgbClr val="1B7A5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spcBef>
                <a:spcPts val="0"/>
              </a:spcBef>
              <a:spcAft>
                <a:spcPts val="0"/>
              </a:spcAft>
            </a:pPr>
            <a:r>
              <a:rPr sz="1550" b="1" i="0">
                <a:solidFill>
                  <a:srgbClr val="0F4A32"/>
                </a:solidFill>
                <a:latin typeface="Calibri"/>
              </a:rPr>
              <a:t>Formes et statistiques</a:t>
            </a:r>
          </a:p>
          <a:p>
            <a:pPr algn="ctr">
              <a:lnSpc>
                <a:spcPct val="100000"/>
              </a:lnSpc>
              <a:spcBef>
                <a:spcPts val="300"/>
              </a:spcBef>
              <a:spcAft>
                <a:spcPts val="0"/>
              </a:spcAft>
            </a:pPr>
            <a:r>
              <a:rPr sz="1200" b="0" i="0">
                <a:solidFill>
                  <a:srgbClr val="5B6879"/>
                </a:solidFill>
                <a:latin typeface="Calibri"/>
              </a:rPr>
              <a:t>ce que l'IA calcule</a:t>
            </a:r>
          </a:p>
        </p:txBody>
      </p:sp>
      <p:sp>
        <p:nvSpPr>
          <p:cNvPr id="12" name="TextBox 11"/>
          <p:cNvSpPr txBox="1"/>
          <p:nvPr/>
        </p:nvSpPr>
        <p:spPr>
          <a:xfrm>
            <a:off x="7769352" y="4082986"/>
            <a:ext cx="384048" cy="1298448"/>
          </a:xfrm>
          <a:prstGeom prst="rect">
            <a:avLst/>
          </a:prstGeom>
          <a:noFill/>
        </p:spPr>
        <p:txBody>
          <a:bodyPr wrap="none" anchor="ctr" lIns="0" rIns="0" tIns="0" bIns="0">
            <a:spAutoFit/>
          </a:bodyPr>
          <a:lstStyle/>
          <a:p>
            <a:pPr algn="ctr">
              <a:lnSpc>
                <a:spcPct val="100000"/>
              </a:lnSpc>
              <a:spcBef>
                <a:spcPts val="0"/>
              </a:spcBef>
              <a:spcAft>
                <a:spcPts val="0"/>
              </a:spcAft>
            </a:pPr>
            <a:r>
              <a:rPr sz="2100" b="1" i="0">
                <a:solidFill>
                  <a:srgbClr val="1F5C99"/>
                </a:solidFill>
                <a:latin typeface="Calibri"/>
              </a:rPr>
              <a:t>≠</a:t>
            </a:r>
          </a:p>
        </p:txBody>
      </p:sp>
      <p:sp>
        <p:nvSpPr>
          <p:cNvPr id="13" name="Rounded Rectangle 12"/>
          <p:cNvSpPr/>
          <p:nvPr/>
        </p:nvSpPr>
        <p:spPr>
          <a:xfrm>
            <a:off x="8153400" y="4082986"/>
            <a:ext cx="3349752" cy="1298448"/>
          </a:xfrm>
          <a:prstGeom prst="roundRect">
            <a:avLst>
              <a:gd name="adj" fmla="val 14000"/>
            </a:avLst>
          </a:prstGeom>
          <a:solidFill>
            <a:srgbClr val="FFFFFF"/>
          </a:solidFill>
          <a:ln w="15875">
            <a:solidFill>
              <a:srgbClr val="5B687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spcBef>
                <a:spcPts val="0"/>
              </a:spcBef>
              <a:spcAft>
                <a:spcPts val="0"/>
              </a:spcAft>
            </a:pPr>
            <a:r>
              <a:rPr sz="1550" b="1" i="0">
                <a:solidFill>
                  <a:srgbClr val="5B6879"/>
                </a:solidFill>
                <a:latin typeface="Calibri"/>
              </a:rPr>
              <a:t>Du sens</a:t>
            </a:r>
          </a:p>
          <a:p>
            <a:pPr algn="ctr">
              <a:lnSpc>
                <a:spcPct val="100000"/>
              </a:lnSpc>
              <a:spcBef>
                <a:spcPts val="300"/>
              </a:spcBef>
              <a:spcAft>
                <a:spcPts val="0"/>
              </a:spcAft>
            </a:pPr>
            <a:r>
              <a:rPr sz="1200" b="0" i="0">
                <a:solidFill>
                  <a:srgbClr val="5B6879"/>
                </a:solidFill>
                <a:latin typeface="Calibri"/>
              </a:rPr>
              <a:t>ce que l'IA n'atteint pas</a:t>
            </a:r>
          </a:p>
        </p:txBody>
      </p:sp>
      <p:sp>
        <p:nvSpPr>
          <p:cNvPr id="14" name="Rectangle 13"/>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Q/R — Cours 01 · Introduction à l'IA   |   Dr. Madani BELACEL — Université de Mostaganem</a:t>
            </a:r>
          </a:p>
        </p:txBody>
      </p:sp>
      <p:sp>
        <p:nvSpPr>
          <p:cNvPr id="16" name="TextBox 15"/>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37744"/>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530352"/>
            <a:ext cx="1234440" cy="310896"/>
          </a:xfrm>
          <a:prstGeom prst="roundRect">
            <a:avLst>
              <a:gd name="adj" fmla="val 45000"/>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30352"/>
            <a:ext cx="1234440" cy="310896"/>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9</a:t>
            </a:r>
          </a:p>
        </p:txBody>
      </p:sp>
      <p:sp>
        <p:nvSpPr>
          <p:cNvPr id="5" name="TextBox 4"/>
          <p:cNvSpPr txBox="1"/>
          <p:nvPr/>
        </p:nvSpPr>
        <p:spPr>
          <a:xfrm>
            <a:off x="685800" y="969264"/>
            <a:ext cx="10835640" cy="640080"/>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22A4F"/>
                </a:solidFill>
                <a:latin typeface="Calibri"/>
              </a:rPr>
              <a:t>L'IA et l'éthique</a:t>
            </a:r>
          </a:p>
        </p:txBody>
      </p:sp>
      <p:sp>
        <p:nvSpPr>
          <p:cNvPr id="6" name="Rectangle 5"/>
          <p:cNvSpPr/>
          <p:nvPr/>
        </p:nvSpPr>
        <p:spPr>
          <a:xfrm>
            <a:off x="685800" y="1956816"/>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2920" y="2048256"/>
            <a:ext cx="11183112" cy="865885"/>
          </a:xfrm>
          <a:prstGeom prst="roundRect">
            <a:avLst>
              <a:gd name="adj" fmla="val 5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76272"/>
            <a:ext cx="10634472" cy="554990"/>
          </a:xfrm>
          <a:prstGeom prst="rect">
            <a:avLst/>
          </a:prstGeom>
          <a:noFill/>
        </p:spPr>
        <p:txBody>
          <a:bodyPr wrap="square" lIns="0" rIns="0" tIns="0" bIns="0" anchor="t">
            <a:spAutoFit/>
          </a:bodyPr>
          <a:lstStyle/>
          <a:p>
            <a:pPr algn="l">
              <a:lnSpc>
                <a:spcPct val="115000"/>
              </a:lnSpc>
              <a:spcBef>
                <a:spcPts val="0"/>
              </a:spcBef>
              <a:spcAft>
                <a:spcPts val="0"/>
              </a:spcAft>
            </a:pPr>
            <a:r>
              <a:rPr sz="1900" b="0" i="0">
                <a:solidFill>
                  <a:srgbClr val="1B2433"/>
                </a:solidFill>
                <a:latin typeface="Calibri"/>
              </a:rPr>
              <a:t>L'IA peut être utile mais aussi dangereuse : elle peut être biaisée, se tromper ou être utilisée à mauvais escient. Un humain doit toujours rester responsable.</a:t>
            </a:r>
          </a:p>
        </p:txBody>
      </p:sp>
      <p:sp>
        <p:nvSpPr>
          <p:cNvPr id="9" name="Rounded Rectangle 8"/>
          <p:cNvSpPr/>
          <p:nvPr/>
        </p:nvSpPr>
        <p:spPr>
          <a:xfrm>
            <a:off x="685800" y="3944238"/>
            <a:ext cx="3496056" cy="1298448"/>
          </a:xfrm>
          <a:prstGeom prst="roundRect">
            <a:avLst>
              <a:gd name="adj" fmla="val 14000"/>
            </a:avLst>
          </a:prstGeom>
          <a:solidFill>
            <a:srgbClr val="FDF0DD"/>
          </a:solidFill>
          <a:ln w="15875">
            <a:solidFill>
              <a:srgbClr val="C26A0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spcBef>
                <a:spcPts val="0"/>
              </a:spcBef>
              <a:spcAft>
                <a:spcPts val="0"/>
              </a:spcAft>
            </a:pPr>
            <a:r>
              <a:rPr sz="1550" b="1" i="0">
                <a:solidFill>
                  <a:srgbClr val="7A4205"/>
                </a:solidFill>
                <a:latin typeface="Calibri"/>
              </a:rPr>
              <a:t>Est-ce vrai ?</a:t>
            </a:r>
          </a:p>
          <a:p>
            <a:pPr algn="ctr">
              <a:lnSpc>
                <a:spcPct val="100000"/>
              </a:lnSpc>
              <a:spcBef>
                <a:spcPts val="300"/>
              </a:spcBef>
              <a:spcAft>
                <a:spcPts val="0"/>
              </a:spcAft>
            </a:pPr>
            <a:r>
              <a:rPr sz="1200" b="0" i="0">
                <a:solidFill>
                  <a:srgbClr val="5B6879"/>
                </a:solidFill>
                <a:latin typeface="Calibri"/>
              </a:rPr>
              <a:t>vérifier l'information</a:t>
            </a:r>
          </a:p>
        </p:txBody>
      </p:sp>
      <p:sp>
        <p:nvSpPr>
          <p:cNvPr id="10" name="Rounded Rectangle 9"/>
          <p:cNvSpPr/>
          <p:nvPr/>
        </p:nvSpPr>
        <p:spPr>
          <a:xfrm>
            <a:off x="4346448" y="3944238"/>
            <a:ext cx="3496056" cy="1298448"/>
          </a:xfrm>
          <a:prstGeom prst="roundRect">
            <a:avLst>
              <a:gd name="adj" fmla="val 14000"/>
            </a:avLst>
          </a:prstGeom>
          <a:solidFill>
            <a:srgbClr val="FDF0DD"/>
          </a:solidFill>
          <a:ln w="15875">
            <a:solidFill>
              <a:srgbClr val="C26A0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spcBef>
                <a:spcPts val="0"/>
              </a:spcBef>
              <a:spcAft>
                <a:spcPts val="0"/>
              </a:spcAft>
            </a:pPr>
            <a:r>
              <a:rPr sz="1550" b="1" i="0">
                <a:solidFill>
                  <a:srgbClr val="7A4205"/>
                </a:solidFill>
                <a:latin typeface="Calibri"/>
              </a:rPr>
              <a:t>Ai-je cité ?</a:t>
            </a:r>
          </a:p>
          <a:p>
            <a:pPr algn="ctr">
              <a:lnSpc>
                <a:spcPct val="100000"/>
              </a:lnSpc>
              <a:spcBef>
                <a:spcPts val="300"/>
              </a:spcBef>
              <a:spcAft>
                <a:spcPts val="0"/>
              </a:spcAft>
            </a:pPr>
            <a:r>
              <a:rPr sz="1200" b="0" i="0">
                <a:solidFill>
                  <a:srgbClr val="5B6879"/>
                </a:solidFill>
                <a:latin typeface="Calibri"/>
              </a:rPr>
              <a:t>donner la source</a:t>
            </a:r>
          </a:p>
        </p:txBody>
      </p:sp>
      <p:sp>
        <p:nvSpPr>
          <p:cNvPr id="11" name="Rounded Rectangle 10"/>
          <p:cNvSpPr/>
          <p:nvPr/>
        </p:nvSpPr>
        <p:spPr>
          <a:xfrm>
            <a:off x="8007096" y="3944238"/>
            <a:ext cx="3496056" cy="1298448"/>
          </a:xfrm>
          <a:prstGeom prst="roundRect">
            <a:avLst>
              <a:gd name="adj" fmla="val 14000"/>
            </a:avLst>
          </a:prstGeom>
          <a:solidFill>
            <a:srgbClr val="FDF0DD"/>
          </a:solidFill>
          <a:ln w="15875">
            <a:solidFill>
              <a:srgbClr val="C26A0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spcBef>
                <a:spcPts val="0"/>
              </a:spcBef>
              <a:spcAft>
                <a:spcPts val="0"/>
              </a:spcAft>
            </a:pPr>
            <a:r>
              <a:rPr sz="1550" b="1" i="0">
                <a:solidFill>
                  <a:srgbClr val="7A4205"/>
                </a:solidFill>
                <a:latin typeface="Calibri"/>
              </a:rPr>
              <a:t>Est-ce le mien ?</a:t>
            </a:r>
          </a:p>
          <a:p>
            <a:pPr algn="ctr">
              <a:lnSpc>
                <a:spcPct val="100000"/>
              </a:lnSpc>
              <a:spcBef>
                <a:spcPts val="300"/>
              </a:spcBef>
              <a:spcAft>
                <a:spcPts val="0"/>
              </a:spcAft>
            </a:pPr>
            <a:r>
              <a:rPr sz="1200" b="0" i="0">
                <a:solidFill>
                  <a:srgbClr val="5B6879"/>
                </a:solidFill>
                <a:latin typeface="Calibri"/>
              </a:rPr>
              <a:t>produire son propre travail</a:t>
            </a:r>
          </a:p>
        </p:txBody>
      </p:sp>
      <p:sp>
        <p:nvSpPr>
          <p:cNvPr id="12" name="Rectangle 11"/>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Q/R — Cours 01 · Introduction à l'IA   |   Dr. Madani BELACEL — Université de Mostaganem</a:t>
            </a:r>
          </a:p>
        </p:txBody>
      </p:sp>
      <p:sp>
        <p:nvSpPr>
          <p:cNvPr id="14" name="TextBox 13"/>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37744"/>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530352"/>
            <a:ext cx="1234440" cy="310896"/>
          </a:xfrm>
          <a:prstGeom prst="roundRect">
            <a:avLst>
              <a:gd name="adj" fmla="val 45000"/>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30352"/>
            <a:ext cx="1234440" cy="310896"/>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10</a:t>
            </a:r>
          </a:p>
        </p:txBody>
      </p:sp>
      <p:sp>
        <p:nvSpPr>
          <p:cNvPr id="5" name="TextBox 4"/>
          <p:cNvSpPr txBox="1"/>
          <p:nvPr/>
        </p:nvSpPr>
        <p:spPr>
          <a:xfrm>
            <a:off x="685800" y="969264"/>
            <a:ext cx="10835640" cy="640080"/>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22A4F"/>
                </a:solidFill>
                <a:latin typeface="Calibri"/>
              </a:rPr>
              <a:t>Une brève histoire de l'IA</a:t>
            </a:r>
          </a:p>
        </p:txBody>
      </p:sp>
      <p:sp>
        <p:nvSpPr>
          <p:cNvPr id="6" name="Rectangle 5"/>
          <p:cNvSpPr/>
          <p:nvPr/>
        </p:nvSpPr>
        <p:spPr>
          <a:xfrm>
            <a:off x="685800" y="1956816"/>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2920" y="2048256"/>
            <a:ext cx="11183112" cy="1143380"/>
          </a:xfrm>
          <a:prstGeom prst="roundRect">
            <a:avLst>
              <a:gd name="adj" fmla="val 5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76272"/>
            <a:ext cx="10634472" cy="832485"/>
          </a:xfrm>
          <a:prstGeom prst="rect">
            <a:avLst/>
          </a:prstGeom>
          <a:noFill/>
        </p:spPr>
        <p:txBody>
          <a:bodyPr wrap="square" lIns="0" rIns="0" tIns="0" bIns="0" anchor="t">
            <a:spAutoFit/>
          </a:bodyPr>
          <a:lstStyle/>
          <a:p>
            <a:pPr algn="l">
              <a:lnSpc>
                <a:spcPct val="115000"/>
              </a:lnSpc>
              <a:spcBef>
                <a:spcPts val="0"/>
              </a:spcBef>
              <a:spcAft>
                <a:spcPts val="0"/>
              </a:spcAft>
            </a:pPr>
            <a:r>
              <a:rPr sz="1900" b="0" i="0">
                <a:solidFill>
                  <a:srgbClr val="1B2433"/>
                </a:solidFill>
                <a:latin typeface="Calibri"/>
              </a:rPr>
              <a:t>Le terme « Intelligence Artificielle » est né en 1956. Après des hauts et des bas, l'IA est devenue énorme après 2010 grâce au Big Data et aux ordinateurs puissants. ChatGPT a montré l'IA à tout le monde en 2022.</a:t>
            </a:r>
          </a:p>
        </p:txBody>
      </p:sp>
      <p:sp>
        <p:nvSpPr>
          <p:cNvPr id="9" name="Rounded Rectangle 8"/>
          <p:cNvSpPr/>
          <p:nvPr/>
        </p:nvSpPr>
        <p:spPr>
          <a:xfrm>
            <a:off x="685800" y="4082986"/>
            <a:ext cx="2416302" cy="1298448"/>
          </a:xfrm>
          <a:prstGeom prst="roundRect">
            <a:avLst>
              <a:gd name="adj" fmla="val 14000"/>
            </a:avLst>
          </a:prstGeom>
          <a:solidFill>
            <a:srgbClr val="F3F6FA"/>
          </a:solidFill>
          <a:ln w="15875">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spcBef>
                <a:spcPts val="0"/>
              </a:spcBef>
              <a:spcAft>
                <a:spcPts val="0"/>
              </a:spcAft>
            </a:pPr>
            <a:r>
              <a:rPr sz="1550" b="1" i="0">
                <a:solidFill>
                  <a:srgbClr val="1B2433"/>
                </a:solidFill>
                <a:latin typeface="Calibri"/>
              </a:rPr>
              <a:t>1950</a:t>
            </a:r>
          </a:p>
          <a:p>
            <a:pPr algn="ctr">
              <a:lnSpc>
                <a:spcPct val="100000"/>
              </a:lnSpc>
              <a:spcBef>
                <a:spcPts val="300"/>
              </a:spcBef>
              <a:spcAft>
                <a:spcPts val="0"/>
              </a:spcAft>
            </a:pPr>
            <a:r>
              <a:rPr sz="1200" b="0" i="0">
                <a:solidFill>
                  <a:srgbClr val="5B6879"/>
                </a:solidFill>
                <a:latin typeface="Calibri"/>
              </a:rPr>
              <a:t>Test de Turing</a:t>
            </a:r>
          </a:p>
        </p:txBody>
      </p:sp>
      <p:sp>
        <p:nvSpPr>
          <p:cNvPr id="10" name="TextBox 9"/>
          <p:cNvSpPr txBox="1"/>
          <p:nvPr/>
        </p:nvSpPr>
        <p:spPr>
          <a:xfrm>
            <a:off x="3102102" y="4082986"/>
            <a:ext cx="384048" cy="1298448"/>
          </a:xfrm>
          <a:prstGeom prst="rect">
            <a:avLst/>
          </a:prstGeom>
          <a:noFill/>
        </p:spPr>
        <p:txBody>
          <a:bodyPr wrap="none" anchor="ctr" lIns="0" rIns="0" tIns="0" bIns="0">
            <a:spAutoFit/>
          </a:bodyPr>
          <a:lstStyle/>
          <a:p>
            <a:pPr algn="ctr">
              <a:lnSpc>
                <a:spcPct val="100000"/>
              </a:lnSpc>
              <a:spcBef>
                <a:spcPts val="0"/>
              </a:spcBef>
              <a:spcAft>
                <a:spcPts val="0"/>
              </a:spcAft>
            </a:pPr>
            <a:r>
              <a:rPr sz="2100" b="1" i="0">
                <a:solidFill>
                  <a:srgbClr val="1F5C99"/>
                </a:solidFill>
                <a:latin typeface="Calibri"/>
              </a:rPr>
              <a:t>→</a:t>
            </a:r>
          </a:p>
        </p:txBody>
      </p:sp>
      <p:sp>
        <p:nvSpPr>
          <p:cNvPr id="11" name="Rounded Rectangle 10"/>
          <p:cNvSpPr/>
          <p:nvPr/>
        </p:nvSpPr>
        <p:spPr>
          <a:xfrm>
            <a:off x="3486150" y="4082986"/>
            <a:ext cx="2416302" cy="1298448"/>
          </a:xfrm>
          <a:prstGeom prst="roundRect">
            <a:avLst>
              <a:gd name="adj" fmla="val 14000"/>
            </a:avLst>
          </a:prstGeom>
          <a:solidFill>
            <a:srgbClr val="F3F6FA"/>
          </a:solidFill>
          <a:ln w="15875">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spcBef>
                <a:spcPts val="0"/>
              </a:spcBef>
              <a:spcAft>
                <a:spcPts val="0"/>
              </a:spcAft>
            </a:pPr>
            <a:r>
              <a:rPr sz="1550" b="1" i="0">
                <a:solidFill>
                  <a:srgbClr val="1B2433"/>
                </a:solidFill>
                <a:latin typeface="Calibri"/>
              </a:rPr>
              <a:t>1997</a:t>
            </a:r>
          </a:p>
          <a:p>
            <a:pPr algn="ctr">
              <a:lnSpc>
                <a:spcPct val="100000"/>
              </a:lnSpc>
              <a:spcBef>
                <a:spcPts val="300"/>
              </a:spcBef>
              <a:spcAft>
                <a:spcPts val="0"/>
              </a:spcAft>
            </a:pPr>
            <a:r>
              <a:rPr sz="1200" b="0" i="0">
                <a:solidFill>
                  <a:srgbClr val="5B6879"/>
                </a:solidFill>
                <a:latin typeface="Calibri"/>
              </a:rPr>
              <a:t>Deep Blue</a:t>
            </a:r>
          </a:p>
        </p:txBody>
      </p:sp>
      <p:sp>
        <p:nvSpPr>
          <p:cNvPr id="12" name="TextBox 11"/>
          <p:cNvSpPr txBox="1"/>
          <p:nvPr/>
        </p:nvSpPr>
        <p:spPr>
          <a:xfrm>
            <a:off x="5902452" y="4082986"/>
            <a:ext cx="384048" cy="1298448"/>
          </a:xfrm>
          <a:prstGeom prst="rect">
            <a:avLst/>
          </a:prstGeom>
          <a:noFill/>
        </p:spPr>
        <p:txBody>
          <a:bodyPr wrap="none" anchor="ctr" lIns="0" rIns="0" tIns="0" bIns="0">
            <a:spAutoFit/>
          </a:bodyPr>
          <a:lstStyle/>
          <a:p>
            <a:pPr algn="ctr">
              <a:lnSpc>
                <a:spcPct val="100000"/>
              </a:lnSpc>
              <a:spcBef>
                <a:spcPts val="0"/>
              </a:spcBef>
              <a:spcAft>
                <a:spcPts val="0"/>
              </a:spcAft>
            </a:pPr>
            <a:r>
              <a:rPr sz="2100" b="1" i="0">
                <a:solidFill>
                  <a:srgbClr val="1F5C99"/>
                </a:solidFill>
                <a:latin typeface="Calibri"/>
              </a:rPr>
              <a:t>→</a:t>
            </a:r>
          </a:p>
        </p:txBody>
      </p:sp>
      <p:sp>
        <p:nvSpPr>
          <p:cNvPr id="13" name="Rounded Rectangle 12"/>
          <p:cNvSpPr/>
          <p:nvPr/>
        </p:nvSpPr>
        <p:spPr>
          <a:xfrm>
            <a:off x="6286500" y="4082986"/>
            <a:ext cx="2416302" cy="1298448"/>
          </a:xfrm>
          <a:prstGeom prst="roundRect">
            <a:avLst>
              <a:gd name="adj" fmla="val 14000"/>
            </a:avLst>
          </a:prstGeom>
          <a:solidFill>
            <a:srgbClr val="F3F6FA"/>
          </a:solidFill>
          <a:ln w="15875">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spcBef>
                <a:spcPts val="0"/>
              </a:spcBef>
              <a:spcAft>
                <a:spcPts val="0"/>
              </a:spcAft>
            </a:pPr>
            <a:r>
              <a:rPr sz="1550" b="1" i="0">
                <a:solidFill>
                  <a:srgbClr val="1B2433"/>
                </a:solidFill>
                <a:latin typeface="Calibri"/>
              </a:rPr>
              <a:t>2011</a:t>
            </a:r>
          </a:p>
          <a:p>
            <a:pPr algn="ctr">
              <a:lnSpc>
                <a:spcPct val="100000"/>
              </a:lnSpc>
              <a:spcBef>
                <a:spcPts val="300"/>
              </a:spcBef>
              <a:spcAft>
                <a:spcPts val="0"/>
              </a:spcAft>
            </a:pPr>
            <a:r>
              <a:rPr sz="1200" b="0" i="0">
                <a:solidFill>
                  <a:srgbClr val="5B6879"/>
                </a:solidFill>
                <a:latin typeface="Calibri"/>
              </a:rPr>
              <a:t>Siri</a:t>
            </a:r>
          </a:p>
        </p:txBody>
      </p:sp>
      <p:sp>
        <p:nvSpPr>
          <p:cNvPr id="14" name="TextBox 13"/>
          <p:cNvSpPr txBox="1"/>
          <p:nvPr/>
        </p:nvSpPr>
        <p:spPr>
          <a:xfrm>
            <a:off x="8702802" y="4082986"/>
            <a:ext cx="384048" cy="1298448"/>
          </a:xfrm>
          <a:prstGeom prst="rect">
            <a:avLst/>
          </a:prstGeom>
          <a:noFill/>
        </p:spPr>
        <p:txBody>
          <a:bodyPr wrap="none" anchor="ctr" lIns="0" rIns="0" tIns="0" bIns="0">
            <a:spAutoFit/>
          </a:bodyPr>
          <a:lstStyle/>
          <a:p>
            <a:pPr algn="ctr">
              <a:lnSpc>
                <a:spcPct val="100000"/>
              </a:lnSpc>
              <a:spcBef>
                <a:spcPts val="0"/>
              </a:spcBef>
              <a:spcAft>
                <a:spcPts val="0"/>
              </a:spcAft>
            </a:pPr>
            <a:r>
              <a:rPr sz="2100" b="1" i="0">
                <a:solidFill>
                  <a:srgbClr val="1F5C99"/>
                </a:solidFill>
                <a:latin typeface="Calibri"/>
              </a:rPr>
              <a:t>→</a:t>
            </a:r>
          </a:p>
        </p:txBody>
      </p:sp>
      <p:sp>
        <p:nvSpPr>
          <p:cNvPr id="15" name="Rounded Rectangle 14"/>
          <p:cNvSpPr/>
          <p:nvPr/>
        </p:nvSpPr>
        <p:spPr>
          <a:xfrm>
            <a:off x="9086850" y="4082986"/>
            <a:ext cx="2416302" cy="1298448"/>
          </a:xfrm>
          <a:prstGeom prst="roundRect">
            <a:avLst>
              <a:gd name="adj" fmla="val 14000"/>
            </a:avLst>
          </a:prstGeom>
          <a:solidFill>
            <a:srgbClr val="FDF0DD"/>
          </a:solidFill>
          <a:ln w="15875">
            <a:solidFill>
              <a:srgbClr val="C26A0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spcBef>
                <a:spcPts val="0"/>
              </a:spcBef>
              <a:spcAft>
                <a:spcPts val="0"/>
              </a:spcAft>
            </a:pPr>
            <a:r>
              <a:rPr sz="1550" b="1" i="0">
                <a:solidFill>
                  <a:srgbClr val="7A4205"/>
                </a:solidFill>
                <a:latin typeface="Calibri"/>
              </a:rPr>
              <a:t>2022…</a:t>
            </a:r>
          </a:p>
          <a:p>
            <a:pPr algn="ctr">
              <a:lnSpc>
                <a:spcPct val="100000"/>
              </a:lnSpc>
              <a:spcBef>
                <a:spcPts val="300"/>
              </a:spcBef>
              <a:spcAft>
                <a:spcPts val="0"/>
              </a:spcAft>
            </a:pPr>
            <a:r>
              <a:rPr sz="1200" b="0" i="0">
                <a:solidFill>
                  <a:srgbClr val="5B6879"/>
                </a:solidFill>
                <a:latin typeface="Calibri"/>
              </a:rPr>
              <a:t>ChatGPT, Copilot</a:t>
            </a:r>
          </a:p>
        </p:txBody>
      </p:sp>
      <p:sp>
        <p:nvSpPr>
          <p:cNvPr id="16" name="Rectangle 15"/>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Q/R — Cours 01 · Introduction à l'IA   |   Dr. Madani BELACEL — Université de Mostaganem</a:t>
            </a:r>
          </a:p>
        </p:txBody>
      </p:sp>
      <p:sp>
        <p:nvSpPr>
          <p:cNvPr id="18" name="TextBox 17"/>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