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IA — Exemples simples d'IA.</a:t>
            </a:r>
          </a:p>
          <a:p>
            <a:r>
              <a:t>10 idées, 30 questions et réponses.</a:t>
            </a:r>
          </a:p>
          <a:p>
            <a:r>
              <a:t>Les Q/R sont dans les notes : mode Présentateur (Diaporama → Mode Présentateur) pour les lire pendant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IDÉE 1 — Le filtre anti-spam</a:t>
            </a:r>
          </a:p>
          <a:p/>
          <a:p>
            <a:r>
              <a:t>── QUESTIONS &amp; RÉPONSES ──</a:t>
            </a:r>
          </a:p>
          <a:p>
            <a:r>
              <a:t>Q1. Que fait le filtre anti-spam ?</a:t>
            </a:r>
          </a:p>
          <a:p>
            <a:r>
              <a:t>R1. Il place les messages non désirés dans le dossier spam au lieu de ta boîte de réception.</a:t>
            </a:r>
          </a:p>
          <a:p/>
          <a:p>
            <a:r>
              <a:t>Q2. Comment a-t-il appris ?</a:t>
            </a:r>
          </a:p>
          <a:p>
            <a:r>
              <a:t>R2. À partir de nombreux anciens courriels déjà marqués comme spam ou non spam.</a:t>
            </a:r>
          </a:p>
          <a:p/>
          <a:p>
            <a:r>
              <a:t>Q3. Peut-il faire des erreurs ?</a:t>
            </a:r>
          </a:p>
          <a:p>
            <a:r>
              <a:t>R3. Oui, parfois il garde un message normal ou laisse passer un spam. C'est pourquoi tu peux cliquer sur « pas de spam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IDÉE 2 — La météo</a:t>
            </a:r>
          </a:p>
          <a:p/>
          <a:p>
            <a:r>
              <a:t>── QUESTIONS &amp; RÉPONSES ──</a:t>
            </a:r>
          </a:p>
          <a:p>
            <a:r>
              <a:t>Q1. D'où viennent les exemples ?</a:t>
            </a:r>
          </a:p>
          <a:p>
            <a:r>
              <a:t>R1. De millions d'enregistrements météo passés avec les résultats qui se sont réellement produits.</a:t>
            </a:r>
          </a:p>
          <a:p/>
          <a:p>
            <a:r>
              <a:t>Q2. Pourquoi la météo n'est-elle pas toujours juste ?</a:t>
            </a:r>
          </a:p>
          <a:p>
            <a:r>
              <a:t>R2. Parce que la météo est complexe et changeante. L'IA donne des probabilités, pas des certitudes.</a:t>
            </a:r>
          </a:p>
          <a:p/>
          <a:p>
            <a:r>
              <a:t>Q3. L'IA est-elle meilleure que les anciennes méthodes ?</a:t>
            </a:r>
          </a:p>
          <a:p>
            <a:r>
              <a:t>R3. Souvent oui : elle trouve des régularités complexes dans de grandes quantités de données beaucoup plus 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IDÉE 3 — La reconnaissance de photos</a:t>
            </a:r>
          </a:p>
          <a:p/>
          <a:p>
            <a:r>
              <a:t>── QUESTIONS &amp; RÉPONSES ──</a:t>
            </a:r>
          </a:p>
          <a:p>
            <a:r>
              <a:t>Q1. Comment reconnaît-il ton visage ?</a:t>
            </a:r>
          </a:p>
          <a:p>
            <a:r>
              <a:t>R1. Il a appris à partir de nombreuses photos de visages et compare des régularités comme les yeux, le nez et la forme du visage.</a:t>
            </a:r>
          </a:p>
          <a:p/>
          <a:p>
            <a:r>
              <a:t>Q2. Pourquoi confond-il parfois des personnes ?</a:t>
            </a:r>
          </a:p>
          <a:p>
            <a:r>
              <a:t>R2. Parce qu'il travaille sur des régularités visuelles. Deux visages similaires peuvent être mélangés.</a:t>
            </a:r>
          </a:p>
          <a:p/>
          <a:p>
            <a:r>
              <a:t>Q3. La reconnaissance faciale est-elle utilisée ailleurs ?</a:t>
            </a:r>
          </a:p>
          <a:p>
            <a:r>
              <a:t>R3. Oui, pour déverrouiller ton téléphone et parfois dans les aéroports ou les banques.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IDÉE 4 — Les recommandations</a:t>
            </a:r>
          </a:p>
          <a:p/>
          <a:p>
            <a:r>
              <a:t>── QUESTIONS &amp; RÉPONSES ──</a:t>
            </a:r>
          </a:p>
          <a:p>
            <a:r>
              <a:t>Q1. Comment sait-il ce que tu aimes ?</a:t>
            </a:r>
          </a:p>
          <a:p>
            <a:r>
              <a:t>R1. Il analyse ton historique : ce que tu as regardé, cliqué ou acheté avant.</a:t>
            </a:r>
          </a:p>
          <a:p/>
          <a:p>
            <a:r>
              <a:t>Q2. Quelles données utilise-t-il ?</a:t>
            </a:r>
          </a:p>
          <a:p>
            <a:r>
              <a:t>R2. Tes choix et les choix de millions d'autres utilisateurs, pour trouver des personnes similaires à toi.</a:t>
            </a:r>
          </a:p>
          <a:p/>
          <a:p>
            <a:r>
              <a:t>Q3. Les recommandations sont-elles utiles ?</a:t>
            </a:r>
          </a:p>
          <a:p>
            <a:r>
              <a:t>R3. Elles t'aident à trouver du contenu intéressant rapidement, mais elles peuvent aussi t'enfermer dans une « bulle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IDÉE 5 — Les assistants vocaux</a:t>
            </a:r>
          </a:p>
          <a:p/>
          <a:p>
            <a:r>
              <a:t>── QUESTIONS &amp; RÉPONSES ──</a:t>
            </a:r>
          </a:p>
          <a:p>
            <a:r>
              <a:t>Q1. Que fait la reconnaissance vocale ?</a:t>
            </a:r>
          </a:p>
          <a:p>
            <a:r>
              <a:t>R1. Elle transforme les mots prononcés en texte écrit.</a:t>
            </a:r>
          </a:p>
          <a:p/>
          <a:p>
            <a:r>
              <a:t>Q2. Comment comprend-il ta question ?</a:t>
            </a:r>
          </a:p>
          <a:p>
            <a:r>
              <a:t>R2. Il détecte des mots clés comme « météo » ou « alarme » et active la fonction correspondante.</a:t>
            </a:r>
          </a:p>
          <a:p/>
          <a:p>
            <a:r>
              <a:t>Q3. Pourquoi les assistants échouent-ils parfois ?</a:t>
            </a:r>
          </a:p>
          <a:p>
            <a:r>
              <a:t>R3. À cause du bruit de fond, des accents ou des phrases inhabituelles.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IDÉE 6 — La traduction automatique</a:t>
            </a:r>
          </a:p>
          <a:p/>
          <a:p>
            <a:r>
              <a:t>── QUESTIONS &amp; RÉPONSES ──</a:t>
            </a:r>
          </a:p>
          <a:p>
            <a:r>
              <a:t>Q1. Comment a-t-il appris à traduire ?</a:t>
            </a:r>
          </a:p>
          <a:p>
            <a:r>
              <a:t>R1. À partir d'immenses collections de textes écrits dans les deux langues.</a:t>
            </a:r>
          </a:p>
          <a:p/>
          <a:p>
            <a:r>
              <a:t>Q2. La traduction est-elle parfaite ?</a:t>
            </a:r>
          </a:p>
          <a:p>
            <a:r>
              <a:t>R2. Pas toujours. Les expressions et les sens culturels peuvent être perdus.</a:t>
            </a:r>
          </a:p>
          <a:p/>
          <a:p>
            <a:r>
              <a:t>Q3. Pourquoi est-il encore utile ?</a:t>
            </a:r>
          </a:p>
          <a:p>
            <a:r>
              <a:t>R3. Pour une première compréhension, c'est rapide et gratuit.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IDÉE 7 — Les chatbots (ChatGPT)</a:t>
            </a:r>
          </a:p>
          <a:p/>
          <a:p>
            <a:r>
              <a:t>── QUESTIONS &amp; RÉPONSES ──</a:t>
            </a:r>
          </a:p>
          <a:p>
            <a:r>
              <a:t>Q1. Comment ChatGPT répond-il ?</a:t>
            </a:r>
          </a:p>
          <a:p>
            <a:r>
              <a:t>R1. Il prédit mot après mot la suite la plus probable, à partir de son entraînement.</a:t>
            </a:r>
          </a:p>
          <a:p/>
          <a:p>
            <a:r>
              <a:t>Q2. Sait-il tout ?</a:t>
            </a:r>
          </a:p>
          <a:p>
            <a:r>
              <a:t>R2. Non. Il ne connaît que ce qu'il a appris, et il peut se tromper ou être dépassé.</a:t>
            </a:r>
          </a:p>
          <a:p/>
          <a:p>
            <a:r>
              <a:t>Q3. Est-ce un bon outil d'apprentissage ?</a:t>
            </a:r>
          </a:p>
          <a:p>
            <a:r>
              <a:t>R3. Oui, si tu l'utilises pour expliquer et vérifier. Non, si tu copies sans réfléchir.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IDÉE 8 — Les jeux</a:t>
            </a:r>
          </a:p>
          <a:p/>
          <a:p>
            <a:r>
              <a:t>── QUESTIONS &amp; RÉPONSES ──</a:t>
            </a:r>
          </a:p>
          <a:p>
            <a:r>
              <a:t>Q1. Comment l'IA d'échecs a-t-elle appris ?</a:t>
            </a:r>
          </a:p>
          <a:p>
            <a:r>
              <a:t>R1. En jouant des millions de parties et en apprenant quels coups mènent à la victoire.</a:t>
            </a:r>
          </a:p>
          <a:p/>
          <a:p>
            <a:r>
              <a:t>Q2. Qu'est-ce que « jouer contre soi-même » ?</a:t>
            </a:r>
          </a:p>
          <a:p>
            <a:r>
              <a:t>R2. L'IA joue deux copies d'elle-même l'une contre l'autre, pour produire des exemples et progresser.</a:t>
            </a:r>
          </a:p>
          <a:p/>
          <a:p>
            <a:r>
              <a:t>Q3. Les jeux sont-ils un bon endroit pour tester l'IA ?</a:t>
            </a:r>
          </a:p>
          <a:p>
            <a:r>
              <a:t>R3. Oui, parce que les règles sont claires et qu'on peut compter les victoires.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IDÉE 9 — Les voitures autonomes</a:t>
            </a:r>
          </a:p>
          <a:p/>
          <a:p>
            <a:r>
              <a:t>── QUESTIONS &amp; RÉPONSES ──</a:t>
            </a:r>
          </a:p>
          <a:p>
            <a:r>
              <a:t>Q1. Que « voit » la voiture ?</a:t>
            </a:r>
          </a:p>
          <a:p>
            <a:r>
              <a:t>R1. Des images des caméras, plus des données de capteurs comme la distance, la vitesse et le radar.</a:t>
            </a:r>
          </a:p>
          <a:p/>
          <a:p>
            <a:r>
              <a:t>Q2. Que doit-elle distinguer ?</a:t>
            </a:r>
          </a:p>
          <a:p>
            <a:r>
              <a:t>R2. La route, les feux, les panneaux, les piétons, les vélos et les autres véhicules.</a:t>
            </a:r>
          </a:p>
          <a:p/>
          <a:p>
            <a:r>
              <a:t>Q3. Pourquoi est-ce si difficile ?</a:t>
            </a:r>
          </a:p>
          <a:p>
            <a:r>
              <a:t>R3. Parce que chaque situation est nouvelle et qu'une erreur peut être dangereuse. L'IA doit être extrêmement fiable.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IDÉE 10 — La médecine</a:t>
            </a:r>
          </a:p>
          <a:p/>
          <a:p>
            <a:r>
              <a:t>── QUESTIONS &amp; RÉPONSES ──</a:t>
            </a:r>
          </a:p>
          <a:p>
            <a:r>
              <a:t>Q1. L'IA peut-elle détecter des maladies ?</a:t>
            </a:r>
          </a:p>
          <a:p>
            <a:r>
              <a:t>R1. Elle peut détecter des régularités, comme une tache inhabituelle sur une radio, et alerter le médecin.</a:t>
            </a:r>
          </a:p>
          <a:p/>
          <a:p>
            <a:r>
              <a:t>Q2. Qui prend la décision finale ?</a:t>
            </a:r>
          </a:p>
          <a:p>
            <a:r>
              <a:t>R2. Le médecin. L'IA est une seconde paire d'yeux, pas un juge.</a:t>
            </a:r>
          </a:p>
          <a:p/>
          <a:p>
            <a:r>
              <a:t>Q3. De quelles données a-t-elle besoin ?</a:t>
            </a:r>
          </a:p>
          <a:p>
            <a:r>
              <a:t>R3. Des milliers de radios et d'images étiquetées avec le bon diagnostic.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41148"/>
          </a:xfrm>
          <a:prstGeom prst="rect">
            <a:avLst/>
          </a:prstGeom>
          <a:solidFill>
            <a:srgbClr val="C2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7"/>
            <a:ext cx="999743" cy="969264"/>
          </a:xfrm>
          <a:prstGeom prst="rect">
            <a:avLst/>
          </a:prstGeom>
        </p:spPr>
      </p:pic>
      <p:pic>
        <p:nvPicPr>
          <p:cNvPr id="5" name="Picture 4" descr="LOGO-FLE-UNIV-Mosta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160" y="201167"/>
            <a:ext cx="825669" cy="9692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88453" y="438912"/>
            <a:ext cx="10972" cy="493776"/>
          </a:xfrm>
          <a:prstGeom prst="rect">
            <a:avLst/>
          </a:prstGeom>
          <a:solidFill>
            <a:srgbClr val="D3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2773" y="384048"/>
            <a:ext cx="7897401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22A4F"/>
                </a:solidFill>
                <a:latin typeface="Calibri"/>
              </a:rPr>
              <a:t>Université de Mostaganem  ·  Faculté des Langues Étrangères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879"/>
                </a:solidFill>
                <a:latin typeface="Calibri"/>
              </a:rPr>
              <a:t>2ᵉ année PEP  ·  Année universitaire 2026 – 2027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412748"/>
            <a:ext cx="12191695" cy="5445252"/>
          </a:xfrm>
          <a:prstGeom prst="rect">
            <a:avLst/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412748"/>
            <a:ext cx="164592" cy="5445252"/>
          </a:xfrm>
          <a:prstGeom prst="rect">
            <a:avLst/>
          </a:prstGeom>
          <a:solidFill>
            <a:srgbClr val="C2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212848"/>
            <a:ext cx="1463040" cy="64008"/>
          </a:xfrm>
          <a:prstGeom prst="rect">
            <a:avLst/>
          </a:prstGeom>
          <a:solidFill>
            <a:srgbClr val="C2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Exemples simples d'IA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21024"/>
            <a:ext cx="9966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9EBADA"/>
                </a:solidFill>
                <a:latin typeface="Calibri"/>
              </a:rPr>
              <a:t>L'IA au quotidien : téléphone, courriel, cartes, santé, jeux, véhicules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315968"/>
            <a:ext cx="4937760" cy="530352"/>
          </a:xfrm>
          <a:prstGeom prst="roundRect">
            <a:avLst>
              <a:gd name="adj" fmla="val 35000"/>
            </a:avLst>
          </a:prstGeom>
          <a:solidFill>
            <a:srgbClr val="C2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15968"/>
            <a:ext cx="49377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A4F"/>
                </a:solidFill>
                <a:latin typeface="Calibri"/>
              </a:rPr>
              <a:t>Questions &amp; Réponses — Cours 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230368"/>
            <a:ext cx="10360152" cy="10972"/>
          </a:xfrm>
          <a:prstGeom prst="rect">
            <a:avLst/>
          </a:prstGeom>
          <a:solidFill>
            <a:srgbClr val="2C4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49824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Dr. Madani BELACEL — MCB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E93AD"/>
                </a:solidFill>
                <a:latin typeface="Calibri"/>
              </a:rPr>
              <a:t>Cours en ligne : madani-belacel.github.io/site-enseignement-belacel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2A4F"/>
                </a:solidFill>
                <a:latin typeface="Calibri"/>
              </a:rPr>
              <a:t>Plan du cours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71600"/>
            <a:ext cx="5257800" cy="786384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6" y="1536192"/>
            <a:ext cx="420624" cy="420624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9032" y="1481328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433"/>
                </a:solidFill>
                <a:latin typeface="Calibri"/>
              </a:rPr>
              <a:t>Le filtre anti-spam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1865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879"/>
                </a:solidFill>
                <a:latin typeface="Calibri"/>
              </a:rPr>
              <a:t>3 questions et réponses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67712"/>
            <a:ext cx="5257800" cy="786384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5256" y="2432304"/>
            <a:ext cx="420624" cy="420624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2377440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433"/>
                </a:solidFill>
                <a:latin typeface="Calibri"/>
              </a:rPr>
              <a:t>La météo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761488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879"/>
                </a:solidFill>
                <a:latin typeface="Calibri"/>
              </a:rPr>
              <a:t>3 questions et réponses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163824"/>
            <a:ext cx="5257800" cy="786384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05256" y="3328416"/>
            <a:ext cx="420624" cy="420624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9032" y="3273552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433"/>
                </a:solidFill>
                <a:latin typeface="Calibri"/>
              </a:rPr>
              <a:t>La reconnaissance de photos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365760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879"/>
                </a:solidFill>
                <a:latin typeface="Calibri"/>
              </a:rPr>
              <a:t>3 questions et réponses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59935"/>
            <a:ext cx="5257800" cy="786384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5256" y="4224527"/>
            <a:ext cx="420624" cy="420624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9032" y="4169663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433"/>
                </a:solidFill>
                <a:latin typeface="Calibri"/>
              </a:rPr>
              <a:t>Les recommandations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2" y="455371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879"/>
                </a:solidFill>
                <a:latin typeface="Calibri"/>
              </a:rPr>
              <a:t>3 questions et réponses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56048"/>
            <a:ext cx="5257800" cy="786384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05256" y="5120640"/>
            <a:ext cx="420624" cy="420624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5065776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433"/>
                </a:solidFill>
                <a:latin typeface="Calibri"/>
              </a:rPr>
              <a:t>Les assistants vocaux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2" y="544982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879"/>
                </a:solidFill>
                <a:latin typeface="Calibri"/>
              </a:rPr>
              <a:t>3 questions et réponses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1371600"/>
            <a:ext cx="5257800" cy="786384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5" y="1536192"/>
            <a:ext cx="420624" cy="420624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1" y="1481328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433"/>
                </a:solidFill>
                <a:latin typeface="Calibri"/>
              </a:rPr>
              <a:t>La traduction automatique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1" y="1865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879"/>
                </a:solidFill>
                <a:latin typeface="Calibri"/>
              </a:rPr>
              <a:t>3 questions et réponses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2267712"/>
            <a:ext cx="5257800" cy="786384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37375" y="2432304"/>
            <a:ext cx="420624" cy="420624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1151" y="2377440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433"/>
                </a:solidFill>
                <a:latin typeface="Calibri"/>
              </a:rPr>
              <a:t>Les chatbots (ChatGPT)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1" y="2761488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879"/>
                </a:solidFill>
                <a:latin typeface="Calibri"/>
              </a:rPr>
              <a:t>3 questions et réponses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59" y="3163824"/>
            <a:ext cx="5257800" cy="786384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37375" y="3328416"/>
            <a:ext cx="420624" cy="420624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1" y="3273552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433"/>
                </a:solidFill>
                <a:latin typeface="Calibri"/>
              </a:rPr>
              <a:t>Les jeux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1151" y="365760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879"/>
                </a:solidFill>
                <a:latin typeface="Calibri"/>
              </a:rPr>
              <a:t>3 questions et réponses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59" y="4059935"/>
            <a:ext cx="5257800" cy="786384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37375" y="4224527"/>
            <a:ext cx="420624" cy="420624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31151" y="4169663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433"/>
                </a:solidFill>
                <a:latin typeface="Calibri"/>
              </a:rPr>
              <a:t>Les voitures autonomes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31151" y="455371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879"/>
                </a:solidFill>
                <a:latin typeface="Calibri"/>
              </a:rPr>
              <a:t>3 questions et réponses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59" y="4956048"/>
            <a:ext cx="5257800" cy="786384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437375" y="5120640"/>
            <a:ext cx="420624" cy="420624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31151" y="5065776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433"/>
                </a:solidFill>
                <a:latin typeface="Calibri"/>
              </a:rPr>
              <a:t>La médecine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1151" y="544982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879"/>
                </a:solidFill>
                <a:latin typeface="Calibri"/>
              </a:rPr>
              <a:t>3 questions et réponses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888736"/>
            <a:ext cx="106344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2A4F"/>
                </a:solidFill>
                <a:latin typeface="Calibri"/>
              </a:rPr>
              <a:t>10 idées  ·  30 questions et réponses  ·  0 schémas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6327648"/>
            <a:ext cx="10817352" cy="10972"/>
          </a:xfrm>
          <a:prstGeom prst="rect">
            <a:avLst/>
          </a:prstGeom>
          <a:solidFill>
            <a:srgbClr val="D3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641908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879"/>
                </a:solidFill>
                <a:latin typeface="Calibri"/>
              </a:rPr>
              <a:t>IA IA  |  Dr. Madani BELACEL — Université de Mostaganem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6419088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5C9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30352"/>
            <a:ext cx="1298448" cy="384048"/>
          </a:xfrm>
          <a:prstGeom prst="roundRect">
            <a:avLst>
              <a:gd name="adj" fmla="val 45000"/>
            </a:avLst>
          </a:prstGeom>
          <a:solidFill>
            <a:srgbClr val="C2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298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A4F"/>
                </a:solidFill>
                <a:latin typeface="Calibri"/>
              </a:rPr>
              <a:t>IDÉE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530352"/>
            <a:ext cx="9052560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2A4F"/>
                </a:solidFill>
                <a:latin typeface="Calibri"/>
              </a:rPr>
              <a:t>Le filtre anti-spam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10168"/>
            <a:ext cx="10634472" cy="11391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B2433"/>
                </a:solidFill>
                <a:latin typeface="Calibri"/>
              </a:rPr>
              <a:t>Ton courriel utilise une petite IA : elle lit d'anciens messages marqués « spam » et « normal », apprend la différence et classe automatiquement les nouveaux messages.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468814"/>
            <a:ext cx="10634472" cy="1370457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587686"/>
            <a:ext cx="10268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5C99"/>
                </a:solidFill>
                <a:latin typeface="Calibri"/>
              </a:rPr>
              <a:t>Questions de la séance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871150"/>
            <a:ext cx="10268712" cy="255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6A0A"/>
                </a:solidFill>
                <a:latin typeface="Calibri"/>
              </a:rPr>
              <a:t>1.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Que fait le filtre anti-spam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163377"/>
            <a:ext cx="10268712" cy="255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6A0A"/>
                </a:solidFill>
                <a:latin typeface="Calibri"/>
              </a:rPr>
              <a:t>2.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Comment a-t-il appris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455604"/>
            <a:ext cx="10268712" cy="255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6A0A"/>
                </a:solidFill>
                <a:latin typeface="Calibri"/>
              </a:rPr>
              <a:t>3.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Peut-il faire des erreurs 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327648"/>
            <a:ext cx="10817352" cy="10972"/>
          </a:xfrm>
          <a:prstGeom prst="rect">
            <a:avLst/>
          </a:prstGeom>
          <a:solidFill>
            <a:srgbClr val="D3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41908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879"/>
                </a:solidFill>
                <a:latin typeface="Calibri"/>
              </a:rPr>
              <a:t>IA IA  |  Dr. Madani BELACEL — Université de Mostaganem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19088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5C9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30352"/>
            <a:ext cx="1298448" cy="384048"/>
          </a:xfrm>
          <a:prstGeom prst="roundRect">
            <a:avLst>
              <a:gd name="adj" fmla="val 45000"/>
            </a:avLst>
          </a:prstGeom>
          <a:solidFill>
            <a:srgbClr val="C2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298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A4F"/>
                </a:solidFill>
                <a:latin typeface="Calibri"/>
              </a:rPr>
              <a:t>IDÉE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530352"/>
            <a:ext cx="9052560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2A4F"/>
                </a:solidFill>
                <a:latin typeface="Calibri"/>
              </a:rPr>
              <a:t>La météo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00033"/>
            <a:ext cx="10634472" cy="7594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B2433"/>
                </a:solidFill>
                <a:latin typeface="Calibri"/>
              </a:rPr>
              <a:t>L'IA météo reçoit des données des stations et des satellites (température, pression, vent) et prédit le temps de demain.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278949"/>
            <a:ext cx="10634472" cy="1370457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397821"/>
            <a:ext cx="10268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5C99"/>
                </a:solidFill>
                <a:latin typeface="Calibri"/>
              </a:rPr>
              <a:t>Questions de la séance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81285"/>
            <a:ext cx="10268712" cy="255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6A0A"/>
                </a:solidFill>
                <a:latin typeface="Calibri"/>
              </a:rPr>
              <a:t>1.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D'où viennent les exemples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973512"/>
            <a:ext cx="10268712" cy="255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6A0A"/>
                </a:solidFill>
                <a:latin typeface="Calibri"/>
              </a:rPr>
              <a:t>2.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Pourquoi la météo n'est-elle pas toujours juste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265739"/>
            <a:ext cx="10268712" cy="255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6A0A"/>
                </a:solidFill>
                <a:latin typeface="Calibri"/>
              </a:rPr>
              <a:t>3.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L'IA est-elle meilleure que les anciennes méthodes 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327648"/>
            <a:ext cx="10817352" cy="10972"/>
          </a:xfrm>
          <a:prstGeom prst="rect">
            <a:avLst/>
          </a:prstGeom>
          <a:solidFill>
            <a:srgbClr val="D3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41908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879"/>
                </a:solidFill>
                <a:latin typeface="Calibri"/>
              </a:rPr>
              <a:t>IA IA  |  Dr. Madani BELACEL — Université de Mostaganem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19088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5C9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30352"/>
            <a:ext cx="1298448" cy="384048"/>
          </a:xfrm>
          <a:prstGeom prst="roundRect">
            <a:avLst>
              <a:gd name="adj" fmla="val 45000"/>
            </a:avLst>
          </a:prstGeom>
          <a:solidFill>
            <a:srgbClr val="C2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298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A4F"/>
                </a:solidFill>
                <a:latin typeface="Calibri"/>
              </a:rPr>
              <a:t>IDÉE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530352"/>
            <a:ext cx="9052560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2A4F"/>
                </a:solidFill>
                <a:latin typeface="Calibri"/>
              </a:rPr>
              <a:t>La reconnaissance de photos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10168"/>
            <a:ext cx="10634472" cy="11391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B2433"/>
                </a:solidFill>
                <a:latin typeface="Calibri"/>
              </a:rPr>
              <a:t>L'IA de la galerie de ton téléphone reconnaît les visages, les chats, les objets et les lieux, et regroupe tes photos automatiquement.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468814"/>
            <a:ext cx="10634472" cy="1370457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587686"/>
            <a:ext cx="10268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5C99"/>
                </a:solidFill>
                <a:latin typeface="Calibri"/>
              </a:rPr>
              <a:t>Questions de la séance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871150"/>
            <a:ext cx="10268712" cy="255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6A0A"/>
                </a:solidFill>
                <a:latin typeface="Calibri"/>
              </a:rPr>
              <a:t>1.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Comment reconnaît-il ton visage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163377"/>
            <a:ext cx="10268712" cy="255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6A0A"/>
                </a:solidFill>
                <a:latin typeface="Calibri"/>
              </a:rPr>
              <a:t>2.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Pourquoi confond-il parfois des personnes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455604"/>
            <a:ext cx="10268712" cy="255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6A0A"/>
                </a:solidFill>
                <a:latin typeface="Calibri"/>
              </a:rPr>
              <a:t>3.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La reconnaissance faciale est-elle utilisée ailleurs 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327648"/>
            <a:ext cx="10817352" cy="10972"/>
          </a:xfrm>
          <a:prstGeom prst="rect">
            <a:avLst/>
          </a:prstGeom>
          <a:solidFill>
            <a:srgbClr val="D3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41908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879"/>
                </a:solidFill>
                <a:latin typeface="Calibri"/>
              </a:rPr>
              <a:t>IA IA  |  Dr. Madani BELACEL — Université de Mostaganem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19088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5C9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30352"/>
            <a:ext cx="1298448" cy="384048"/>
          </a:xfrm>
          <a:prstGeom prst="roundRect">
            <a:avLst>
              <a:gd name="adj" fmla="val 45000"/>
            </a:avLst>
          </a:prstGeom>
          <a:solidFill>
            <a:srgbClr val="C2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298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A4F"/>
                </a:solidFill>
                <a:latin typeface="Calibri"/>
              </a:rPr>
              <a:t>IDÉE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530352"/>
            <a:ext cx="9052560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2A4F"/>
                </a:solidFill>
                <a:latin typeface="Calibri"/>
              </a:rPr>
              <a:t>Les recommandations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10168"/>
            <a:ext cx="10634472" cy="11391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B2433"/>
                </a:solidFill>
                <a:latin typeface="Calibri"/>
              </a:rPr>
              <a:t>Netflix, YouTube, Spotify et les sites de shopping suivent ce que tu aimes et te proposent des choses à regarder, écouter ou acheter.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468814"/>
            <a:ext cx="10634472" cy="1370457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587686"/>
            <a:ext cx="10268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5C99"/>
                </a:solidFill>
                <a:latin typeface="Calibri"/>
              </a:rPr>
              <a:t>Questions de la séance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871150"/>
            <a:ext cx="10268712" cy="255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6A0A"/>
                </a:solidFill>
                <a:latin typeface="Calibri"/>
              </a:rPr>
              <a:t>1.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Comment sait-il ce que tu aimes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163377"/>
            <a:ext cx="10268712" cy="255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6A0A"/>
                </a:solidFill>
                <a:latin typeface="Calibri"/>
              </a:rPr>
              <a:t>2.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Quelles données utilise-t-il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455604"/>
            <a:ext cx="10268712" cy="255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6A0A"/>
                </a:solidFill>
                <a:latin typeface="Calibri"/>
              </a:rPr>
              <a:t>3.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Les recommandations sont-elles utiles 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327648"/>
            <a:ext cx="10817352" cy="10972"/>
          </a:xfrm>
          <a:prstGeom prst="rect">
            <a:avLst/>
          </a:prstGeom>
          <a:solidFill>
            <a:srgbClr val="D3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41908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879"/>
                </a:solidFill>
                <a:latin typeface="Calibri"/>
              </a:rPr>
              <a:t>IA IA  |  Dr. Madani BELACEL — Université de Mostaganem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19088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5C9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30352"/>
            <a:ext cx="1298448" cy="384048"/>
          </a:xfrm>
          <a:prstGeom prst="roundRect">
            <a:avLst>
              <a:gd name="adj" fmla="val 45000"/>
            </a:avLst>
          </a:prstGeom>
          <a:solidFill>
            <a:srgbClr val="C2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298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A4F"/>
                </a:solidFill>
                <a:latin typeface="Calibri"/>
              </a:rPr>
              <a:t>IDÉE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530352"/>
            <a:ext cx="9052560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2A4F"/>
                </a:solidFill>
                <a:latin typeface="Calibri"/>
              </a:rPr>
              <a:t>Les assistants vocaux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00033"/>
            <a:ext cx="10634472" cy="7594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B2433"/>
                </a:solidFill>
                <a:latin typeface="Calibri"/>
              </a:rPr>
              <a:t>Siri, Alexa et Google Assistant transforment ta voix en texte, comprennent une demande simple et répondent ou agissent.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278949"/>
            <a:ext cx="10634472" cy="1370457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397821"/>
            <a:ext cx="10268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5C99"/>
                </a:solidFill>
                <a:latin typeface="Calibri"/>
              </a:rPr>
              <a:t>Questions de la séance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81285"/>
            <a:ext cx="10268712" cy="255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6A0A"/>
                </a:solidFill>
                <a:latin typeface="Calibri"/>
              </a:rPr>
              <a:t>1.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Que fait la reconnaissance vocale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973512"/>
            <a:ext cx="10268712" cy="255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6A0A"/>
                </a:solidFill>
                <a:latin typeface="Calibri"/>
              </a:rPr>
              <a:t>2.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Comment comprend-il ta question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265739"/>
            <a:ext cx="10268712" cy="255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6A0A"/>
                </a:solidFill>
                <a:latin typeface="Calibri"/>
              </a:rPr>
              <a:t>3.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Pourquoi les assistants échouent-ils parfois 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327648"/>
            <a:ext cx="10817352" cy="10972"/>
          </a:xfrm>
          <a:prstGeom prst="rect">
            <a:avLst/>
          </a:prstGeom>
          <a:solidFill>
            <a:srgbClr val="D3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41908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879"/>
                </a:solidFill>
                <a:latin typeface="Calibri"/>
              </a:rPr>
              <a:t>IA IA  |  Dr. Madani BELACEL — Université de Mostaganem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19088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5C9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30352"/>
            <a:ext cx="1298448" cy="384048"/>
          </a:xfrm>
          <a:prstGeom prst="roundRect">
            <a:avLst>
              <a:gd name="adj" fmla="val 45000"/>
            </a:avLst>
          </a:prstGeom>
          <a:solidFill>
            <a:srgbClr val="C2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298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A4F"/>
                </a:solidFill>
                <a:latin typeface="Calibri"/>
              </a:rPr>
              <a:t>IDÉE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530352"/>
            <a:ext cx="9052560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2A4F"/>
                </a:solidFill>
                <a:latin typeface="Calibri"/>
              </a:rPr>
              <a:t>La traduction automatique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10168"/>
            <a:ext cx="10634472" cy="11391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B2433"/>
                </a:solidFill>
                <a:latin typeface="Calibri"/>
              </a:rPr>
              <a:t>Google Traduction et DeepL traduisent les phrases instantanément. Ils ont appris à partir de millions de textes déjà traduits par des humains.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468814"/>
            <a:ext cx="10634472" cy="1370457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587686"/>
            <a:ext cx="10268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5C99"/>
                </a:solidFill>
                <a:latin typeface="Calibri"/>
              </a:rPr>
              <a:t>Questions de la séance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871150"/>
            <a:ext cx="10268712" cy="255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6A0A"/>
                </a:solidFill>
                <a:latin typeface="Calibri"/>
              </a:rPr>
              <a:t>1.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Comment a-t-il appris à traduire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163377"/>
            <a:ext cx="10268712" cy="255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6A0A"/>
                </a:solidFill>
                <a:latin typeface="Calibri"/>
              </a:rPr>
              <a:t>2.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La traduction est-elle parfaite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455604"/>
            <a:ext cx="10268712" cy="255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6A0A"/>
                </a:solidFill>
                <a:latin typeface="Calibri"/>
              </a:rPr>
              <a:t>3.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Pourquoi est-il encore utile 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327648"/>
            <a:ext cx="10817352" cy="10972"/>
          </a:xfrm>
          <a:prstGeom prst="rect">
            <a:avLst/>
          </a:prstGeom>
          <a:solidFill>
            <a:srgbClr val="D3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41908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879"/>
                </a:solidFill>
                <a:latin typeface="Calibri"/>
              </a:rPr>
              <a:t>IA IA  |  Dr. Madani BELACEL — Université de Mostaganem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19088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5C9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30352"/>
            <a:ext cx="1298448" cy="384048"/>
          </a:xfrm>
          <a:prstGeom prst="roundRect">
            <a:avLst>
              <a:gd name="adj" fmla="val 45000"/>
            </a:avLst>
          </a:prstGeom>
          <a:solidFill>
            <a:srgbClr val="C2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298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A4F"/>
                </a:solidFill>
                <a:latin typeface="Calibri"/>
              </a:rPr>
              <a:t>IDÉE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530352"/>
            <a:ext cx="9052560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2A4F"/>
                </a:solidFill>
                <a:latin typeface="Calibri"/>
              </a:rPr>
              <a:t>Les chatbots (ChatGPT)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10168"/>
            <a:ext cx="10634472" cy="11391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B2433"/>
                </a:solidFill>
                <a:latin typeface="Calibri"/>
              </a:rPr>
              <a:t>ChatGPT est une IA qui répond à des messages texte. Elle a appris à partir d'une énorme quantité de textes sur Internet et prédit le mot suivant le plus probable.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468814"/>
            <a:ext cx="10634472" cy="1370457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587686"/>
            <a:ext cx="10268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5C99"/>
                </a:solidFill>
                <a:latin typeface="Calibri"/>
              </a:rPr>
              <a:t>Questions de la séance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871150"/>
            <a:ext cx="10268712" cy="255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6A0A"/>
                </a:solidFill>
                <a:latin typeface="Calibri"/>
              </a:rPr>
              <a:t>1.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Comment ChatGPT répond-il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163377"/>
            <a:ext cx="10268712" cy="255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6A0A"/>
                </a:solidFill>
                <a:latin typeface="Calibri"/>
              </a:rPr>
              <a:t>2.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Sait-il tout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455604"/>
            <a:ext cx="10268712" cy="255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6A0A"/>
                </a:solidFill>
                <a:latin typeface="Calibri"/>
              </a:rPr>
              <a:t>3.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Est-ce un bon outil d'apprentissage 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327648"/>
            <a:ext cx="10817352" cy="10972"/>
          </a:xfrm>
          <a:prstGeom prst="rect">
            <a:avLst/>
          </a:prstGeom>
          <a:solidFill>
            <a:srgbClr val="D3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41908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879"/>
                </a:solidFill>
                <a:latin typeface="Calibri"/>
              </a:rPr>
              <a:t>IA IA  |  Dr. Madani BELACEL — Université de Mostaganem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19088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5C9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30352"/>
            <a:ext cx="1298448" cy="384048"/>
          </a:xfrm>
          <a:prstGeom prst="roundRect">
            <a:avLst>
              <a:gd name="adj" fmla="val 45000"/>
            </a:avLst>
          </a:prstGeom>
          <a:solidFill>
            <a:srgbClr val="C2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298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A4F"/>
                </a:solidFill>
                <a:latin typeface="Calibri"/>
              </a:rPr>
              <a:t>IDÉE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530352"/>
            <a:ext cx="9052560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2A4F"/>
                </a:solidFill>
                <a:latin typeface="Calibri"/>
              </a:rPr>
              <a:t>Les jeux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10168"/>
            <a:ext cx="10634472" cy="11391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B2433"/>
                </a:solidFill>
                <a:latin typeface="Calibri"/>
              </a:rPr>
              <a:t>L'IA a battu les meilleurs humains aux échecs (1997) et au Go (2016). Elle joue des millions de parties contre elle-même pour progresser.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468814"/>
            <a:ext cx="10634472" cy="1370457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587686"/>
            <a:ext cx="10268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5C99"/>
                </a:solidFill>
                <a:latin typeface="Calibri"/>
              </a:rPr>
              <a:t>Questions de la séance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871150"/>
            <a:ext cx="10268712" cy="255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6A0A"/>
                </a:solidFill>
                <a:latin typeface="Calibri"/>
              </a:rPr>
              <a:t>1.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Comment l'IA d'échecs a-t-elle appris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163377"/>
            <a:ext cx="10268712" cy="255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6A0A"/>
                </a:solidFill>
                <a:latin typeface="Calibri"/>
              </a:rPr>
              <a:t>2.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Qu'est-ce que « jouer contre soi-même »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455604"/>
            <a:ext cx="10268712" cy="255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6A0A"/>
                </a:solidFill>
                <a:latin typeface="Calibri"/>
              </a:rPr>
              <a:t>3.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Les jeux sont-ils un bon endroit pour tester l'IA 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327648"/>
            <a:ext cx="10817352" cy="10972"/>
          </a:xfrm>
          <a:prstGeom prst="rect">
            <a:avLst/>
          </a:prstGeom>
          <a:solidFill>
            <a:srgbClr val="D3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41908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879"/>
                </a:solidFill>
                <a:latin typeface="Calibri"/>
              </a:rPr>
              <a:t>IA IA  |  Dr. Madani BELACEL — Université de Mostaganem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19088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5C9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30352"/>
            <a:ext cx="1298448" cy="384048"/>
          </a:xfrm>
          <a:prstGeom prst="roundRect">
            <a:avLst>
              <a:gd name="adj" fmla="val 45000"/>
            </a:avLst>
          </a:prstGeom>
          <a:solidFill>
            <a:srgbClr val="C2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298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A4F"/>
                </a:solidFill>
                <a:latin typeface="Calibri"/>
              </a:rPr>
              <a:t>IDÉE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530352"/>
            <a:ext cx="9052560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2A4F"/>
                </a:solidFill>
                <a:latin typeface="Calibri"/>
              </a:rPr>
              <a:t>Les voitures autonomes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10168"/>
            <a:ext cx="10634472" cy="11391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B2433"/>
                </a:solidFill>
                <a:latin typeface="Calibri"/>
              </a:rPr>
              <a:t>Les voitures autonomes utilisent des caméras et des capteurs. L'IA reconnaît les routes, les panneaux, les piétons et les autres voitures, puis contrôle la voiture.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468814"/>
            <a:ext cx="10634472" cy="1370457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587686"/>
            <a:ext cx="10268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5C99"/>
                </a:solidFill>
                <a:latin typeface="Calibri"/>
              </a:rPr>
              <a:t>Questions de la séance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871150"/>
            <a:ext cx="10268712" cy="255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6A0A"/>
                </a:solidFill>
                <a:latin typeface="Calibri"/>
              </a:rPr>
              <a:t>1.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Que « voit » la voiture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163377"/>
            <a:ext cx="10268712" cy="255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6A0A"/>
                </a:solidFill>
                <a:latin typeface="Calibri"/>
              </a:rPr>
              <a:t>2.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Que doit-elle distinguer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455604"/>
            <a:ext cx="10268712" cy="255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6A0A"/>
                </a:solidFill>
                <a:latin typeface="Calibri"/>
              </a:rPr>
              <a:t>3.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Pourquoi est-ce si difficile 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327648"/>
            <a:ext cx="10817352" cy="10972"/>
          </a:xfrm>
          <a:prstGeom prst="rect">
            <a:avLst/>
          </a:prstGeom>
          <a:solidFill>
            <a:srgbClr val="D3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41908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879"/>
                </a:solidFill>
                <a:latin typeface="Calibri"/>
              </a:rPr>
              <a:t>IA IA  |  Dr. Madani BELACEL — Université de Mostaganem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19088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5C9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30352"/>
            <a:ext cx="1298448" cy="384048"/>
          </a:xfrm>
          <a:prstGeom prst="roundRect">
            <a:avLst>
              <a:gd name="adj" fmla="val 45000"/>
            </a:avLst>
          </a:prstGeom>
          <a:solidFill>
            <a:srgbClr val="C2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298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A4F"/>
                </a:solidFill>
                <a:latin typeface="Calibri"/>
              </a:rPr>
              <a:t>IDÉE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530352"/>
            <a:ext cx="9052560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2A4F"/>
                </a:solidFill>
                <a:latin typeface="Calibri"/>
              </a:rPr>
              <a:t>La médecine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10168"/>
            <a:ext cx="10634472" cy="11391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B2433"/>
                </a:solidFill>
                <a:latin typeface="Calibri"/>
              </a:rPr>
              <a:t>L'IA aide les médecins à lire les radios, les scanners et les résultats de laboratoire. Elle ne remplace pas le médecin ; elle aide à trouver les problèmes plus vite.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468814"/>
            <a:ext cx="10634472" cy="1370457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587686"/>
            <a:ext cx="10268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5C99"/>
                </a:solidFill>
                <a:latin typeface="Calibri"/>
              </a:rPr>
              <a:t>Questions de la séance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871150"/>
            <a:ext cx="10268712" cy="255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6A0A"/>
                </a:solidFill>
                <a:latin typeface="Calibri"/>
              </a:rPr>
              <a:t>1.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L'IA peut-elle détecter des maladies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163377"/>
            <a:ext cx="10268712" cy="255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6A0A"/>
                </a:solidFill>
                <a:latin typeface="Calibri"/>
              </a:rPr>
              <a:t>2.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Qui prend la décision finale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455604"/>
            <a:ext cx="10268712" cy="255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6A0A"/>
                </a:solidFill>
                <a:latin typeface="Calibri"/>
              </a:rPr>
              <a:t>3.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De quelles données a-t-elle besoin 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327648"/>
            <a:ext cx="10817352" cy="10972"/>
          </a:xfrm>
          <a:prstGeom prst="rect">
            <a:avLst/>
          </a:prstGeom>
          <a:solidFill>
            <a:srgbClr val="D3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41908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879"/>
                </a:solidFill>
                <a:latin typeface="Calibri"/>
              </a:rPr>
              <a:t>IA IA  |  Dr. Madani BELACEL — Université de Mostaganem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19088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5C9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