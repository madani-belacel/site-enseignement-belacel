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 IA — Comment fonctionne l'IA.</a:t>
            </a:r>
          </a:p>
          <a:p>
            <a:r>
              <a:t>10 idées, 30 questions et réponses.</a:t>
            </a:r>
          </a:p>
          <a:p>
            <a:r>
              <a:t>Les Q/R sont dans les notes : mode Présentateur (Diaporama → Mode Présentateur) pour les lire pendant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 — L'IA apprend par l'exemple</a:t>
            </a:r>
          </a:p>
          <a:p/>
          <a:p>
            <a:r>
              <a:t>── QUESTIONS &amp; RÉPONSES ──</a:t>
            </a:r>
          </a:p>
          <a:p>
            <a:r>
              <a:t>Q1. Que signifie « la machine apprend » ?</a:t>
            </a:r>
          </a:p>
          <a:p>
            <a:r>
              <a:t>R1. Cela signifie que le programme se modifie petit à petit, en utilisant des exemples, jusqu'à devenir bon dans une tâche.</a:t>
            </a:r>
          </a:p>
          <a:p/>
          <a:p>
            <a:r>
              <a:t>Q2. L'IA peut-elle tout mémoriser ?</a:t>
            </a:r>
          </a:p>
          <a:p>
            <a:r>
              <a:t>R2. Non. Elle ne mémorise pas : elle trouve des règles générales qui fonctionnent sur des exemples qu'elle n'a jamais vus.</a:t>
            </a:r>
          </a:p>
          <a:p/>
          <a:p>
            <a:r>
              <a:t>Q3. Que se passe-t-il sans exemples ?</a:t>
            </a:r>
          </a:p>
          <a:p>
            <a:r>
              <a:t>R3. Sans exemples, il n'y a rien à partir de quoi apprendre, et l'IA reste inutile.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 — Trois ingrédients</a:t>
            </a:r>
          </a:p>
          <a:p/>
          <a:p>
            <a:r>
              <a:t>── QUESTIONS &amp; RÉPONSES ──</a:t>
            </a:r>
          </a:p>
          <a:p>
            <a:r>
              <a:t>Q1. Qu'est-ce qu'un modèle ?</a:t>
            </a:r>
          </a:p>
          <a:p>
            <a:r>
              <a:t>R1. C'est un programme avec des réglages modifiables qui apprend à partir des données. Après l'entraînement, le modèle peut faire des prédictions.</a:t>
            </a:r>
          </a:p>
          <a:p/>
          <a:p>
            <a:r>
              <a:t>Q2. Quel ingrédient est le plus important ?</a:t>
            </a:r>
          </a:p>
          <a:p>
            <a:r>
              <a:t>R2. Pour les débutants, les données : de bonnes données font fonctionner même un modèle simple.</a:t>
            </a:r>
          </a:p>
          <a:p/>
          <a:p>
            <a:r>
              <a:t>Q3. A-t-on besoin d'un supercalculateur ?</a:t>
            </a:r>
          </a:p>
          <a:p>
            <a:r>
              <a:t>R3. Non, un ordinateur normal suffit pour des projets simples.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3 — L'entraînement (l'étape d'apprentissage)</a:t>
            </a:r>
          </a:p>
          <a:p/>
          <a:p>
            <a:r>
              <a:t>── QUESTIONS &amp; RÉPONSES ──</a:t>
            </a:r>
          </a:p>
          <a:p>
            <a:r>
              <a:t>Q1. Que se passe-t-il pendant l'entraînement ?</a:t>
            </a:r>
          </a:p>
          <a:p>
            <a:r>
              <a:t>R1. Le modèle regarde des exemples, fait une hypothèse, la compare à la bonne réponse et s'ajuste pour faire moins d'erreurs.</a:t>
            </a:r>
          </a:p>
          <a:p/>
          <a:p>
            <a:r>
              <a:t>Q2. Pourquoi répète-t-on plusieurs fois ?</a:t>
            </a:r>
          </a:p>
          <a:p>
            <a:r>
              <a:t>R2. Un seul passage ne suffit pas. Répéter permet au modèle d'apprendre lentement et bien.</a:t>
            </a:r>
          </a:p>
          <a:p/>
          <a:p>
            <a:r>
              <a:t>Q3. Qu'est-ce qu'une époque (epoch) ?</a:t>
            </a:r>
          </a:p>
          <a:p>
            <a:r>
              <a:t>R3. Une époque est un passage complet sur tous les exemples d'entraînement. On en fait souvent plusieurs.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4 — La prédiction (l'étape d'utilisation)</a:t>
            </a:r>
          </a:p>
          <a:p/>
          <a:p>
            <a:r>
              <a:t>── QUESTIONS &amp; RÉPONSES ──</a:t>
            </a:r>
          </a:p>
          <a:p>
            <a:r>
              <a:t>Q1. Qu'est-ce qu'une prédiction ?</a:t>
            </a:r>
          </a:p>
          <a:p>
            <a:r>
              <a:t>R1. Une réponse donnée par le modèle pour de nouvelles données, à partir de ce qu'il a appris.</a:t>
            </a:r>
          </a:p>
          <a:p/>
          <a:p>
            <a:r>
              <a:t>Q2. Peut-on tester le modèle sur les données d'entraînement ?</a:t>
            </a:r>
          </a:p>
          <a:p>
            <a:r>
              <a:t>R2. Oui, mais cela ne prouve rien. Le vrai test se fait sur de NOUVELLES données jamais vues.</a:t>
            </a:r>
          </a:p>
          <a:p/>
          <a:p>
            <a:r>
              <a:t>Q3. Une prédiction est-elle toujours correcte ?</a:t>
            </a:r>
          </a:p>
          <a:p>
            <a:r>
              <a:t>R3. Pas toujours. Le modèle donne sa meilleure estimation, et il peut faire des erreurs.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5 — L'analogie : apprendre à un enfant</a:t>
            </a:r>
          </a:p>
          <a:p/>
          <a:p>
            <a:r>
              <a:t>── QUESTIONS &amp; RÉPONSES ──</a:t>
            </a:r>
          </a:p>
          <a:p>
            <a:r>
              <a:t>Q1. En quoi l'IA ressemble-t-elle à un enfant ?</a:t>
            </a:r>
          </a:p>
          <a:p>
            <a:r>
              <a:t>R1. Les deux apprennent par les exemples et progressent avec la pratique et les corrections.</a:t>
            </a:r>
          </a:p>
          <a:p/>
          <a:p>
            <a:r>
              <a:t>Q2. Quel est le rôle du « professeur » ?</a:t>
            </a:r>
          </a:p>
          <a:p>
            <a:r>
              <a:t>R2. Donner de bons exemples et corriger les erreurs. En IA, cela s'appelle la « supervision ».</a:t>
            </a:r>
          </a:p>
          <a:p/>
          <a:p>
            <a:r>
              <a:t>Q3. Quelle est la différence avec un enfant ?</a:t>
            </a:r>
          </a:p>
          <a:p>
            <a:r>
              <a:t>R3. Un enfant peut apprendre avec très peu d'exemples, alors que l'IA a généralement besoin de très, très nombreux exemples.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6 — L'apprentissage supervisé</a:t>
            </a:r>
          </a:p>
          <a:p/>
          <a:p>
            <a:r>
              <a:t>── QUESTIONS &amp; RÉPONSES ──</a:t>
            </a:r>
          </a:p>
          <a:p>
            <a:r>
              <a:t>Q1. Qu'est-ce qu'une étiquette ?</a:t>
            </a:r>
          </a:p>
          <a:p>
            <a:r>
              <a:t>R1. La bonne réponse qui accompagne un exemple, comme le mot « chat » sous une photo de chat.</a:t>
            </a:r>
          </a:p>
          <a:p/>
          <a:p>
            <a:r>
              <a:t>Q2. Pourquoi dit-on « supervisé » ?</a:t>
            </a:r>
          </a:p>
          <a:p>
            <a:r>
              <a:t>R2. Parce que les exemples arrivent avec leurs réponses, comme si un professeur supervisait l'apprentissage.</a:t>
            </a:r>
          </a:p>
          <a:p/>
          <a:p>
            <a:r>
              <a:t>Q3. Donne un exemple simple.</a:t>
            </a:r>
          </a:p>
          <a:p>
            <a:r>
              <a:t>R3. Apprendre à un programme à dire si un courriel est un spam ou non, en utilisant d'anciens courriels déjà marqués.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7 — L'apprentissage non supervisé</a:t>
            </a:r>
          </a:p>
          <a:p/>
          <a:p>
            <a:r>
              <a:t>── QUESTIONS &amp; RÉPONSES ──</a:t>
            </a:r>
          </a:p>
          <a:p>
            <a:r>
              <a:t>Q1. Qu'est-ce que le regroupement (clustering) ?</a:t>
            </a:r>
          </a:p>
          <a:p>
            <a:r>
              <a:t>R1. Regrouper des éléments similaires ensemble sans connaître les groupes à l'avance.</a:t>
            </a:r>
          </a:p>
          <a:p/>
          <a:p>
            <a:r>
              <a:t>Q2. Donne un exemple.</a:t>
            </a:r>
          </a:p>
          <a:p>
            <a:r>
              <a:t>R2. Un magasin regroupe ses clients pour voir lesquels achètent les mêmes produits.</a:t>
            </a:r>
          </a:p>
          <a:p/>
          <a:p>
            <a:r>
              <a:t>Q3. Pourquoi dit-on « non supervisé » ?</a:t>
            </a:r>
          </a:p>
          <a:p>
            <a:r>
              <a:t>R3. Parce qu'il n'y a ni professeur ni réponses ; la machine explore les données toute seule.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8 — L'apprentissage par renforcement</a:t>
            </a:r>
          </a:p>
          <a:p/>
          <a:p>
            <a:r>
              <a:t>── QUESTIONS &amp; RÉPONSES ──</a:t>
            </a:r>
          </a:p>
          <a:p>
            <a:r>
              <a:t>Q1. Comment un robot apprend-il à marcher ?</a:t>
            </a:r>
          </a:p>
          <a:p>
            <a:r>
              <a:t>R1. Il essaie des actions, garde celles qui donnent des récompenses et évite celles qui donnent des pénalités.</a:t>
            </a:r>
          </a:p>
          <a:p/>
          <a:p>
            <a:r>
              <a:t>Q2. Qu'est-ce qu'une récompense ?</a:t>
            </a:r>
          </a:p>
          <a:p>
            <a:r>
              <a:t>R2. Un signal positif quand l'IA fait une bonne action, comme gagner des points dans un jeu.</a:t>
            </a:r>
          </a:p>
          <a:p/>
          <a:p>
            <a:r>
              <a:t>Q3. Où est-il utilisé ?</a:t>
            </a:r>
          </a:p>
          <a:p>
            <a:r>
              <a:t>R3. Dans les jeux vidéo, les véhicules autonomes et la robotique.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9 — Un petit « neurone »</a:t>
            </a:r>
          </a:p>
          <a:p/>
          <a:p>
            <a:r>
              <a:t>── QUESTIONS &amp; RÉPONSES ──</a:t>
            </a:r>
          </a:p>
          <a:p>
            <a:r>
              <a:t>Q1. Qu'est-ce qu'un neurone en IA ?</a:t>
            </a:r>
          </a:p>
          <a:p>
            <a:r>
              <a:t>R1. Une petite unité qui reçoit des nombres, les combine et envoie une réponse à la couche suivante.</a:t>
            </a:r>
          </a:p>
          <a:p/>
          <a:p>
            <a:r>
              <a:t>Q2. Qu'est-ce qu'un « réseau » ?</a:t>
            </a:r>
          </a:p>
          <a:p>
            <a:r>
              <a:t>R2. Beaucoup de neurones organisés en couches et connectés les uns aux autres.</a:t>
            </a:r>
          </a:p>
          <a:p/>
          <a:p>
            <a:r>
              <a:t>Q3. Faut-il comprendre toutes les mathématiques ?</a:t>
            </a:r>
          </a:p>
          <a:p>
            <a:r>
              <a:t>R3. Non. Pour un premier projet, tu utilises des fonctions toutes prêtes et tu observes simplement le résultat.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10 — Tout devient des nombres</a:t>
            </a:r>
          </a:p>
          <a:p/>
          <a:p>
            <a:r>
              <a:t>── QUESTIONS &amp; RÉPONSES ──</a:t>
            </a:r>
          </a:p>
          <a:p>
            <a:r>
              <a:t>Q1. Comment un ordinateur voit-il une photo ?</a:t>
            </a:r>
          </a:p>
          <a:p>
            <a:r>
              <a:t>R1. Comme une grille de pixels, où chaque pixel est un nombre qui représente sa couleur.</a:t>
            </a:r>
          </a:p>
          <a:p/>
          <a:p>
            <a:r>
              <a:t>Q2. Comment voit-il un mot ?</a:t>
            </a:r>
          </a:p>
          <a:p>
            <a:r>
              <a:t>R2. Chaque mot est transformé en un nombre ou une liste de nombres, appelée un vecteur.</a:t>
            </a:r>
          </a:p>
          <a:p/>
          <a:p>
            <a:r>
              <a:t>Q3. Alors, qu'est-ce que l'IA au niveau le plus profond ?</a:t>
            </a:r>
          </a:p>
          <a:p>
            <a:r>
              <a:t>R3. Ce sont des calculs mathématiques appliqués à de grands tableaux de nombres, guidés par des exemples.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91695" cy="41148"/>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niversité_de_Mostaganem.png"/>
          <p:cNvPicPr>
            <a:picLocks noChangeAspect="1"/>
          </p:cNvPicPr>
          <p:nvPr/>
        </p:nvPicPr>
        <p:blipFill>
          <a:blip r:embed="rId2"/>
          <a:stretch>
            <a:fillRect/>
          </a:stretch>
        </p:blipFill>
        <p:spPr>
          <a:xfrm>
            <a:off x="731520" y="201167"/>
            <a:ext cx="999743" cy="969264"/>
          </a:xfrm>
          <a:prstGeom prst="rect">
            <a:avLst/>
          </a:prstGeom>
        </p:spPr>
      </p:pic>
      <p:pic>
        <p:nvPicPr>
          <p:cNvPr id="5" name="Picture 4" descr="LOGO-FLE-UNIV-Mosta.jpeg"/>
          <p:cNvPicPr>
            <a:picLocks noChangeAspect="1"/>
          </p:cNvPicPr>
          <p:nvPr/>
        </p:nvPicPr>
        <p:blipFill>
          <a:blip r:embed="rId3"/>
          <a:stretch>
            <a:fillRect/>
          </a:stretch>
        </p:blipFill>
        <p:spPr>
          <a:xfrm>
            <a:off x="2042160" y="201167"/>
            <a:ext cx="825669" cy="969264"/>
          </a:xfrm>
          <a:prstGeom prst="rect">
            <a:avLst/>
          </a:prstGeom>
        </p:spPr>
      </p:pic>
      <p:sp>
        <p:nvSpPr>
          <p:cNvPr id="6" name="Rectangle 5"/>
          <p:cNvSpPr/>
          <p:nvPr/>
        </p:nvSpPr>
        <p:spPr>
          <a:xfrm>
            <a:off x="3288453" y="438912"/>
            <a:ext cx="10972" cy="493776"/>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2773" y="384048"/>
            <a:ext cx="7897401" cy="621792"/>
          </a:xfrm>
          <a:prstGeom prst="rect">
            <a:avLst/>
          </a:prstGeom>
          <a:noFill/>
        </p:spPr>
        <p:txBody>
          <a:bodyPr wrap="square" lIns="0" rIns="0" tIns="0" bIns="0" anchor="ctr">
            <a:spAutoFit/>
          </a:bodyPr>
          <a:lstStyle/>
          <a:p>
            <a:pPr algn="l">
              <a:lnSpc>
                <a:spcPct val="112000"/>
              </a:lnSpc>
              <a:spcBef>
                <a:spcPts val="0"/>
              </a:spcBef>
              <a:spcAft>
                <a:spcPts val="200"/>
              </a:spcAft>
            </a:pPr>
            <a:r>
              <a:rPr sz="1250" b="1" i="0">
                <a:solidFill>
                  <a:srgbClr val="122A4F"/>
                </a:solidFill>
                <a:latin typeface="Calibri"/>
              </a:rPr>
              <a:t>Université de Mostaganem  ·  Faculté des Langues Étrangères</a:t>
            </a:r>
          </a:p>
          <a:p>
            <a:pPr algn="l">
              <a:lnSpc>
                <a:spcPct val="112000"/>
              </a:lnSpc>
              <a:spcBef>
                <a:spcPts val="0"/>
              </a:spcBef>
              <a:spcAft>
                <a:spcPts val="0"/>
              </a:spcAft>
            </a:pPr>
            <a:r>
              <a:rPr sz="1100" b="0" i="0">
                <a:solidFill>
                  <a:srgbClr val="5B6879"/>
                </a:solidFill>
                <a:latin typeface="Calibri"/>
              </a:rPr>
              <a:t>2ᵉ année PEP  ·  Année universitaire 2026 – 2027</a:t>
            </a:r>
          </a:p>
        </p:txBody>
      </p:sp>
      <p:sp>
        <p:nvSpPr>
          <p:cNvPr id="8" name="Rectangle 7"/>
          <p:cNvSpPr/>
          <p:nvPr/>
        </p:nvSpPr>
        <p:spPr>
          <a:xfrm>
            <a:off x="0" y="1412748"/>
            <a:ext cx="12191695" cy="5445252"/>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1412748"/>
            <a:ext cx="164592" cy="5445252"/>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2212848"/>
            <a:ext cx="1463040" cy="64008"/>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87168"/>
            <a:ext cx="10332720" cy="1005840"/>
          </a:xfrm>
          <a:prstGeom prst="rect">
            <a:avLst/>
          </a:prstGeom>
          <a:noFill/>
        </p:spPr>
        <p:txBody>
          <a:bodyPr wrap="square" lIns="0" rIns="0" tIns="0" bIns="0" anchor="t">
            <a:spAutoFit/>
          </a:bodyPr>
          <a:lstStyle/>
          <a:p>
            <a:pPr algn="l">
              <a:lnSpc>
                <a:spcPct val="100000"/>
              </a:lnSpc>
              <a:spcBef>
                <a:spcPts val="0"/>
              </a:spcBef>
              <a:spcAft>
                <a:spcPts val="0"/>
              </a:spcAft>
            </a:pPr>
            <a:r>
              <a:rPr sz="4000" b="1" i="0">
                <a:solidFill>
                  <a:srgbClr val="FFFFFF"/>
                </a:solidFill>
                <a:latin typeface="Calibri"/>
              </a:rPr>
              <a:t>Comment fonctionne l'IA</a:t>
            </a:r>
          </a:p>
        </p:txBody>
      </p:sp>
      <p:sp>
        <p:nvSpPr>
          <p:cNvPr id="12" name="TextBox 11"/>
          <p:cNvSpPr txBox="1"/>
          <p:nvPr/>
        </p:nvSpPr>
        <p:spPr>
          <a:xfrm>
            <a:off x="914400" y="3621024"/>
            <a:ext cx="9966960" cy="566928"/>
          </a:xfrm>
          <a:prstGeom prst="rect">
            <a:avLst/>
          </a:prstGeom>
          <a:noFill/>
        </p:spPr>
        <p:txBody>
          <a:bodyPr wrap="square" lIns="0" rIns="0" tIns="0" bIns="0" anchor="t">
            <a:spAutoFit/>
          </a:bodyPr>
          <a:lstStyle/>
          <a:p>
            <a:pPr algn="l">
              <a:lnSpc>
                <a:spcPct val="112000"/>
              </a:lnSpc>
              <a:spcBef>
                <a:spcPts val="0"/>
              </a:spcBef>
              <a:spcAft>
                <a:spcPts val="0"/>
              </a:spcAft>
            </a:pPr>
            <a:r>
              <a:rPr sz="1700" b="0" i="1">
                <a:solidFill>
                  <a:srgbClr val="9EBADA"/>
                </a:solidFill>
                <a:latin typeface="Calibri"/>
              </a:rPr>
              <a:t>Données, exemple, régularité : pourquoi une IA répond juste — ou se trompe</a:t>
            </a:r>
          </a:p>
        </p:txBody>
      </p:sp>
      <p:sp>
        <p:nvSpPr>
          <p:cNvPr id="13" name="Rounded Rectangle 12"/>
          <p:cNvSpPr/>
          <p:nvPr/>
        </p:nvSpPr>
        <p:spPr>
          <a:xfrm>
            <a:off x="914400" y="4315968"/>
            <a:ext cx="4937760" cy="530352"/>
          </a:xfrm>
          <a:prstGeom prst="roundRect">
            <a:avLst>
              <a:gd name="adj" fmla="val 3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315968"/>
            <a:ext cx="4937760" cy="530352"/>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Questions &amp; Réponses — Cours IA</a:t>
            </a:r>
          </a:p>
        </p:txBody>
      </p:sp>
      <p:sp>
        <p:nvSpPr>
          <p:cNvPr id="15" name="Rectangle 14"/>
          <p:cNvSpPr/>
          <p:nvPr/>
        </p:nvSpPr>
        <p:spPr>
          <a:xfrm>
            <a:off x="914400" y="5230368"/>
            <a:ext cx="10360152" cy="10972"/>
          </a:xfrm>
          <a:prstGeom prst="rect">
            <a:avLst/>
          </a:prstGeom>
          <a:solidFill>
            <a:srgbClr val="2C4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449824"/>
            <a:ext cx="10332720" cy="914400"/>
          </a:xfrm>
          <a:prstGeom prst="rect">
            <a:avLst/>
          </a:prstGeom>
          <a:noFill/>
        </p:spPr>
        <p:txBody>
          <a:bodyPr wrap="square" lIns="0" rIns="0" tIns="0" bIns="0" anchor="t">
            <a:spAutoFit/>
          </a:bodyPr>
          <a:lstStyle/>
          <a:p>
            <a:pPr algn="l">
              <a:lnSpc>
                <a:spcPct val="112000"/>
              </a:lnSpc>
              <a:spcBef>
                <a:spcPts val="0"/>
              </a:spcBef>
              <a:spcAft>
                <a:spcPts val="300"/>
              </a:spcAft>
            </a:pPr>
            <a:r>
              <a:rPr sz="1600" b="1" i="0">
                <a:solidFill>
                  <a:srgbClr val="FFFFFF"/>
                </a:solidFill>
                <a:latin typeface="Calibri"/>
              </a:rPr>
              <a:t>Dr. Madani BELACEL — MCB</a:t>
            </a:r>
          </a:p>
          <a:p>
            <a:pPr algn="l">
              <a:lnSpc>
                <a:spcPct val="112000"/>
              </a:lnSpc>
              <a:spcBef>
                <a:spcPts val="0"/>
              </a:spcBef>
              <a:spcAft>
                <a:spcPts val="0"/>
              </a:spcAft>
            </a:pPr>
            <a:r>
              <a:rPr sz="1000" b="0" i="0">
                <a:solidFill>
                  <a:srgbClr val="7E93AD"/>
                </a:solidFill>
                <a:latin typeface="Calibri"/>
              </a:rPr>
              <a:t>Cours en ligne : madani-belacel.github.io/site-enseignement-belacel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972800"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Plan du cours</a:t>
            </a:r>
          </a:p>
        </p:txBody>
      </p:sp>
      <p:sp>
        <p:nvSpPr>
          <p:cNvPr id="3" name="Rounded Rectangle 2"/>
          <p:cNvSpPr/>
          <p:nvPr/>
        </p:nvSpPr>
        <p:spPr>
          <a:xfrm>
            <a:off x="777240" y="1371600"/>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05256" y="1536192"/>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5" name="TextBox 4"/>
          <p:cNvSpPr txBox="1"/>
          <p:nvPr/>
        </p:nvSpPr>
        <p:spPr>
          <a:xfrm>
            <a:off x="1399032" y="1481328"/>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L'IA apprend par l'exemple</a:t>
            </a:r>
          </a:p>
        </p:txBody>
      </p:sp>
      <p:sp>
        <p:nvSpPr>
          <p:cNvPr id="6" name="TextBox 5"/>
          <p:cNvSpPr txBox="1"/>
          <p:nvPr/>
        </p:nvSpPr>
        <p:spPr>
          <a:xfrm>
            <a:off x="1399032" y="1865376"/>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7" name="Rounded Rectangle 6"/>
          <p:cNvSpPr/>
          <p:nvPr/>
        </p:nvSpPr>
        <p:spPr>
          <a:xfrm>
            <a:off x="777240" y="2267712"/>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05256" y="2432304"/>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9" name="TextBox 8"/>
          <p:cNvSpPr txBox="1"/>
          <p:nvPr/>
        </p:nvSpPr>
        <p:spPr>
          <a:xfrm>
            <a:off x="1399032" y="2377440"/>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Trois ingrédients</a:t>
            </a:r>
          </a:p>
        </p:txBody>
      </p:sp>
      <p:sp>
        <p:nvSpPr>
          <p:cNvPr id="10" name="TextBox 9"/>
          <p:cNvSpPr txBox="1"/>
          <p:nvPr/>
        </p:nvSpPr>
        <p:spPr>
          <a:xfrm>
            <a:off x="1399032" y="2761488"/>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11" name="Rounded Rectangle 10"/>
          <p:cNvSpPr/>
          <p:nvPr/>
        </p:nvSpPr>
        <p:spPr>
          <a:xfrm>
            <a:off x="777240" y="3163824"/>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328416"/>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3" name="TextBox 12"/>
          <p:cNvSpPr txBox="1"/>
          <p:nvPr/>
        </p:nvSpPr>
        <p:spPr>
          <a:xfrm>
            <a:off x="1399032" y="3273552"/>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350" b="0" i="0">
                <a:solidFill>
                  <a:srgbClr val="1B2433"/>
                </a:solidFill>
                <a:latin typeface="Calibri"/>
              </a:rPr>
              <a:t>L'entraînement (l'étape d'apprentissage)</a:t>
            </a:r>
          </a:p>
        </p:txBody>
      </p:sp>
      <p:sp>
        <p:nvSpPr>
          <p:cNvPr id="14" name="TextBox 13"/>
          <p:cNvSpPr txBox="1"/>
          <p:nvPr/>
        </p:nvSpPr>
        <p:spPr>
          <a:xfrm>
            <a:off x="1399032" y="3657600"/>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15" name="Rounded Rectangle 14"/>
          <p:cNvSpPr/>
          <p:nvPr/>
        </p:nvSpPr>
        <p:spPr>
          <a:xfrm>
            <a:off x="777240" y="4059935"/>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5256" y="4224527"/>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7" name="TextBox 16"/>
          <p:cNvSpPr txBox="1"/>
          <p:nvPr/>
        </p:nvSpPr>
        <p:spPr>
          <a:xfrm>
            <a:off x="1399032" y="4169663"/>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350" b="0" i="0">
                <a:solidFill>
                  <a:srgbClr val="1B2433"/>
                </a:solidFill>
                <a:latin typeface="Calibri"/>
              </a:rPr>
              <a:t>La prédiction (l'étape d'utilisation)</a:t>
            </a:r>
          </a:p>
        </p:txBody>
      </p:sp>
      <p:sp>
        <p:nvSpPr>
          <p:cNvPr id="18" name="TextBox 17"/>
          <p:cNvSpPr txBox="1"/>
          <p:nvPr/>
        </p:nvSpPr>
        <p:spPr>
          <a:xfrm>
            <a:off x="1399032" y="4553712"/>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19" name="Rounded Rectangle 18"/>
          <p:cNvSpPr/>
          <p:nvPr/>
        </p:nvSpPr>
        <p:spPr>
          <a:xfrm>
            <a:off x="777240" y="4956048"/>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05256" y="5120640"/>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1" name="TextBox 20"/>
          <p:cNvSpPr txBox="1"/>
          <p:nvPr/>
        </p:nvSpPr>
        <p:spPr>
          <a:xfrm>
            <a:off x="1399032" y="5065776"/>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350" b="0" i="0">
                <a:solidFill>
                  <a:srgbClr val="1B2433"/>
                </a:solidFill>
                <a:latin typeface="Calibri"/>
              </a:rPr>
              <a:t>L'analogie : apprendre à un enfant</a:t>
            </a:r>
          </a:p>
        </p:txBody>
      </p:sp>
      <p:sp>
        <p:nvSpPr>
          <p:cNvPr id="22" name="TextBox 21"/>
          <p:cNvSpPr txBox="1"/>
          <p:nvPr/>
        </p:nvSpPr>
        <p:spPr>
          <a:xfrm>
            <a:off x="1399032" y="5449824"/>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23" name="Rounded Rectangle 22"/>
          <p:cNvSpPr/>
          <p:nvPr/>
        </p:nvSpPr>
        <p:spPr>
          <a:xfrm>
            <a:off x="6309359" y="1371600"/>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37375" y="1536192"/>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5" name="TextBox 24"/>
          <p:cNvSpPr txBox="1"/>
          <p:nvPr/>
        </p:nvSpPr>
        <p:spPr>
          <a:xfrm>
            <a:off x="6931151" y="1481328"/>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L'apprentissage supervisé</a:t>
            </a:r>
          </a:p>
        </p:txBody>
      </p:sp>
      <p:sp>
        <p:nvSpPr>
          <p:cNvPr id="26" name="TextBox 25"/>
          <p:cNvSpPr txBox="1"/>
          <p:nvPr/>
        </p:nvSpPr>
        <p:spPr>
          <a:xfrm>
            <a:off x="6931151" y="1865376"/>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27" name="Rounded Rectangle 26"/>
          <p:cNvSpPr/>
          <p:nvPr/>
        </p:nvSpPr>
        <p:spPr>
          <a:xfrm>
            <a:off x="6309359" y="2267712"/>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37375" y="2432304"/>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7</a:t>
            </a:r>
          </a:p>
        </p:txBody>
      </p:sp>
      <p:sp>
        <p:nvSpPr>
          <p:cNvPr id="29" name="TextBox 28"/>
          <p:cNvSpPr txBox="1"/>
          <p:nvPr/>
        </p:nvSpPr>
        <p:spPr>
          <a:xfrm>
            <a:off x="6931151" y="2377440"/>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L'apprentissage non supervisé</a:t>
            </a:r>
          </a:p>
        </p:txBody>
      </p:sp>
      <p:sp>
        <p:nvSpPr>
          <p:cNvPr id="30" name="TextBox 29"/>
          <p:cNvSpPr txBox="1"/>
          <p:nvPr/>
        </p:nvSpPr>
        <p:spPr>
          <a:xfrm>
            <a:off x="6931151" y="2761488"/>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31" name="Rounded Rectangle 30"/>
          <p:cNvSpPr/>
          <p:nvPr/>
        </p:nvSpPr>
        <p:spPr>
          <a:xfrm>
            <a:off x="6309359" y="3163824"/>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5" y="3328416"/>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8</a:t>
            </a:r>
          </a:p>
        </p:txBody>
      </p:sp>
      <p:sp>
        <p:nvSpPr>
          <p:cNvPr id="33" name="TextBox 32"/>
          <p:cNvSpPr txBox="1"/>
          <p:nvPr/>
        </p:nvSpPr>
        <p:spPr>
          <a:xfrm>
            <a:off x="6931151" y="3273552"/>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L'apprentissage par renforcement</a:t>
            </a:r>
          </a:p>
        </p:txBody>
      </p:sp>
      <p:sp>
        <p:nvSpPr>
          <p:cNvPr id="34" name="TextBox 33"/>
          <p:cNvSpPr txBox="1"/>
          <p:nvPr/>
        </p:nvSpPr>
        <p:spPr>
          <a:xfrm>
            <a:off x="6931151" y="3657600"/>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35" name="Rounded Rectangle 34"/>
          <p:cNvSpPr/>
          <p:nvPr/>
        </p:nvSpPr>
        <p:spPr>
          <a:xfrm>
            <a:off x="6309359" y="4059935"/>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37375" y="4224527"/>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9</a:t>
            </a:r>
          </a:p>
        </p:txBody>
      </p:sp>
      <p:sp>
        <p:nvSpPr>
          <p:cNvPr id="37" name="TextBox 36"/>
          <p:cNvSpPr txBox="1"/>
          <p:nvPr/>
        </p:nvSpPr>
        <p:spPr>
          <a:xfrm>
            <a:off x="6931151" y="4169663"/>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Un petit « neurone »</a:t>
            </a:r>
          </a:p>
        </p:txBody>
      </p:sp>
      <p:sp>
        <p:nvSpPr>
          <p:cNvPr id="38" name="TextBox 37"/>
          <p:cNvSpPr txBox="1"/>
          <p:nvPr/>
        </p:nvSpPr>
        <p:spPr>
          <a:xfrm>
            <a:off x="6931151" y="4553712"/>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39" name="Rounded Rectangle 38"/>
          <p:cNvSpPr/>
          <p:nvPr/>
        </p:nvSpPr>
        <p:spPr>
          <a:xfrm>
            <a:off x="6309359" y="4956048"/>
            <a:ext cx="5257800" cy="786384"/>
          </a:xfrm>
          <a:prstGeom prst="roundRect">
            <a:avLst>
              <a:gd name="adj" fmla="val 8000"/>
            </a:avLst>
          </a:prstGeom>
          <a:solidFill>
            <a:srgbClr val="F3F6FA"/>
          </a:solidFill>
          <a:ln w="952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437375" y="5120640"/>
            <a:ext cx="420624" cy="420624"/>
          </a:xfrm>
          <a:prstGeom prst="ellipse">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10</a:t>
            </a:r>
          </a:p>
        </p:txBody>
      </p:sp>
      <p:sp>
        <p:nvSpPr>
          <p:cNvPr id="41" name="TextBox 40"/>
          <p:cNvSpPr txBox="1"/>
          <p:nvPr/>
        </p:nvSpPr>
        <p:spPr>
          <a:xfrm>
            <a:off x="6931151" y="5065776"/>
            <a:ext cx="3657600" cy="402336"/>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1B2433"/>
                </a:solidFill>
                <a:latin typeface="Calibri"/>
              </a:rPr>
              <a:t>Tout devient des nombres</a:t>
            </a:r>
          </a:p>
        </p:txBody>
      </p:sp>
      <p:sp>
        <p:nvSpPr>
          <p:cNvPr id="42" name="TextBox 41"/>
          <p:cNvSpPr txBox="1"/>
          <p:nvPr/>
        </p:nvSpPr>
        <p:spPr>
          <a:xfrm>
            <a:off x="6931151" y="5449824"/>
            <a:ext cx="3657600" cy="237744"/>
          </a:xfrm>
          <a:prstGeom prst="rect">
            <a:avLst/>
          </a:prstGeom>
          <a:noFill/>
        </p:spPr>
        <p:txBody>
          <a:bodyPr wrap="square" lIns="0" rIns="0" tIns="0" bIns="0" anchor="t">
            <a:spAutoFit/>
          </a:bodyPr>
          <a:lstStyle/>
          <a:p>
            <a:pPr algn="l">
              <a:lnSpc>
                <a:spcPct val="112000"/>
              </a:lnSpc>
              <a:spcBef>
                <a:spcPts val="0"/>
              </a:spcBef>
              <a:spcAft>
                <a:spcPts val="0"/>
              </a:spcAft>
            </a:pPr>
            <a:r>
              <a:rPr sz="1100" b="0" i="0">
                <a:solidFill>
                  <a:srgbClr val="5B6879"/>
                </a:solidFill>
                <a:latin typeface="Calibri"/>
              </a:rPr>
              <a:t>3 questions et réponses</a:t>
            </a:r>
          </a:p>
        </p:txBody>
      </p:sp>
      <p:sp>
        <p:nvSpPr>
          <p:cNvPr id="43" name="TextBox 42"/>
          <p:cNvSpPr txBox="1"/>
          <p:nvPr/>
        </p:nvSpPr>
        <p:spPr>
          <a:xfrm>
            <a:off x="777240" y="5888736"/>
            <a:ext cx="10634472" cy="438912"/>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22A4F"/>
                </a:solidFill>
                <a:latin typeface="Calibri"/>
              </a:rPr>
              <a:t>10 idées  ·  30 questions et réponses  ·  0 schémas</a:t>
            </a:r>
          </a:p>
        </p:txBody>
      </p:sp>
      <p:sp>
        <p:nvSpPr>
          <p:cNvPr id="44" name="Rectangle 43"/>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46" name="TextBox 45"/>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L'IA apprend par l'exemple</a:t>
            </a:r>
          </a:p>
        </p:txBody>
      </p:sp>
      <p:sp>
        <p:nvSpPr>
          <p:cNvPr id="5" name="TextBox 4"/>
          <p:cNvSpPr txBox="1"/>
          <p:nvPr/>
        </p:nvSpPr>
        <p:spPr>
          <a:xfrm>
            <a:off x="777240" y="1920303"/>
            <a:ext cx="10634472" cy="151891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L'IA naît « vide » : avant d'apprendre, elle ne sait rien. On lui montre des exemples (données) et elle trouve petit à petit des régularités. Apprendre signifie trouver des régularités dans les exemples.</a:t>
            </a:r>
          </a:p>
        </p:txBody>
      </p:sp>
      <p:sp>
        <p:nvSpPr>
          <p:cNvPr id="6" name="Rounded Rectangle 5"/>
          <p:cNvSpPr/>
          <p:nvPr/>
        </p:nvSpPr>
        <p:spPr>
          <a:xfrm>
            <a:off x="777240" y="3658679"/>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777551"/>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4061015"/>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 signifie « la machine apprend » ?</a:t>
            </a:r>
          </a:p>
        </p:txBody>
      </p:sp>
      <p:sp>
        <p:nvSpPr>
          <p:cNvPr id="9" name="TextBox 8"/>
          <p:cNvSpPr txBox="1"/>
          <p:nvPr/>
        </p:nvSpPr>
        <p:spPr>
          <a:xfrm>
            <a:off x="960120" y="4353242"/>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L'IA peut-elle tout mémoriser ?</a:t>
            </a:r>
          </a:p>
        </p:txBody>
      </p:sp>
      <p:sp>
        <p:nvSpPr>
          <p:cNvPr id="10" name="TextBox 9"/>
          <p:cNvSpPr txBox="1"/>
          <p:nvPr/>
        </p:nvSpPr>
        <p:spPr>
          <a:xfrm>
            <a:off x="960120" y="4645469"/>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Que se passe-t-il sans exemples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Trois ingrédients</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Un projet d'IA a besoin de trois choses : des DONNÉES (les exemples), un MODÈLE (un programme à entraîner) et un ORDINATEUR (pour faire les calculs).</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Qu'est-ce qu'un modèle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Quel ingrédient est le plus important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A-t-on besoin d'un supercalculateur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3</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L'entraînement (l'étape d'apprentissage)</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L'entraînement est l'étape où le modèle regarde tous les exemples plusieurs fois et s'ajuste. C'est comme s'entraîner jusqu'à devenir meilleur.</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 se passe-t-il pendant l'entraînement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Pourquoi répète-t-on plusieurs fois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Qu'est-ce qu'une époque (epoch)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4</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La prédiction (l'étape d'utilisation)</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Après l'entraînement, le modèle peut rencontrer des données NOUVELLES qu'il n'a jamais vues et faire une prédiction, comme « cette photo contient un chat ».</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Qu'est-ce qu'une prédiction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Peut-on tester le modèle sur les données d'entraînement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Une prédiction est-elle toujours correcte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5</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L'analogie : apprendre à un enfant</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Imagine apprendre à un enfant à reconnaître des animaux. Tu montres un chien et tu dis « chien », et l'enfant construit des règles. L'IA fait la même chose, mais avec des nombres et des programmes.</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En quoi l'IA ressemble-t-elle à un enfant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Quel est le rôle du « professeur »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Quelle est la différence avec un enfant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6</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L'apprentissage supervisé</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Les exemples sont étiquetés : « c'est un chat », « c'est un chien ». La machine apprend le lien entre l'image et l'étiquette. C'est l'approche la plus courante et la plus facile pour les débutants.</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Qu'est-ce qu'une étiquette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Pourquoi dit-on « supervisé »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Donne un exemple simple.</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7</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L'apprentissage non supervisé</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Les exemples n'ont AUCUNE étiquette. La machine doit trouver toute seule des groupes et des régularités, comme regrouper des clients selon leurs habitudes d'achat.</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Qu'est-ce que le regroupement (clustering)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Donne un exemple.</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Pourquoi dit-on « non supervisé »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8</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L'apprentissage par renforcement</a:t>
            </a:r>
          </a:p>
        </p:txBody>
      </p:sp>
      <p:sp>
        <p:nvSpPr>
          <p:cNvPr id="5" name="TextBox 4"/>
          <p:cNvSpPr txBox="1"/>
          <p:nvPr/>
        </p:nvSpPr>
        <p:spPr>
          <a:xfrm>
            <a:off x="777240" y="2110168"/>
            <a:ext cx="10634472" cy="113918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La machine apprend par essais et erreurs. Elle reçoit une récompense quand elle réussit et une pénalité quand elle échoue. C'est utilisé pour les jeux et les robots.</a:t>
            </a:r>
          </a:p>
        </p:txBody>
      </p:sp>
      <p:sp>
        <p:nvSpPr>
          <p:cNvPr id="6" name="Rounded Rectangle 5"/>
          <p:cNvSpPr/>
          <p:nvPr/>
        </p:nvSpPr>
        <p:spPr>
          <a:xfrm>
            <a:off x="777240" y="3468814"/>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587686"/>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3871150"/>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Comment un robot apprend-il à marcher ?</a:t>
            </a:r>
          </a:p>
        </p:txBody>
      </p:sp>
      <p:sp>
        <p:nvSpPr>
          <p:cNvPr id="9" name="TextBox 8"/>
          <p:cNvSpPr txBox="1"/>
          <p:nvPr/>
        </p:nvSpPr>
        <p:spPr>
          <a:xfrm>
            <a:off x="960120" y="4163377"/>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Qu'est-ce qu'une récompense ?</a:t>
            </a:r>
          </a:p>
        </p:txBody>
      </p:sp>
      <p:sp>
        <p:nvSpPr>
          <p:cNvPr id="10" name="TextBox 9"/>
          <p:cNvSpPr txBox="1"/>
          <p:nvPr/>
        </p:nvSpPr>
        <p:spPr>
          <a:xfrm>
            <a:off x="960120" y="4455604"/>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Où est-il utilisé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9</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Un petit « neurone »</a:t>
            </a:r>
          </a:p>
        </p:txBody>
      </p:sp>
      <p:sp>
        <p:nvSpPr>
          <p:cNvPr id="5" name="TextBox 4"/>
          <p:cNvSpPr txBox="1"/>
          <p:nvPr/>
        </p:nvSpPr>
        <p:spPr>
          <a:xfrm>
            <a:off x="777240" y="1920303"/>
            <a:ext cx="10634472" cy="151891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Un réseau de neurones est fait de petites unités appelées neurones. Chaque neurone reçoit un nombre, le transforme et transmet le résultat au suivant. Beaucoup de neurones ensemble peuvent apprendre des choses complexes.</a:t>
            </a:r>
          </a:p>
        </p:txBody>
      </p:sp>
      <p:sp>
        <p:nvSpPr>
          <p:cNvPr id="6" name="Rounded Rectangle 5"/>
          <p:cNvSpPr/>
          <p:nvPr/>
        </p:nvSpPr>
        <p:spPr>
          <a:xfrm>
            <a:off x="777240" y="3658679"/>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777551"/>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4061015"/>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Qu'est-ce qu'un neurone en IA ?</a:t>
            </a:r>
          </a:p>
        </p:txBody>
      </p:sp>
      <p:sp>
        <p:nvSpPr>
          <p:cNvPr id="9" name="TextBox 8"/>
          <p:cNvSpPr txBox="1"/>
          <p:nvPr/>
        </p:nvSpPr>
        <p:spPr>
          <a:xfrm>
            <a:off x="960120" y="4353242"/>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Qu'est-ce qu'un « réseau » ?</a:t>
            </a:r>
          </a:p>
        </p:txBody>
      </p:sp>
      <p:sp>
        <p:nvSpPr>
          <p:cNvPr id="10" name="TextBox 9"/>
          <p:cNvSpPr txBox="1"/>
          <p:nvPr/>
        </p:nvSpPr>
        <p:spPr>
          <a:xfrm>
            <a:off x="960120" y="4645469"/>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Faut-il comprendre toutes les mathématiques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685800" y="530352"/>
            <a:ext cx="1298448" cy="384048"/>
          </a:xfrm>
          <a:prstGeom prst="roundRect">
            <a:avLst>
              <a:gd name="adj" fmla="val 4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30352"/>
            <a:ext cx="1298448" cy="384048"/>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10</a:t>
            </a:r>
          </a:p>
        </p:txBody>
      </p:sp>
      <p:sp>
        <p:nvSpPr>
          <p:cNvPr id="4" name="TextBox 3"/>
          <p:cNvSpPr txBox="1"/>
          <p:nvPr/>
        </p:nvSpPr>
        <p:spPr>
          <a:xfrm>
            <a:off x="2103120" y="530352"/>
            <a:ext cx="9052560" cy="51054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122A4F"/>
                </a:solidFill>
                <a:latin typeface="Calibri"/>
              </a:rPr>
              <a:t>Tout devient des nombres</a:t>
            </a:r>
          </a:p>
        </p:txBody>
      </p:sp>
      <p:sp>
        <p:nvSpPr>
          <p:cNvPr id="5" name="TextBox 4"/>
          <p:cNvSpPr txBox="1"/>
          <p:nvPr/>
        </p:nvSpPr>
        <p:spPr>
          <a:xfrm>
            <a:off x="777240" y="1920303"/>
            <a:ext cx="10634472" cy="151891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B2433"/>
                </a:solidFill>
                <a:latin typeface="Calibri"/>
              </a:rPr>
              <a:t>L'ordinateur ne voit pas des images ou des mots, seulement des nombres. Une photo devient un tableau de nombres (pixels). Un texte devient des listes de nombres. L'IA, ce sont des mathématiques appliquées à ces nombres.</a:t>
            </a:r>
          </a:p>
        </p:txBody>
      </p:sp>
      <p:sp>
        <p:nvSpPr>
          <p:cNvPr id="6" name="Rounded Rectangle 5"/>
          <p:cNvSpPr/>
          <p:nvPr/>
        </p:nvSpPr>
        <p:spPr>
          <a:xfrm>
            <a:off x="777240" y="3658679"/>
            <a:ext cx="10634472" cy="1370457"/>
          </a:xfrm>
          <a:prstGeom prst="roundRect">
            <a:avLst>
              <a:gd name="adj" fmla="val 5000"/>
            </a:avLst>
          </a:prstGeom>
          <a:solidFill>
            <a:srgbClr val="F3F6FA"/>
          </a:solidFill>
          <a:ln w="12700">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777551"/>
            <a:ext cx="10268712" cy="274320"/>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F5C99"/>
                </a:solidFill>
                <a:latin typeface="Calibri"/>
              </a:rPr>
              <a:t>Questions de la séance</a:t>
            </a:r>
          </a:p>
        </p:txBody>
      </p:sp>
      <p:sp>
        <p:nvSpPr>
          <p:cNvPr id="8" name="TextBox 7"/>
          <p:cNvSpPr txBox="1"/>
          <p:nvPr/>
        </p:nvSpPr>
        <p:spPr>
          <a:xfrm>
            <a:off x="960120" y="4061015"/>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1. </a:t>
            </a:r>
            <a:r>
              <a:rPr sz="1500" b="0" i="0">
                <a:solidFill>
                  <a:srgbClr val="1B2433"/>
                </a:solidFill>
                <a:latin typeface="Calibri"/>
              </a:rPr>
              <a:t>Comment un ordinateur voit-il une photo ?</a:t>
            </a:r>
          </a:p>
        </p:txBody>
      </p:sp>
      <p:sp>
        <p:nvSpPr>
          <p:cNvPr id="9" name="TextBox 8"/>
          <p:cNvSpPr txBox="1"/>
          <p:nvPr/>
        </p:nvSpPr>
        <p:spPr>
          <a:xfrm>
            <a:off x="960120" y="4353242"/>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2. </a:t>
            </a:r>
            <a:r>
              <a:rPr sz="1500" b="0" i="0">
                <a:solidFill>
                  <a:srgbClr val="1B2433"/>
                </a:solidFill>
                <a:latin typeface="Calibri"/>
              </a:rPr>
              <a:t>Comment voit-il un mot ?</a:t>
            </a:r>
          </a:p>
        </p:txBody>
      </p:sp>
      <p:sp>
        <p:nvSpPr>
          <p:cNvPr id="10" name="TextBox 9"/>
          <p:cNvSpPr txBox="1"/>
          <p:nvPr/>
        </p:nvSpPr>
        <p:spPr>
          <a:xfrm>
            <a:off x="960120" y="4645469"/>
            <a:ext cx="10268712" cy="255651"/>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C26A0A"/>
                </a:solidFill>
                <a:latin typeface="Calibri"/>
              </a:rPr>
              <a:t>3. </a:t>
            </a:r>
            <a:r>
              <a:rPr sz="1500" b="0" i="0">
                <a:solidFill>
                  <a:srgbClr val="1B2433"/>
                </a:solidFill>
                <a:latin typeface="Calibri"/>
              </a:rPr>
              <a:t>Alors, qu'est-ce que l'IA au niveau le plus profond ?</a:t>
            </a:r>
          </a:p>
        </p:txBody>
      </p:sp>
      <p:sp>
        <p:nvSpPr>
          <p:cNvPr id="11" name="Rectangle 10"/>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IA IA  |  Dr. Madani BELACEL — Université de Mostaganem</a:t>
            </a:r>
          </a:p>
        </p:txBody>
      </p:sp>
      <p:sp>
        <p:nvSpPr>
          <p:cNvPr id="13" name="TextBox 12"/>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