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 IA — Ton premier projet IA.</a:t>
            </a:r>
          </a:p>
          <a:p>
            <a:r>
              <a:t>10 idées, 30 questions et réponses.</a:t>
            </a:r>
          </a:p>
          <a:p>
            <a:r>
              <a:t>Les Q/R sont dans les notes : mode Présentateur (Diaporama → Mode Présentateur) pour les lire pendant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 — L'objectif de ce mini-projet</a:t>
            </a:r>
          </a:p>
          <a:p/>
          <a:p>
            <a:r>
              <a:t>── QUESTIONS &amp; RÉPONSES ──</a:t>
            </a:r>
          </a:p>
          <a:p>
            <a:r>
              <a:t>Q1. Que prédisons-nous ?</a:t>
            </a:r>
          </a:p>
          <a:p>
            <a:r>
              <a:t>R1. L'espèce d'une fleur d'iris : setosa, versicolor ou virginica.</a:t>
            </a:r>
          </a:p>
          <a:p/>
          <a:p>
            <a:r>
              <a:t>Q2. Quelles données utilise-t-il ?</a:t>
            </a:r>
          </a:p>
          <a:p>
            <a:r>
              <a:t>R2. 4 mesures prises sur chaque fleur : longueur/largeur du sépale et du pétale.</a:t>
            </a:r>
          </a:p>
          <a:p/>
          <a:p>
            <a:r>
              <a:t>Q3. Pourquoi cet exemple ?</a:t>
            </a:r>
          </a:p>
          <a:p>
            <a:r>
              <a:t>R3. Il est petit, gratuit, équilibré et parfait pour comprendre les 6 étapes du cours 04.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 — Où exécuter le code</a:t>
            </a:r>
          </a:p>
          <a:p/>
          <a:p>
            <a:r>
              <a:t>── QUESTIONS &amp; RÉPONSES ──</a:t>
            </a:r>
          </a:p>
          <a:p>
            <a:r>
              <a:t>Q1. Qu'est-ce qu'un cahier (notebook) ?</a:t>
            </a:r>
          </a:p>
          <a:p>
            <a:r>
              <a:t>R1. Un document qui mélange texte, code et résultats. Chaque bloc s'appelle une « cellule ».</a:t>
            </a:r>
          </a:p>
          <a:p/>
          <a:p>
            <a:r>
              <a:t>Q2. Comment exécuter une cellule ?</a:t>
            </a:r>
          </a:p>
          <a:p>
            <a:r>
              <a:t>R2. Clique sur la cellule et appuie sur Shift+Entrée.</a:t>
            </a:r>
          </a:p>
          <a:p/>
          <a:p>
            <a:r>
              <a:t>Q3. Dois-je installer Python ?</a:t>
            </a:r>
          </a:p>
          <a:p>
            <a:r>
              <a:t>R3. Non. Colab a déjà Python et les bibliothèques d'IA installés.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3 — Le code complet</a:t>
            </a:r>
          </a:p>
          <a:p/>
          <a:p>
            <a:r>
              <a:t>── QUESTIONS &amp; RÉPONSES ──</a:t>
            </a:r>
          </a:p>
          <a:p>
            <a:r>
              <a:t>Q1. Que fait l'étape 5 (fit) ?</a:t>
            </a:r>
          </a:p>
          <a:p>
            <a:r>
              <a:t>R1. Elle entraîne le modèle avec 70% des fleurs, pour qu'il apprenne les régularités.</a:t>
            </a:r>
          </a:p>
          <a:p/>
          <a:p>
            <a:r>
              <a:t>Q2. Qu'affiche la dernière ligne ?</a:t>
            </a:r>
          </a:p>
          <a:p>
            <a:r>
              <a:t>R2. Le pourcentage de bonnes réponses sur les 30% de fleurs que le modèle n'a jamais vues.</a:t>
            </a:r>
          </a:p>
          <a:p/>
          <a:p>
            <a:r>
              <a:t>Q3. Dois-je comprendre chaque ligne maintenant ?</a:t>
            </a:r>
          </a:p>
          <a:p>
            <a:r>
              <a:t>R3. Non. D'abord lance-le et regarde le résultat. La compréhension viendra avec le temps.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4 — La séparation entraînement / test</a:t>
            </a:r>
          </a:p>
          <a:p/>
          <a:p>
            <a:r>
              <a:t>── QUESTIONS &amp; RÉPONSES ──</a:t>
            </a:r>
          </a:p>
          <a:p>
            <a:r>
              <a:t>Q1. Pourquoi séparer entraînement et test ?</a:t>
            </a:r>
          </a:p>
          <a:p>
            <a:r>
              <a:t>R1. Pour prouver que le modèle généralise et ne se contente pas de mémoriser.</a:t>
            </a:r>
          </a:p>
          <a:p/>
          <a:p>
            <a:r>
              <a:t>Q2. Quel pourcentage choisir ?</a:t>
            </a:r>
          </a:p>
          <a:p>
            <a:r>
              <a:t>R2. Environ 70-80% pour l'entraînement et 20-30% pour le test est un choix courant.</a:t>
            </a:r>
          </a:p>
          <a:p/>
          <a:p>
            <a:r>
              <a:t>Q3. Qu'est-ce que random_state=42 ?</a:t>
            </a:r>
          </a:p>
          <a:p>
            <a:r>
              <a:t>R3. Une valeur fixe pour que la séparation soit toujours la même : le projet est reproductible.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5 — Lire le résultat</a:t>
            </a:r>
          </a:p>
          <a:p/>
          <a:p>
            <a:r>
              <a:t>── QUESTIONS &amp; RÉPONSES ──</a:t>
            </a:r>
          </a:p>
          <a:p>
            <a:r>
              <a:t>Q1. Que signifie précision = 0.95 ?</a:t>
            </a:r>
          </a:p>
          <a:p>
            <a:r>
              <a:t>R1. 95% des fleurs testées ont été bien classées.</a:t>
            </a:r>
          </a:p>
          <a:p/>
          <a:p>
            <a:r>
              <a:t>Q2. 100%, est-ce normal ?</a:t>
            </a:r>
          </a:p>
          <a:p>
            <a:r>
              <a:t>R2. Parfois sur des données faciles, mais sur de vrais problèmes cela signifie généralement que les données sont trop petites ou trop faciles.</a:t>
            </a:r>
          </a:p>
          <a:p/>
          <a:p>
            <a:r>
              <a:t>Q3. Que faire si la précision est faible (60%) ?</a:t>
            </a:r>
          </a:p>
          <a:p>
            <a:r>
              <a:t>R3. Augmenter les données, mieux les nettoyer, ou essayer un autre modèle avec d'autres réglages.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6 — Prédire une seule fleur</a:t>
            </a:r>
          </a:p>
          <a:p/>
          <a:p>
            <a:r>
              <a:t>── QUESTIONS &amp; RÉPONSES ──</a:t>
            </a:r>
          </a:p>
          <a:p>
            <a:r>
              <a:t>Q1. Qu'est-ce que new_flower ?</a:t>
            </a:r>
          </a:p>
          <a:p>
            <a:r>
              <a:t>R1. Un exemple inventé : une ligne de 4 nombres, les mesures de la fleur.</a:t>
            </a:r>
          </a:p>
          <a:p/>
          <a:p>
            <a:r>
              <a:t>Q2. Pourquoi répond-il avec un nombre ?</a:t>
            </a:r>
          </a:p>
          <a:p>
            <a:r>
              <a:t>R2. Le modèle travaille avec des nombres. Le nombre 0, 1 ou 2 correspond à une espèce.</a:t>
            </a:r>
          </a:p>
          <a:p/>
          <a:p>
            <a:r>
              <a:t>Q3. Que signifie « 0 = setosa » ?</a:t>
            </a:r>
          </a:p>
          <a:p>
            <a:r>
              <a:t>R3. Les noms des cibles du jeu de données : l'index 0 est setosa, 1 versicolor, 2 virginica.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7 — Les mêmes étapes quand on cuisine</a:t>
            </a:r>
          </a:p>
          <a:p/>
          <a:p>
            <a:r>
              <a:t>── QUESTIONS &amp; RÉPONSES ──</a:t>
            </a:r>
          </a:p>
          <a:p>
            <a:r>
              <a:t>Q1. Quelle est la recette dans l'IA ?</a:t>
            </a:r>
          </a:p>
          <a:p>
            <a:r>
              <a:t>R1. Le modèle choisi avec ses réglages.</a:t>
            </a:r>
          </a:p>
          <a:p/>
          <a:p>
            <a:r>
              <a:t>Q2. Qu'est-ce que « cuisiner » dans l'IA ?</a:t>
            </a:r>
          </a:p>
          <a:p>
            <a:r>
              <a:t>R2. L'entraînement : le moment où le modèle apprend à partir des données.</a:t>
            </a:r>
          </a:p>
          <a:p/>
          <a:p>
            <a:r>
              <a:t>Q3. Qu'est-ce que « goûter » dans l'IA ?</a:t>
            </a:r>
          </a:p>
          <a:p>
            <a:r>
              <a:t>R3. Tester : vérifier le résultat et améliorer à partir des retours.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8 — Où trouver tes premiers projets</a:t>
            </a:r>
          </a:p>
          <a:p/>
          <a:p>
            <a:r>
              <a:t>── QUESTIONS &amp; RÉPONSES ──</a:t>
            </a:r>
          </a:p>
          <a:p>
            <a:r>
              <a:t>Q1. Les données iris sont-elles gratuites ?</a:t>
            </a:r>
          </a:p>
          <a:p>
            <a:r>
              <a:t>R1. Oui, elles sont intégrées à scikit-learn : load_iris() te les donne gratuitement.</a:t>
            </a:r>
          </a:p>
          <a:p/>
          <a:p>
            <a:r>
              <a:t>Q2. Puis-je commencer avec un autre jeu de données aussi facilement ?</a:t>
            </a:r>
          </a:p>
          <a:p>
            <a:r>
              <a:t>R2. Oui : scikit-learn a plusieurs petits jeux de données intégrés (digits, vin, cancer du sein).</a:t>
            </a:r>
          </a:p>
          <a:p/>
          <a:p>
            <a:r>
              <a:t>Q3. Y a-t-il une communauté pour aider ?</a:t>
            </a:r>
          </a:p>
          <a:p>
            <a:r>
              <a:t>R3. Oui : des forums, des sites de questions et des tutoriels de nombreux enseignants et étudiants.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9 — Les erreurs de débutant les plus courantes</a:t>
            </a:r>
          </a:p>
          <a:p/>
          <a:p>
            <a:r>
              <a:t>── QUESTIONS &amp; RÉPONSES ──</a:t>
            </a:r>
          </a:p>
          <a:p>
            <a:r>
              <a:t>Q1. Pourquoi ne pas tester sur les données d'entraînement ?</a:t>
            </a:r>
          </a:p>
          <a:p>
            <a:r>
              <a:t>R1. Parce que le modèle les a déjà vues ; le score serait faux et trop beau.</a:t>
            </a:r>
          </a:p>
          <a:p/>
          <a:p>
            <a:r>
              <a:t>Q2. Pourquoi des données sales nuisent-elles ?</a:t>
            </a:r>
          </a:p>
          <a:p>
            <a:r>
              <a:t>R2. Le modèle apprend à partir des données, donc les erreurs des données deviennent des erreurs de l'IA.</a:t>
            </a:r>
          </a:p>
          <a:p/>
          <a:p>
            <a:r>
              <a:t>Q3. Qu'est-ce qu'un « modèle trop gros » ?</a:t>
            </a:r>
          </a:p>
          <a:p>
            <a:r>
              <a:t>R3. Un réseau profond avec des millions de paramètres pour 30 lignes de données : il va simplement mémoriser.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10 — Tes 5 prochaines étapes</a:t>
            </a:r>
          </a:p>
          <a:p/>
          <a:p>
            <a:r>
              <a:t>── QUESTIONS &amp; RÉPONSES ──</a:t>
            </a:r>
          </a:p>
          <a:p>
            <a:r>
              <a:t>Q1. Qu'est-ce que le jeu de données digits ?</a:t>
            </a:r>
          </a:p>
          <a:p>
            <a:r>
              <a:t>R1. Des images de chiffres de 0 à 9 dessinées par ordinateur, un exercice classique de classification d'images.</a:t>
            </a:r>
          </a:p>
          <a:p/>
          <a:p>
            <a:r>
              <a:t>Q2. Quelle est la meilleure prochaine étape ?</a:t>
            </a:r>
          </a:p>
          <a:p>
            <a:r>
              <a:t>R2. Refaire le même projet avec un autre modèle et observer comment la précision change.</a:t>
            </a:r>
          </a:p>
          <a:p/>
          <a:p>
            <a:r>
              <a:t>Q3. Quand commencer le deep learning ?</a:t>
            </a:r>
          </a:p>
          <a:p>
            <a:r>
              <a:t>R3. Après être à l'aise avec les 6 étapes et les modèles de base.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411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niversité_de_Mostaganem.png"/>
          <p:cNvPicPr>
            <a:picLocks noChangeAspect="1"/>
          </p:cNvPicPr>
          <p:nvPr/>
        </p:nvPicPr>
        <p:blipFill>
          <a:blip r:embed="rId2"/>
          <a:stretch>
            <a:fillRect/>
          </a:stretch>
        </p:blipFill>
        <p:spPr>
          <a:xfrm>
            <a:off x="731520" y="201167"/>
            <a:ext cx="999743" cy="969264"/>
          </a:xfrm>
          <a:prstGeom prst="rect">
            <a:avLst/>
          </a:prstGeom>
        </p:spPr>
      </p:pic>
      <p:pic>
        <p:nvPicPr>
          <p:cNvPr id="5" name="Picture 4" descr="LOGO-FLE-UNIV-Mosta.jpeg"/>
          <p:cNvPicPr>
            <a:picLocks noChangeAspect="1"/>
          </p:cNvPicPr>
          <p:nvPr/>
        </p:nvPicPr>
        <p:blipFill>
          <a:blip r:embed="rId3"/>
          <a:stretch>
            <a:fillRect/>
          </a:stretch>
        </p:blipFill>
        <p:spPr>
          <a:xfrm>
            <a:off x="2042160" y="201167"/>
            <a:ext cx="825669" cy="969264"/>
          </a:xfrm>
          <a:prstGeom prst="rect">
            <a:avLst/>
          </a:prstGeom>
        </p:spPr>
      </p:pic>
      <p:sp>
        <p:nvSpPr>
          <p:cNvPr id="6" name="Rectangle 5"/>
          <p:cNvSpPr/>
          <p:nvPr/>
        </p:nvSpPr>
        <p:spPr>
          <a:xfrm>
            <a:off x="3288453" y="438912"/>
            <a:ext cx="10972" cy="493776"/>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2773" y="384048"/>
            <a:ext cx="7897401" cy="621792"/>
          </a:xfrm>
          <a:prstGeom prst="rect">
            <a:avLst/>
          </a:prstGeom>
          <a:noFill/>
        </p:spPr>
        <p:txBody>
          <a:bodyPr wrap="square" lIns="0" rIns="0" tIns="0" bIns="0" anchor="ctr">
            <a:spAutoFit/>
          </a:bodyPr>
          <a:lstStyle/>
          <a:p>
            <a:pPr algn="l">
              <a:lnSpc>
                <a:spcPct val="112000"/>
              </a:lnSpc>
              <a:spcBef>
                <a:spcPts val="0"/>
              </a:spcBef>
              <a:spcAft>
                <a:spcPts val="200"/>
              </a:spcAft>
            </a:pPr>
            <a:r>
              <a:rPr sz="1250" b="1" i="0">
                <a:solidFill>
                  <a:srgbClr val="122A4F"/>
                </a:solidFill>
                <a:latin typeface="Calibri"/>
              </a:rPr>
              <a:t>Université de Mostaganem  ·  Faculté des Langues Étrangères</a:t>
            </a:r>
          </a:p>
          <a:p>
            <a:pPr algn="l">
              <a:lnSpc>
                <a:spcPct val="112000"/>
              </a:lnSpc>
              <a:spcBef>
                <a:spcPts val="0"/>
              </a:spcBef>
              <a:spcAft>
                <a:spcPts val="0"/>
              </a:spcAft>
            </a:pPr>
            <a:r>
              <a:rPr sz="1100" b="0" i="0">
                <a:solidFill>
                  <a:srgbClr val="5B6879"/>
                </a:solidFill>
                <a:latin typeface="Calibri"/>
              </a:rPr>
              <a:t>2ᵉ année PEP  ·  Année universitaire 2026 – 2027</a:t>
            </a:r>
          </a:p>
        </p:txBody>
      </p:sp>
      <p:sp>
        <p:nvSpPr>
          <p:cNvPr id="8" name="Rectangle 7"/>
          <p:cNvSpPr/>
          <p:nvPr/>
        </p:nvSpPr>
        <p:spPr>
          <a:xfrm>
            <a:off x="0" y="1412748"/>
            <a:ext cx="12191695" cy="5445252"/>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412748"/>
            <a:ext cx="164592" cy="544525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212848"/>
            <a:ext cx="1463040" cy="6400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100584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Calibri"/>
              </a:rPr>
              <a:t>Ton premier projet IA</a:t>
            </a:r>
          </a:p>
        </p:txBody>
      </p:sp>
      <p:sp>
        <p:nvSpPr>
          <p:cNvPr id="12" name="TextBox 11"/>
          <p:cNvSpPr txBox="1"/>
          <p:nvPr/>
        </p:nvSpPr>
        <p:spPr>
          <a:xfrm>
            <a:off x="914400" y="3621024"/>
            <a:ext cx="9966960" cy="566928"/>
          </a:xfrm>
          <a:prstGeom prst="rect">
            <a:avLst/>
          </a:prstGeom>
          <a:noFill/>
        </p:spPr>
        <p:txBody>
          <a:bodyPr wrap="square" lIns="0" rIns="0" tIns="0" bIns="0" anchor="t">
            <a:spAutoFit/>
          </a:bodyPr>
          <a:lstStyle/>
          <a:p>
            <a:pPr algn="l">
              <a:lnSpc>
                <a:spcPct val="112000"/>
              </a:lnSpc>
              <a:spcBef>
                <a:spcPts val="0"/>
              </a:spcBef>
              <a:spcAft>
                <a:spcPts val="0"/>
              </a:spcAft>
            </a:pPr>
            <a:r>
              <a:rPr sz="1700" b="0" i="1">
                <a:solidFill>
                  <a:srgbClr val="9EBADA"/>
                </a:solidFill>
                <a:latin typeface="Calibri"/>
              </a:rPr>
              <a:t>Un projet complet, gratuit et simple, avec du vrai code</a:t>
            </a:r>
          </a:p>
        </p:txBody>
      </p:sp>
      <p:sp>
        <p:nvSpPr>
          <p:cNvPr id="13" name="Rounded Rectangle 12"/>
          <p:cNvSpPr/>
          <p:nvPr/>
        </p:nvSpPr>
        <p:spPr>
          <a:xfrm>
            <a:off x="914400" y="4315968"/>
            <a:ext cx="4937760" cy="530352"/>
          </a:xfrm>
          <a:prstGeom prst="roundRect">
            <a:avLst>
              <a:gd name="adj" fmla="val 3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15968"/>
            <a:ext cx="4937760" cy="530352"/>
          </a:xfrm>
          <a:prstGeom prst="rect">
            <a:avLst/>
          </a:prstGeom>
          <a:noFill/>
        </p:spPr>
        <p:txBody>
          <a:bodyPr wrap="square" lIns="0" rIns="0" tIns="0" bIns="0" anchor="ctr">
            <a:spAutoFit/>
          </a:bodyPr>
          <a:lstStyle/>
          <a:p>
            <a:pPr algn="ctr">
              <a:lnSpc>
                <a:spcPct val="112000"/>
              </a:lnSpc>
              <a:spcBef>
                <a:spcPts val="0"/>
              </a:spcBef>
              <a:spcAft>
                <a:spcPts val="0"/>
              </a:spcAft>
            </a:pPr>
            <a:r>
              <a:rPr sz="1500" b="1" i="0">
                <a:solidFill>
                  <a:srgbClr val="122A4F"/>
                </a:solidFill>
                <a:latin typeface="Calibri"/>
              </a:rPr>
              <a:t>Questions &amp; Réponses — Cours IA</a:t>
            </a:r>
          </a:p>
        </p:txBody>
      </p:sp>
      <p:sp>
        <p:nvSpPr>
          <p:cNvPr id="15" name="Rectangle 14"/>
          <p:cNvSpPr/>
          <p:nvPr/>
        </p:nvSpPr>
        <p:spPr>
          <a:xfrm>
            <a:off x="914400" y="5230368"/>
            <a:ext cx="10360152" cy="10972"/>
          </a:xfrm>
          <a:prstGeom prst="rect">
            <a:avLst/>
          </a:prstGeom>
          <a:solidFill>
            <a:srgbClr val="2C4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9824"/>
            <a:ext cx="10332720" cy="914400"/>
          </a:xfrm>
          <a:prstGeom prst="rect">
            <a:avLst/>
          </a:prstGeom>
          <a:noFill/>
        </p:spPr>
        <p:txBody>
          <a:bodyPr wrap="square" lIns="0" rIns="0" tIns="0" bIns="0" anchor="t">
            <a:spAutoFit/>
          </a:bodyPr>
          <a:lstStyle/>
          <a:p>
            <a:pPr algn="l">
              <a:lnSpc>
                <a:spcPct val="112000"/>
              </a:lnSpc>
              <a:spcBef>
                <a:spcPts val="0"/>
              </a:spcBef>
              <a:spcAft>
                <a:spcPts val="300"/>
              </a:spcAft>
            </a:pPr>
            <a:r>
              <a:rPr sz="1600" b="1" i="0">
                <a:solidFill>
                  <a:srgbClr val="FFFFFF"/>
                </a:solidFill>
                <a:latin typeface="Calibri"/>
              </a:rPr>
              <a:t>Dr. Madani BELACEL — MCB</a:t>
            </a:r>
          </a:p>
          <a:p>
            <a:pPr algn="l">
              <a:lnSpc>
                <a:spcPct val="112000"/>
              </a:lnSpc>
              <a:spcBef>
                <a:spcPts val="0"/>
              </a:spcBef>
              <a:spcAft>
                <a:spcPts val="0"/>
              </a:spcAft>
            </a:pPr>
            <a:r>
              <a:rPr sz="1000" b="0" i="0">
                <a:solidFill>
                  <a:srgbClr val="7E93AD"/>
                </a:solidFill>
                <a:latin typeface="Calibri"/>
              </a:rPr>
              <a:t>Cours en ligne : madani-belacel.github.io/site-enseignement-belacel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Plan du cours</a:t>
            </a:r>
          </a:p>
        </p:txBody>
      </p:sp>
      <p:sp>
        <p:nvSpPr>
          <p:cNvPr id="3" name="Rounded Rectangle 2"/>
          <p:cNvSpPr/>
          <p:nvPr/>
        </p:nvSpPr>
        <p:spPr>
          <a:xfrm>
            <a:off x="777240" y="1371600"/>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5256" y="1536192"/>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5" name="TextBox 4"/>
          <p:cNvSpPr txBox="1"/>
          <p:nvPr/>
        </p:nvSpPr>
        <p:spPr>
          <a:xfrm>
            <a:off x="1399032" y="1481328"/>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L'objectif de ce mini-projet</a:t>
            </a:r>
          </a:p>
        </p:txBody>
      </p:sp>
      <p:sp>
        <p:nvSpPr>
          <p:cNvPr id="6" name="TextBox 5"/>
          <p:cNvSpPr txBox="1"/>
          <p:nvPr/>
        </p:nvSpPr>
        <p:spPr>
          <a:xfrm>
            <a:off x="1399032" y="1865376"/>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7" name="Rounded Rectangle 6"/>
          <p:cNvSpPr/>
          <p:nvPr/>
        </p:nvSpPr>
        <p:spPr>
          <a:xfrm>
            <a:off x="777240" y="2267712"/>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5256" y="2432304"/>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9" name="TextBox 8"/>
          <p:cNvSpPr txBox="1"/>
          <p:nvPr/>
        </p:nvSpPr>
        <p:spPr>
          <a:xfrm>
            <a:off x="1399032" y="2377440"/>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Où exécuter le code</a:t>
            </a:r>
          </a:p>
        </p:txBody>
      </p:sp>
      <p:sp>
        <p:nvSpPr>
          <p:cNvPr id="10" name="TextBox 9"/>
          <p:cNvSpPr txBox="1"/>
          <p:nvPr/>
        </p:nvSpPr>
        <p:spPr>
          <a:xfrm>
            <a:off x="1399032" y="2761488"/>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1" name="Rounded Rectangle 10"/>
          <p:cNvSpPr/>
          <p:nvPr/>
        </p:nvSpPr>
        <p:spPr>
          <a:xfrm>
            <a:off x="777240" y="3163824"/>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328416"/>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3" name="TextBox 12"/>
          <p:cNvSpPr txBox="1"/>
          <p:nvPr/>
        </p:nvSpPr>
        <p:spPr>
          <a:xfrm>
            <a:off x="1399032" y="3273552"/>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Le code complet</a:t>
            </a:r>
          </a:p>
        </p:txBody>
      </p:sp>
      <p:sp>
        <p:nvSpPr>
          <p:cNvPr id="14" name="TextBox 13"/>
          <p:cNvSpPr txBox="1"/>
          <p:nvPr/>
        </p:nvSpPr>
        <p:spPr>
          <a:xfrm>
            <a:off x="1399032" y="3657600"/>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5" name="Rounded Rectangle 14"/>
          <p:cNvSpPr/>
          <p:nvPr/>
        </p:nvSpPr>
        <p:spPr>
          <a:xfrm>
            <a:off x="777240" y="4059935"/>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5256" y="4224527"/>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17" name="TextBox 16"/>
          <p:cNvSpPr txBox="1"/>
          <p:nvPr/>
        </p:nvSpPr>
        <p:spPr>
          <a:xfrm>
            <a:off x="1399032" y="4169663"/>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400" b="0" i="0">
                <a:solidFill>
                  <a:srgbClr val="1B2433"/>
                </a:solidFill>
                <a:latin typeface="Calibri"/>
              </a:rPr>
              <a:t>La séparation entraînement / test</a:t>
            </a:r>
          </a:p>
        </p:txBody>
      </p:sp>
      <p:sp>
        <p:nvSpPr>
          <p:cNvPr id="18" name="TextBox 17"/>
          <p:cNvSpPr txBox="1"/>
          <p:nvPr/>
        </p:nvSpPr>
        <p:spPr>
          <a:xfrm>
            <a:off x="1399032" y="4553712"/>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9" name="Rounded Rectangle 18"/>
          <p:cNvSpPr/>
          <p:nvPr/>
        </p:nvSpPr>
        <p:spPr>
          <a:xfrm>
            <a:off x="777240" y="4956048"/>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5256" y="5120640"/>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1" name="TextBox 20"/>
          <p:cNvSpPr txBox="1"/>
          <p:nvPr/>
        </p:nvSpPr>
        <p:spPr>
          <a:xfrm>
            <a:off x="1399032" y="5065776"/>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Lire le résultat</a:t>
            </a:r>
          </a:p>
        </p:txBody>
      </p:sp>
      <p:sp>
        <p:nvSpPr>
          <p:cNvPr id="22" name="TextBox 21"/>
          <p:cNvSpPr txBox="1"/>
          <p:nvPr/>
        </p:nvSpPr>
        <p:spPr>
          <a:xfrm>
            <a:off x="1399032" y="5449824"/>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23" name="Rounded Rectangle 22"/>
          <p:cNvSpPr/>
          <p:nvPr/>
        </p:nvSpPr>
        <p:spPr>
          <a:xfrm>
            <a:off x="6309359" y="1371600"/>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7375" y="1536192"/>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6</a:t>
            </a:r>
          </a:p>
        </p:txBody>
      </p:sp>
      <p:sp>
        <p:nvSpPr>
          <p:cNvPr id="25" name="TextBox 24"/>
          <p:cNvSpPr txBox="1"/>
          <p:nvPr/>
        </p:nvSpPr>
        <p:spPr>
          <a:xfrm>
            <a:off x="6931151" y="1481328"/>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Prédire une seule fleur</a:t>
            </a:r>
          </a:p>
        </p:txBody>
      </p:sp>
      <p:sp>
        <p:nvSpPr>
          <p:cNvPr id="26" name="TextBox 25"/>
          <p:cNvSpPr txBox="1"/>
          <p:nvPr/>
        </p:nvSpPr>
        <p:spPr>
          <a:xfrm>
            <a:off x="6931151" y="1865376"/>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27" name="Rounded Rectangle 26"/>
          <p:cNvSpPr/>
          <p:nvPr/>
        </p:nvSpPr>
        <p:spPr>
          <a:xfrm>
            <a:off x="6309359" y="2267712"/>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37375" y="2432304"/>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7</a:t>
            </a:r>
          </a:p>
        </p:txBody>
      </p:sp>
      <p:sp>
        <p:nvSpPr>
          <p:cNvPr id="29" name="TextBox 28"/>
          <p:cNvSpPr txBox="1"/>
          <p:nvPr/>
        </p:nvSpPr>
        <p:spPr>
          <a:xfrm>
            <a:off x="6931151" y="2377440"/>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400" b="0" i="0">
                <a:solidFill>
                  <a:srgbClr val="1B2433"/>
                </a:solidFill>
                <a:latin typeface="Calibri"/>
              </a:rPr>
              <a:t>Les mêmes étapes quand on cuisine</a:t>
            </a:r>
          </a:p>
        </p:txBody>
      </p:sp>
      <p:sp>
        <p:nvSpPr>
          <p:cNvPr id="30" name="TextBox 29"/>
          <p:cNvSpPr txBox="1"/>
          <p:nvPr/>
        </p:nvSpPr>
        <p:spPr>
          <a:xfrm>
            <a:off x="6931151" y="2761488"/>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1" name="Rounded Rectangle 30"/>
          <p:cNvSpPr/>
          <p:nvPr/>
        </p:nvSpPr>
        <p:spPr>
          <a:xfrm>
            <a:off x="6309359" y="3163824"/>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5" y="3328416"/>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8</a:t>
            </a:r>
          </a:p>
        </p:txBody>
      </p:sp>
      <p:sp>
        <p:nvSpPr>
          <p:cNvPr id="33" name="TextBox 32"/>
          <p:cNvSpPr txBox="1"/>
          <p:nvPr/>
        </p:nvSpPr>
        <p:spPr>
          <a:xfrm>
            <a:off x="6931151" y="3273552"/>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Où trouver tes premiers projets</a:t>
            </a:r>
          </a:p>
        </p:txBody>
      </p:sp>
      <p:sp>
        <p:nvSpPr>
          <p:cNvPr id="34" name="TextBox 33"/>
          <p:cNvSpPr txBox="1"/>
          <p:nvPr/>
        </p:nvSpPr>
        <p:spPr>
          <a:xfrm>
            <a:off x="6931151" y="3657600"/>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5" name="Rounded Rectangle 34"/>
          <p:cNvSpPr/>
          <p:nvPr/>
        </p:nvSpPr>
        <p:spPr>
          <a:xfrm>
            <a:off x="6309359" y="4059935"/>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37375" y="4224527"/>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9</a:t>
            </a:r>
          </a:p>
        </p:txBody>
      </p:sp>
      <p:sp>
        <p:nvSpPr>
          <p:cNvPr id="37" name="TextBox 36"/>
          <p:cNvSpPr txBox="1"/>
          <p:nvPr/>
        </p:nvSpPr>
        <p:spPr>
          <a:xfrm>
            <a:off x="6931151" y="4169663"/>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350" b="0" i="0">
                <a:solidFill>
                  <a:srgbClr val="1B2433"/>
                </a:solidFill>
                <a:latin typeface="Calibri"/>
              </a:rPr>
              <a:t>Les erreurs de débutant les plus courantes</a:t>
            </a:r>
          </a:p>
        </p:txBody>
      </p:sp>
      <p:sp>
        <p:nvSpPr>
          <p:cNvPr id="38" name="TextBox 37"/>
          <p:cNvSpPr txBox="1"/>
          <p:nvPr/>
        </p:nvSpPr>
        <p:spPr>
          <a:xfrm>
            <a:off x="6931151" y="4553712"/>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9" name="Rounded Rectangle 38"/>
          <p:cNvSpPr/>
          <p:nvPr/>
        </p:nvSpPr>
        <p:spPr>
          <a:xfrm>
            <a:off x="6309359" y="4956048"/>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37375" y="5120640"/>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10</a:t>
            </a:r>
          </a:p>
        </p:txBody>
      </p:sp>
      <p:sp>
        <p:nvSpPr>
          <p:cNvPr id="41" name="TextBox 40"/>
          <p:cNvSpPr txBox="1"/>
          <p:nvPr/>
        </p:nvSpPr>
        <p:spPr>
          <a:xfrm>
            <a:off x="6931151" y="5065776"/>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Tes 5 prochaines étapes</a:t>
            </a:r>
          </a:p>
        </p:txBody>
      </p:sp>
      <p:sp>
        <p:nvSpPr>
          <p:cNvPr id="42" name="TextBox 41"/>
          <p:cNvSpPr txBox="1"/>
          <p:nvPr/>
        </p:nvSpPr>
        <p:spPr>
          <a:xfrm>
            <a:off x="6931151" y="5449824"/>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43" name="TextBox 42"/>
          <p:cNvSpPr txBox="1"/>
          <p:nvPr/>
        </p:nvSpPr>
        <p:spPr>
          <a:xfrm>
            <a:off x="777240" y="5888736"/>
            <a:ext cx="10634472" cy="438912"/>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22A4F"/>
                </a:solidFill>
                <a:latin typeface="Calibri"/>
              </a:rPr>
              <a:t>10 idées  ·  30 questions et réponses  ·  0 schémas</a:t>
            </a:r>
          </a:p>
        </p:txBody>
      </p:sp>
      <p:sp>
        <p:nvSpPr>
          <p:cNvPr id="44" name="Rectangle 43"/>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46" name="TextBox 45"/>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L'objectif de ce mini-projet</a:t>
            </a:r>
          </a:p>
        </p:txBody>
      </p:sp>
      <p:sp>
        <p:nvSpPr>
          <p:cNvPr id="5" name="TextBox 4"/>
          <p:cNvSpPr txBox="1"/>
          <p:nvPr/>
        </p:nvSpPr>
        <p:spPr>
          <a:xfrm>
            <a:off x="777240" y="1920303"/>
            <a:ext cx="10634472" cy="151891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Nous allons construire notre première IA : un programme qui reconnaît 3 espèces de fleurs (iris) à partir de 4 mesures. C'est un premier projet classique qui fonctionne sur n'importe quel ordinateur.</a:t>
            </a:r>
          </a:p>
        </p:txBody>
      </p:sp>
      <p:sp>
        <p:nvSpPr>
          <p:cNvPr id="6" name="Rounded Rectangle 5"/>
          <p:cNvSpPr/>
          <p:nvPr/>
        </p:nvSpPr>
        <p:spPr>
          <a:xfrm>
            <a:off x="777240" y="365867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7755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406101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 prédisons-nous ?</a:t>
            </a:r>
          </a:p>
        </p:txBody>
      </p:sp>
      <p:sp>
        <p:nvSpPr>
          <p:cNvPr id="9" name="TextBox 8"/>
          <p:cNvSpPr txBox="1"/>
          <p:nvPr/>
        </p:nvSpPr>
        <p:spPr>
          <a:xfrm>
            <a:off x="960120" y="435324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Quelles données utilise-t-il ?</a:t>
            </a:r>
          </a:p>
        </p:txBody>
      </p:sp>
      <p:sp>
        <p:nvSpPr>
          <p:cNvPr id="10" name="TextBox 9"/>
          <p:cNvSpPr txBox="1"/>
          <p:nvPr/>
        </p:nvSpPr>
        <p:spPr>
          <a:xfrm>
            <a:off x="960120" y="464546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Pourquoi cet exemple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Où exécuter le code</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Le plus simple : Google Colab, gratuit et dans le navigateur. Ouvre colab.research.google.com, crée un cahier, colle le code dans une cellule et exécute-le avec Shift+Entrée.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qu'un cahier (notebook)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Comment exécuter une cellule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Dois-je installer Python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3</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 code complet</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Voici toute la mini-IA en une quinzaine de lignes. Les commentaires expliquent chaque partie. Lis d'abord les commentaires, puis lance le code.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 fait l'étape 5 (fit)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Qu'affiche la dernière ligne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Dois-je comprendre chaque ligne maintenant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4</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La séparation entraînement / test</a:t>
            </a:r>
          </a:p>
        </p:txBody>
      </p:sp>
      <p:sp>
        <p:nvSpPr>
          <p:cNvPr id="5" name="TextBox 4"/>
          <p:cNvSpPr txBox="1"/>
          <p:nvPr/>
        </p:nvSpPr>
        <p:spPr>
          <a:xfrm>
            <a:off x="777240" y="2300033"/>
            <a:ext cx="10634472" cy="75945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70% des fleurs servent à apprendre, et 30% sont gardés pour vérifier. Ne vérifie jamais avec des données que le modèle a déjà vues.</a:t>
            </a:r>
          </a:p>
        </p:txBody>
      </p:sp>
      <p:sp>
        <p:nvSpPr>
          <p:cNvPr id="6" name="Rounded Rectangle 5"/>
          <p:cNvSpPr/>
          <p:nvPr/>
        </p:nvSpPr>
        <p:spPr>
          <a:xfrm>
            <a:off x="777240" y="327894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39782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68128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Pourquoi séparer entraînement et test ?</a:t>
            </a:r>
          </a:p>
        </p:txBody>
      </p:sp>
      <p:sp>
        <p:nvSpPr>
          <p:cNvPr id="9" name="TextBox 8"/>
          <p:cNvSpPr txBox="1"/>
          <p:nvPr/>
        </p:nvSpPr>
        <p:spPr>
          <a:xfrm>
            <a:off x="960120" y="397351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Quel pourcentage choisir ?</a:t>
            </a:r>
          </a:p>
        </p:txBody>
      </p:sp>
      <p:sp>
        <p:nvSpPr>
          <p:cNvPr id="10" name="TextBox 9"/>
          <p:cNvSpPr txBox="1"/>
          <p:nvPr/>
        </p:nvSpPr>
        <p:spPr>
          <a:xfrm>
            <a:off x="960120" y="426573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Qu'est-ce que random_state=42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5</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Lire le résultat</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Si la précision est d'environ 90% ou plus, l'IA fonctionne. Si elle est mauvaise, les corrections habituelles sont : plus de données, de meilleures données ou un autre modèle.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 signifie précision = 0.95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100%, est-ce normal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 faire si la précision est faible (60%)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6</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Prédire une seule fleur</a:t>
            </a:r>
          </a:p>
        </p:txBody>
      </p:sp>
      <p:sp>
        <p:nvSpPr>
          <p:cNvPr id="5" name="TextBox 4"/>
          <p:cNvSpPr txBox="1"/>
          <p:nvPr/>
        </p:nvSpPr>
        <p:spPr>
          <a:xfrm>
            <a:off x="777240" y="2300033"/>
            <a:ext cx="10634472" cy="75945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Tu peux demander au modèle entraîné de classifier une fleur que tu inventes : tu donnes les 4 mesures et le modèle répond l'espèce.</a:t>
            </a:r>
          </a:p>
        </p:txBody>
      </p:sp>
      <p:sp>
        <p:nvSpPr>
          <p:cNvPr id="6" name="Rounded Rectangle 5"/>
          <p:cNvSpPr/>
          <p:nvPr/>
        </p:nvSpPr>
        <p:spPr>
          <a:xfrm>
            <a:off x="777240" y="327894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39782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68128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que new_flower ?</a:t>
            </a:r>
          </a:p>
        </p:txBody>
      </p:sp>
      <p:sp>
        <p:nvSpPr>
          <p:cNvPr id="9" name="TextBox 8"/>
          <p:cNvSpPr txBox="1"/>
          <p:nvPr/>
        </p:nvSpPr>
        <p:spPr>
          <a:xfrm>
            <a:off x="960120" y="397351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Pourquoi répond-il avec un nombre ?</a:t>
            </a:r>
          </a:p>
        </p:txBody>
      </p:sp>
      <p:sp>
        <p:nvSpPr>
          <p:cNvPr id="10" name="TextBox 9"/>
          <p:cNvSpPr txBox="1"/>
          <p:nvPr/>
        </p:nvSpPr>
        <p:spPr>
          <a:xfrm>
            <a:off x="960120" y="426573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 signifie « 0 = setosa »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7</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Les mêmes étapes quand on cuisine</a:t>
            </a:r>
          </a:p>
        </p:txBody>
      </p:sp>
      <p:sp>
        <p:nvSpPr>
          <p:cNvPr id="5" name="TextBox 4"/>
          <p:cNvSpPr txBox="1"/>
          <p:nvPr/>
        </p:nvSpPr>
        <p:spPr>
          <a:xfrm>
            <a:off x="777240" y="1920303"/>
            <a:ext cx="10634472" cy="151891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Préparer un repas, c'est pareil : 1) choisir le plat (problème), 2) acheter les ingrédients (données), 3) laver et couper (préparer), 4) suivre une recette (modèle), 5) cuisiner (entraîner), 6) goûter et ajuster (tester).</a:t>
            </a:r>
          </a:p>
        </p:txBody>
      </p:sp>
      <p:sp>
        <p:nvSpPr>
          <p:cNvPr id="6" name="Rounded Rectangle 5"/>
          <p:cNvSpPr/>
          <p:nvPr/>
        </p:nvSpPr>
        <p:spPr>
          <a:xfrm>
            <a:off x="777240" y="365867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7755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406101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Quelle est la recette dans l'IA ?</a:t>
            </a:r>
          </a:p>
        </p:txBody>
      </p:sp>
      <p:sp>
        <p:nvSpPr>
          <p:cNvPr id="9" name="TextBox 8"/>
          <p:cNvSpPr txBox="1"/>
          <p:nvPr/>
        </p:nvSpPr>
        <p:spPr>
          <a:xfrm>
            <a:off x="960120" y="435324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Qu'est-ce que « cuisiner » dans l'IA ?</a:t>
            </a:r>
          </a:p>
        </p:txBody>
      </p:sp>
      <p:sp>
        <p:nvSpPr>
          <p:cNvPr id="10" name="TextBox 9"/>
          <p:cNvSpPr txBox="1"/>
          <p:nvPr/>
        </p:nvSpPr>
        <p:spPr>
          <a:xfrm>
            <a:off x="960120" y="464546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Qu'est-ce que « goûter » dans l'IA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8</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Où trouver tes premiers projets</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Il existe des tutoriels gratuits sur le site de scikit-learn et chez Google. En plus, le jeu de données iris est intégré à scikit-learn, donc tu peux taper le code et l'exécuter immédiatement.</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Les données iris sont-elles gratuites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Puis-je commencer avec un autre jeu de données aussi facilement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Y a-t-il une communauté pour aider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9</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Les erreurs de débutant les plus courantes</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1) tester sur les données d'entraînement, 2) des données sales, 3) choisir un énorme modèle pour un petit problème. Évite ces erreurs et tu gagnes beaucoup d'heures.</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Pourquoi ne pas tester sur les données d'entraînement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Pourquoi des données sales nuisent-elles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Qu'est-ce qu'un « modèle trop gros »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10</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Tes 5 prochaines étapes</a:t>
            </a:r>
          </a:p>
        </p:txBody>
      </p:sp>
      <p:sp>
        <p:nvSpPr>
          <p:cNvPr id="5" name="TextBox 4"/>
          <p:cNvSpPr txBox="1"/>
          <p:nvPr/>
        </p:nvSpPr>
        <p:spPr>
          <a:xfrm>
            <a:off x="777240" y="1920303"/>
            <a:ext cx="10634472" cy="151891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1) essaie le jeu de données digits (images de chiffres), 2) change de modèle et observe le score, 3) fabrique ton propre petit jeu de données dans un tableau, 4) entraîne un petit réseau de neurones, 5) réalise un vrai projet qui te tient à cœur.</a:t>
            </a:r>
          </a:p>
        </p:txBody>
      </p:sp>
      <p:sp>
        <p:nvSpPr>
          <p:cNvPr id="6" name="Rounded Rectangle 5"/>
          <p:cNvSpPr/>
          <p:nvPr/>
        </p:nvSpPr>
        <p:spPr>
          <a:xfrm>
            <a:off x="777240" y="365867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7755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406101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que le jeu de données digits ?</a:t>
            </a:r>
          </a:p>
        </p:txBody>
      </p:sp>
      <p:sp>
        <p:nvSpPr>
          <p:cNvPr id="9" name="TextBox 8"/>
          <p:cNvSpPr txBox="1"/>
          <p:nvPr/>
        </p:nvSpPr>
        <p:spPr>
          <a:xfrm>
            <a:off x="960120" y="435324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Quelle est la meilleure prochaine étape ?</a:t>
            </a:r>
          </a:p>
        </p:txBody>
      </p:sp>
      <p:sp>
        <p:nvSpPr>
          <p:cNvPr id="10" name="TextBox 9"/>
          <p:cNvSpPr txBox="1"/>
          <p:nvPr/>
        </p:nvSpPr>
        <p:spPr>
          <a:xfrm>
            <a:off x="960120" y="464546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Quand commencer le deep learning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