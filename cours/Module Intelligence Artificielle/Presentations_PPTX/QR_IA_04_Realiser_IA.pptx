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 IA — Comment réaliser une IA.</a:t>
            </a:r>
          </a:p>
          <a:p>
            <a:r>
              <a:t>10 idées, 30 questions et réponses.</a:t>
            </a:r>
          </a:p>
          <a:p>
            <a:r>
              <a:t>Les Q/R sont dans les notes : mode Présentateur (Diaporama → Mode Présentateur) pour les lire pendant la séance.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 — Oui, tu peux construire une IA</a:t>
            </a:r>
          </a:p>
          <a:p/>
          <a:p>
            <a:r>
              <a:t>── QUESTIONS &amp; RÉPONSES ──</a:t>
            </a:r>
          </a:p>
          <a:p>
            <a:r>
              <a:t>Q1. Ai-je besoin d'un super ordinateur ?</a:t>
            </a:r>
          </a:p>
          <a:p>
            <a:r>
              <a:t>R1. Non, un ordinateur portable simple suffit pour commencer.</a:t>
            </a:r>
          </a:p>
          <a:p/>
          <a:p>
            <a:r>
              <a:t>Q2. Dois-je être un génie en mathématiques ?</a:t>
            </a:r>
          </a:p>
          <a:p>
            <a:r>
              <a:t>R2. Non, les maths de base suffisent au début. Tu apprends le reste en chemin.</a:t>
            </a:r>
          </a:p>
          <a:p/>
          <a:p>
            <a:r>
              <a:t>Q3. Combien de temps pour faire une première IA ?</a:t>
            </a:r>
          </a:p>
          <a:p>
            <a:r>
              <a:t>R3. Quelques heures, en suivant un exemple tout prêt et une bibliothèque.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2 — Les 6 étapes d'un projet IA</a:t>
            </a:r>
          </a:p>
          <a:p/>
          <a:p>
            <a:r>
              <a:t>── QUESTIONS &amp; RÉPONSES ──</a:t>
            </a:r>
          </a:p>
          <a:p>
            <a:r>
              <a:t>Q1. Qu'est-ce que l'étape 1 ?</a:t>
            </a:r>
          </a:p>
          <a:p>
            <a:r>
              <a:t>R1. Décider exactement ce que l'IA doit faire, par exemple « classer des fleurs par type ».</a:t>
            </a:r>
          </a:p>
          <a:p/>
          <a:p>
            <a:r>
              <a:t>Q2. Qu'est-ce que l'étape 5 ?</a:t>
            </a:r>
          </a:p>
          <a:p>
            <a:r>
              <a:t>R2. Donner les données au modèle pour l'entraîner, afin qu'il apprenne progressivement à bien répondre.</a:t>
            </a:r>
          </a:p>
          <a:p/>
          <a:p>
            <a:r>
              <a:t>Q3. Quelle étape prend le plus de temps ?</a:t>
            </a:r>
          </a:p>
          <a:p>
            <a:r>
              <a:t>R3. Généralement la collecte et la préparation des données, pas le code lui-même.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3 — Étape 1 — Définir le problème</a:t>
            </a:r>
          </a:p>
          <a:p/>
          <a:p>
            <a:r>
              <a:t>── QUESTIONS &amp; RÉPONSES ──</a:t>
            </a:r>
          </a:p>
          <a:p>
            <a:r>
              <a:t>Q1. Pourquoi définir le problème d'abord ?</a:t>
            </a:r>
          </a:p>
          <a:p>
            <a:r>
              <a:t>R1. Parce que les données, le modèle et le test dépendent tous de l'objectif exact.</a:t>
            </a:r>
          </a:p>
          <a:p/>
          <a:p>
            <a:r>
              <a:t>Q2. Quel est un bon premier problème ?</a:t>
            </a:r>
          </a:p>
          <a:p>
            <a:r>
              <a:t>R2. Une classification simple avec seulement deux choix : oui/non, chat/chien, spam/pas spam.</a:t>
            </a:r>
          </a:p>
          <a:p/>
          <a:p>
            <a:r>
              <a:t>Q3. Quel est un mauvais premier problème ?</a:t>
            </a:r>
          </a:p>
          <a:p>
            <a:r>
              <a:t>R3. Quelque chose de vague ou trop gros, comme « une IA qui fait tous mes devoirs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4 — Étape 2 — Collecter les données</a:t>
            </a:r>
          </a:p>
          <a:p/>
          <a:p>
            <a:r>
              <a:t>── QUESTIONS &amp; RÉPONSES ──</a:t>
            </a:r>
          </a:p>
          <a:p>
            <a:r>
              <a:t>Q1. Qu'est-ce qu'un jeu de données ?</a:t>
            </a:r>
          </a:p>
          <a:p>
            <a:r>
              <a:t>R1. Un tableau ou une liste d'exemples, chacun avec des entrées et, pour l'apprentissage supervisé, les réponses attendues.</a:t>
            </a:r>
          </a:p>
          <a:p/>
          <a:p>
            <a:r>
              <a:t>Q2. Où trouver des données gratuites ?</a:t>
            </a:r>
          </a:p>
          <a:p>
            <a:r>
              <a:t>R2. Sur des plateformes ouvertes comme Kaggle, l'archive UCI ou les jeux de données d'exemple de scikit-learn.</a:t>
            </a:r>
          </a:p>
          <a:p/>
          <a:p>
            <a:r>
              <a:t>Q3. De combien d'exemples as-tu besoin ?</a:t>
            </a:r>
          </a:p>
          <a:p>
            <a:r>
              <a:t>R3. Pour les projets les plus simples, quelques centaines d'exemples bien choisis peuvent suffire.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5 — Étape 3 — Préparer les données</a:t>
            </a:r>
          </a:p>
          <a:p/>
          <a:p>
            <a:r>
              <a:t>── QUESTIONS &amp; RÉPONSES ──</a:t>
            </a:r>
          </a:p>
          <a:p>
            <a:r>
              <a:t>Q1. Pourquoi nettoyer les données ?</a:t>
            </a:r>
          </a:p>
          <a:p>
            <a:r>
              <a:t>R1. Parce que le modèle apprend à partir des données. Si les données sont sales, les réponses seront sales aussi.</a:t>
            </a:r>
          </a:p>
          <a:p/>
          <a:p>
            <a:r>
              <a:t>Q2. Que signifie « transformer en nombres » ?</a:t>
            </a:r>
          </a:p>
          <a:p>
            <a:r>
              <a:t>R2. Le modèle ne comprend que les nombres, donc les textes et les catégories doivent être convertis.</a:t>
            </a:r>
          </a:p>
          <a:p/>
          <a:p>
            <a:r>
              <a:t>Q3. Qu'est-ce qu'une « valeur manquante » ?</a:t>
            </a:r>
          </a:p>
          <a:p>
            <a:r>
              <a:t>R3. Une case sans donnée. On retire cette ligne ou on la remplit avec une valeur raisonnable.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6 — Étape 4 — Choisir un modèle</a:t>
            </a:r>
          </a:p>
          <a:p/>
          <a:p>
            <a:r>
              <a:t>── QUESTIONS &amp; RÉPONSES ──</a:t>
            </a:r>
          </a:p>
          <a:p>
            <a:r>
              <a:t>Q1. Dois-je programmer moi-même un modèle ?</a:t>
            </a:r>
          </a:p>
          <a:p>
            <a:r>
              <a:t>R1. Non. Des bibliothèques comme scikit-learn ou TensorFlow te donnent des modèles prêts en quelques lignes.</a:t>
            </a:r>
          </a:p>
          <a:p/>
          <a:p>
            <a:r>
              <a:t>Q2. Quel modèle pour un débutant ?</a:t>
            </a:r>
          </a:p>
          <a:p>
            <a:r>
              <a:t>R2. Un classifieur simple comme un arbre de décision ou les k-plus-proches voisins : facile à utiliser et à comprendre.</a:t>
            </a:r>
          </a:p>
          <a:p/>
          <a:p>
            <a:r>
              <a:t>Q3. Qu'est-ce que les « réglages » ?</a:t>
            </a:r>
          </a:p>
          <a:p>
            <a:r>
              <a:t>R3. De petites commandes qui changent la façon dont le modèle apprend, comme le nombre de voisins ou la profondeur de l'arbre.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7 — Étape 5 — Entraîner le modèle</a:t>
            </a:r>
          </a:p>
          <a:p/>
          <a:p>
            <a:r>
              <a:t>── QUESTIONS &amp; RÉPONSES ──</a:t>
            </a:r>
          </a:p>
          <a:p>
            <a:r>
              <a:t>Q1. Qu'est-ce que fit() ?</a:t>
            </a:r>
          </a:p>
          <a:p>
            <a:r>
              <a:t>R1. La fonction d'entraînement : elle donne les données au modèle pour qu'il apprenne.</a:t>
            </a:r>
          </a:p>
          <a:p/>
          <a:p>
            <a:r>
              <a:t>Q2. Combien de temps dure l'entraînement ?</a:t>
            </a:r>
          </a:p>
          <a:p>
            <a:r>
              <a:t>R2. Pour les modèles simples, quelques secondes. Pour d'énormes modèles de deep learning, des jours ou des semaines.</a:t>
            </a:r>
          </a:p>
          <a:p/>
          <a:p>
            <a:r>
              <a:t>Q3. Que faire si l'entraînement est trop long ?</a:t>
            </a:r>
          </a:p>
          <a:p>
            <a:r>
              <a:t>R3. Utiliser moins de données, un modèle plus simple ou une machine plus puissante.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8 — Étape 6 — Tester et améliorer</a:t>
            </a:r>
          </a:p>
          <a:p/>
          <a:p>
            <a:r>
              <a:t>── QUESTIONS &amp; RÉPONSES ──</a:t>
            </a:r>
          </a:p>
          <a:p>
            <a:r>
              <a:t>Q1. Pourquoi tester sur de nouvelles données ?</a:t>
            </a:r>
          </a:p>
          <a:p>
            <a:r>
              <a:t>R1. Pour être sûr que le modèle a appris des règles générales et n'a pas seulement mémorisé les exemples.</a:t>
            </a:r>
          </a:p>
          <a:p/>
          <a:p>
            <a:r>
              <a:t>Q2. Qu'est-ce que la précision (accuracy) ?</a:t>
            </a:r>
          </a:p>
          <a:p>
            <a:r>
              <a:t>R2. Le pourcentage de bonnes réponses : 95% signifie que 95 prédictions sur 100 étaient correctes.</a:t>
            </a:r>
          </a:p>
          <a:p/>
          <a:p>
            <a:r>
              <a:t>Q3. Comment améliorer le modèle ?</a:t>
            </a:r>
          </a:p>
          <a:p>
            <a:r>
              <a:t>R3. Ajouter de bonnes données, mieux nettoyer, changer de modèle ou ajuster ses réglages.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9 — Les outils dont tu as besoin</a:t>
            </a:r>
          </a:p>
          <a:p/>
          <a:p>
            <a:r>
              <a:t>── QUESTIONS &amp; RÉPONSES ──</a:t>
            </a:r>
          </a:p>
          <a:p>
            <a:r>
              <a:t>Q1. Dois-je installer des logiciels complexes ?</a:t>
            </a:r>
          </a:p>
          <a:p>
            <a:r>
              <a:t>R1. Non. Google Colab fonctionne dans le navigateur, avec tout déjà installé.</a:t>
            </a:r>
          </a:p>
          <a:p/>
          <a:p>
            <a:r>
              <a:t>Q2. Pourquoi Python ?</a:t>
            </a:r>
          </a:p>
          <a:p>
            <a:r>
              <a:t>R2. C'est simple à lire, et presque tous les outils d'IA l'utilisent.</a:t>
            </a:r>
          </a:p>
          <a:p/>
          <a:p>
            <a:r>
              <a:t>Q3. À quoi sert pandas ?</a:t>
            </a:r>
          </a:p>
          <a:p>
            <a:r>
              <a:t>R3. À lire et manipuler facilement des tableaux de données (lignes et colonnes).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10 — Un parcours complet de débutant</a:t>
            </a:r>
          </a:p>
          <a:p/>
          <a:p>
            <a:r>
              <a:t>── QUESTIONS &amp; RÉPONSES ──</a:t>
            </a:r>
          </a:p>
          <a:p>
            <a:r>
              <a:t>Q1. Quelle est la toute première étape ?</a:t>
            </a:r>
          </a:p>
          <a:p>
            <a:r>
              <a:t>R1. Exécuter un premier petit programme Python. Quel que soit le contenu, apprends simplement les bases.</a:t>
            </a:r>
          </a:p>
          <a:p/>
          <a:p>
            <a:r>
              <a:t>Q2. Qu'est-ce qu'un « ensemble d'entraînement » et un « ensemble de test » ?</a:t>
            </a:r>
          </a:p>
          <a:p>
            <a:r>
              <a:t>R2. Une partie des données utilisée pour apprendre, et une autre partie gardée de côté pour vérifier le résultat.</a:t>
            </a:r>
          </a:p>
          <a:p/>
          <a:p>
            <a:r>
              <a:t>Q3. Quand suis-je prêt à réaliser ma propre IA ?</a:t>
            </a:r>
          </a:p>
          <a:p>
            <a:r>
              <a:t>R3. Après avoir terminé un exemple complet du début à la fin, tu peux l'adapter à ta propre idée.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371600"/>
            <a:ext cx="12191695" cy="4114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Université_de_Mostaganem.png"/>
          <p:cNvPicPr>
            <a:picLocks noChangeAspect="1"/>
          </p:cNvPicPr>
          <p:nvPr/>
        </p:nvPicPr>
        <p:blipFill>
          <a:blip r:embed="rId2"/>
          <a:stretch>
            <a:fillRect/>
          </a:stretch>
        </p:blipFill>
        <p:spPr>
          <a:xfrm>
            <a:off x="731520" y="201167"/>
            <a:ext cx="999743" cy="969264"/>
          </a:xfrm>
          <a:prstGeom prst="rect">
            <a:avLst/>
          </a:prstGeom>
        </p:spPr>
      </p:pic>
      <p:pic>
        <p:nvPicPr>
          <p:cNvPr id="5" name="Picture 4" descr="LOGO-FLE-UNIV-Mosta.jpeg"/>
          <p:cNvPicPr>
            <a:picLocks noChangeAspect="1"/>
          </p:cNvPicPr>
          <p:nvPr/>
        </p:nvPicPr>
        <p:blipFill>
          <a:blip r:embed="rId3"/>
          <a:stretch>
            <a:fillRect/>
          </a:stretch>
        </p:blipFill>
        <p:spPr>
          <a:xfrm>
            <a:off x="2042160" y="201167"/>
            <a:ext cx="825669" cy="969264"/>
          </a:xfrm>
          <a:prstGeom prst="rect">
            <a:avLst/>
          </a:prstGeom>
        </p:spPr>
      </p:pic>
      <p:sp>
        <p:nvSpPr>
          <p:cNvPr id="6" name="Rectangle 5"/>
          <p:cNvSpPr/>
          <p:nvPr/>
        </p:nvSpPr>
        <p:spPr>
          <a:xfrm>
            <a:off x="3288453" y="438912"/>
            <a:ext cx="10972" cy="493776"/>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2773" y="384048"/>
            <a:ext cx="7897401" cy="621792"/>
          </a:xfrm>
          <a:prstGeom prst="rect">
            <a:avLst/>
          </a:prstGeom>
          <a:noFill/>
        </p:spPr>
        <p:txBody>
          <a:bodyPr wrap="square" lIns="0" rIns="0" tIns="0" bIns="0" anchor="ctr">
            <a:spAutoFit/>
          </a:bodyPr>
          <a:lstStyle/>
          <a:p>
            <a:pPr algn="l">
              <a:lnSpc>
                <a:spcPct val="112000"/>
              </a:lnSpc>
              <a:spcBef>
                <a:spcPts val="0"/>
              </a:spcBef>
              <a:spcAft>
                <a:spcPts val="200"/>
              </a:spcAft>
            </a:pPr>
            <a:r>
              <a:rPr sz="1250" b="1" i="0">
                <a:solidFill>
                  <a:srgbClr val="122A4F"/>
                </a:solidFill>
                <a:latin typeface="Calibri"/>
              </a:rPr>
              <a:t>Université de Mostaganem  ·  Faculté des Langues Étrangères</a:t>
            </a:r>
          </a:p>
          <a:p>
            <a:pPr algn="l">
              <a:lnSpc>
                <a:spcPct val="112000"/>
              </a:lnSpc>
              <a:spcBef>
                <a:spcPts val="0"/>
              </a:spcBef>
              <a:spcAft>
                <a:spcPts val="0"/>
              </a:spcAft>
            </a:pPr>
            <a:r>
              <a:rPr sz="1100" b="0" i="0">
                <a:solidFill>
                  <a:srgbClr val="5B6879"/>
                </a:solidFill>
                <a:latin typeface="Calibri"/>
              </a:rPr>
              <a:t>2ᵉ année PEP  ·  Année universitaire 2026 – 2027</a:t>
            </a:r>
          </a:p>
        </p:txBody>
      </p:sp>
      <p:sp>
        <p:nvSpPr>
          <p:cNvPr id="8" name="Rectangle 7"/>
          <p:cNvSpPr/>
          <p:nvPr/>
        </p:nvSpPr>
        <p:spPr>
          <a:xfrm>
            <a:off x="0" y="1412748"/>
            <a:ext cx="12191695" cy="5445252"/>
          </a:xfrm>
          <a:prstGeom prst="rect">
            <a:avLst/>
          </a:prstGeom>
          <a:solidFill>
            <a:srgbClr val="122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1412748"/>
            <a:ext cx="164592" cy="5445252"/>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212848"/>
            <a:ext cx="1463040" cy="64008"/>
          </a:xfrm>
          <a:prstGeom prst="rect">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87168"/>
            <a:ext cx="10332720" cy="1005840"/>
          </a:xfrm>
          <a:prstGeom prst="rect">
            <a:avLst/>
          </a:prstGeom>
          <a:noFill/>
        </p:spPr>
        <p:txBody>
          <a:bodyPr wrap="square" lIns="0" rIns="0" tIns="0" bIns="0" anchor="t">
            <a:spAutoFit/>
          </a:bodyPr>
          <a:lstStyle/>
          <a:p>
            <a:pPr algn="l">
              <a:lnSpc>
                <a:spcPct val="100000"/>
              </a:lnSpc>
              <a:spcBef>
                <a:spcPts val="0"/>
              </a:spcBef>
              <a:spcAft>
                <a:spcPts val="0"/>
              </a:spcAft>
            </a:pPr>
            <a:r>
              <a:rPr sz="4000" b="1" i="0">
                <a:solidFill>
                  <a:srgbClr val="FFFFFF"/>
                </a:solidFill>
                <a:latin typeface="Calibri"/>
              </a:rPr>
              <a:t>Comment réaliser une IA</a:t>
            </a:r>
          </a:p>
        </p:txBody>
      </p:sp>
      <p:sp>
        <p:nvSpPr>
          <p:cNvPr id="12" name="TextBox 11"/>
          <p:cNvSpPr txBox="1"/>
          <p:nvPr/>
        </p:nvSpPr>
        <p:spPr>
          <a:xfrm>
            <a:off x="914400" y="3621024"/>
            <a:ext cx="9966960" cy="566928"/>
          </a:xfrm>
          <a:prstGeom prst="rect">
            <a:avLst/>
          </a:prstGeom>
          <a:noFill/>
        </p:spPr>
        <p:txBody>
          <a:bodyPr wrap="square" lIns="0" rIns="0" tIns="0" bIns="0" anchor="t">
            <a:spAutoFit/>
          </a:bodyPr>
          <a:lstStyle/>
          <a:p>
            <a:pPr algn="l">
              <a:lnSpc>
                <a:spcPct val="112000"/>
              </a:lnSpc>
              <a:spcBef>
                <a:spcPts val="0"/>
              </a:spcBef>
              <a:spcAft>
                <a:spcPts val="0"/>
              </a:spcAft>
            </a:pPr>
            <a:r>
              <a:rPr sz="1700" b="0" i="1">
                <a:solidFill>
                  <a:srgbClr val="9EBADA"/>
                </a:solidFill>
                <a:latin typeface="Calibri"/>
              </a:rPr>
              <a:t>La méthode en 6 étapes, du problème bien posé à l'IA qui fonctionne</a:t>
            </a:r>
          </a:p>
        </p:txBody>
      </p:sp>
      <p:sp>
        <p:nvSpPr>
          <p:cNvPr id="13" name="Rounded Rectangle 12"/>
          <p:cNvSpPr/>
          <p:nvPr/>
        </p:nvSpPr>
        <p:spPr>
          <a:xfrm>
            <a:off x="914400" y="4315968"/>
            <a:ext cx="4937760" cy="530352"/>
          </a:xfrm>
          <a:prstGeom prst="roundRect">
            <a:avLst>
              <a:gd name="adj" fmla="val 3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15968"/>
            <a:ext cx="4937760" cy="530352"/>
          </a:xfrm>
          <a:prstGeom prst="rect">
            <a:avLst/>
          </a:prstGeom>
          <a:noFill/>
        </p:spPr>
        <p:txBody>
          <a:bodyPr wrap="square" lIns="0" rIns="0" tIns="0" bIns="0" anchor="ctr">
            <a:spAutoFit/>
          </a:bodyPr>
          <a:lstStyle/>
          <a:p>
            <a:pPr algn="ctr">
              <a:lnSpc>
                <a:spcPct val="112000"/>
              </a:lnSpc>
              <a:spcBef>
                <a:spcPts val="0"/>
              </a:spcBef>
              <a:spcAft>
                <a:spcPts val="0"/>
              </a:spcAft>
            </a:pPr>
            <a:r>
              <a:rPr sz="1500" b="1" i="0">
                <a:solidFill>
                  <a:srgbClr val="122A4F"/>
                </a:solidFill>
                <a:latin typeface="Calibri"/>
              </a:rPr>
              <a:t>Questions &amp; Réponses — Cours IA</a:t>
            </a:r>
          </a:p>
        </p:txBody>
      </p:sp>
      <p:sp>
        <p:nvSpPr>
          <p:cNvPr id="15" name="Rectangle 14"/>
          <p:cNvSpPr/>
          <p:nvPr/>
        </p:nvSpPr>
        <p:spPr>
          <a:xfrm>
            <a:off x="914400" y="5230368"/>
            <a:ext cx="10360152" cy="10972"/>
          </a:xfrm>
          <a:prstGeom prst="rect">
            <a:avLst/>
          </a:prstGeom>
          <a:solidFill>
            <a:srgbClr val="2C45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49824"/>
            <a:ext cx="10332720" cy="914400"/>
          </a:xfrm>
          <a:prstGeom prst="rect">
            <a:avLst/>
          </a:prstGeom>
          <a:noFill/>
        </p:spPr>
        <p:txBody>
          <a:bodyPr wrap="square" lIns="0" rIns="0" tIns="0" bIns="0" anchor="t">
            <a:spAutoFit/>
          </a:bodyPr>
          <a:lstStyle/>
          <a:p>
            <a:pPr algn="l">
              <a:lnSpc>
                <a:spcPct val="112000"/>
              </a:lnSpc>
              <a:spcBef>
                <a:spcPts val="0"/>
              </a:spcBef>
              <a:spcAft>
                <a:spcPts val="300"/>
              </a:spcAft>
            </a:pPr>
            <a:r>
              <a:rPr sz="1600" b="1" i="0">
                <a:solidFill>
                  <a:srgbClr val="FFFFFF"/>
                </a:solidFill>
                <a:latin typeface="Calibri"/>
              </a:rPr>
              <a:t>Dr. Madani BELACEL — MCB</a:t>
            </a:r>
          </a:p>
          <a:p>
            <a:pPr algn="l">
              <a:lnSpc>
                <a:spcPct val="112000"/>
              </a:lnSpc>
              <a:spcBef>
                <a:spcPts val="0"/>
              </a:spcBef>
              <a:spcAft>
                <a:spcPts val="0"/>
              </a:spcAft>
            </a:pPr>
            <a:r>
              <a:rPr sz="1000" b="0" i="0">
                <a:solidFill>
                  <a:srgbClr val="7E93AD"/>
                </a:solidFill>
                <a:latin typeface="Calibri"/>
              </a:rPr>
              <a:t>Cours en ligne : madani-belacel.github.io/site-enseignement-belacel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02920"/>
            <a:ext cx="10972800" cy="640080"/>
          </a:xfrm>
          <a:prstGeom prst="rect">
            <a:avLst/>
          </a:prstGeom>
          <a:noFill/>
        </p:spPr>
        <p:txBody>
          <a:bodyPr wrap="square" lIns="0" rIns="0" tIns="0" bIns="0" anchor="t">
            <a:spAutoFit/>
          </a:bodyPr>
          <a:lstStyle/>
          <a:p>
            <a:pPr algn="l">
              <a:lnSpc>
                <a:spcPct val="112000"/>
              </a:lnSpc>
              <a:spcBef>
                <a:spcPts val="0"/>
              </a:spcBef>
              <a:spcAft>
                <a:spcPts val="0"/>
              </a:spcAft>
            </a:pPr>
            <a:r>
              <a:rPr sz="3000" b="1" i="0">
                <a:solidFill>
                  <a:srgbClr val="122A4F"/>
                </a:solidFill>
                <a:latin typeface="Calibri"/>
              </a:rPr>
              <a:t>Plan du cours</a:t>
            </a:r>
          </a:p>
        </p:txBody>
      </p:sp>
      <p:sp>
        <p:nvSpPr>
          <p:cNvPr id="3" name="Rounded Rectangle 2"/>
          <p:cNvSpPr/>
          <p:nvPr/>
        </p:nvSpPr>
        <p:spPr>
          <a:xfrm>
            <a:off x="777240" y="1371600"/>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05256" y="1536192"/>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a:t>
            </a:r>
          </a:p>
        </p:txBody>
      </p:sp>
      <p:sp>
        <p:nvSpPr>
          <p:cNvPr id="5" name="TextBox 4"/>
          <p:cNvSpPr txBox="1"/>
          <p:nvPr/>
        </p:nvSpPr>
        <p:spPr>
          <a:xfrm>
            <a:off x="1399032" y="1481328"/>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Oui, tu peux construire une IA</a:t>
            </a:r>
          </a:p>
        </p:txBody>
      </p:sp>
      <p:sp>
        <p:nvSpPr>
          <p:cNvPr id="6" name="TextBox 5"/>
          <p:cNvSpPr txBox="1"/>
          <p:nvPr/>
        </p:nvSpPr>
        <p:spPr>
          <a:xfrm>
            <a:off x="1399032" y="1865376"/>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7" name="Rounded Rectangle 6"/>
          <p:cNvSpPr/>
          <p:nvPr/>
        </p:nvSpPr>
        <p:spPr>
          <a:xfrm>
            <a:off x="777240" y="2267712"/>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05256" y="2432304"/>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2</a:t>
            </a:r>
          </a:p>
        </p:txBody>
      </p:sp>
      <p:sp>
        <p:nvSpPr>
          <p:cNvPr id="9" name="TextBox 8"/>
          <p:cNvSpPr txBox="1"/>
          <p:nvPr/>
        </p:nvSpPr>
        <p:spPr>
          <a:xfrm>
            <a:off x="1399032" y="2377440"/>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Les 6 étapes d'un projet IA</a:t>
            </a:r>
          </a:p>
        </p:txBody>
      </p:sp>
      <p:sp>
        <p:nvSpPr>
          <p:cNvPr id="10" name="TextBox 9"/>
          <p:cNvSpPr txBox="1"/>
          <p:nvPr/>
        </p:nvSpPr>
        <p:spPr>
          <a:xfrm>
            <a:off x="1399032" y="2761488"/>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11" name="Rounded Rectangle 10"/>
          <p:cNvSpPr/>
          <p:nvPr/>
        </p:nvSpPr>
        <p:spPr>
          <a:xfrm>
            <a:off x="777240" y="3163824"/>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328416"/>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3</a:t>
            </a:r>
          </a:p>
        </p:txBody>
      </p:sp>
      <p:sp>
        <p:nvSpPr>
          <p:cNvPr id="13" name="TextBox 12"/>
          <p:cNvSpPr txBox="1"/>
          <p:nvPr/>
        </p:nvSpPr>
        <p:spPr>
          <a:xfrm>
            <a:off x="1399032" y="3273552"/>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Étape 1 — Définir le problème</a:t>
            </a:r>
          </a:p>
        </p:txBody>
      </p:sp>
      <p:sp>
        <p:nvSpPr>
          <p:cNvPr id="14" name="TextBox 13"/>
          <p:cNvSpPr txBox="1"/>
          <p:nvPr/>
        </p:nvSpPr>
        <p:spPr>
          <a:xfrm>
            <a:off x="1399032" y="3657600"/>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15" name="Rounded Rectangle 14"/>
          <p:cNvSpPr/>
          <p:nvPr/>
        </p:nvSpPr>
        <p:spPr>
          <a:xfrm>
            <a:off x="777240" y="4059935"/>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05256" y="4224527"/>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4</a:t>
            </a:r>
          </a:p>
        </p:txBody>
      </p:sp>
      <p:sp>
        <p:nvSpPr>
          <p:cNvPr id="17" name="TextBox 16"/>
          <p:cNvSpPr txBox="1"/>
          <p:nvPr/>
        </p:nvSpPr>
        <p:spPr>
          <a:xfrm>
            <a:off x="1399032" y="4169663"/>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Étape 2 — Collecter les données</a:t>
            </a:r>
          </a:p>
        </p:txBody>
      </p:sp>
      <p:sp>
        <p:nvSpPr>
          <p:cNvPr id="18" name="TextBox 17"/>
          <p:cNvSpPr txBox="1"/>
          <p:nvPr/>
        </p:nvSpPr>
        <p:spPr>
          <a:xfrm>
            <a:off x="1399032" y="4553712"/>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19" name="Rounded Rectangle 18"/>
          <p:cNvSpPr/>
          <p:nvPr/>
        </p:nvSpPr>
        <p:spPr>
          <a:xfrm>
            <a:off x="777240" y="4956048"/>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05256" y="5120640"/>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5</a:t>
            </a:r>
          </a:p>
        </p:txBody>
      </p:sp>
      <p:sp>
        <p:nvSpPr>
          <p:cNvPr id="21" name="TextBox 20"/>
          <p:cNvSpPr txBox="1"/>
          <p:nvPr/>
        </p:nvSpPr>
        <p:spPr>
          <a:xfrm>
            <a:off x="1399032" y="5065776"/>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Étape 3 — Préparer les données</a:t>
            </a:r>
          </a:p>
        </p:txBody>
      </p:sp>
      <p:sp>
        <p:nvSpPr>
          <p:cNvPr id="22" name="TextBox 21"/>
          <p:cNvSpPr txBox="1"/>
          <p:nvPr/>
        </p:nvSpPr>
        <p:spPr>
          <a:xfrm>
            <a:off x="1399032" y="5449824"/>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23" name="Rounded Rectangle 22"/>
          <p:cNvSpPr/>
          <p:nvPr/>
        </p:nvSpPr>
        <p:spPr>
          <a:xfrm>
            <a:off x="6309359" y="1371600"/>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37375" y="1536192"/>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6</a:t>
            </a:r>
          </a:p>
        </p:txBody>
      </p:sp>
      <p:sp>
        <p:nvSpPr>
          <p:cNvPr id="25" name="TextBox 24"/>
          <p:cNvSpPr txBox="1"/>
          <p:nvPr/>
        </p:nvSpPr>
        <p:spPr>
          <a:xfrm>
            <a:off x="6931151" y="1481328"/>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Étape 4 — Choisir un modèle</a:t>
            </a:r>
          </a:p>
        </p:txBody>
      </p:sp>
      <p:sp>
        <p:nvSpPr>
          <p:cNvPr id="26" name="TextBox 25"/>
          <p:cNvSpPr txBox="1"/>
          <p:nvPr/>
        </p:nvSpPr>
        <p:spPr>
          <a:xfrm>
            <a:off x="6931151" y="1865376"/>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27" name="Rounded Rectangle 26"/>
          <p:cNvSpPr/>
          <p:nvPr/>
        </p:nvSpPr>
        <p:spPr>
          <a:xfrm>
            <a:off x="6309359" y="2267712"/>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437375" y="2432304"/>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7</a:t>
            </a:r>
          </a:p>
        </p:txBody>
      </p:sp>
      <p:sp>
        <p:nvSpPr>
          <p:cNvPr id="29" name="TextBox 28"/>
          <p:cNvSpPr txBox="1"/>
          <p:nvPr/>
        </p:nvSpPr>
        <p:spPr>
          <a:xfrm>
            <a:off x="6931151" y="2377440"/>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Étape 5 — Entraîner le modèle</a:t>
            </a:r>
          </a:p>
        </p:txBody>
      </p:sp>
      <p:sp>
        <p:nvSpPr>
          <p:cNvPr id="30" name="TextBox 29"/>
          <p:cNvSpPr txBox="1"/>
          <p:nvPr/>
        </p:nvSpPr>
        <p:spPr>
          <a:xfrm>
            <a:off x="6931151" y="2761488"/>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31" name="Rounded Rectangle 30"/>
          <p:cNvSpPr/>
          <p:nvPr/>
        </p:nvSpPr>
        <p:spPr>
          <a:xfrm>
            <a:off x="6309359" y="3163824"/>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5" y="3328416"/>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8</a:t>
            </a:r>
          </a:p>
        </p:txBody>
      </p:sp>
      <p:sp>
        <p:nvSpPr>
          <p:cNvPr id="33" name="TextBox 32"/>
          <p:cNvSpPr txBox="1"/>
          <p:nvPr/>
        </p:nvSpPr>
        <p:spPr>
          <a:xfrm>
            <a:off x="6931151" y="3273552"/>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Étape 6 — Tester et améliorer</a:t>
            </a:r>
          </a:p>
        </p:txBody>
      </p:sp>
      <p:sp>
        <p:nvSpPr>
          <p:cNvPr id="34" name="TextBox 33"/>
          <p:cNvSpPr txBox="1"/>
          <p:nvPr/>
        </p:nvSpPr>
        <p:spPr>
          <a:xfrm>
            <a:off x="6931151" y="3657600"/>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35" name="Rounded Rectangle 34"/>
          <p:cNvSpPr/>
          <p:nvPr/>
        </p:nvSpPr>
        <p:spPr>
          <a:xfrm>
            <a:off x="6309359" y="4059935"/>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437375" y="4224527"/>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9</a:t>
            </a:r>
          </a:p>
        </p:txBody>
      </p:sp>
      <p:sp>
        <p:nvSpPr>
          <p:cNvPr id="37" name="TextBox 36"/>
          <p:cNvSpPr txBox="1"/>
          <p:nvPr/>
        </p:nvSpPr>
        <p:spPr>
          <a:xfrm>
            <a:off x="6931151" y="4169663"/>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Les outils dont tu as besoin</a:t>
            </a:r>
          </a:p>
        </p:txBody>
      </p:sp>
      <p:sp>
        <p:nvSpPr>
          <p:cNvPr id="38" name="TextBox 37"/>
          <p:cNvSpPr txBox="1"/>
          <p:nvPr/>
        </p:nvSpPr>
        <p:spPr>
          <a:xfrm>
            <a:off x="6931151" y="4553712"/>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39" name="Rounded Rectangle 38"/>
          <p:cNvSpPr/>
          <p:nvPr/>
        </p:nvSpPr>
        <p:spPr>
          <a:xfrm>
            <a:off x="6309359" y="4956048"/>
            <a:ext cx="5257800" cy="786384"/>
          </a:xfrm>
          <a:prstGeom prst="roundRect">
            <a:avLst>
              <a:gd name="adj" fmla="val 8000"/>
            </a:avLst>
          </a:prstGeom>
          <a:solidFill>
            <a:srgbClr val="F3F6FA"/>
          </a:solidFill>
          <a:ln w="9525">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437375" y="5120640"/>
            <a:ext cx="420624" cy="420624"/>
          </a:xfrm>
          <a:prstGeom prst="ellipse">
            <a:avLst/>
          </a:prstGeom>
          <a:solidFill>
            <a:srgbClr val="1F5C9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a:solidFill>
                  <a:srgbClr val="FFFFFF"/>
                </a:solidFill>
                <a:latin typeface="Calibri"/>
              </a:rPr>
              <a:t>10</a:t>
            </a:r>
          </a:p>
        </p:txBody>
      </p:sp>
      <p:sp>
        <p:nvSpPr>
          <p:cNvPr id="41" name="TextBox 40"/>
          <p:cNvSpPr txBox="1"/>
          <p:nvPr/>
        </p:nvSpPr>
        <p:spPr>
          <a:xfrm>
            <a:off x="6931151" y="5065776"/>
            <a:ext cx="3657600" cy="402336"/>
          </a:xfrm>
          <a:prstGeom prst="rect">
            <a:avLst/>
          </a:prstGeom>
          <a:noFill/>
        </p:spPr>
        <p:txBody>
          <a:bodyPr wrap="square" lIns="0" rIns="0" tIns="0" bIns="0" anchor="t">
            <a:spAutoFit/>
          </a:bodyPr>
          <a:lstStyle/>
          <a:p>
            <a:pPr algn="l">
              <a:lnSpc>
                <a:spcPct val="112000"/>
              </a:lnSpc>
              <a:spcBef>
                <a:spcPts val="0"/>
              </a:spcBef>
              <a:spcAft>
                <a:spcPts val="0"/>
              </a:spcAft>
            </a:pPr>
            <a:r>
              <a:rPr sz="1500" b="0" i="0">
                <a:solidFill>
                  <a:srgbClr val="1B2433"/>
                </a:solidFill>
                <a:latin typeface="Calibri"/>
              </a:rPr>
              <a:t>Un parcours complet de débutant</a:t>
            </a:r>
          </a:p>
        </p:txBody>
      </p:sp>
      <p:sp>
        <p:nvSpPr>
          <p:cNvPr id="42" name="TextBox 41"/>
          <p:cNvSpPr txBox="1"/>
          <p:nvPr/>
        </p:nvSpPr>
        <p:spPr>
          <a:xfrm>
            <a:off x="6931151" y="5449824"/>
            <a:ext cx="3657600" cy="237744"/>
          </a:xfrm>
          <a:prstGeom prst="rect">
            <a:avLst/>
          </a:prstGeom>
          <a:noFill/>
        </p:spPr>
        <p:txBody>
          <a:bodyPr wrap="square" lIns="0" rIns="0" tIns="0" bIns="0" anchor="t">
            <a:spAutoFit/>
          </a:bodyPr>
          <a:lstStyle/>
          <a:p>
            <a:pPr algn="l">
              <a:lnSpc>
                <a:spcPct val="112000"/>
              </a:lnSpc>
              <a:spcBef>
                <a:spcPts val="0"/>
              </a:spcBef>
              <a:spcAft>
                <a:spcPts val="0"/>
              </a:spcAft>
            </a:pPr>
            <a:r>
              <a:rPr sz="1100" b="0" i="0">
                <a:solidFill>
                  <a:srgbClr val="5B6879"/>
                </a:solidFill>
                <a:latin typeface="Calibri"/>
              </a:rPr>
              <a:t>3 questions et réponses</a:t>
            </a:r>
          </a:p>
        </p:txBody>
      </p:sp>
      <p:sp>
        <p:nvSpPr>
          <p:cNvPr id="43" name="TextBox 42"/>
          <p:cNvSpPr txBox="1"/>
          <p:nvPr/>
        </p:nvSpPr>
        <p:spPr>
          <a:xfrm>
            <a:off x="777240" y="5888736"/>
            <a:ext cx="10634472" cy="438912"/>
          </a:xfrm>
          <a:prstGeom prst="rect">
            <a:avLst/>
          </a:prstGeom>
          <a:noFill/>
        </p:spPr>
        <p:txBody>
          <a:bodyPr wrap="square" lIns="0" rIns="0" tIns="0" bIns="0" anchor="t">
            <a:spAutoFit/>
          </a:bodyPr>
          <a:lstStyle/>
          <a:p>
            <a:pPr algn="l">
              <a:lnSpc>
                <a:spcPct val="112000"/>
              </a:lnSpc>
              <a:spcBef>
                <a:spcPts val="0"/>
              </a:spcBef>
              <a:spcAft>
                <a:spcPts val="0"/>
              </a:spcAft>
            </a:pPr>
            <a:r>
              <a:rPr sz="1300" b="1" i="0">
                <a:solidFill>
                  <a:srgbClr val="122A4F"/>
                </a:solidFill>
                <a:latin typeface="Calibri"/>
              </a:rPr>
              <a:t>10 idées  ·  30 questions et réponses  ·  0 schémas</a:t>
            </a:r>
          </a:p>
        </p:txBody>
      </p:sp>
      <p:sp>
        <p:nvSpPr>
          <p:cNvPr id="44" name="Rectangle 43"/>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46" name="TextBox 45"/>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Oui, tu peux construire une IA</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Tu n'as pas besoin d'être un génie. Avec un ordinateur, un peu de Python et des outils gratuits, tu peux construire ta première IA en quelques heures.</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Ai-je besoin d'un super ordinateur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Dois-je être un génie en mathématiques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Combien de temps pour faire une première IA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2</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Les 6 étapes d'un projet IA</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1) définir le problème, 2) collecter les données, 3) préparer les données, 4) choisir un modèle, 5) entraîner le modèle, 6) tester et utiliser. C'est tout le parcours à partir de zéro.</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Qu'est-ce que l'étape 1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Qu'est-ce que l'étape 5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Quelle étape prend le plus de temps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3</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Étape 1 — Définir le problème</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Sois précis : pose une question entrée → réponse. Par exemple : entrée = une photo, réponse = « chat ou chien ? ». Un problème clair rend tout plus facile.</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Pourquoi définir le problème d'abord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Quel est un bon premier problème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Quel est un mauvais premier problème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4</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Étape 2 — Collecter les données</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Trouve ou crée des exemples. Il existe des jeux de données publics et gratuits (images, textes, nombres) et tu peux les télécharger, par exemple le célèbre jeu de données des fleurs iris.</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Qu'est-ce qu'un jeu de données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Où trouver des données gratuites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De combien d'exemples as-tu besoin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5</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Étape 3 — Préparer les données</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Nettoie les données : retire les erreurs, les doublons et les valeurs vides, et transforme tout en nombres. Une bonne préparation signifie un bon apprentissage.</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Pourquoi nettoyer les données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Que signifie « transformer en nombres »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Qu'est-ce qu'une « valeur manquante »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6</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Étape 4 — Choisir un modèle</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Un modèle est un programme tout prêt, comme un arbre de décision ou un réseau de neurones. Tu ne l'écris pas de zéro : tu l'importes et tu ajustes quelques réglages.</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Dois-je programmer moi-même un modèle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Quel modèle pour un débutant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Qu'est-ce que les « réglages »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7</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Étape 5 — Entraîner le modèle</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Tu montres le jeu de données au modèle. Il « apprend » les régularités et les garde. En code, c'est souvent une seule ligne : model.fit(X_train, y_train).</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Qu'est-ce que fit()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Combien de temps dure l'entraînement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Que faire si l'entraînement est trop long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8</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Étape 6 — Tester et améliorer</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Garde une partie des données que le modèle n'a jamais vues, puis demande-lui de prédire. Compare avec les vraies réponses pour calculer la précision. Ensuite améliore.</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Pourquoi tester sur de nouvelles données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Qu'est-ce que la précision (accuracy)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Comment améliorer le modèle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9</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Les outils dont tu as besoin</a:t>
            </a:r>
          </a:p>
        </p:txBody>
      </p:sp>
      <p:sp>
        <p:nvSpPr>
          <p:cNvPr id="5" name="TextBox 4"/>
          <p:cNvSpPr txBox="1"/>
          <p:nvPr/>
        </p:nvSpPr>
        <p:spPr>
          <a:xfrm>
            <a:off x="777240" y="2110168"/>
            <a:ext cx="10634472" cy="113918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Python, la bibliothèque scikit-learn (géniale pour débuter), la bibliothèque pandas pour les tableaux et Google Colab : un cahier gratuit dans le navigateur, sans installation.</a:t>
            </a:r>
          </a:p>
        </p:txBody>
      </p:sp>
      <p:sp>
        <p:nvSpPr>
          <p:cNvPr id="6" name="Rounded Rectangle 5"/>
          <p:cNvSpPr/>
          <p:nvPr/>
        </p:nvSpPr>
        <p:spPr>
          <a:xfrm>
            <a:off x="777240" y="3468814"/>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587686"/>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3871150"/>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Dois-je installer des logiciels complexes ?</a:t>
            </a:r>
          </a:p>
        </p:txBody>
      </p:sp>
      <p:sp>
        <p:nvSpPr>
          <p:cNvPr id="9" name="TextBox 8"/>
          <p:cNvSpPr txBox="1"/>
          <p:nvPr/>
        </p:nvSpPr>
        <p:spPr>
          <a:xfrm>
            <a:off x="960120" y="4163377"/>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Pourquoi Python ?</a:t>
            </a:r>
          </a:p>
        </p:txBody>
      </p:sp>
      <p:sp>
        <p:nvSpPr>
          <p:cNvPr id="10" name="TextBox 9"/>
          <p:cNvSpPr txBox="1"/>
          <p:nvPr/>
        </p:nvSpPr>
        <p:spPr>
          <a:xfrm>
            <a:off x="960120" y="4455604"/>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À quoi sert pandas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685800" y="530352"/>
            <a:ext cx="1298448" cy="384048"/>
          </a:xfrm>
          <a:prstGeom prst="roundRect">
            <a:avLst>
              <a:gd name="adj" fmla="val 45000"/>
            </a:avLst>
          </a:prstGeom>
          <a:solidFill>
            <a:srgbClr val="C2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30352"/>
            <a:ext cx="1298448" cy="384048"/>
          </a:xfrm>
          <a:prstGeom prst="rect">
            <a:avLst/>
          </a:prstGeom>
          <a:noFill/>
        </p:spPr>
        <p:txBody>
          <a:bodyPr wrap="square" lIns="0" rIns="0" tIns="0" bIns="0" anchor="ctr">
            <a:spAutoFit/>
          </a:bodyPr>
          <a:lstStyle/>
          <a:p>
            <a:pPr algn="ctr">
              <a:lnSpc>
                <a:spcPct val="112000"/>
              </a:lnSpc>
              <a:spcBef>
                <a:spcPts val="0"/>
              </a:spcBef>
              <a:spcAft>
                <a:spcPts val="0"/>
              </a:spcAft>
            </a:pPr>
            <a:r>
              <a:rPr sz="1200" b="1" i="0">
                <a:solidFill>
                  <a:srgbClr val="122A4F"/>
                </a:solidFill>
                <a:latin typeface="Calibri"/>
              </a:rPr>
              <a:t>IDÉE 10</a:t>
            </a:r>
          </a:p>
        </p:txBody>
      </p:sp>
      <p:sp>
        <p:nvSpPr>
          <p:cNvPr id="4" name="TextBox 3"/>
          <p:cNvSpPr txBox="1"/>
          <p:nvPr/>
        </p:nvSpPr>
        <p:spPr>
          <a:xfrm>
            <a:off x="2103120" y="530352"/>
            <a:ext cx="9052560" cy="510540"/>
          </a:xfrm>
          <a:prstGeom prst="rect">
            <a:avLst/>
          </a:prstGeom>
          <a:noFill/>
        </p:spPr>
        <p:txBody>
          <a:bodyPr wrap="square" lIns="0" rIns="0" tIns="0" bIns="0" anchor="t">
            <a:spAutoFit/>
          </a:bodyPr>
          <a:lstStyle/>
          <a:p>
            <a:pPr algn="l">
              <a:lnSpc>
                <a:spcPct val="100000"/>
              </a:lnSpc>
              <a:spcBef>
                <a:spcPts val="0"/>
              </a:spcBef>
              <a:spcAft>
                <a:spcPts val="0"/>
              </a:spcAft>
            </a:pPr>
            <a:r>
              <a:rPr sz="3000" b="1" i="0">
                <a:solidFill>
                  <a:srgbClr val="122A4F"/>
                </a:solidFill>
                <a:latin typeface="Calibri"/>
              </a:rPr>
              <a:t>Un parcours complet de débutant</a:t>
            </a:r>
          </a:p>
        </p:txBody>
      </p:sp>
      <p:sp>
        <p:nvSpPr>
          <p:cNvPr id="5" name="TextBox 4"/>
          <p:cNvSpPr txBox="1"/>
          <p:nvPr/>
        </p:nvSpPr>
        <p:spPr>
          <a:xfrm>
            <a:off x="777240" y="1920303"/>
            <a:ext cx="10634472" cy="151891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B2433"/>
                </a:solidFill>
                <a:latin typeface="Calibri"/>
              </a:rPr>
              <a:t>1) apprends de petites bases de Python, 2) suis un premier exemple avec scikit-learn (fleurs iris), 3) comprends train/test, 4) essaie un deuxième jeu de données, 5) explore un petit réseau de neurones, 6) réalise ta propre idée.</a:t>
            </a:r>
          </a:p>
        </p:txBody>
      </p:sp>
      <p:sp>
        <p:nvSpPr>
          <p:cNvPr id="6" name="Rounded Rectangle 5"/>
          <p:cNvSpPr/>
          <p:nvPr/>
        </p:nvSpPr>
        <p:spPr>
          <a:xfrm>
            <a:off x="777240" y="3658679"/>
            <a:ext cx="10634472" cy="1370457"/>
          </a:xfrm>
          <a:prstGeom prst="roundRect">
            <a:avLst>
              <a:gd name="adj" fmla="val 5000"/>
            </a:avLst>
          </a:prstGeom>
          <a:solidFill>
            <a:srgbClr val="F3F6FA"/>
          </a:solidFill>
          <a:ln w="12700">
            <a:solidFill>
              <a:srgbClr val="D3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777551"/>
            <a:ext cx="10268712" cy="274320"/>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F5C99"/>
                </a:solidFill>
                <a:latin typeface="Calibri"/>
              </a:rPr>
              <a:t>Questions de la séance</a:t>
            </a:r>
          </a:p>
        </p:txBody>
      </p:sp>
      <p:sp>
        <p:nvSpPr>
          <p:cNvPr id="8" name="TextBox 7"/>
          <p:cNvSpPr txBox="1"/>
          <p:nvPr/>
        </p:nvSpPr>
        <p:spPr>
          <a:xfrm>
            <a:off x="960120" y="4061015"/>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1. </a:t>
            </a:r>
            <a:r>
              <a:rPr sz="1500" b="0" i="0">
                <a:solidFill>
                  <a:srgbClr val="1B2433"/>
                </a:solidFill>
                <a:latin typeface="Calibri"/>
              </a:rPr>
              <a:t>Quelle est la toute première étape ?</a:t>
            </a:r>
          </a:p>
        </p:txBody>
      </p:sp>
      <p:sp>
        <p:nvSpPr>
          <p:cNvPr id="9" name="TextBox 8"/>
          <p:cNvSpPr txBox="1"/>
          <p:nvPr/>
        </p:nvSpPr>
        <p:spPr>
          <a:xfrm>
            <a:off x="960120" y="4353242"/>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2. </a:t>
            </a:r>
            <a:r>
              <a:rPr sz="1500" b="0" i="0">
                <a:solidFill>
                  <a:srgbClr val="1B2433"/>
                </a:solidFill>
                <a:latin typeface="Calibri"/>
              </a:rPr>
              <a:t>Qu'est-ce qu'un « ensemble d'entraînement » et un « ensemble de test » ?</a:t>
            </a:r>
          </a:p>
        </p:txBody>
      </p:sp>
      <p:sp>
        <p:nvSpPr>
          <p:cNvPr id="10" name="TextBox 9"/>
          <p:cNvSpPr txBox="1"/>
          <p:nvPr/>
        </p:nvSpPr>
        <p:spPr>
          <a:xfrm>
            <a:off x="960120" y="4645469"/>
            <a:ext cx="10268712" cy="255651"/>
          </a:xfrm>
          <a:prstGeom prst="rect">
            <a:avLst/>
          </a:prstGeom>
          <a:noFill/>
        </p:spPr>
        <p:txBody>
          <a:bodyPr wrap="square" lIns="0" rIns="0" tIns="0" bIns="0" anchor="t">
            <a:spAutoFit/>
          </a:bodyPr>
          <a:lstStyle/>
          <a:p>
            <a:pPr algn="l">
              <a:lnSpc>
                <a:spcPct val="115000"/>
              </a:lnSpc>
              <a:spcBef>
                <a:spcPts val="0"/>
              </a:spcBef>
              <a:spcAft>
                <a:spcPts val="0"/>
              </a:spcAft>
            </a:pPr>
            <a:r>
              <a:rPr sz="1500" b="1" i="0">
                <a:solidFill>
                  <a:srgbClr val="C26A0A"/>
                </a:solidFill>
                <a:latin typeface="Calibri"/>
              </a:rPr>
              <a:t>3. </a:t>
            </a:r>
            <a:r>
              <a:rPr sz="1500" b="0" i="0">
                <a:solidFill>
                  <a:srgbClr val="1B2433"/>
                </a:solidFill>
                <a:latin typeface="Calibri"/>
              </a:rPr>
              <a:t>Quand suis-je prêt à réaliser ma propre IA ?</a:t>
            </a:r>
          </a:p>
        </p:txBody>
      </p:sp>
      <p:sp>
        <p:nvSpPr>
          <p:cNvPr id="11" name="Rectangle 10"/>
          <p:cNvSpPr/>
          <p:nvPr/>
        </p:nvSpPr>
        <p:spPr>
          <a:xfrm>
            <a:off x="685800" y="6327648"/>
            <a:ext cx="10817352" cy="10972"/>
          </a:xfrm>
          <a:prstGeom prst="rect">
            <a:avLst/>
          </a:prstGeom>
          <a:solidFill>
            <a:srgbClr val="D3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419088"/>
            <a:ext cx="8686800" cy="274320"/>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5B6879"/>
                </a:solidFill>
                <a:latin typeface="Calibri"/>
              </a:rPr>
              <a:t>IA IA  |  Dr. Madani BELACEL — Université de Mostaganem</a:t>
            </a:r>
          </a:p>
        </p:txBody>
      </p:sp>
      <p:sp>
        <p:nvSpPr>
          <p:cNvPr id="13" name="TextBox 12"/>
          <p:cNvSpPr txBox="1"/>
          <p:nvPr/>
        </p:nvSpPr>
        <p:spPr>
          <a:xfrm>
            <a:off x="10058400" y="6419088"/>
            <a:ext cx="1444752" cy="274320"/>
          </a:xfrm>
          <a:prstGeom prst="rect">
            <a:avLst/>
          </a:prstGeom>
          <a:noFill/>
        </p:spPr>
        <p:txBody>
          <a:bodyPr wrap="square" lIns="0" rIns="0" tIns="0" bIns="0" anchor="t">
            <a:spAutoFit/>
          </a:bodyPr>
          <a:lstStyle/>
          <a:p>
            <a:pPr algn="r">
              <a:lnSpc>
                <a:spcPct val="112000"/>
              </a:lnSpc>
              <a:spcBef>
                <a:spcPts val="0"/>
              </a:spcBef>
              <a:spcAft>
                <a:spcPts val="0"/>
              </a:spcAft>
            </a:pPr>
            <a:r>
              <a:rPr sz="900" b="1" i="0">
                <a:solidFill>
                  <a:srgbClr val="1F5C99"/>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