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Introduction à l'IA</a:t>
            </a:r>
          </a:p>
          <a:p/>
          <a:p>
            <a:r>
              <a:t>🎯 OBJECTIF</a:t>
            </a:r>
          </a:p>
          <a:p>
            <a:r>
              <a:t>Faire comprendre que l'IA n'est ni une baleine bleue ni une science de fiction : c'est un outil qu'ils ont déjà dans la poche.</a:t>
            </a:r>
          </a:p>
          <a:p/>
          <a:p>
            <a:r>
              <a:t>🗣️ CE QUE JE DIS</a:t>
            </a:r>
          </a:p>
          <a:p>
            <a:r>
              <a:t>Accueil. Avant de poser la moindre théorie, je demande à la classe : « combien de fois aujourd'hui une machine a décidé quelque chose pour vous ? ». Je laisse le silence s'installer trois secondes. On obtient tj��toujours le même chiffre — entre dix et cinquante fois. Le cours part de là : ils utilisent déjà de l'IA sans le savoir. Le badge annonce la durée pour qu'ils sachent qu'on va travailler.</a:t>
            </a:r>
          </a:p>
          <a:p/>
          <a:p>
            <a:r>
              <a:t>── QUESTIONS &amp; RÉPONSES (FR) ──</a:t>
            </a:r>
          </a:p>
          <a:p>
            <a:r>
              <a:t>Q1. Est-ce qu'on aura une évaluation ?</a:t>
            </a:r>
          </a:p>
          <a:p>
            <a:r>
              <a:t>R1. Pas aujourd'hui. Le défi de la deuxième diapositive sert de départ, on en reparlera à la fin.</a:t>
            </a:r>
          </a:p>
          <a:p/>
          <a:p>
            <a:r>
              <a:t>Q2. Pourquoi 30 diapositives en 90 minutes ?</a:t>
            </a:r>
          </a:p>
          <a:p>
            <a:r>
              <a:t>R2. Trois minutes par diapositive en moyenne. On ne les lit pas toutes, certaines ne sont que des repères visuels.</a:t>
            </a:r>
          </a:p>
          <a:p/>
          <a:p>
            <a:r>
              <a:t>⚠️ PIÈGE À ÉVITER</a:t>
            </a:r>
          </a:p>
          <a:p>
            <a:r>
              <a:t>Ne pas commencer par la définition. Si vous dites « l'IA est une discipline qui… », vous perdez la salle en dix secondes.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 — Ce soir, six problèmes</a:t>
            </a:r>
          </a:p>
          <a:p/>
          <a:p>
            <a:r>
              <a:t>🎯 OBJECTIF</a:t>
            </a:r>
          </a:p>
          <a:p>
            <a:r>
              <a:t>Créer le manque. Ils doivent vouloir les six réponses.</a:t>
            </a:r>
          </a:p>
          <a:p/>
          <a:p>
            <a:r>
              <a:t>🗣️ CE QUE JE DIS</a:t>
            </a:r>
          </a:p>
          <a:p>
            <a:r>
              <a:t>Je lis les six problèmes à voix haute, un par dix secondes, sans commentaire. Ensuite je pose la question : « lequel de ces six vous a déjà posé problème cette année ? ». La réponse arrive toujours, généralement le téléphone ou le fichier perdu. Je dis alors : « ce soir on va en traiter cinq ». Je ne promets rien, je donne un objectif.</a:t>
            </a:r>
          </a:p>
          <a:p/>
          <a:p>
            <a:r>
              <a:t>── QUESTIONS &amp; RÉPONSES (FR) ──</a:t>
            </a:r>
          </a:p>
          <a:p>
            <a:r>
              <a:t>Q1. On va vraiment apprendre tout ça en une séance ?</a:t>
            </a:r>
          </a:p>
          <a:p>
            <a:r>
              <a:t>R1. Non. On va apprendre à poser les bonnes questions, et à savoir quand l'IA peut aider. Le reste se lit sur le site.</a:t>
            </a:r>
          </a:p>
          <a:p/>
          <a:p>
            <a:r>
              <a:t>Q2. C'est la même chose que les cours précédents ?</a:t>
            </a:r>
          </a:p>
          <a:p>
            <a:r>
              <a:t>R2. Non. Les cours 02 à 05 sont des domaines précis. Aujourd'hui on construit la carte générale.</a:t>
            </a:r>
          </a:p>
          <a:p/>
          <a:p>
            <a:r>
              <a:t>⚠️ PIÈGE À ÉVITER</a:t>
            </a:r>
          </a:p>
          <a:p>
            <a:r>
              <a:t>Ne pas résoudre les problèmes maintenant, même si la classe s'y erhebe. Il faut garder le fil pour la fin : c'est le fil rouge.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 — À la fin, tu sauras trois choses</a:t>
            </a:r>
          </a:p>
          <a:p/>
          <a:p>
            <a:r>
              <a:t>🎯 OBJECTIF</a:t>
            </a:r>
          </a:p>
          <a:p>
            <a:r>
              <a:t>Donner un contrat clair : à la fin, trois questions auxquelles ils sauront répondre.</a:t>
            </a:r>
          </a:p>
          <a:p/>
          <a:p>
            <a:r>
              <a:t>🗣️ CE QUE JE DIS</a:t>
            </a:r>
          </a:p>
          <a:p>
            <a:r>
              <a:t>Je lis les trois points et j'insiste sur le premier. Beaucoup d'étudiants pensent que l'IA est une technique de laboratoire. Le premier point les surprend toujours : elle est déjà dans leur téléphone, dans leur boîte mail et dans leur carte bancaire. Les points 2 et 3 servent à installed : on ne cherche pas à faire d'eux des informaticiens, mais des utilisateurs capables de juger.</a:t>
            </a:r>
          </a:p>
          <a:p/>
          <a:p>
            <a:r>
              <a:t>── QUESTIONS &amp; RÉPONSES (FR) ──</a:t>
            </a:r>
          </a:p>
          <a:p>
            <a:r>
              <a:t>Q1. Est-ce qu'on va apprendre à coder ?</a:t>
            </a:r>
          </a:p>
          <a:p>
            <a:r>
              <a:t>R1. Pas dans ce cours. Le code est le moyen, pas le but. On verra les agents, mais pour comprendre ce qu'ils font, pas pour devenir développeur.</a:t>
            </a:r>
          </a:p>
          <a:p/>
          <a:p>
            <a:r>
              <a:t>Q2. Pourquoi commencer par « où » ?</a:t>
            </a:r>
          </a:p>
          <a:p>
            <a:r>
              <a:t>R2. Parce qu'on ne peut pas juger un outil qu'on n'a pas utilisé.</a:t>
            </a:r>
          </a:p>
          <a:p/>
          <a:p>
            <a:r>
              <a:t>⚠️ PIÈGE À ÉVITER</a:t>
            </a:r>
          </a:p>
          <a:p>
            <a:r>
              <a:t>Ne pas promising de devenir expert. Promettre un usage juste.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1 — Où l'IA est déjà là</a:t>
            </a:r>
          </a:p>
          <a:p/>
          <a:p>
            <a:r>
              <a:t>🎯 OBJECTIF</a:t>
            </a:r>
          </a:p>
          <a:p>
            <a:r>
              <a:t>Faire sortir la classe de l'idée que l'IA est une technique de laboratoire.</a:t>
            </a:r>
          </a:p>
          <a:p/>
          <a:p>
            <a:r>
              <a:t>🗣️ CE QUE JE DIS</a:t>
            </a:r>
          </a:p>
          <a:p>
            <a:r>
              <a:t>Transition. Je demande : où avez-vous utilisé de l'IA aujourd'hui, sans y penser ? La plupart citent le correcteur du téléphone ou les recommandations. Je dis alors : vous en avez déjà utilisé cinq fois. On va voir où, en commençant par ce que vous avez dans la main.</a:t>
            </a:r>
          </a:p>
          <a:p/>
          <a:p>
            <a:r>
              <a:t>── QUESTIONS &amp; RÉPONSES (FR) ──</a:t>
            </a:r>
          </a:p>
          <a:p>
            <a:r>
              <a:t>Q1. On va parler de nous ?</a:t>
            </a:r>
          </a:p>
          <a:p>
            <a:r>
              <a:t>R1. Oui, et c'est la partie la plus importante : comprendre où l'IA agit déjà, avant de choisir un outil.</a:t>
            </a:r>
          </a:p>
          <a:p/>
          <a:p>
            <a:r>
              <a:t>Q2. Pourquoi commencer par ça ?</a:t>
            </a:r>
          </a:p>
          <a:p>
            <a:r>
              <a:t>R2. Parce qu'on ne choisit bien un outil que si on sait quel problème il résout.</a:t>
            </a:r>
          </a:p>
          <a:p/>
          <a:p>
            <a:r>
              <a:t>⚠️ PIÈGE À ÉVITER</a:t>
            </a:r>
          </a:p>
          <a:p>
            <a:r>
              <a:t>Ne pas faire durer cette diapositive : c'est un repère, pas un contenu.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3 — Dans ton téléphone</a:t>
            </a:r>
          </a:p>
          <a:p/>
          <a:p>
            <a:r>
              <a:t>🎯 OBJECTIF</a:t>
            </a:r>
          </a:p>
          <a:p>
            <a:r>
              <a:t>Faire réaliser que la moitié du smartphone est une IA, et que chacune correspond à un mécanisme identifiable.</a:t>
            </a:r>
          </a:p>
          <a:p/>
          <a:p>
            <a:r>
              <a:t>🗣️ CE QUE JE DIS</a:t>
            </a:r>
          </a:p>
          <a:p>
            <a:r>
              <a:t>Je fais deviner la classe avant de dévoiler. Pour « correction photo », je demande : « est-ce que c'est cosmétique ou de l'IA ? » et la réponse est presque toujours non. Je précise que chaque mécanisme apprend d'exemples : le déblocage a appris ton visage, le GPS a appris les routes. La dernière case, le fil d'actualité, est celle qui intéresse le plus : je demande à deux ou trois étudiants ce que l'algorithme sait d'eux, sans qu'ils l'aient demandé.</a:t>
            </a:r>
          </a:p>
          <a:p/>
          <a:p>
            <a:r>
              <a:t>── QUESTIONS &amp; RÉPONSES (FR) ──</a:t>
            </a:r>
          </a:p>
          <a:p>
            <a:r>
              <a:t>Q1. Est-ce que mon téléphone m'écoute ?</a:t>
            </a:r>
          </a:p>
          <a:p>
            <a:r>
              <a:t>R1. Pour déverrouiller, oui. Le traitement se fait sur l'appareil dans la plupart des modèles récents. Ce n'est pas le micro qui enregistre en continu : c'est un modèle qui compare.</a:t>
            </a:r>
          </a:p>
          <a:p/>
          <a:p>
            <a:r>
              <a:t>Q2. Comment le fil d'actualité sait ce que je veux ?</a:t>
            </a:r>
          </a:p>
          <a:p>
            <a:r>
              <a:t>R2. Il observe ce que je regarde, ce que je like et ce que je saute. Plus tu interagis, plus il prédit juste.</a:t>
            </a:r>
          </a:p>
          <a:p/>
          <a:p>
            <a:r>
              <a:t>Q3. Je peux vérifier ce qu'il sait de moi ?</a:t>
            </a:r>
          </a:p>
          <a:p>
            <a:r>
              <a:t>R3. Oui, dans les réglages, section « publicité » ou « données », la plupart des téléphones permettent de voir et de supprimer cet historique.</a:t>
            </a:r>
          </a:p>
          <a:p/>
          <a:p>
            <a:r>
              <a:t>⚠️ PIÈGE À ÉVITER</a:t>
            </a:r>
          </a:p>
          <a:p>
            <a:r>
              <a:t>Ne pas dire que le téléphone « lit dans tes pensées ». Dire qu'il reconnaît des formes qu'il a déjà vues.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4 — Sur le web et les réseaux sociaux</a:t>
            </a:r>
          </a:p>
          <a:p/>
          <a:p>
            <a:r>
              <a:t>🎯 OBJECTIF</a:t>
            </a:r>
          </a:p>
          <a:p>
            <a:r>
              <a:t>Montrer que l'IA décide de l'ordre dans lequel on voit l'information.</a:t>
            </a:r>
          </a:p>
          <a:p/>
          <a:p>
            <a:r>
              <a:t>🗣️ CE QUE JE DIS</a:t>
            </a:r>
          </a:p>
          <a:p>
            <a:r>
              <a:t>Je pose une question directe : « qui décide de la première vidéo que vous voyez ? ». Personne n'a la réponse dans la classe. Je révèle que c'est un modèle qui prédit votre attention, et que le critère n'est pas l'intérêt mais le temps passé. Sur l'anti-spam, je précise que c'est une IA discrète : elle apprend de ce que vous avez classé comme indésirable, elle apprend des autres utilisateurs.</a:t>
            </a:r>
          </a:p>
          <a:p/>
          <a:p>
            <a:r>
              <a:t>── QUESTIONS &amp; RÉPONSES (FR) ──</a:t>
            </a:r>
          </a:p>
          <a:p>
            <a:r>
              <a:t>Q1. Un ami m'a dit que les réseaux manipulaient.</a:t>
            </a:r>
          </a:p>
          <a:p>
            <a:r>
              <a:t>R1. Ce n'est pas une théorie : c'est le mécanisme lui-même. La manipulation vient du choix de l'objectif — garder l'écran allumé.</a:t>
            </a:r>
          </a:p>
          <a:p/>
          <a:p>
            <a:r>
              <a:t>Q2. L'anti-spam se trompe ?</a:t>
            </a:r>
          </a:p>
          <a:p>
            <a:r>
              <a:t>R2. Oui. Un message légitime peut finir en indésirable, surtout s'il contient des mots inhabituels. Il faut vérifier la liste « courrier indésirable » de temps en temps.</a:t>
            </a:r>
          </a:p>
          <a:p/>
          <a:p>
            <a:r>
              <a:t>Q3. Puis-jeafari me désabonner de ça ?</a:t>
            </a:r>
          </a:p>
          <a:p>
            <a:r>
              <a:t>R3. Partiellement. On peut limiter la collecte, mais pas la supprimer entièrement : c'est le prix d'accès aux services gratuits.</a:t>
            </a:r>
          </a:p>
          <a:p/>
          <a:p>
            <a:r>
              <a:t>⚠️ PIÈGE À ÉVITER</a:t>
            </a:r>
          </a:p>
          <a:p>
            <a:r>
              <a:t>Ne pas faire de la théorie conspirationniste. Reste sur le mécanisme observable.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5 — À l'université</a:t>
            </a:r>
          </a:p>
          <a:p/>
          <a:p>
            <a:r>
              <a:t>🎯 OBJECTIF</a:t>
            </a:r>
          </a:p>
          <a:p>
            <a:r>
              <a:t>Faire apparaître l'IA administrative avant que l'étudiant ne la découvre chez un compteur.</a:t>
            </a:r>
          </a:p>
          <a:p/>
          <a:p>
            <a:r>
              <a:t>🗣️ CE QUE JE DIS</a:t>
            </a:r>
          </a:p>
          <a:p>
            <a:r>
              <a:t>Je commence par la prise en charge sanitaire : cette année, tout le monde a vu unExpiry assistant poser des questions avant deFam donner un numéro. C'est la première fois qu'ils touchent une IA sans que personne ne l'annonce. La détection de plagiat est le second point : je précise qu'elle ne juge pas la qualité d'un texte mais sa ressemblance avec un corpus. C'est important pour la suite du cours.</a:t>
            </a:r>
          </a:p>
          <a:p/>
          <a:p>
            <a:r>
              <a:t>── QUESTIONS &amp; RÉPONSES (FR) ──</a:t>
            </a:r>
          </a:p>
          <a:p>
            <a:r>
              <a:t>Q1. La détection de plagiat tombe-t-elle juste ?</a:t>
            </a:r>
          </a:p>
          <a:p>
            <a:r>
              <a:t>R1. Elle tombe surtout juste quand le texte est entièrement recopié. Elle peut manquer un texte réécrit, et signaler une citation correctement attribuée. Aucune de ces deux erreurs ne rend la détection inutile.</a:t>
            </a:r>
          </a:p>
          <a:p/>
          <a:p>
            <a:r>
              <a:t>Q2. Un agent de santé peut se tromper ?</a:t>
            </a:r>
          </a:p>
          <a:p>
            <a:r>
              <a:t>R2. Oui, et c'est pour cela qu'il ne décide pas seul : il prépare le dossier, le médecin tranche.</a:t>
            </a:r>
          </a:p>
          <a:p/>
          <a:p>
            <a:r>
              <a:t>Q3. Est-ce que l'université utilise mes notes pour quoi que ce soit ?</a:t>
            </a:r>
          </a:p>
          <a:p>
            <a:r>
              <a:t>R3. Prévoir les échecs, organiser les groupes. C'est ce que la loi sur les données personnelles encadre.</a:t>
            </a:r>
          </a:p>
          <a:p/>
          <a:p>
            <a:r>
              <a:t>⚠️ PIÈGE À ÉVITER</a:t>
            </a:r>
          </a:p>
          <a:p>
            <a:r>
              <a:t>Ne pas laisser croire que l'administration est défaillante. Citer un cas d'usage vérifiable.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6 — Chez le technicien : l'IA aide à réparer</a:t>
            </a:r>
          </a:p>
          <a:p/>
          <a:p>
            <a:r>
              <a:t>🎯 OBJECTIF</a:t>
            </a:r>
          </a:p>
          <a:p>
            <a:r>
              <a:t>Faire le pont entre l'IA et le métier de l'étudiant ou de son proche — et poser la limite : l'IA conseille, elle ne répare pas.</a:t>
            </a:r>
          </a:p>
          <a:p/>
          <a:p>
            <a:r>
              <a:t>🗣️ CE QUE JE DIS</a:t>
            </a:r>
          </a:p>
          <a:p>
            <a:r>
              <a:t>C'est la diapositive qui touche le plus la classe, je la prends longtemps. Je raconte un cas réel : une student de terminale avait un téléphone qui ne chargeait plus, elle a voulu le flasher. Un script mal adapté a mal verrouillé l'appareil. L'IA avait bien répondu, mais elle ne pouvait pas savoir que sa copie était périmée. Je conclude : l'IA gagne du temps, elle ne prend pas la responsabilité. Le technicien garde le diagnostic.</a:t>
            </a:r>
          </a:p>
          <a:p/>
          <a:p>
            <a:r>
              <a:t>── QUESTIONS &amp; RÉPONSES (FR) ──</a:t>
            </a:r>
          </a:p>
          <a:p>
            <a:r>
              <a:t>Q1. Est-ce que l'IA peut vraiment réparer ?</a:t>
            </a:r>
          </a:p>
          <a:p>
            <a:r>
              <a:t>R1. Non. Elle accélère la recherche : elle donne les causes probables et les datasheets. La mesure, le démontage et la décision restent à l'humain.</a:t>
            </a:r>
          </a:p>
          <a:p/>
          <a:p>
            <a:r>
              <a:t>Q2. Flasher un téléphone, c'est dangereux ?</a:t>
            </a:r>
          </a:p>
          <a:p>
            <a:r>
              <a:t>R2. Oui. Un script de flash mal adapté peut verrouiller définitivement l'appareil. Il faut toujours vérifier la compatibilité exacte du modèle avant de lancer quoi que ce soit.</a:t>
            </a:r>
          </a:p>
          <a:p/>
          <a:p>
            <a:r>
              <a:t>Q3. Et si l'appareil est encore sous garantie ?</a:t>
            </a:r>
          </a:p>
          <a:p>
            <a:r>
              <a:t>R3. Le flash annule la garantie, et peut même rendre l'appareil inutilisable. C'est la première vérification à faire.</a:t>
            </a:r>
          </a:p>
          <a:p/>
          <a:p>
            <a:r>
              <a:t>⚠️ PIÈGE À ÉVITER</a:t>
            </a:r>
          </a:p>
          <a:p>
            <a:r>
              <a:t>Ne pas donner l'impression que tout est réparable par IA. L'exemple du téléphone verrouillé sert précisément à éviter cette confiance.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7 — Douze domaines, un seul mécanisme</a:t>
            </a:r>
          </a:p>
          <a:p/>
          <a:p>
            <a:r>
              <a:t>🎯 OBJECTIF</a:t>
            </a:r>
          </a:p>
          <a:p>
            <a:r>
              <a:t>Faire comprendre que la diversité des noms cache une seule technique.</a:t>
            </a:r>
          </a:p>
          <a:p/>
          <a:p>
            <a:r>
              <a:t>🗣️ CE QUE JE DIS</a:t>
            </a:r>
          </a:p>
          <a:p>
            <a:r>
              <a:t>Je balaie la grille vite, en dix secondes, pour que l'image entre. Puis je marque un temps : « douze métiers différents, un seul mécanisme ». C'est la transition vers la partie 2. Si j'ai le temps, je demande à un étudiant de citer un domaine absent de la grille — il y en a toujours un, et je le note au tableau pour y revenir à la fin.</a:t>
            </a:r>
          </a:p>
          <a:p/>
          <a:p>
            <a:r>
              <a:t>── QUESTIONS &amp; RÉPONSES (FR) ──</a:t>
            </a:r>
          </a:p>
          <a:p>
            <a:r>
              <a:t>Q1. Pourquoi douze et pas plus ?</a:t>
            </a:r>
          </a:p>
          <a:p>
            <a:r>
              <a:t>R1. Parce que la liste n'est pas exhaustive, elle est illustrative. Le même mécanisme sert partout ailleurs.</a:t>
            </a:r>
          </a:p>
          <a:p/>
          <a:p>
            <a:r>
              <a:t>Q2. La recherche est-elle une IA ?</a:t>
            </a:r>
          </a:p>
          <a:p>
            <a:r>
              <a:t>R2. Les moteurs ont des parties non-IA, mais le classement, la compréhension de la question et les réponses générées en sont.</a:t>
            </a:r>
          </a:p>
          <a:p/>
          <a:p>
            <a:r>
              <a:t>⚠️ PIÈGE À ÉVITER</a:t>
            </a:r>
          </a:p>
          <a:p>
            <a:r>
              <a:t>Ne pas s'attarder : cette diapositive sert de respiration.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Comment ça marche vraiment</a:t>
            </a:r>
          </a:p>
          <a:p/>
          <a:p>
            <a:r>
              <a:t>🎯 OBJECTIF</a:t>
            </a:r>
          </a:p>
          <a:p>
            <a:r>
              <a:t>Passer de l'usage au mécanisme, en une phrase et sans mathématiques.</a:t>
            </a:r>
          </a:p>
          <a:p/>
          <a:p>
            <a:r>
              <a:t>🗣️ CE QUE JE DIS</a:t>
            </a:r>
          </a:p>
          <a:p>
            <a:r>
              <a:t>Transition. Je pose la question : comment une machine peut-elle dire qu'une photo contient un chat ? La réponse spontanée est « elle regarde ». C'est faux, et c'est justement ce qu'il faut corriger. Je préviens la classe : aucune formule dans cette partie. Une phrase et des exemples suffisent.</a:t>
            </a:r>
          </a:p>
          <a:p/>
          <a:p>
            <a:r>
              <a:t>── QUESTIONS &amp; RÉPONSES (FR) ──</a:t>
            </a:r>
          </a:p>
          <a:p>
            <a:r>
              <a:t>Q1. C'est des mathématiques ?</a:t>
            </a:r>
          </a:p>
          <a:p>
            <a:r>
              <a:t>R1. Non. Une image en quatre mots : des exemples, un motif, une prédiction. Si vous savez compter jusqu'à dix, vous suffisez.</a:t>
            </a:r>
          </a:p>
          <a:p/>
          <a:p>
            <a:r>
              <a:t>Q2. Est-ce que je dois tout retenir ?</a:t>
            </a:r>
          </a:p>
          <a:p>
            <a:r>
              <a:t>R2. Non, une seule phrase. Le reste sert à vous faire réagir aux erreurs.</a:t>
            </a:r>
          </a:p>
          <a:p/>
          <a:p>
            <a:r>
              <a:t>⚠️ PIÈGE À ÉVITER</a:t>
            </a:r>
          </a:p>
          <a:p>
            <a:r>
              <a:t>Ne pas laisser croire que le mécanisme est secret : tout est public et vérifiable.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8 — Une machine qui devine le suivant</a:t>
            </a:r>
          </a:p>
          <a:p/>
          <a:p>
            <a:r>
              <a:t>🎯 OBJECTIF</a:t>
            </a:r>
          </a:p>
          <a:p>
            <a:r>
              <a:t>Donner à la classe une seule phrase à retenir pour toute la séance.</a:t>
            </a:r>
          </a:p>
          <a:p/>
          <a:p>
            <a:r>
              <a:t>🗣️ CE QUE JE DIS</a:t>
            </a:r>
          </a:p>
          <a:p>
            <a:r>
              <a:t>Je laisse la diapositive affichée une bonne minute avant de parler. Puis je demande à la classe de reformuler l'idée avec leurs mots. J'attends des réponses du type : « elle regarde ce qui ressemble ». Quand quelqu'un trouve une bonne formulation, je l'écris au tableau et je m'y réfère le reste du cours. C'est la phrase qui permet de comprendre toutes les autres diapositives sans mathématiques.</a:t>
            </a:r>
          </a:p>
          <a:p/>
          <a:p>
            <a:r>
              <a:t>── QUESTIONS &amp; RÉPONSES (FR) ──</a:t>
            </a:r>
          </a:p>
          <a:p>
            <a:r>
              <a:t>Q1. Est-ce qu'elle choisit au hasard ?</a:t>
            </a:r>
          </a:p>
          <a:p>
            <a:r>
              <a:t>R1. Non. Elle calcule une probabilité. « 92 % » veut dire qu'elle a trouvé beaucoup d'exemples très proches, pas qu'elle a compris l'animal.</a:t>
            </a:r>
          </a:p>
          <a:p/>
          <a:p>
            <a:r>
              <a:t>Q2. Pourquoi les probabilities ?</a:t>
            </a:r>
          </a:p>
          <a:p>
            <a:r>
              <a:t>R2. Parce qu'elle ne peut pas être sûre : elle ne fait que comparer des formes. La plupart des erreurs viennent d'exemples trop rares.</a:t>
            </a:r>
          </a:p>
          <a:p/>
          <a:p>
            <a:r>
              <a:t>Q3. Comment devine-t-elle sans comprendre ? sans comprendre ?</a:t>
            </a:r>
          </a:p>
          <a:p>
            <a:r>
              <a:t>R3. Elle ne devine pas au sens humain : elle mesure des ressemblances et attribue une valeur. La différence est importante.</a:t>
            </a:r>
          </a:p>
          <a:p/>
          <a:p>
            <a:r>
              <a:t>⚠️ PIÈGE À ÉVITER</a:t>
            </a:r>
          </a:p>
          <a:p>
            <a:r>
              <a:t>Ne pas employer le mot « magicien » ni «ekt ». Parler de mesure de ressemblance.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9 — Le même mécanisme, cinq fois par jour</a:t>
            </a:r>
          </a:p>
          <a:p/>
          <a:p>
            <a:r>
              <a:t>🎯 OBJECTIF</a:t>
            </a:r>
          </a:p>
          <a:p>
            <a:r>
              <a:t>Montrer que la phrase de la diapositive précédente s'applique concrètement à cinq gestes de leur journée.</a:t>
            </a:r>
          </a:p>
          <a:p/>
          <a:p>
            <a:r>
              <a:t>🗣️ CE QUE JE DIS</a:t>
            </a:r>
          </a:p>
          <a:p>
            <a:r>
              <a:t>Je lis la première ligne entièrement, en détail, puis je demande à la classe de trouver les trois étapes dans les autres lignes. Ils les trouvent vite, et c'est exactement l'effet voulu. Je termine sur la ligne du pourriel : c'est celle où la confiance est le plus justifiée, parce qu'un faux positif coûte peu.</a:t>
            </a:r>
          </a:p>
          <a:p/>
          <a:p>
            <a:r>
              <a:t>── QUESTIONS &amp; RÉPONSES (FR) ──</a:t>
            </a:r>
          </a:p>
          <a:p>
            <a:r>
              <a:t>Q1. Pourquoi la ligne des photos du portal est-elle fiable ?</a:t>
            </a:r>
          </a:p>
          <a:p>
            <a:r>
              <a:t>R1. Parce que l'écart entre un visage connu et un inconnu est net. Un modèle bien entraîné sur des milliers de personnes ne confond pas deux personnes.</a:t>
            </a:r>
          </a:p>
          <a:p/>
          <a:p>
            <a:r>
              <a:t>Q2. Et si les données sont biaisées ?</a:t>
            </a:r>
          </a:p>
          <a:p>
            <a:r>
              <a:t>R2. Alors les prédictions le sont aussi. C'est le sujet de la diapositive sur les données.</a:t>
            </a:r>
          </a:p>
          <a:p/>
          <a:p>
            <a:r>
              <a:t>⚠️ PIÈGE À ÉVITER</a:t>
            </a:r>
          </a:p>
          <a:p>
            <a:r>
              <a:t>Ne pas commenter chaque ligne en détail : la classe doit faire le travail.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10 — Pourquoi l'IA se trompe</a:t>
            </a:r>
          </a:p>
          <a:p/>
          <a:p>
            <a:r>
              <a:t>🎯 OBJECTIF</a:t>
            </a:r>
          </a:p>
          <a:p>
            <a:r>
              <a:t>Enlever la peur de l'erreur et installer l'habitude de vérifier.</a:t>
            </a:r>
          </a:p>
          <a:p/>
          <a:p>
            <a:r>
              <a:t>🗣️ CE QUE JE DIS</a:t>
            </a:r>
          </a:p>
          <a:p>
            <a:r>
              <a:t>Je prends l'exemple du chat noir et je le fais raconter : il y a trois ans, les téléphones reconnaissaient mal les visages foncés parce que les données d'entraînement étaient majoritairement européennes. Sur les cas rares, je prends l'exemple du médicament qui manque dans la base : la machine ne dit pas « je ne sais pas », elle dit la chose la plus proche. C'est ce point qui justifie toute la formation à la vérification.</a:t>
            </a:r>
          </a:p>
          <a:p/>
          <a:p>
            <a:r>
              <a:t>── QUESTIONS &amp; RÉPONSES (FR) ──</a:t>
            </a:r>
          </a:p>
          <a:p>
            <a:r>
              <a:t>Q1. Pourquoi l'IA ne dit-elle pas « je ne sais pas » ?</a:t>
            </a:r>
          </a:p>
          <a:p>
            <a:r>
              <a:t>R1. Parce qu'elle a quand même une réponse plausible : elle ne distingue pas « je ne sais pas » de « ce qui est le plus probable ». C'est précisément ce qui rend ses erreurs si convaincantes.</a:t>
            </a:r>
          </a:p>
          <a:p/>
          <a:p>
            <a:r>
              <a:t>Q2. Plus il y a de données, moins il y a d'erreurs ?</a:t>
            </a:r>
          </a:p>
          <a:p>
            <a:r>
              <a:t>R2. Oui, jusqu'à un certain point. Le gain devient ensuite marginal, et le risque de biais augmente si les données sont déséquilibrées.</a:t>
            </a:r>
          </a:p>
          <a:p/>
          <a:p>
            <a:r>
              <a:t>Q3. Comment je vérifie vite ?</a:t>
            </a:r>
          </a:p>
          <a:p>
            <a:r>
              <a:t>R3. Je demande deux fois, de deux façons différentes. Si la réponse change, c'est qu'il n'y avait pas de sources.</a:t>
            </a:r>
          </a:p>
          <a:p/>
          <a:p>
            <a:r>
              <a:t>⚠️ PIÈGE À ÉVITER</a:t>
            </a:r>
          </a:p>
          <a:p>
            <a:r>
              <a:t>Ne pas montrer l'exemple chat noir sans le rattacher aux données : la conclusion doit être le rôle des exemples.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11 — Ce que l'IA ne fait pas</a:t>
            </a:r>
          </a:p>
          <a:p/>
          <a:p>
            <a:r>
              <a:t>🎯 OBJECTIF</a:t>
            </a:r>
          </a:p>
          <a:p>
            <a:r>
              <a:t>Poser les limites du mécanisme, pour que l'étudiant sache quand il peut et quand il ne peut pasdeleguer.</a:t>
            </a:r>
          </a:p>
          <a:p/>
          <a:p>
            <a:r>
              <a:t>🗣️ CE QUE JE DIS</a:t>
            </a:r>
          </a:p>
          <a:p>
            <a:r>
              <a:t>Je passe vite sur les deux premières cases, qui sont évidentes, et je m'arrête sur la troisième. La question « est-ce qu'elle est vivante » revient à chaque cours. Ma réponse tient en une phrase : une IA n'a rien vécu, elle ne peut donc pas être maltraitée, mais elle ne peut pas non plus être responsable. C'est pour ça que la responsabilité d'un travail reste à l'étudiant.</a:t>
            </a:r>
          </a:p>
          <a:p/>
          <a:p>
            <a:r>
              <a:t>── QUESTIONS &amp; RÉPONSES (FR) ──</a:t>
            </a:r>
          </a:p>
          <a:p>
            <a:r>
              <a:t>Q1. Est-ce que cela va changer dans dix ans ?</a:t>
            </a:r>
          </a:p>
          <a:p>
            <a:r>
              <a:t>R1. Les limites de mémoire et de biais sur les données vont s'atténuer. Le fait qu'elle ne vive rien, non : c'est structurel.</a:t>
            </a:r>
          </a:p>
          <a:p/>
          <a:p>
            <a:r>
              <a:t>Q2. Comment puis-je savoir si elle comprend ?</a:t>
            </a:r>
          </a:p>
          <a:p>
            <a:r>
              <a:t>R2. On ne peut pas. Ce qui est observable, c'est la régularité et la cohérence de ses réponses, pas sa compréhension.</a:t>
            </a:r>
          </a:p>
          <a:p/>
          <a:p>
            <a:r>
              <a:t>Q3. Alors pourquoi on lui parle comme à une personne ?</a:t>
            </a:r>
          </a:p>
          <a:p>
            <a:r>
              <a:t>R3. Parce que ça aide à formuler une bonne demande. Mais la relation est de l'ordre de l'outil, pas du partenaire.</a:t>
            </a:r>
          </a:p>
          <a:p/>
          <a:p>
            <a:r>
              <a:t>⚠️ PIÈGE À ÉVITER</a:t>
            </a:r>
          </a:p>
          <a:p>
            <a:r>
              <a:t>Ne pas ouvrir le débat sur la conscience des machines : ce n'est pas l'objet du cours et cela displace les étudiants.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3 — Les familles d'outils</a:t>
            </a:r>
          </a:p>
          <a:p/>
          <a:p>
            <a:r>
              <a:t>🎯 OBJECTIF</a:t>
            </a:r>
          </a:p>
          <a:p>
            <a:r>
              <a:t>Passer du mécanisme aux outils, et faire apparaître la frontière entre assistant et agent.</a:t>
            </a:r>
          </a:p>
          <a:p/>
          <a:p>
            <a:r>
              <a:t>🗣️ CE QUE JE DIS</a:t>
            </a:r>
          </a:p>
          <a:p>
            <a:r>
              <a:t>Transition. Je demande : si je vous demande de découper une tâche en étapes, quel outil citez-vous ? La plupart citent ChatGPT. Je révèle alors qu'il existe une famille qui ne répond pas mais qui agit, et qu'elle est déjà utilisée par des étudiants de la promotion. C'est la partie la plus nouvelle du cours.</a:t>
            </a:r>
          </a:p>
          <a:p/>
          <a:p>
            <a:r>
              <a:t>── QUESTIONS &amp; RÉPONSES (FR) ──</a:t>
            </a:r>
          </a:p>
          <a:p>
            <a:r>
              <a:t>Q1. Pourquoi commencer par les familles ?</a:t>
            </a:r>
          </a:p>
          <a:p>
            <a:r>
              <a:t>R1. Parce que les produits changent tous les trois mois, les familles non. C'est la grille qui vous servira.</a:t>
            </a:r>
          </a:p>
          <a:p/>
          <a:p>
            <a:r>
              <a:t>Q2. Je n'ai pas d'ordinateur portable, puis-je utiliser les agents ?</a:t>
            </a:r>
          </a:p>
          <a:p>
            <a:r>
              <a:t>R2. Sur téléphone, très peu. Un agent modifie un dossier de fichiers : c'est le métier de l'ordinateur d'abord.</a:t>
            </a:r>
          </a:p>
          <a:p/>
          <a:p>
            <a:r>
              <a:t>⚠️ PIÈGE À ÉVITER</a:t>
            </a:r>
          </a:p>
          <a:p>
            <a:r>
              <a:t>Ne pas transformer cette partie en catalogue de marques.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12 — Six familles d'outils</a:t>
            </a:r>
          </a:p>
          <a:p/>
          <a:p>
            <a:r>
              <a:t>🎯 OBJECTIF</a:t>
            </a:r>
          </a:p>
          <a:p>
            <a:r>
              <a:t>Donner une grille de repérage qui tient encore dans deux ans, malgré les changements de produits.</a:t>
            </a:r>
          </a:p>
          <a:p/>
          <a:p>
            <a:r>
              <a:t>🗣️ CE QUE JE DIS</a:t>
            </a:r>
          </a:p>
          <a:p>
            <a:r>
              <a:t>Je demande d'abord à la classe de classer les outils qu'ils ont déjà utilisés dans ces six cases. Ils Placement gets it quickly. J'insiste sur les deux dernières cases, moins connues : les agents, qui agissent, et les modèles locaux, qui tournent sur la machine. Pour la locale, je précise l'intérêt concret : aucune donnée ne sort de chez soi. C'est la réponse à la question sur la vie privée.</a:t>
            </a:r>
          </a:p>
          <a:p/>
          <a:p>
            <a:r>
              <a:t>── QUESTIONS &amp; RÉPONSES (FR) ──</a:t>
            </a:r>
          </a:p>
          <a:p>
            <a:r>
              <a:t>Q1. Qu'est-ce qu'un agent, concrètement ?</a:t>
            </a:r>
          </a:p>
          <a:p>
            <a:r>
              <a:t>R1. Un outil qui ne se contente pas de répondre : il utilise des outils sur votre machine — lire un fichier, en écrire un, lancer une commande. La prochaine diapositive y est consacrée.</a:t>
            </a:r>
          </a:p>
          <a:p/>
          <a:p>
            <a:r>
              <a:t>Q2. Un modèle local, c'est moins bien ?</a:t>
            </a:r>
          </a:p>
          <a:p>
            <a:r>
              <a:t>R2. Plus petit, donc moins capable sur les tâches complexes. Mais il fonctionne sans internet et n'envoie rien à personne.</a:t>
            </a:r>
          </a:p>
          <a:p/>
          <a:p>
            <a:r>
              <a:t>Q3. Lequel dois-je choisir ?</a:t>
            </a:r>
          </a:p>
          <a:p>
            <a:r>
              <a:t>R3. Celui qui résout votre problème aujourd'hui. Les produits se ressemblent plus qu'ils ne diffèrent sur les tâches de base.</a:t>
            </a:r>
          </a:p>
          <a:p/>
          <a:p>
            <a:r>
              <a:t>⚠️ PIÈGE À ÉVITER</a:t>
            </a:r>
          </a:p>
          <a:p>
            <a:r>
              <a:t>Ne pas faire le tour d'écran des marques : la grille, pas le catalogue.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13 — L'agent ne répond pas, il agit</a:t>
            </a:r>
          </a:p>
          <a:p/>
          <a:p>
            <a:r>
              <a:t>🎯 OBJECTIF</a:t>
            </a:r>
          </a:p>
          <a:p>
            <a:r>
              <a:t>Faire comprendre la différence technique ET la règle de sécurité qui en découle.</a:t>
            </a:r>
          </a:p>
          <a:p/>
          <a:p>
            <a:r>
              <a:t>🗣️ CE QUE JE DIS</a:t>
            </a:r>
          </a:p>
          <a:p>
            <a:r>
              <a:t>C'est la diapositive la plus nouvelle du cours et celle qui intéresse le plus la classe. Je fais la démonstration à mains levées : quand je dis « corrige ce script », un assistant de conversation me proposerait un code à recopier ; l'agent ouvre le fichier, le modifie, puis le teste. La différence pratique est immédiate. J'insiste ensuite sur le plan : c'est la seule règle de sécurité vraiment utile, et je demande à la classe de la reformuler. Elle l'écrit au tableau.</a:t>
            </a:r>
          </a:p>
          <a:p/>
          <a:p>
            <a:r>
              <a:t>── QUESTIONS &amp; RÉPONSES (FR) ──</a:t>
            </a:r>
          </a:p>
          <a:p>
            <a:r>
              <a:t>Q1. Est-ce que l'agent peut casser mon projet ?</a:t>
            </a:r>
          </a:p>
          <a:p>
            <a:r>
              <a:t>R1. Oui, s'il n'a pas de filet de sécurité. D'où deux règles : toujours demander le plan d'abord, et garder une copie avant. Git fait exactement ça.</a:t>
            </a:r>
          </a:p>
          <a:p/>
          <a:p>
            <a:r>
              <a:t>Q2. Comment savoir s'il a vraiment testé ?</a:t>
            </a:r>
          </a:p>
          <a:p>
            <a:r>
              <a:t>R2. On lui demande de montrer la commande qu'il a exécutée et son résultat. S'il ne peut pas, il n'a pas testé.</a:t>
            </a:r>
          </a:p>
          <a:p/>
          <a:p>
            <a:r>
              <a:t>Q3. Est-ce que ça coûte plus cher ?</a:t>
            </a:r>
          </a:p>
          <a:p>
            <a:r>
              <a:t>R3. Oui, nettement : un agent qui travaille dix étapes consomme beaucoup plus qu'une réponse. À utiliser quand la tâche justifie le coût.</a:t>
            </a:r>
          </a:p>
          <a:p/>
          <a:p>
            <a:r>
              <a:t>⚠️ PIÈGE À ÉVITER</a:t>
            </a:r>
          </a:p>
          <a:p>
            <a:r>
              <a:t>Ne pas laisser croire que l'agent est fiable par construction. L'exemple de l'agent qui teste sans le dire suffit.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14 — Deux familles</a:t>
            </a:r>
          </a:p>
          <a:p/>
          <a:p>
            <a:r>
              <a:t>🎯 OBJECTIF</a:t>
            </a:r>
          </a:p>
          <a:p>
            <a:r>
              <a:t>Conserver une diapositive qui fonctionne et fixer la frontière entre parler et agir.</a:t>
            </a:r>
          </a:p>
          <a:p/>
          <a:p>
            <a:r>
              <a:t>🗣️ CE QUE JE DIS</a:t>
            </a:r>
          </a:p>
          <a:p>
            <a:r>
              <a:t>Cette diapositive existait déjà en version courte et elle marchait bien : je l'ai gardée telle quelle, en développant seulement la deuxième colonne. Je pose la question à la classe : « les deux vous parlent. Quelle est la vraie différence ? ». La réponse attendue est qu'un seul touche à vos fichiers. C'est exactement la frontière entre un assistant et un agent.</a:t>
            </a:r>
          </a:p>
          <a:p/>
          <a:p>
            <a:r>
              <a:t>── QUESTIONS &amp; RÉPONSES (FR) ──</a:t>
            </a:r>
          </a:p>
          <a:p>
            <a:r>
              <a:t>Q1. Quelle est la différence entre ChatGPT et Cursor ?</a:t>
            </a:r>
          </a:p>
          <a:p>
            <a:r>
              <a:t>R1. ChatGPT parle : il répond avec des phrases dans la fenêtre de discussion. Cursor agit : il écrit et modifie directement les lignes de votre programme dans votre éditeur.</a:t>
            </a:r>
          </a:p>
          <a:p/>
          <a:p>
            <a:r>
              <a:t>Q2. Est-ce que le second est réservé aux programmateurs ?</a:t>
            </a:r>
          </a:p>
          <a:p>
            <a:r>
              <a:t>R2. Non. Il faut savoir décrire ce qu'on veut faire. L'IA écrit le code, mais c'est l'utilisateur qui décide de ce qui est juste et ce qui ne l'est pas.</a:t>
            </a:r>
          </a:p>
          <a:p/>
          <a:p>
            <a:r>
              <a:t>Q3. Puis-je utiliser les deux ?</a:t>
            </a:r>
          </a:p>
          <a:p>
            <a:r>
              <a:t>R3. Oui, et c'est même conseillé : on discute avec le premier, on exécute avec le second.</a:t>
            </a:r>
          </a:p>
          <a:p/>
          <a:p>
            <a:r>
              <a:t>⚠️ PIÈGE À ÉVITER</a:t>
            </a:r>
          </a:p>
          <a:p>
            <a:r>
              <a:t>Ne pas laisser croire qu'un agent comprend mieux. Il agit seulement.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15 — Cinq façons de demander</a:t>
            </a:r>
          </a:p>
          <a:p/>
          <a:p>
            <a:r>
              <a:t>🎯 OBJECTIF</a:t>
            </a:r>
          </a:p>
          <a:p>
            <a:r>
              <a:t>Montrer que la qualité vient surtout de la façon de formuler la demande, pas du choix de l'outil.</a:t>
            </a:r>
          </a:p>
          <a:p/>
          <a:p>
            <a:r>
              <a:t>🗣️ CE QUE JE DIS</a:t>
            </a:r>
          </a:p>
          <a:p>
            <a:r>
              <a:t>Je prends la dernière ligne comme conclusion : demander le plan d'abord est la seule technique qui change tout quand on travaille sur des fichiers. Les quatre autres sont des variantes de la première. Je demande à la classe de citer une question récente et on cherche ensemble laquelle des cinq méthodes aurait donné une meilleure réponse.</a:t>
            </a:r>
          </a:p>
          <a:p/>
          <a:p>
            <a:r>
              <a:t>── QUESTIONS &amp; RÉPONSES (FR) ──</a:t>
            </a:r>
          </a:p>
          <a:p>
            <a:r>
              <a:t>Q1. Comment je sais laquelle choisir ?</a:t>
            </a:r>
          </a:p>
          <a:p>
            <a:r>
              <a:t>R1. Si la question est simple, n'importe laquelle suffit. Si la réponse compte et qu'elle doit être vérifiable, croisez : demandez la même chose à deux IA.</a:t>
            </a:r>
          </a:p>
          <a:p/>
          <a:p>
            <a:r>
              <a:t>Q2. Faire critiquer, ça ne sert à rien ?</a:t>
            </a:r>
          </a:p>
          <a:p>
            <a:r>
              <a:t>R2. Au contraire. Une relecture demandée à froid trouve les trous que vous ne voyez plus parce que vous écrivez depuis deux heures.</a:t>
            </a:r>
          </a:p>
          <a:p/>
          <a:p>
            <a:r>
              <a:t>Q3. Le plan d'abord, ça prend du temps ?</a:t>
            </a:r>
          </a:p>
          <a:p>
            <a:r>
              <a:t>R3. Trente secondes. Il évite dix minutes de corrections quand l'IA a compris de travers.</a:t>
            </a:r>
          </a:p>
          <a:p/>
          <a:p>
            <a:r>
              <a:t>⚠️ PIÈGE À ÉVITER</a:t>
            </a:r>
          </a:p>
          <a:p>
            <a:r>
              <a:t>Ne pas transformer ça en liste de commandes à réciter. Donner le principe : penser le résultat avant de demander.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16 — Choisir en trois questions</a:t>
            </a:r>
          </a:p>
          <a:p/>
          <a:p>
            <a:r>
              <a:t>🎯 OBJECTIF</a:t>
            </a:r>
          </a:p>
          <a:p>
            <a:r>
              <a:t>Fermer la partie outils sur une méthode, pas sur une liste.</a:t>
            </a:r>
          </a:p>
          <a:p/>
          <a:p>
            <a:r>
              <a:t>🗣️ CE QUE JE DIS</a:t>
            </a:r>
          </a:p>
          <a:p>
            <a:r>
              <a:t>Je récapitule : la famille se choisit selon le résultat recherché, le risque décide entre un outil distant et un modèle local, le coût arbitre en dernier. C'est cette grille qu'ils utiliseront le lendemain. Je la fais noter, elle est plus utile que la liste des outils, qui sera périmée dans six mois.</a:t>
            </a:r>
          </a:p>
          <a:p/>
          <a:p>
            <a:r>
              <a:t>── QUESTIONS &amp; RÉPONSES (FR) ──</a:t>
            </a:r>
          </a:p>
          <a:p>
            <a:r>
              <a:t>Q1. Et si je ne sais pas ?</a:t>
            </a:r>
          </a:p>
          <a:p>
            <a:r>
              <a:t>R1. Commence par la conversation : c'est le risque le plus faible. Tu passeras à l'agent quand tu voudras un fichier modifié.</a:t>
            </a:r>
          </a:p>
          <a:p/>
          <a:p>
            <a:r>
              <a:t>Q2. Le modèle local est-il vraiment confidentiel ?</a:t>
            </a:r>
          </a:p>
          <a:p>
            <a:r>
              <a:t>R2. Si le modèle est téléchargé chez toi, oui : rien ne sort. Si tu utilises un service en ligne, non, même avec un compte.</a:t>
            </a:r>
          </a:p>
          <a:p/>
          <a:p>
            <a:r>
              <a:t>⚠️ PIÈGE À ÉVITER</a:t>
            </a:r>
          </a:p>
          <a:p>
            <a:r>
              <a:t>Ne pas recommander un outil précis comme favorite : ils changent, la méthode non.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4 — Cinq cas concrets</a:t>
            </a:r>
          </a:p>
          <a:p/>
          <a:p>
            <a:r>
              <a:t>🎯 OBJECTIF</a:t>
            </a:r>
          </a:p>
          <a:p>
            <a:r>
              <a:t>Résoudre les problèmes posés au début du cours.</a:t>
            </a:r>
          </a:p>
          <a:p/>
          <a:p>
            <a:r>
              <a:t>🗣️ CE QUE JE DIS</a:t>
            </a:r>
          </a:p>
          <a:p>
            <a:r>
              <a:t>Transition, et promesse tenue : je reviens à nos six problèmes du début. Je les reprends un par un, et pour chacun je nomme l'astuce correspondante du site. Le lien avec le module en ligne est ainsi visible : les 152 astuces ne sont pas une liste à part, c'est le prolongement de ce cours.</a:t>
            </a:r>
          </a:p>
          <a:p/>
          <a:p>
            <a:r>
              <a:t>── QUESTIONS &amp; RÉPONSES (FR) ──</a:t>
            </a:r>
          </a:p>
          <a:p>
            <a:r>
              <a:t>Q1. Les six problèmes étaient donc tous traitables ?</a:t>
            </a:r>
          </a:p>
          <a:p>
            <a:r>
              <a:t>R1. Cinq sur six. Le téléphone qui ne charge plus relève du matériel : l'IA aide à chercher la cause, elle ne répare pas. Je le dis clairement.</a:t>
            </a:r>
          </a:p>
          <a:p/>
          <a:p>
            <a:r>
              <a:t>Q2. Où est-ce que je trouve ces astuces ?</a:t>
            </a:r>
          </a:p>
          <a:p>
            <a:r>
              <a:t>R2. Sur le site du module, rubrique Astuces : 152 fiches, classées par domaine.</a:t>
            </a:r>
          </a:p>
          <a:p/>
          <a:p>
            <a:r>
              <a:t>⚠️ PIÈGE À ÉVITER</a:t>
            </a:r>
          </a:p>
          <a:p>
            <a:r>
              <a:t>Ne pas survoler les cinq cas : c'est la partie que la classe photographie.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17 — Cas 1 : réparer et flasher</a:t>
            </a:r>
          </a:p>
          <a:p/>
          <a:p>
            <a:r>
              <a:t>🎯 OBJECTIF</a:t>
            </a:r>
          </a:p>
          <a:p>
            <a:r>
              <a:t>Montrer que l'IA sert dans un métier manuel, et marquer la limite avec l'exemple du téléphone bloqué.</a:t>
            </a:r>
          </a:p>
          <a:p/>
          <a:p>
            <a:r>
              <a:t>🗣️ CE QUE JE DIS</a:t>
            </a:r>
          </a:p>
          <a:p>
            <a:r>
              <a:t>Je raconte le cas réel d'une étudiante de terminale : téléphone qui ne charge plus, elle a voulu le flasher, un script mal adapté a mal verrouillé l'appareil. L'IA avait bien répondu, mais elle ne pouvait pas savoir que sa copie était périmée. Le script existe, la procédure était documentée — et le résultat a été un appareil mort. Conclusion : l'IA gagne du temps, elle ne prend pas la responsabilité.</a:t>
            </a:r>
          </a:p>
          <a:p/>
          <a:p>
            <a:r>
              <a:t>── QUESTIONS &amp; RÉPONSES (FR) ──</a:t>
            </a:r>
          </a:p>
          <a:p>
            <a:r>
              <a:t>Q1. Est-ce que l'IA peut vraiment réparer ?</a:t>
            </a:r>
          </a:p>
          <a:p>
            <a:r>
              <a:t>R1. Non. Elle accélère la recherche : causes probables, datasheets, codes d'erreur. La mesure, le démontage et la décision restent à l'humain.</a:t>
            </a:r>
          </a:p>
          <a:p/>
          <a:p>
            <a:r>
              <a:t>Q2. Flasher un téléphone, c'est dangereux ?</a:t>
            </a:r>
          </a:p>
          <a:p>
            <a:r>
              <a:t>R2. Oui. Un script mal adapté peut verrouiller définitivement l'appareil. Il faut vérifier la compatibilité exacte du modèle avant de lancer quoi que ce soit.</a:t>
            </a:r>
          </a:p>
          <a:p/>
          <a:p>
            <a:r>
              <a:t>Q3. Et si l'appareil est encore sous garantie ?</a:t>
            </a:r>
          </a:p>
          <a:p>
            <a:r>
              <a:t>R3. Le flash annule la garantie et peut rendre l'appareil inutilisable. C'est la première vérification à faire.</a:t>
            </a:r>
          </a:p>
          <a:p/>
          <a:p>
            <a:r>
              <a:t>⚠️ PIÈGE À ÉVITER</a:t>
            </a:r>
          </a:p>
          <a:p>
            <a:r>
              <a:t>Ne pas donner l'impression que tout est réparable par IA. L'exemple du téléphone bloqué sert précisément à éviter cette confiance.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18 — Cas 2 : créer un site web</a:t>
            </a:r>
          </a:p>
          <a:p/>
          <a:p>
            <a:r>
              <a:t>🎯 OBJECTIF</a:t>
            </a:r>
          </a:p>
          <a:p>
            <a:r>
              <a:t>Montrer qu'un site web est un projet faisable en classe, et faire comprendre que l'IA ne fait pas le choix du contenu.</a:t>
            </a:r>
          </a:p>
          <a:p/>
          <a:p>
            <a:r>
              <a:t>🗣️ CE QUE JE DIS</a:t>
            </a:r>
          </a:p>
          <a:p>
            <a:r>
              <a:t>Je pose la question : « qu'est-ce qu'un site web, techniquement ? ». Personne ne sait. Je révèle qu'il n'y a que trois fichiers : le texte en HTML, le style en CSS, le comportement en JavaScript. C'est ce déplacement qui démystifie le sujet. Les quatre questions de la diapositive sont à écrire au tableau : elles constituent le cahier des charges réel, et c'est la partie qui appartient à l'étudiant.</a:t>
            </a:r>
          </a:p>
          <a:p/>
          <a:p>
            <a:r>
              <a:t>── QUESTIONS &amp; RÉPONSES (FR) ──</a:t>
            </a:r>
          </a:p>
          <a:p>
            <a:r>
              <a:t>Q1. Combien de temps pour un vrai site ?</a:t>
            </a:r>
          </a:p>
          <a:p>
            <a:r>
              <a:t>R1. Une à deux heures pour une page correcte, si le contenu est prêt. Le contenu est toujours le plus long à écrire : l'IA ne décide pas de vos dates ni de vos photos.</a:t>
            </a:r>
          </a:p>
          <a:p/>
          <a:p>
            <a:r>
              <a:t>Q2. Faut-il savoir coder ?</a:t>
            </a:r>
          </a:p>
          <a:p>
            <a:r>
              <a:t>R2. Non pour le résultat. Oui pour vérifier : il faut pouvoir relire ce qui a été produit, sinon on ne sait pas ce qu'on publie.</a:t>
            </a:r>
          </a:p>
          <a:p/>
          <a:p>
            <a:r>
              <a:t>Q3. Hébergement ?</a:t>
            </a:r>
          </a:p>
          <a:p>
            <a:r>
              <a:t>R3. GitHub Pages, Netlify ou Cloudflare Pages offrent un hébergement gratuit. Le site est alors accessible par une adresse publique.</a:t>
            </a:r>
          </a:p>
          <a:p/>
          <a:p>
            <a:r>
              <a:t>⚠️ PIÈGE À ÉVITER</a:t>
            </a:r>
          </a:p>
          <a:p>
            <a:r>
              <a:t>Ne pas promettre « un site en dix minutes ». Le délai honnête est une à deux heures, contenu compris.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19 — Cas 3 : réviser un examen</a:t>
            </a:r>
          </a:p>
          <a:p/>
          <a:p>
            <a:r>
              <a:t>🎯 OBJECTIF</a:t>
            </a:r>
          </a:p>
          <a:p>
            <a:r>
              <a:t>Donner quatre méthodes de révision vérifiables, toutes basées sur le rappel actif plutôt que la relecture.</a:t>
            </a:r>
          </a:p>
          <a:p/>
          <a:p>
            <a:r>
              <a:t>🗣️ CE QUE JE DIS</a:t>
            </a:r>
          </a:p>
          <a:p>
            <a:r>
              <a:t>Je commence par un constat que tout le monde connaît : relire trois fois son cours ne fait pas retenir. Le rappel actif, c'est extraire de la mémoire, et les quatre méthodes ici le font. Je m'attarde sur les cartes mémoire, parce que la règle des cinq mots change tout : une réponse trop longue transforme la révision en relecture. L'explication à rebours est la plus formatrice et la moins connue.</a:t>
            </a:r>
          </a:p>
          <a:p/>
          <a:p>
            <a:r>
              <a:t>── QUESTIONS &amp; RÉPONSES (FR) ──</a:t>
            </a:r>
          </a:p>
          <a:p>
            <a:r>
              <a:t>Q1. Pourquoi cinq mots maximum ?</a:t>
            </a:r>
          </a:p>
          <a:p>
            <a:r>
              <a:t>R1. Parce qu'au-delà, tu lis la réponse au lieu de la produire. La carte ne doit servir qu'à vérifier ce que tu sais déjà dedans.</a:t>
            </a:r>
          </a:p>
          <a:p/>
          <a:p>
            <a:r>
              <a:t>Q2. Combien de cartes par chapitre ?</a:t>
            </a:r>
          </a:p>
          <a:p>
            <a:r>
              <a:t>R2. Une vingtaine pour un chapitre de taille moyenne. Au-delà, on commence à répéter au lieu d'apprendre.</a:t>
            </a:r>
          </a:p>
          <a:p/>
          <a:p>
            <a:r>
              <a:t>Q3. Puis-je utiliser l'IA pour noter mon cours ?</a:t>
            </a:r>
          </a:p>
          <a:p>
            <a:r>
              <a:t>R3. Oui, à condition de vérifier les résumés : l'IA condense bien mais supprime parfois ce qui était exactement ce que l'examinateur voulait.</a:t>
            </a:r>
          </a:p>
          <a:p/>
          <a:p>
            <a:r>
              <a:t>⚠️ PIÈGE À ÉVITER</a:t>
            </a:r>
          </a:p>
          <a:p>
            <a:r>
              <a:t>Ne pas vendre Anki comme une obligation. La méthode s'applique avec des fiches papier.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20 — Cas 4 : Rédiger, corriger, traduire</a:t>
            </a:r>
          </a:p>
          <a:p/>
          <a:p>
            <a:r>
              <a:t>🎯 OBJECTIF</a:t>
            </a:r>
          </a:p>
          <a:p>
            <a:r>
              <a:t>Donner le niveau de confiance réel par langue — c'est la moitié de la réponse.</a:t>
            </a:r>
          </a:p>
          <a:p/>
          <a:p>
            <a:r>
              <a:t>🗣️ CE QUE JE DIS</a:t>
            </a:r>
          </a:p>
          <a:p>
            <a:r>
              <a:t>Je donne le niveau de confiance par langue, ce qui est plus utile qu'un optimisme général. Le point sur l'arabe est important pour cette promotion : la traduction automatique s'améliore, mais les formes verbales et le genre restent fautifs. Le conseil est simple : traduisez, puis faites relire. Je rappuie sur le registre, parce que c'est là que se joue la différence entre un texte d'examen et un texte de conversation.</a:t>
            </a:r>
          </a:p>
          <a:p/>
          <a:p>
            <a:r>
              <a:t>── QUESTIONS &amp; RÉPONSES (FR) ──</a:t>
            </a:r>
          </a:p>
          <a:p>
            <a:r>
              <a:t>Q1. Est-ce que je peux rendre un texte traduit ?</a:t>
            </a:r>
          </a:p>
          <a:p>
            <a:r>
              <a:t>R1. Seulement si l'original est dans une autre langue et si vous déclarez la traduction. Un texte integralement écrit par l'IA et signé sans mention n'est pas admissible.</a:t>
            </a:r>
          </a:p>
          <a:p/>
          <a:p>
            <a:r>
              <a:t>Q2. Pourquoi préciser le registre ?</a:t>
            </a:r>
          </a:p>
          <a:p>
            <a:r>
              <a:t>R2. Sans consigne, l'IA choisit un registre moyen. « Explique comme à un élève de 6e » ou « pour un jury universitaire » change complètement le résultat.</a:t>
            </a:r>
          </a:p>
          <a:p/>
          <a:p>
            <a:r>
              <a:t>Q3. Elle peut corriger mon orthographe ?</a:t>
            </a:r>
          </a:p>
          <a:p>
            <a:r>
              <a:t>R3. Oui, et c'est même l'usage le plus rentable : demander « corrige ce texte sans changer le sens ».</a:t>
            </a:r>
          </a:p>
          <a:p/>
          <a:p>
            <a:r>
              <a:t>⚠️ PIÈGE À ÉVITER</a:t>
            </a:r>
          </a:p>
          <a:p>
            <a:r>
              <a:t>Ne pas laisser croire que tout se traduit également. Les trois niveaux de confiance sont le message.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21 — Cas 5 : enseigner le FLE</a:t>
            </a:r>
          </a:p>
          <a:p/>
          <a:p>
            <a:r>
              <a:t>🎯 OBJECTIF</a:t>
            </a:r>
          </a:p>
          <a:p>
            <a:r>
              <a:t>Montrer un usage directement professionnel pour cette promotion, et déplacer l'IA du côté de l'enseignant.</a:t>
            </a:r>
          </a:p>
          <a:p/>
          <a:p>
            <a:r>
              <a:t>🗣️ CE QUE JE DIS</a:t>
            </a:r>
          </a:p>
          <a:p>
            <a:r>
              <a:t>Cette diapositive est celle qui les concerne le plus : plusieurs seront en stage ou en poste dans des écoles. Je précise d'emblée que l'IA ne prépare pas à la place de l'enseignant : elle prépare les documents que l'enseignant valide. L'adaptation de niveau est l'exemple le plus convaincant : on donne un texte, on demande la même chose en A2 et en B2, et on compare. Ça prend deux minutes.</a:t>
            </a:r>
          </a:p>
          <a:p/>
          <a:p>
            <a:r>
              <a:t>── QUESTIONS &amp; RÉPONSES (FR) ──</a:t>
            </a:r>
          </a:p>
          <a:p>
            <a:r>
              <a:t>Q1. Les documents produits sont-ils utilisables tels quels ?</a:t>
            </a:r>
          </a:p>
          <a:p>
            <a:r>
              <a:t>R1. Comme brouillon, oui directement. Avant diffusion, il faut les relire : le niveau annoncé peut être faux, et une erreur dans un support pédagogique se voit immédiatement.</a:t>
            </a:r>
          </a:p>
          <a:p/>
          <a:p>
            <a:r>
              <a:t>Q2. Comment vérifier le niveau annoncé ?</a:t>
            </a:r>
          </a:p>
          <a:p>
            <a:r>
              <a:t>R2. En le faisant tester par un élève du niveau visé. C'est le seul contrôle qui fonctionne.</a:t>
            </a:r>
          </a:p>
          <a:p/>
          <a:p>
            <a:r>
              <a:t>Q3. Et si les élèves utilisent l'IA aussi ?</a:t>
            </a:r>
          </a:p>
          <a:p>
            <a:r>
              <a:t>R3. C'est déjà le cas. Le cours 12 du module leur donne une charte d'usage propre, plutôt que de leur dire de ne pas s'en servir.</a:t>
            </a:r>
          </a:p>
          <a:p/>
          <a:p>
            <a:r>
              <a:t>⚠️ PIÈGE À ÉVITER</a:t>
            </a:r>
          </a:p>
          <a:p>
            <a:r>
              <a:t>Ne pas placer cette diapositive avant les cas généraux : elle n'a de sens qu'après la colonne « agents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5 — Les vraies astuces du terrain</a:t>
            </a:r>
          </a:p>
          <a:p/>
          <a:p>
            <a:r>
              <a:t>🎯 OBJECTIF</a:t>
            </a:r>
          </a:p>
          <a:p>
            <a:r>
              <a:t>Donner les solutions qui fonctionnent, et la ligne de conduite à tenir.</a:t>
            </a:r>
          </a:p>
          <a:p/>
          <a:p>
            <a:r>
              <a:t>🗣️ CE QUE JE DIS</a:t>
            </a:r>
          </a:p>
          <a:p>
            <a:r>
              <a:t>Dernière partie, et la plus attendue. Je dis d'emblée que rien ici ne viole les conditions d'utilisation d'un outil. Changer d'outil quand on est bloqué est normal et légal. Créer des comptes fantômes ne l'est pas : on risque de perdre le compte principal. Le reste porte sur les pièges et la charte.</a:t>
            </a:r>
          </a:p>
          <a:p/>
          <a:p>
            <a:r>
              <a:t>── QUESTIONS &amp; RÉPONSES (FR) ──</a:t>
            </a:r>
          </a:p>
          <a:p>
            <a:r>
              <a:t>Q1. Pourquoi ne pas simplement payer ?</a:t>
            </a:r>
          </a:p>
          <a:p>
            <a:r>
              <a:t>R1. Pour beaucoup, l'abonnement n'est pas une option. Les solutions gratuites présentées ici suffisent pour la quasi-totalité des travaux.</a:t>
            </a:r>
          </a:p>
          <a:p/>
          <a:p>
            <a:r>
              <a:t>Q2. Si je suis bloqué pendant un examen ?</a:t>
            </a:r>
          </a:p>
          <a:p>
            <a:r>
              <a:t>R2. Personne ne vous sanctionne pour cela, mais ce n'est pas là qu'il faut apprendre : servez-vous-en la semaine d'avant.</a:t>
            </a:r>
          </a:p>
          <a:p/>
          <a:p>
            <a:r>
              <a:t>⚠️ PIÈGE À ÉVITER</a:t>
            </a:r>
          </a:p>
          <a:p>
            <a:r>
              <a:t>Ne pas vendre cette partie comme un catalogue de contournement. Le message : contourner une attente, jamais une règle.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22 — Sept solutions qui marchent vraiment</a:t>
            </a:r>
          </a:p>
          <a:p/>
          <a:p>
            <a:r>
              <a:t>🎯 OBJECTIF</a:t>
            </a:r>
          </a:p>
          <a:p>
            <a:r>
              <a:t>Donner les contournements légaux, et le dire explicitement : c'est ce qui rend cette diapositive défendable.</a:t>
            </a:r>
          </a:p>
          <a:p/>
          <a:p>
            <a:r>
              <a:t>🗣️ CE QUE JE DIS</a:t>
            </a:r>
          </a:p>
          <a:p>
            <a:r>
              <a:t>Je commence par la ligne du bas, la formule magique : rôle, contexte, tâche, format, contraintes. Cinq mots, et c'est ce qui explique la plupart des « l'IA ne comprend pas ». Ensuite j'insiste sur un point qui m'est déjà arrivé : il ne faut jamais créer de comptes fantômes pour contourner un quota. Cela viole les conditions d'utilisation, on se fait bannir, et on donne une mauvaise image du métier. Changer d'outil est légal et tout aussi efficace. Si un étudiantзpolitics contourne le quota, il met son compte en danger et le perte de temps est plus importante que le gain.</a:t>
            </a:r>
          </a:p>
          <a:p/>
          <a:p>
            <a:r>
              <a:t>── QUESTIONS &amp; RÉPONSES (FR) ──</a:t>
            </a:r>
          </a:p>
          <a:p>
            <a:r>
              <a:t>Q1. Et si je crée plusieurs comptes ?</a:t>
            </a:r>
          </a:p>
          <a:p>
            <a:r>
              <a:t>R1. C'est la seule solution interdite. Cela viole les conditions d'utilisation, le compte principal est banni, et on perd l'historique de travail. Changer d'outil fait le même effet sans aucun risque.</a:t>
            </a:r>
          </a:p>
          <a:p/>
          <a:p>
            <a:r>
              <a:t>Q2. Pourquoi l'application mobile fonctionne-t-elle ?</a:t>
            </a:r>
          </a:p>
          <a:p>
            <a:r>
              <a:t>R2. Parce que les quotas sont souvent gérés séparément sur le mobile. C'est une marge, pas une règle : ça peut être corrigé.</a:t>
            </a:r>
          </a:p>
          <a:p/>
          <a:p>
            <a:r>
              <a:t>Q3. La formule magique, c'est vraiment cinq mots ?</a:t>
            </a:r>
          </a:p>
          <a:p>
            <a:r>
              <a:t>R3. Cinq éléments : le rôle que vous donnez à l'IA, votre contexte, la tâche précise, le format attendu, et les contraintes. Sans l'un des cinq, elle invente le reste.</a:t>
            </a:r>
          </a:p>
          <a:p/>
          <a:p>
            <a:r>
              <a:t>Q4. Il y a des études étudiantes ?</a:t>
            </a:r>
          </a:p>
          <a:p>
            <a:r>
              <a:t>R4. Oui : beaucoup d'universités et d'entreprises offrent un accès gratuit ou à tarif réduit. Cela se demande au secrétariat pédagogique.</a:t>
            </a:r>
          </a:p>
          <a:p/>
          <a:p>
            <a:r>
              <a:t>⚠️ PIÈGE À ÉVITER</a:t>
            </a:r>
          </a:p>
          <a:p>
            <a:r>
              <a:t>Ne jamais faire la promotion d'un contournement qui casse les conditions d'utilisation. Cette diapositive doit pouvoir être montrée à la direction du département sans problème.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23 — Les quatre pièges et la charte</a:t>
            </a:r>
          </a:p>
          <a:p/>
          <a:p>
            <a:r>
              <a:t>🎯 OBJECTIF</a:t>
            </a:r>
          </a:p>
          <a:p>
            <a:r>
              <a:t>Terminer la formation sur les limites, puis donner une phrase à retenir : l'IA propose, l'humain décide, l'étudiant assume.</a:t>
            </a:r>
          </a:p>
          <a:p/>
          <a:p>
            <a:r>
              <a:t>🗣️ CE QUE JE DIS</a:t>
            </a:r>
          </a:p>
          <a:p>
            <a:r>
              <a:t>Je prends le piège 1 avec un exemple vérifié : les références inventées existent bel et bien, avec un auteur réel, une année plausible et un titre qui existe presque. On les vérifie en trente secondes dans un moteur de recherche. Le piège 3 est le plus surprenant pour les étudiants : au bout de quelques pages, la conversation n'a plus aucun sens et l'IA continue avec assurance. Il faut entonces relancer avec un résumé.</a:t>
            </a:r>
          </a:p>
          <a:p/>
          <a:p>
            <a:r>
              <a:t>── QUESTIONS &amp; RÉPONSES (FR) ──</a:t>
            </a:r>
          </a:p>
          <a:p>
            <a:r>
              <a:t>Q1. Comment vérifier une référence rapidement ?</a:t>
            </a:r>
          </a:p>
          <a:p>
            <a:r>
              <a:t>R1. Copier le titre exact dans un moteur de recherche, et ouvrir le lien de l'article. Trente secondes suffisent à éliminer une référence inventée.</a:t>
            </a:r>
          </a:p>
          <a:p/>
          <a:p>
            <a:r>
              <a:t>Q2. Pourquoi ne pas coller de données personnelles ?</a:t>
            </a:r>
          </a:p>
          <a:p>
            <a:r>
              <a:t>R2. Tout ce que vous envoyez peut être conservé et réutilisé pour l'entraînement. Nom, adresse, carte d'étudiant : rien de tout cela ne doit partir.</a:t>
            </a:r>
          </a:p>
          <a:p/>
          <a:p>
            <a:r>
              <a:t>Q3. Et les données de l'université ?</a:t>
            </a:r>
          </a:p>
          <a:p>
            <a:r>
              <a:t>R3. Pire : les notes de vos étudiants, leurs copies, leurs noms. Ce sont des données sensibles, avec des obligations légales.</a:t>
            </a:r>
          </a:p>
          <a:p/>
          <a:p>
            <a:r>
              <a:t>⚠️ PIÈGE À ÉVITER</a:t>
            </a:r>
          </a:p>
          <a:p>
            <a:r>
              <a:t>Ne pas terminer sur les pièges : finir sur la charte, pour que la classe sorte avec une règle et non avec des craintes.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24 — Cinq gestes et le défi de la semaine</a:t>
            </a:r>
          </a:p>
          <a:p/>
          <a:p>
            <a:r>
              <a:t>🎯 OBJECTIF</a:t>
            </a:r>
          </a:p>
          <a:p>
            <a:r>
              <a:t>Fermer sur cinq actions, pas sur un résumé. Donner une tâche concrète pour la semaine.</a:t>
            </a:r>
          </a:p>
          <a:p/>
          <a:p>
            <a:r>
              <a:t>🗣️ CE QUE JE DIS</a:t>
            </a:r>
          </a:p>
          <a:p>
            <a:r>
              <a:t>Je fais photographier cette diapositive par la classe : ce sont les cinq gestes qu'ils doivent retrouver sans moi. Le défi de la semaine reprend volontairement les six problèmes de l'ouverture : le premier point ferme la boucle du cours. Je précise que je veux du retournement d'expérience, pas des captures d'écran. Terminer en laissant deux minutes pour les questions réelles.</a:t>
            </a:r>
          </a:p>
          <a:p/>
          <a:p>
            <a:r>
              <a:t>── QUESTIONS &amp; RÉPONSES (FR) ──</a:t>
            </a:r>
          </a:p>
          <a:p>
            <a:r>
              <a:t>Q1. Pourquoi ces cinq gestes et pas d'autres ?</a:t>
            </a:r>
          </a:p>
          <a:p>
            <a:r>
              <a:t>R1. Parce qu'ils sont les seuls qui changent le résultat sans changer d'outil. Les quatre premiers costsent rien, le cinquième coûte trente secondes.</a:t>
            </a:r>
          </a:p>
          <a:p/>
          <a:p>
            <a:r>
              <a:t>Q2. Le défi est-il noté ?</a:t>
            </a:r>
          </a:p>
          <a:p>
            <a:r>
              <a:t>R2. Non, mais il sera évalué à l'oral : c'est plus utile qu'une note et cela oblige à expérimenter vraiment.</a:t>
            </a:r>
          </a:p>
          <a:p/>
          <a:p>
            <a:r>
              <a:t>Q3. Puis-je avoir le cours en français et en anglais ?</a:t>
            </a:r>
          </a:p>
          <a:p>
            <a:r>
              <a:t>R3. Le module est en français, filière français. Les versions autres sont sur le site, en anglais et en arabe.</a:t>
            </a:r>
          </a:p>
          <a:p/>
          <a:p>
            <a:r>
              <a:t>⚠️ PIÈGE À ÉVITER</a:t>
            </a:r>
          </a:p>
          <a:p>
            <a:r>
              <a:t>Ne pas conclure par « des questions ? » tout seul : lancer le défi avant, pour que la classe parte avec une tâche.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411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niversité_de_Mostaganem.png"/>
          <p:cNvPicPr>
            <a:picLocks noChangeAspect="1"/>
          </p:cNvPicPr>
          <p:nvPr/>
        </p:nvPicPr>
        <p:blipFill>
          <a:blip r:embed="rId2"/>
          <a:stretch>
            <a:fillRect/>
          </a:stretch>
        </p:blipFill>
        <p:spPr>
          <a:xfrm>
            <a:off x="731520" y="201167"/>
            <a:ext cx="999455" cy="969264"/>
          </a:xfrm>
          <a:prstGeom prst="rect">
            <a:avLst/>
          </a:prstGeom>
        </p:spPr>
      </p:pic>
      <p:pic>
        <p:nvPicPr>
          <p:cNvPr id="5" name="Picture 4" descr="LOGO-FLE-UNIV-Mosta.jpeg"/>
          <p:cNvPicPr>
            <a:picLocks noChangeAspect="1"/>
          </p:cNvPicPr>
          <p:nvPr/>
        </p:nvPicPr>
        <p:blipFill>
          <a:blip r:embed="rId3"/>
          <a:stretch>
            <a:fillRect/>
          </a:stretch>
        </p:blipFill>
        <p:spPr>
          <a:xfrm>
            <a:off x="2041871" y="201167"/>
            <a:ext cx="825669" cy="969264"/>
          </a:xfrm>
          <a:prstGeom prst="rect">
            <a:avLst/>
          </a:prstGeom>
        </p:spPr>
      </p:pic>
      <p:sp>
        <p:nvSpPr>
          <p:cNvPr id="6" name="Rectangle 5"/>
          <p:cNvSpPr/>
          <p:nvPr/>
        </p:nvSpPr>
        <p:spPr>
          <a:xfrm>
            <a:off x="3288165" y="438912"/>
            <a:ext cx="10972" cy="493776"/>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2485" y="384048"/>
            <a:ext cx="7897689" cy="621792"/>
          </a:xfrm>
          <a:prstGeom prst="rect">
            <a:avLst/>
          </a:prstGeom>
          <a:noFill/>
        </p:spPr>
        <p:txBody>
          <a:bodyPr wrap="square" lIns="0" rIns="0" tIns="0" bIns="0" anchor="ctr">
            <a:spAutoFit/>
          </a:bodyPr>
          <a:lstStyle/>
          <a:p>
            <a:pPr algn="l">
              <a:lnSpc>
                <a:spcPct val="112000"/>
              </a:lnSpc>
              <a:spcBef>
                <a:spcPts val="0"/>
              </a:spcBef>
              <a:spcAft>
                <a:spcPts val="200"/>
              </a:spcAft>
            </a:pPr>
            <a:r>
              <a:rPr sz="1250" b="1" i="0">
                <a:solidFill>
                  <a:srgbClr val="122A4F"/>
                </a:solidFill>
                <a:latin typeface="Calibri"/>
              </a:rPr>
              <a:t>Université de Mostaganem  ·  Faculté des Langues Étrangères</a:t>
            </a:r>
          </a:p>
          <a:p>
            <a:pPr algn="l">
              <a:lnSpc>
                <a:spcPct val="112000"/>
              </a:lnSpc>
              <a:spcBef>
                <a:spcPts val="0"/>
              </a:spcBef>
              <a:spcAft>
                <a:spcPts val="0"/>
              </a:spcAft>
            </a:pPr>
            <a:r>
              <a:rPr sz="1100" b="0" i="0">
                <a:solidFill>
                  <a:srgbClr val="5B6879"/>
                </a:solidFill>
                <a:latin typeface="Calibri"/>
              </a:rPr>
              <a:t>Module Intelligence Artificielle  ·  30 diapositives  ·  questions et réponses dans les notes</a:t>
            </a:r>
          </a:p>
        </p:txBody>
      </p:sp>
      <p:sp>
        <p:nvSpPr>
          <p:cNvPr id="8" name="Rectangle 7"/>
          <p:cNvSpPr/>
          <p:nvPr/>
        </p:nvSpPr>
        <p:spPr>
          <a:xfrm>
            <a:off x="0" y="1412748"/>
            <a:ext cx="12191695" cy="5445252"/>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412748"/>
            <a:ext cx="164592" cy="544525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212848"/>
            <a:ext cx="1463040" cy="6400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100584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Calibri"/>
              </a:rPr>
              <a:t>Introduction à l'Intelligence Artificielle</a:t>
            </a:r>
          </a:p>
        </p:txBody>
      </p:sp>
      <p:sp>
        <p:nvSpPr>
          <p:cNvPr id="12" name="TextBox 11"/>
          <p:cNvSpPr txBox="1"/>
          <p:nvPr/>
        </p:nvSpPr>
        <p:spPr>
          <a:xfrm>
            <a:off x="914400" y="3621024"/>
            <a:ext cx="9966960" cy="566928"/>
          </a:xfrm>
          <a:prstGeom prst="rect">
            <a:avLst/>
          </a:prstGeom>
          <a:noFill/>
        </p:spPr>
        <p:txBody>
          <a:bodyPr wrap="square" lIns="0" rIns="0" tIns="0" bIns="0" anchor="t">
            <a:spAutoFit/>
          </a:bodyPr>
          <a:lstStyle/>
          <a:p>
            <a:pPr algn="l">
              <a:lnSpc>
                <a:spcPct val="112000"/>
              </a:lnSpc>
              <a:spcBef>
                <a:spcPts val="0"/>
              </a:spcBef>
              <a:spcAft>
                <a:spcPts val="0"/>
              </a:spcAft>
            </a:pPr>
            <a:r>
              <a:rPr sz="1700" b="0" i="1">
                <a:solidFill>
                  <a:srgbClr val="9EBADA"/>
                </a:solidFill>
                <a:latin typeface="Calibri"/>
              </a:rPr>
              <a:t>Comprendre l'IA, ses usages et ses limites</a:t>
            </a:r>
          </a:p>
        </p:txBody>
      </p:sp>
      <p:sp>
        <p:nvSpPr>
          <p:cNvPr id="13" name="Rounded Rectangle 12"/>
          <p:cNvSpPr/>
          <p:nvPr/>
        </p:nvSpPr>
        <p:spPr>
          <a:xfrm>
            <a:off x="914400" y="4315968"/>
            <a:ext cx="4937760" cy="530352"/>
          </a:xfrm>
          <a:prstGeom prst="roundRect">
            <a:avLst>
              <a:gd name="adj" fmla="val 3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15968"/>
            <a:ext cx="4937760" cy="530352"/>
          </a:xfrm>
          <a:prstGeom prst="rect">
            <a:avLst/>
          </a:prstGeom>
          <a:noFill/>
        </p:spPr>
        <p:txBody>
          <a:bodyPr wrap="square" lIns="0" rIns="0" tIns="0" bIns="0" anchor="ctr">
            <a:spAutoFit/>
          </a:bodyPr>
          <a:lstStyle/>
          <a:p>
            <a:pPr algn="ctr">
              <a:lnSpc>
                <a:spcPct val="112000"/>
              </a:lnSpc>
              <a:spcBef>
                <a:spcPts val="0"/>
              </a:spcBef>
              <a:spcAft>
                <a:spcPts val="0"/>
              </a:spcAft>
            </a:pPr>
            <a:r>
              <a:rPr sz="1500" b="1" i="0">
                <a:solidFill>
                  <a:srgbClr val="122A4F"/>
                </a:solidFill>
                <a:latin typeface="Calibri"/>
              </a:rPr>
              <a:t>Questions &amp; Réponses — Cours 01</a:t>
            </a:r>
          </a:p>
        </p:txBody>
      </p:sp>
      <p:sp>
        <p:nvSpPr>
          <p:cNvPr id="15" name="Rectangle 14"/>
          <p:cNvSpPr/>
          <p:nvPr/>
        </p:nvSpPr>
        <p:spPr>
          <a:xfrm>
            <a:off x="914400" y="5230368"/>
            <a:ext cx="10360152" cy="10972"/>
          </a:xfrm>
          <a:prstGeom prst="rect">
            <a:avLst/>
          </a:prstGeom>
          <a:solidFill>
            <a:srgbClr val="2C4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9824"/>
            <a:ext cx="10332720" cy="914400"/>
          </a:xfrm>
          <a:prstGeom prst="rect">
            <a:avLst/>
          </a:prstGeom>
          <a:noFill/>
        </p:spPr>
        <p:txBody>
          <a:bodyPr wrap="square" lIns="0" rIns="0" tIns="0" bIns="0" anchor="t">
            <a:spAutoFit/>
          </a:bodyPr>
          <a:lstStyle/>
          <a:p>
            <a:pPr algn="l">
              <a:lnSpc>
                <a:spcPct val="112000"/>
              </a:lnSpc>
              <a:spcBef>
                <a:spcPts val="0"/>
              </a:spcBef>
              <a:spcAft>
                <a:spcPts val="300"/>
              </a:spcAft>
            </a:pPr>
            <a:r>
              <a:rPr sz="1600" b="1" i="0">
                <a:solidFill>
                  <a:srgbClr val="FFFFFF"/>
                </a:solidFill>
                <a:latin typeface="Calibri"/>
              </a:rPr>
              <a:t>Dr. Madani BELACEL — MCB</a:t>
            </a:r>
          </a:p>
          <a:p>
            <a:pPr algn="l">
              <a:lnSpc>
                <a:spcPct val="112000"/>
              </a:lnSpc>
              <a:spcBef>
                <a:spcPts val="0"/>
              </a:spcBef>
              <a:spcAft>
                <a:spcPts val="0"/>
              </a:spcAft>
            </a:pPr>
            <a:r>
              <a:rPr sz="1000" b="0" i="0">
                <a:solidFill>
                  <a:srgbClr val="7E93AD"/>
                </a:solidFill>
                <a:latin typeface="Calibri"/>
              </a:rPr>
              <a:t>Cours en ligne : madani-belacel.github.io/site-enseignement-belacel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Ce soir, six problèmes. Tu en résous cinq ?</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Voici six situations réelles. Aucune n'a besoin de savoir informatiquement. À la fin de ce cours, cinq seront résolues.</a:t>
            </a:r>
          </a:p>
        </p:txBody>
      </p:sp>
      <p:sp>
        <p:nvSpPr>
          <p:cNvPr id="12" name="Rounded Rectangle 11"/>
          <p:cNvSpPr/>
          <p:nvPr/>
        </p:nvSpPr>
        <p:spPr>
          <a:xfrm>
            <a:off x="685800" y="3246120"/>
            <a:ext cx="3496056" cy="139446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Téléphone</a:t>
            </a:r>
          </a:p>
          <a:p>
            <a:pPr algn="ctr">
              <a:lnSpc>
                <a:spcPct val="112000"/>
              </a:lnSpc>
              <a:spcBef>
                <a:spcPts val="0"/>
              </a:spcBef>
              <a:spcAft>
                <a:spcPts val="100"/>
              </a:spcAft>
            </a:pPr>
            <a:r>
              <a:rPr sz="1200" b="0" i="0">
                <a:solidFill>
                  <a:srgbClr val="5B6879"/>
                </a:solidFill>
                <a:latin typeface="Calibri"/>
              </a:rPr>
              <a:t>ne charge plus</a:t>
            </a:r>
          </a:p>
        </p:txBody>
      </p:sp>
      <p:sp>
        <p:nvSpPr>
          <p:cNvPr id="13" name="Rounded Rectangle 12"/>
          <p:cNvSpPr/>
          <p:nvPr/>
        </p:nvSpPr>
        <p:spPr>
          <a:xfrm>
            <a:off x="4346448" y="3246120"/>
            <a:ext cx="3496056" cy="139446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Ordinateur</a:t>
            </a:r>
          </a:p>
          <a:p>
            <a:pPr algn="ctr">
              <a:lnSpc>
                <a:spcPct val="112000"/>
              </a:lnSpc>
              <a:spcBef>
                <a:spcPts val="0"/>
              </a:spcBef>
              <a:spcAft>
                <a:spcPts val="100"/>
              </a:spcAft>
            </a:pPr>
            <a:r>
              <a:rPr sz="1200" b="0" i="0">
                <a:solidFill>
                  <a:srgbClr val="5B6879"/>
                </a:solidFill>
                <a:latin typeface="Calibri"/>
              </a:rPr>
              <a:t>planté, fichier non sauvegardé</a:t>
            </a:r>
          </a:p>
        </p:txBody>
      </p:sp>
      <p:sp>
        <p:nvSpPr>
          <p:cNvPr id="14" name="Rounded Rectangle 13"/>
          <p:cNvSpPr/>
          <p:nvPr/>
        </p:nvSpPr>
        <p:spPr>
          <a:xfrm>
            <a:off x="8007096"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Devoir</a:t>
            </a:r>
          </a:p>
          <a:p>
            <a:pPr algn="ctr">
              <a:lnSpc>
                <a:spcPct val="112000"/>
              </a:lnSpc>
              <a:spcBef>
                <a:spcPts val="0"/>
              </a:spcBef>
              <a:spcAft>
                <a:spcPts val="100"/>
              </a:spcAft>
            </a:pPr>
            <a:r>
              <a:rPr sz="1200" b="0" i="0">
                <a:solidFill>
                  <a:srgbClr val="5B6879"/>
                </a:solidFill>
                <a:latin typeface="Calibri"/>
              </a:rPr>
              <a:t>à rendre demain</a:t>
            </a:r>
          </a:p>
        </p:txBody>
      </p:sp>
      <p:sp>
        <p:nvSpPr>
          <p:cNvPr id="15" name="Rounded Rectangle 14"/>
          <p:cNvSpPr/>
          <p:nvPr/>
        </p:nvSpPr>
        <p:spPr>
          <a:xfrm>
            <a:off x="685800" y="4805172"/>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Site web</a:t>
            </a:r>
          </a:p>
          <a:p>
            <a:pPr algn="ctr">
              <a:lnSpc>
                <a:spcPct val="112000"/>
              </a:lnSpc>
              <a:spcBef>
                <a:spcPts val="0"/>
              </a:spcBef>
              <a:spcAft>
                <a:spcPts val="100"/>
              </a:spcAft>
            </a:pPr>
            <a:r>
              <a:rPr sz="1200" b="0" i="0">
                <a:solidFill>
                  <a:srgbClr val="5B6879"/>
                </a:solidFill>
                <a:latin typeface="Calibri"/>
              </a:rPr>
              <a:t>pour le club de la faculté</a:t>
            </a:r>
          </a:p>
        </p:txBody>
      </p:sp>
      <p:sp>
        <p:nvSpPr>
          <p:cNvPr id="16" name="Rounded Rectangle 15"/>
          <p:cNvSpPr/>
          <p:nvPr/>
        </p:nvSpPr>
        <p:spPr>
          <a:xfrm>
            <a:off x="4346448" y="4805172"/>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Photo</a:t>
            </a:r>
          </a:p>
          <a:p>
            <a:pPr algn="ctr">
              <a:lnSpc>
                <a:spcPct val="112000"/>
              </a:lnSpc>
              <a:spcBef>
                <a:spcPts val="0"/>
              </a:spcBef>
              <a:spcAft>
                <a:spcPts val="100"/>
              </a:spcAft>
            </a:pPr>
            <a:r>
              <a:rPr sz="1200" b="0" i="0">
                <a:solidFill>
                  <a:srgbClr val="5B6879"/>
                </a:solidFill>
                <a:latin typeface="Calibri"/>
              </a:rPr>
              <a:t>floue, à restaurer</a:t>
            </a:r>
          </a:p>
        </p:txBody>
      </p:sp>
      <p:sp>
        <p:nvSpPr>
          <p:cNvPr id="17" name="Rounded Rectangle 16"/>
          <p:cNvSpPr/>
          <p:nvPr/>
        </p:nvSpPr>
        <p:spPr>
          <a:xfrm>
            <a:off x="8007096"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Devis</a:t>
            </a:r>
          </a:p>
          <a:p>
            <a:pPr algn="ctr">
              <a:lnSpc>
                <a:spcPct val="112000"/>
              </a:lnSpc>
              <a:spcBef>
                <a:spcPts val="0"/>
              </a:spcBef>
              <a:spcAft>
                <a:spcPts val="100"/>
              </a:spcAft>
            </a:pPr>
            <a:r>
              <a:rPr sz="1200" b="0" i="0">
                <a:solidFill>
                  <a:srgbClr val="5B6879"/>
                </a:solidFill>
                <a:latin typeface="Calibri"/>
              </a:rPr>
              <a:t>trois réparateurs à comparer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À la fin de ce cours, tu sauras trois choses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a:t>
            </a:r>
          </a:p>
        </p:txBody>
      </p:sp>
      <p:sp>
        <p:nvSpPr>
          <p:cNvPr id="10" name="Rounded Rectangle 9"/>
          <p:cNvSpPr/>
          <p:nvPr/>
        </p:nvSpPr>
        <p:spPr>
          <a:xfrm>
            <a:off x="685800" y="3246120"/>
            <a:ext cx="3496056" cy="295351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1 · Où</a:t>
            </a:r>
          </a:p>
          <a:p>
            <a:pPr algn="ctr">
              <a:lnSpc>
                <a:spcPct val="112000"/>
              </a:lnSpc>
              <a:spcBef>
                <a:spcPts val="0"/>
              </a:spcBef>
              <a:spcAft>
                <a:spcPts val="100"/>
              </a:spcAft>
            </a:pPr>
            <a:r>
              <a:rPr sz="1200" b="0" i="0">
                <a:solidFill>
                  <a:srgbClr val="5B6879"/>
                </a:solidFill>
                <a:latin typeface="Calibri"/>
              </a:rPr>
              <a:t>Où l'IA est déjà utilisée dans ta journée, sans que tu t'en aperçoives.</a:t>
            </a:r>
          </a:p>
        </p:txBody>
      </p:sp>
      <p:sp>
        <p:nvSpPr>
          <p:cNvPr id="11" name="Rounded Rectangle 10"/>
          <p:cNvSpPr/>
          <p:nvPr/>
        </p:nvSpPr>
        <p:spPr>
          <a:xfrm>
            <a:off x="4346448" y="3246120"/>
            <a:ext cx="3496056" cy="295351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2 · Comment</a:t>
            </a:r>
          </a:p>
          <a:p>
            <a:pPr algn="ctr">
              <a:lnSpc>
                <a:spcPct val="112000"/>
              </a:lnSpc>
              <a:spcBef>
                <a:spcPts val="0"/>
              </a:spcBef>
              <a:spcAft>
                <a:spcPts val="100"/>
              </a:spcAft>
            </a:pPr>
            <a:r>
              <a:rPr sz="1200" b="0" i="0">
                <a:solidFill>
                  <a:srgbClr val="5B6879"/>
                </a:solidFill>
                <a:latin typeface="Calibri"/>
              </a:rPr>
              <a:t>Comment elle fonctionne : des données, un motif, une prédiction.</a:t>
            </a:r>
          </a:p>
        </p:txBody>
      </p:sp>
      <p:sp>
        <p:nvSpPr>
          <p:cNvPr id="12" name="Rounded Rectangle 11"/>
          <p:cNvSpPr/>
          <p:nvPr/>
        </p:nvSpPr>
        <p:spPr>
          <a:xfrm>
            <a:off x="8007096" y="3246120"/>
            <a:ext cx="3496056" cy="295351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3 · Quoi</a:t>
            </a:r>
          </a:p>
          <a:p>
            <a:pPr algn="ctr">
              <a:lnSpc>
                <a:spcPct val="112000"/>
              </a:lnSpc>
              <a:spcBef>
                <a:spcPts val="0"/>
              </a:spcBef>
              <a:spcAft>
                <a:spcPts val="100"/>
              </a:spcAft>
            </a:pPr>
            <a:r>
              <a:rPr sz="1200" b="0" i="0">
                <a:solidFill>
                  <a:srgbClr val="5B6879"/>
                </a:solidFill>
                <a:latin typeface="Calibri"/>
              </a:rPr>
              <a:t>Ce que tu peux en faire dès demain, concrètement, et dans quels domaines.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
            <a:ext cx="12191695" cy="581558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74519"/>
            <a:ext cx="960120" cy="960120"/>
          </a:xfrm>
          <a:prstGeom prst="roundRect">
            <a:avLst>
              <a:gd name="adj" fmla="val 50000"/>
            </a:avLst>
          </a:prstGeom>
          <a:solidFill>
            <a:srgbClr val="1A3864"/>
          </a:solidFill>
          <a:ln w="254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960120" cy="960120"/>
          </a:xfrm>
          <a:prstGeom prst="rect">
            <a:avLst/>
          </a:prstGeom>
          <a:noFill/>
        </p:spPr>
        <p:txBody>
          <a:bodyPr wrap="square" lIns="0" rIns="0" tIns="0" bIns="0" anchor="ctr">
            <a:spAutoFit/>
          </a:bodyPr>
          <a:lstStyle/>
          <a:p>
            <a:pPr algn="ctr">
              <a:lnSpc>
                <a:spcPct val="112000"/>
              </a:lnSpc>
              <a:spcBef>
                <a:spcPts val="0"/>
              </a:spcBef>
              <a:spcAft>
                <a:spcPts val="0"/>
              </a:spcAft>
            </a:pPr>
            <a:r>
              <a:rPr sz="3000" b="1" i="0">
                <a:solidFill>
                  <a:srgbClr val="FFFFFF"/>
                </a:solidFill>
                <a:latin typeface="Calibri"/>
              </a:rPr>
              <a:t>1</a:t>
            </a:r>
          </a:p>
        </p:txBody>
      </p:sp>
      <p:sp>
        <p:nvSpPr>
          <p:cNvPr id="6" name="TextBox 5"/>
          <p:cNvSpPr txBox="1"/>
          <p:nvPr/>
        </p:nvSpPr>
        <p:spPr>
          <a:xfrm>
            <a:off x="2240280" y="1874519"/>
            <a:ext cx="8595360" cy="960120"/>
          </a:xfrm>
          <a:prstGeom prst="rect">
            <a:avLst/>
          </a:prstGeom>
          <a:noFill/>
        </p:spPr>
        <p:txBody>
          <a:bodyPr wrap="square" lIns="0" rIns="0" tIns="0" bIns="0" anchor="ctr">
            <a:spAutoFit/>
          </a:bodyPr>
          <a:lstStyle/>
          <a:p>
            <a:pPr algn="l">
              <a:lnSpc>
                <a:spcPct val="112000"/>
              </a:lnSpc>
              <a:spcBef>
                <a:spcPts val="0"/>
              </a:spcBef>
              <a:spcAft>
                <a:spcPts val="0"/>
              </a:spcAft>
            </a:pPr>
            <a:r>
              <a:rPr sz="3400" b="1" i="0">
                <a:solidFill>
                  <a:srgbClr val="FFFFFF"/>
                </a:solidFill>
                <a:latin typeface="Calibri"/>
              </a:rPr>
              <a:t>Où l'IA est déjà là</a:t>
            </a:r>
          </a:p>
        </p:txBody>
      </p:sp>
      <p:sp>
        <p:nvSpPr>
          <p:cNvPr id="7" name="TextBox 6"/>
          <p:cNvSpPr txBox="1"/>
          <p:nvPr/>
        </p:nvSpPr>
        <p:spPr>
          <a:xfrm>
            <a:off x="1005840" y="3154680"/>
            <a:ext cx="10149840" cy="1280160"/>
          </a:xfrm>
          <a:prstGeom prst="rect">
            <a:avLst/>
          </a:prstGeom>
          <a:noFill/>
        </p:spPr>
        <p:txBody>
          <a:bodyPr wrap="square" lIns="0" rIns="0" tIns="0" bIns="0" anchor="t">
            <a:spAutoFit/>
          </a:bodyPr>
          <a:lstStyle/>
          <a:p>
            <a:pPr algn="l">
              <a:lnSpc>
                <a:spcPct val="125000"/>
              </a:lnSpc>
              <a:spcBef>
                <a:spcPts val="0"/>
              </a:spcBef>
              <a:spcAft>
                <a:spcPts val="1000"/>
              </a:spcAft>
            </a:pPr>
            <a:r>
              <a:rPr sz="1700" b="0" i="0">
                <a:solidFill>
                  <a:srgbClr val="FFFFFF"/>
                </a:solidFill>
                <a:latin typeface="Calibri"/>
              </a:rPr>
              <a:t>Elle ne vit pas dans les laboratoires. Elle est dans votre poche, votre boîte mail, votre voiture et votre atelier.</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Dans le téléphone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Sur le web et les réseaux sociaux</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À l'université</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Chez le technicien : réparer et flasher</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3</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Dans ton téléphone, l'IA est partout</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5</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Sept zones, sept mécanismes différents. Aucune n'est de la magie : toutes apprennent à partir d'exemples.</a:t>
            </a:r>
          </a:p>
        </p:txBody>
      </p:sp>
      <p:sp>
        <p:nvSpPr>
          <p:cNvPr id="12" name="Rounded Rectangle 11"/>
          <p:cNvSpPr/>
          <p:nvPr/>
        </p:nvSpPr>
        <p:spPr>
          <a:xfrm>
            <a:off x="685800" y="3154680"/>
            <a:ext cx="2580894" cy="144018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Déblocage facial</a:t>
            </a:r>
          </a:p>
          <a:p>
            <a:pPr algn="ctr">
              <a:lnSpc>
                <a:spcPct val="112000"/>
              </a:lnSpc>
              <a:spcBef>
                <a:spcPts val="0"/>
              </a:spcBef>
              <a:spcAft>
                <a:spcPts val="100"/>
              </a:spcAft>
            </a:pPr>
            <a:r>
              <a:rPr sz="1200" b="0" i="0">
                <a:solidFill>
                  <a:srgbClr val="5B6879"/>
                </a:solidFill>
                <a:latin typeface="Calibri"/>
              </a:rPr>
              <a:t>compare ton visage à une image apprise</a:t>
            </a:r>
          </a:p>
        </p:txBody>
      </p:sp>
      <p:sp>
        <p:nvSpPr>
          <p:cNvPr id="13" name="Rounded Rectangle 12"/>
          <p:cNvSpPr/>
          <p:nvPr/>
        </p:nvSpPr>
        <p:spPr>
          <a:xfrm>
            <a:off x="3431286" y="3154680"/>
            <a:ext cx="2580894" cy="144018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Correction photo</a:t>
            </a:r>
          </a:p>
          <a:p>
            <a:pPr algn="ctr">
              <a:lnSpc>
                <a:spcPct val="112000"/>
              </a:lnSpc>
              <a:spcBef>
                <a:spcPts val="0"/>
              </a:spcBef>
              <a:spcAft>
                <a:spcPts val="100"/>
              </a:spcAft>
            </a:pPr>
            <a:r>
              <a:rPr sz="1200" b="0" i="0">
                <a:solidFill>
                  <a:srgbClr val="5B6879"/>
                </a:solidFill>
                <a:latin typeface="Calibri"/>
              </a:rPr>
              <a:t>corrige la lumière, la netteté, les couleurs</a:t>
            </a:r>
          </a:p>
        </p:txBody>
      </p:sp>
      <p:sp>
        <p:nvSpPr>
          <p:cNvPr id="14" name="Rounded Rectangle 13"/>
          <p:cNvSpPr/>
          <p:nvPr/>
        </p:nvSpPr>
        <p:spPr>
          <a:xfrm>
            <a:off x="6176772" y="3154680"/>
            <a:ext cx="2580894" cy="144018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Clavier prédictif</a:t>
            </a:r>
          </a:p>
          <a:p>
            <a:pPr algn="ctr">
              <a:lnSpc>
                <a:spcPct val="112000"/>
              </a:lnSpc>
              <a:spcBef>
                <a:spcPts val="0"/>
              </a:spcBef>
              <a:spcAft>
                <a:spcPts val="100"/>
              </a:spcAft>
            </a:pPr>
            <a:r>
              <a:rPr sz="1200" b="0" i="0">
                <a:solidFill>
                  <a:srgbClr val="5B6879"/>
                </a:solidFill>
                <a:latin typeface="Calibri"/>
              </a:rPr>
              <a:t>prédit le mot suivant d'après le tien</a:t>
            </a:r>
          </a:p>
        </p:txBody>
      </p:sp>
      <p:sp>
        <p:nvSpPr>
          <p:cNvPr id="15" name="Rounded Rectangle 14"/>
          <p:cNvSpPr/>
          <p:nvPr/>
        </p:nvSpPr>
        <p:spPr>
          <a:xfrm>
            <a:off x="8922258" y="3154680"/>
            <a:ext cx="2580894" cy="144018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Navigation GPS</a:t>
            </a:r>
          </a:p>
          <a:p>
            <a:pPr algn="ctr">
              <a:lnSpc>
                <a:spcPct val="112000"/>
              </a:lnSpc>
              <a:spcBef>
                <a:spcPts val="0"/>
              </a:spcBef>
              <a:spcAft>
                <a:spcPts val="100"/>
              </a:spcAft>
            </a:pPr>
            <a:r>
              <a:rPr sz="1200" b="0" i="0">
                <a:solidFill>
                  <a:srgbClr val="5B6879"/>
                </a:solidFill>
                <a:latin typeface="Calibri"/>
              </a:rPr>
              <a:t>prédit l'itinéraire le plus rapide</a:t>
            </a:r>
          </a:p>
        </p:txBody>
      </p:sp>
      <p:sp>
        <p:nvSpPr>
          <p:cNvPr id="16" name="Rounded Rectangle 15"/>
          <p:cNvSpPr/>
          <p:nvPr/>
        </p:nvSpPr>
        <p:spPr>
          <a:xfrm>
            <a:off x="685800" y="4759452"/>
            <a:ext cx="2580894" cy="144018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Correction d'écriture</a:t>
            </a:r>
          </a:p>
          <a:p>
            <a:pPr algn="ctr">
              <a:lnSpc>
                <a:spcPct val="112000"/>
              </a:lnSpc>
              <a:spcBef>
                <a:spcPts val="0"/>
              </a:spcBef>
              <a:spcAft>
                <a:spcPts val="100"/>
              </a:spcAft>
            </a:pPr>
            <a:r>
              <a:rPr sz="1200" b="0" i="0">
                <a:solidFill>
                  <a:srgbClr val="5B6879"/>
                </a:solidFill>
                <a:latin typeface="Calibri"/>
              </a:rPr>
              <a:t>propose le mot suivant à l'oral</a:t>
            </a:r>
          </a:p>
        </p:txBody>
      </p:sp>
      <p:sp>
        <p:nvSpPr>
          <p:cNvPr id="17" name="Rounded Rectangle 16"/>
          <p:cNvSpPr/>
          <p:nvPr/>
        </p:nvSpPr>
        <p:spPr>
          <a:xfrm>
            <a:off x="3431286" y="4759452"/>
            <a:ext cx="2580894" cy="144018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Photo de groupe</a:t>
            </a:r>
          </a:p>
          <a:p>
            <a:pPr algn="ctr">
              <a:lnSpc>
                <a:spcPct val="112000"/>
              </a:lnSpc>
              <a:spcBef>
                <a:spcPts val="0"/>
              </a:spcBef>
              <a:spcAft>
                <a:spcPts val="100"/>
              </a:spcAft>
            </a:pPr>
            <a:r>
              <a:rPr sz="1200" b="0" i="0">
                <a:solidFill>
                  <a:srgbClr val="5B6879"/>
                </a:solidFill>
                <a:latin typeface="Calibri"/>
              </a:rPr>
              <a:t>découpe et recompose les visages</a:t>
            </a:r>
          </a:p>
        </p:txBody>
      </p:sp>
      <p:sp>
        <p:nvSpPr>
          <p:cNvPr id="18" name="Rounded Rectangle 17"/>
          <p:cNvSpPr/>
          <p:nvPr/>
        </p:nvSpPr>
        <p:spPr>
          <a:xfrm>
            <a:off x="6176772" y="4759452"/>
            <a:ext cx="2580894" cy="144018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Traduction de conversation</a:t>
            </a:r>
          </a:p>
          <a:p>
            <a:pPr algn="ctr">
              <a:lnSpc>
                <a:spcPct val="112000"/>
              </a:lnSpc>
              <a:spcBef>
                <a:spcPts val="0"/>
              </a:spcBef>
              <a:spcAft>
                <a:spcPts val="100"/>
              </a:spcAft>
            </a:pPr>
            <a:r>
              <a:rPr sz="1200" b="0" i="0">
                <a:solidFill>
                  <a:srgbClr val="5B6879"/>
                </a:solidFill>
                <a:latin typeface="Calibri"/>
              </a:rPr>
              <a:t>traduit pendant que l'un parle</a:t>
            </a:r>
          </a:p>
        </p:txBody>
      </p:sp>
      <p:sp>
        <p:nvSpPr>
          <p:cNvPr id="19" name="Rounded Rectangle 18"/>
          <p:cNvSpPr/>
          <p:nvPr/>
        </p:nvSpPr>
        <p:spPr>
          <a:xfrm>
            <a:off x="8922258" y="4759452"/>
            <a:ext cx="2580894" cy="144018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Fil d'actualité</a:t>
            </a:r>
          </a:p>
          <a:p>
            <a:pPr algn="ctr">
              <a:lnSpc>
                <a:spcPct val="112000"/>
              </a:lnSpc>
              <a:spcBef>
                <a:spcPts val="0"/>
              </a:spcBef>
              <a:spcAft>
                <a:spcPts val="100"/>
              </a:spcAft>
            </a:pPr>
            <a:r>
              <a:rPr sz="1200" b="0" i="0">
                <a:solidFill>
                  <a:srgbClr val="5B6879"/>
                </a:solidFill>
                <a:latin typeface="Calibri"/>
              </a:rPr>
              <a:t>te propose ce que tu regarderas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4</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Sur le web et les réseaux sociaux</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6</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L'IA ne se contente pas de te montrer des pubs : elle décide ce que tu vois, dans quel ordre, et quand tu t'arrêtes.</a:t>
            </a:r>
          </a:p>
        </p:txBody>
      </p:sp>
      <p:sp>
        <p:nvSpPr>
          <p:cNvPr id="12" name="Rounded Rectangle 11"/>
          <p:cNvSpPr/>
          <p:nvPr/>
        </p:nvSpPr>
        <p:spPr>
          <a:xfrm>
            <a:off x="685800"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Fil mathematicien</a:t>
            </a:r>
          </a:p>
          <a:p>
            <a:pPr algn="ctr">
              <a:lnSpc>
                <a:spcPct val="112000"/>
              </a:lnSpc>
              <a:spcBef>
                <a:spcPts val="0"/>
              </a:spcBef>
              <a:spcAft>
                <a:spcPts val="100"/>
              </a:spcAft>
            </a:pPr>
            <a:r>
              <a:rPr sz="1200" b="0" i="0">
                <a:solidFill>
                  <a:srgbClr val="5B6879"/>
                </a:solidFill>
                <a:latin typeface="Calibri"/>
              </a:rPr>
              <a:t>propose le calcul que tu vas faire</a:t>
            </a:r>
          </a:p>
        </p:txBody>
      </p:sp>
      <p:sp>
        <p:nvSpPr>
          <p:cNvPr id="13" name="Rounded Rectangle 12"/>
          <p:cNvSpPr/>
          <p:nvPr/>
        </p:nvSpPr>
        <p:spPr>
          <a:xfrm>
            <a:off x="4346448"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Facebook · TikTok</a:t>
            </a:r>
          </a:p>
          <a:p>
            <a:pPr algn="ctr">
              <a:lnSpc>
                <a:spcPct val="112000"/>
              </a:lnSpc>
              <a:spcBef>
                <a:spcPts val="0"/>
              </a:spcBef>
              <a:spcAft>
                <a:spcPts val="100"/>
              </a:spcAft>
            </a:pPr>
            <a:r>
              <a:rPr sz="1200" b="0" i="0">
                <a:solidFill>
                  <a:srgbClr val="5B6879"/>
                </a:solidFill>
                <a:latin typeface="Calibri"/>
              </a:rPr>
              <a:t>choisit la vidéo suivante, vise l'attention</a:t>
            </a:r>
          </a:p>
        </p:txBody>
      </p:sp>
      <p:sp>
        <p:nvSpPr>
          <p:cNvPr id="14" name="Rounded Rectangle 13"/>
          <p:cNvSpPr/>
          <p:nvPr/>
        </p:nvSpPr>
        <p:spPr>
          <a:xfrm>
            <a:off x="8007096" y="3246120"/>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Anti-spam</a:t>
            </a:r>
          </a:p>
          <a:p>
            <a:pPr algn="ctr">
              <a:lnSpc>
                <a:spcPct val="112000"/>
              </a:lnSpc>
              <a:spcBef>
                <a:spcPts val="0"/>
              </a:spcBef>
              <a:spcAft>
                <a:spcPts val="100"/>
              </a:spcAft>
            </a:pPr>
            <a:r>
              <a:rPr sz="1200" b="0" i="0">
                <a:solidFill>
                  <a:srgbClr val="5B6879"/>
                </a:solidFill>
                <a:latin typeface="Calibri"/>
              </a:rPr>
              <a:t>classe le courriel comme indésirable</a:t>
            </a:r>
          </a:p>
        </p:txBody>
      </p:sp>
      <p:sp>
        <p:nvSpPr>
          <p:cNvPr id="15" name="Rounded Rectangle 14"/>
          <p:cNvSpPr/>
          <p:nvPr/>
        </p:nvSpPr>
        <p:spPr>
          <a:xfrm>
            <a:off x="685800"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Traduction automatique</a:t>
            </a:r>
          </a:p>
          <a:p>
            <a:pPr algn="ctr">
              <a:lnSpc>
                <a:spcPct val="112000"/>
              </a:lnSpc>
              <a:spcBef>
                <a:spcPts val="0"/>
              </a:spcBef>
              <a:spcAft>
                <a:spcPts val="100"/>
              </a:spcAft>
            </a:pPr>
            <a:r>
              <a:rPr sz="1200" b="0" i="0">
                <a:solidFill>
                  <a:srgbClr val="5B6879"/>
                </a:solidFill>
                <a:latin typeface="Calibri"/>
              </a:rPr>
              <a:t>traduit en direct dans le navigateur</a:t>
            </a:r>
          </a:p>
        </p:txBody>
      </p:sp>
      <p:sp>
        <p:nvSpPr>
          <p:cNvPr id="16" name="Rounded Rectangle 15"/>
          <p:cNvSpPr/>
          <p:nvPr/>
        </p:nvSpPr>
        <p:spPr>
          <a:xfrm>
            <a:off x="4346448"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Recommandation</a:t>
            </a:r>
          </a:p>
          <a:p>
            <a:pPr algn="ctr">
              <a:lnSpc>
                <a:spcPct val="112000"/>
              </a:lnSpc>
              <a:spcBef>
                <a:spcPts val="0"/>
              </a:spcBef>
              <a:spcAft>
                <a:spcPts val="100"/>
              </a:spcAft>
            </a:pPr>
            <a:r>
              <a:rPr sz="1200" b="0" i="0">
                <a:solidFill>
                  <a:srgbClr val="5B6879"/>
                </a:solidFill>
                <a:latin typeface="Calibri"/>
              </a:rPr>
              <a:t>musique, films, produits, restaurants</a:t>
            </a:r>
          </a:p>
        </p:txBody>
      </p:sp>
      <p:sp>
        <p:nvSpPr>
          <p:cNvPr id="17" name="Rounded Rectangle 16"/>
          <p:cNvSpPr/>
          <p:nvPr/>
        </p:nvSpPr>
        <p:spPr>
          <a:xfrm>
            <a:off x="8007096" y="4805172"/>
            <a:ext cx="3496056" cy="139446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Modération</a:t>
            </a:r>
          </a:p>
          <a:p>
            <a:pPr algn="ctr">
              <a:lnSpc>
                <a:spcPct val="112000"/>
              </a:lnSpc>
              <a:spcBef>
                <a:spcPts val="0"/>
              </a:spcBef>
              <a:spcAft>
                <a:spcPts val="100"/>
              </a:spcAft>
            </a:pPr>
            <a:r>
              <a:rPr sz="1200" b="0" i="0">
                <a:solidFill>
                  <a:srgbClr val="5B6879"/>
                </a:solidFill>
                <a:latin typeface="Calibri"/>
              </a:rPr>
              <a:t>détecte les images et les messages signalés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5</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À l'université et dans l'administration</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7</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Les services que vous utilisez tous les jours sont, pour la plupart, des IA déguisés en formulaires.</a:t>
            </a:r>
          </a:p>
        </p:txBody>
      </p:sp>
      <p:sp>
        <p:nvSpPr>
          <p:cNvPr id="12" name="Rounded Rectangle 11"/>
          <p:cNvSpPr/>
          <p:nvPr/>
        </p:nvSpPr>
        <p:spPr>
          <a:xfrm>
            <a:off x="685800"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Dossier d'inscription</a:t>
            </a:r>
          </a:p>
          <a:p>
            <a:pPr algn="ctr">
              <a:lnSpc>
                <a:spcPct val="112000"/>
              </a:lnSpc>
              <a:spcBef>
                <a:spcPts val="0"/>
              </a:spcBef>
              <a:spcAft>
                <a:spcPts val="100"/>
              </a:spcAft>
            </a:pPr>
            <a:r>
              <a:rPr sz="1200" b="0" i="0">
                <a:solidFill>
                  <a:srgbClr val="5B6879"/>
                </a:solidFill>
                <a:latin typeface="Calibri"/>
              </a:rPr>
              <a:t>trie et vérifie les pièces automatiquement</a:t>
            </a:r>
          </a:p>
        </p:txBody>
      </p:sp>
      <p:sp>
        <p:nvSpPr>
          <p:cNvPr id="13" name="Rounded Rectangle 12"/>
          <p:cNvSpPr/>
          <p:nvPr/>
        </p:nvSpPr>
        <p:spPr>
          <a:xfrm>
            <a:off x="4346448"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Notes etPvjet</a:t>
            </a:r>
          </a:p>
          <a:p>
            <a:pPr algn="ctr">
              <a:lnSpc>
                <a:spcPct val="112000"/>
              </a:lnSpc>
              <a:spcBef>
                <a:spcPts val="0"/>
              </a:spcBef>
              <a:spcAft>
                <a:spcPts val="100"/>
              </a:spcAft>
            </a:pPr>
            <a:r>
              <a:rPr sz="1200" b="0" i="0">
                <a:solidFill>
                  <a:srgbClr val="5B6879"/>
                </a:solidFill>
                <a:latin typeface="Calibri"/>
              </a:rPr>
              <a:t>calcule, classe, prédit les mentions</a:t>
            </a:r>
          </a:p>
        </p:txBody>
      </p:sp>
      <p:sp>
        <p:nvSpPr>
          <p:cNvPr id="14" name="Rounded Rectangle 13"/>
          <p:cNvSpPr/>
          <p:nvPr/>
        </p:nvSpPr>
        <p:spPr>
          <a:xfrm>
            <a:off x="8007096"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Détection de plagiat</a:t>
            </a:r>
          </a:p>
          <a:p>
            <a:pPr algn="ctr">
              <a:lnSpc>
                <a:spcPct val="112000"/>
              </a:lnSpc>
              <a:spcBef>
                <a:spcPts val="0"/>
              </a:spcBef>
              <a:spcAft>
                <a:spcPts val="100"/>
              </a:spcAft>
            </a:pPr>
            <a:r>
              <a:rPr sz="1200" b="0" i="0">
                <a:solidFill>
                  <a:srgbClr val="5B6879"/>
                </a:solidFill>
                <a:latin typeface="Calibri"/>
              </a:rPr>
              <a:t>compare vos phrases à des corpus entiers</a:t>
            </a:r>
          </a:p>
        </p:txBody>
      </p:sp>
      <p:sp>
        <p:nvSpPr>
          <p:cNvPr id="15" name="Rounded Rectangle 14"/>
          <p:cNvSpPr/>
          <p:nvPr/>
        </p:nvSpPr>
        <p:spPr>
          <a:xfrm>
            <a:off x="685800"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Archives</a:t>
            </a:r>
          </a:p>
          <a:p>
            <a:pPr algn="ctr">
              <a:lnSpc>
                <a:spcPct val="112000"/>
              </a:lnSpc>
              <a:spcBef>
                <a:spcPts val="0"/>
              </a:spcBef>
              <a:spcAft>
                <a:spcPts val="100"/>
              </a:spcAft>
            </a:pPr>
            <a:r>
              <a:rPr sz="1200" b="0" i="0">
                <a:solidFill>
                  <a:srgbClr val="5B6879"/>
                </a:solidFill>
                <a:latin typeface="Calibri"/>
              </a:rPr>
              <a:t>reconnaît et classe des documents numérisés</a:t>
            </a:r>
          </a:p>
        </p:txBody>
      </p:sp>
      <p:sp>
        <p:nvSpPr>
          <p:cNvPr id="16" name="Rounded Rectangle 15"/>
          <p:cNvSpPr/>
          <p:nvPr/>
        </p:nvSpPr>
        <p:spPr>
          <a:xfrm>
            <a:off x="4346448"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Transport</a:t>
            </a:r>
          </a:p>
          <a:p>
            <a:pPr algn="ctr">
              <a:lnSpc>
                <a:spcPct val="112000"/>
              </a:lnSpc>
              <a:spcBef>
                <a:spcPts val="0"/>
              </a:spcBef>
              <a:spcAft>
                <a:spcPts val="100"/>
              </a:spcAft>
            </a:pPr>
            <a:r>
              <a:rPr sz="1200" b="0" i="0">
                <a:solidFill>
                  <a:srgbClr val="5B6879"/>
                </a:solidFill>
                <a:latin typeface="Calibri"/>
              </a:rPr>
              <a:t>prédit l'affluence, propose des trajets</a:t>
            </a:r>
          </a:p>
        </p:txBody>
      </p:sp>
      <p:sp>
        <p:nvSpPr>
          <p:cNvPr id="17" name="Rounded Rectangle 16"/>
          <p:cNvSpPr/>
          <p:nvPr/>
        </p:nvSpPr>
        <p:spPr>
          <a:xfrm>
            <a:off x="8007096" y="4805172"/>
            <a:ext cx="3496056" cy="139446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Santé</a:t>
            </a:r>
          </a:p>
          <a:p>
            <a:pPr algn="ctr">
              <a:lnSpc>
                <a:spcPct val="112000"/>
              </a:lnSpc>
              <a:spcBef>
                <a:spcPts val="0"/>
              </a:spcBef>
              <a:spcAft>
                <a:spcPts val="100"/>
              </a:spcAft>
            </a:pPr>
            <a:r>
              <a:rPr sz="1200" b="0" i="0">
                <a:solidFill>
                  <a:srgbClr val="5B6879"/>
                </a:solidFill>
                <a:latin typeface="Calibri"/>
              </a:rPr>
              <a:t>aide au diagnostic à partir d'images médicales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6</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Chez le technicien : l'IA aide à réparer</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8</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Un technicien ne demande pas à l'IA de réparer. Il lui demande de lui éviter deux heures de recherche, puis il vérifie et il intervient de ses mains.</a:t>
            </a:r>
          </a:p>
        </p:txBody>
      </p:sp>
      <p:sp>
        <p:nvSpPr>
          <p:cNvPr id="12" name="Rounded Rectangle 11"/>
          <p:cNvSpPr/>
          <p:nvPr/>
        </p:nvSpPr>
        <p:spPr>
          <a:xfrm>
            <a:off x="685800"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Lire un schéma</a:t>
            </a:r>
          </a:p>
          <a:p>
            <a:pPr algn="ctr">
              <a:lnSpc>
                <a:spcPct val="112000"/>
              </a:lnSpc>
              <a:spcBef>
                <a:spcPts val="0"/>
              </a:spcBef>
              <a:spcAft>
                <a:spcPts val="100"/>
              </a:spcAft>
            </a:pPr>
            <a:r>
              <a:rPr sz="1200" b="0" i="0">
                <a:solidFill>
                  <a:srgbClr val="5B6879"/>
                </a:solidFill>
                <a:latin typeface="Calibri"/>
              </a:rPr>
              <a:t>photographier le circuit et l'expliquer</a:t>
            </a:r>
          </a:p>
        </p:txBody>
      </p:sp>
      <p:sp>
        <p:nvSpPr>
          <p:cNvPr id="13" name="Rounded Rectangle 12"/>
          <p:cNvSpPr/>
          <p:nvPr/>
        </p:nvSpPr>
        <p:spPr>
          <a:xfrm>
            <a:off x="4346448"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Identifier un composant</a:t>
            </a:r>
          </a:p>
          <a:p>
            <a:pPr algn="ctr">
              <a:lnSpc>
                <a:spcPct val="112000"/>
              </a:lnSpc>
              <a:spcBef>
                <a:spcPts val="0"/>
              </a:spcBef>
              <a:spcAft>
                <a:spcPts val="100"/>
              </a:spcAft>
            </a:pPr>
            <a:r>
              <a:rPr sz="1200" b="0" i="0">
                <a:solidFill>
                  <a:srgbClr val="5B6879"/>
                </a:solidFill>
                <a:latin typeface="Calibri"/>
              </a:rPr>
              <a:t>datasheet : valeur, tension, tolérance</a:t>
            </a:r>
          </a:p>
        </p:txBody>
      </p:sp>
      <p:sp>
        <p:nvSpPr>
          <p:cNvPr id="14" name="Rounded Rectangle 13"/>
          <p:cNvSpPr/>
          <p:nvPr/>
        </p:nvSpPr>
        <p:spPr>
          <a:xfrm>
            <a:off x="8007096" y="3246120"/>
            <a:ext cx="3496056" cy="13944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Interpréter une erreur</a:t>
            </a:r>
          </a:p>
          <a:p>
            <a:pPr algn="ctr">
              <a:lnSpc>
                <a:spcPct val="112000"/>
              </a:lnSpc>
              <a:spcBef>
                <a:spcPts val="0"/>
              </a:spcBef>
              <a:spcAft>
                <a:spcPts val="100"/>
              </a:spcAft>
            </a:pPr>
            <a:r>
              <a:rPr sz="1200" b="0" i="0">
                <a:solidFill>
                  <a:srgbClr val="5B6879"/>
                </a:solidFill>
                <a:latin typeface="Calibri"/>
              </a:rPr>
              <a:t>traduire le code d'erreur en cause probable</a:t>
            </a:r>
          </a:p>
        </p:txBody>
      </p:sp>
      <p:sp>
        <p:nvSpPr>
          <p:cNvPr id="15" name="Rounded Rectangle 14"/>
          <p:cNvSpPr/>
          <p:nvPr/>
        </p:nvSpPr>
        <p:spPr>
          <a:xfrm>
            <a:off x="685800"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Choisir une pièce</a:t>
            </a:r>
          </a:p>
          <a:p>
            <a:pPr algn="ctr">
              <a:lnSpc>
                <a:spcPct val="112000"/>
              </a:lnSpc>
              <a:spcBef>
                <a:spcPts val="0"/>
              </a:spcBef>
              <a:spcAft>
                <a:spcPts val="100"/>
              </a:spcAft>
            </a:pPr>
            <a:r>
              <a:rPr sz="1200" b="0" i="0">
                <a:solidFill>
                  <a:srgbClr val="5B6879"/>
                </a:solidFill>
                <a:latin typeface="Calibri"/>
              </a:rPr>
              <a:t>comparer les équivalents disponibles</a:t>
            </a:r>
          </a:p>
        </p:txBody>
      </p:sp>
      <p:sp>
        <p:nvSpPr>
          <p:cNvPr id="16" name="Rounded Rectangle 15"/>
          <p:cNvSpPr/>
          <p:nvPr/>
        </p:nvSpPr>
        <p:spPr>
          <a:xfrm>
            <a:off x="4346448"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Écrire un script de flash</a:t>
            </a:r>
          </a:p>
          <a:p>
            <a:pPr algn="ctr">
              <a:lnSpc>
                <a:spcPct val="112000"/>
              </a:lnSpc>
              <a:spcBef>
                <a:spcPts val="0"/>
              </a:spcBef>
              <a:spcAft>
                <a:spcPts val="100"/>
              </a:spcAft>
            </a:pPr>
            <a:r>
              <a:rPr sz="1200" b="0" i="0">
                <a:solidFill>
                  <a:srgbClr val="5B6879"/>
                </a:solidFill>
                <a:latin typeface="Calibri"/>
              </a:rPr>
              <a:t>adapter un script existant à son appareil</a:t>
            </a:r>
          </a:p>
        </p:txBody>
      </p:sp>
      <p:sp>
        <p:nvSpPr>
          <p:cNvPr id="17" name="Rounded Rectangle 16"/>
          <p:cNvSpPr/>
          <p:nvPr/>
        </p:nvSpPr>
        <p:spPr>
          <a:xfrm>
            <a:off x="8007096" y="4805172"/>
            <a:ext cx="3496056" cy="13944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Rédiger la fiche d'intervention</a:t>
            </a:r>
          </a:p>
          <a:p>
            <a:pPr algn="ctr">
              <a:lnSpc>
                <a:spcPct val="112000"/>
              </a:lnSpc>
              <a:spcBef>
                <a:spcPts val="0"/>
              </a:spcBef>
              <a:spcAft>
                <a:spcPts val="100"/>
              </a:spcAft>
            </a:pPr>
            <a:r>
              <a:rPr sz="1200" b="0" i="0">
                <a:solidFill>
                  <a:srgbClr val="5B6879"/>
                </a:solidFill>
                <a:latin typeface="Calibri"/>
              </a:rPr>
              <a:t>mise en forme automatique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7</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Douze domaines, un seul mécanisme</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9</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L'IA change de nom et de métier selon le domaine. Le mécanisme, lui, ne change jamais : des exemples, un motif, une décision.</a:t>
            </a:r>
          </a:p>
        </p:txBody>
      </p:sp>
      <p:sp>
        <p:nvSpPr>
          <p:cNvPr id="12" name="Rounded Rectangle 11"/>
          <p:cNvSpPr/>
          <p:nvPr/>
        </p:nvSpPr>
        <p:spPr>
          <a:xfrm>
            <a:off x="685800" y="3200400"/>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Téléphone</a:t>
            </a:r>
          </a:p>
          <a:p>
            <a:pPr algn="ctr">
              <a:lnSpc>
                <a:spcPct val="112000"/>
              </a:lnSpc>
              <a:spcBef>
                <a:spcPts val="0"/>
              </a:spcBef>
              <a:spcAft>
                <a:spcPts val="100"/>
              </a:spcAft>
            </a:pPr>
            <a:r>
              <a:rPr sz="1200" b="0" i="0">
                <a:solidFill>
                  <a:srgbClr val="5B6879"/>
                </a:solidFill>
                <a:latin typeface="Calibri"/>
              </a:rPr>
              <a:t>photos, voix, clavier</a:t>
            </a:r>
          </a:p>
        </p:txBody>
      </p:sp>
      <p:sp>
        <p:nvSpPr>
          <p:cNvPr id="13" name="Rounded Rectangle 12"/>
          <p:cNvSpPr/>
          <p:nvPr/>
        </p:nvSpPr>
        <p:spPr>
          <a:xfrm>
            <a:off x="3431286" y="3200400"/>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Santé</a:t>
            </a:r>
          </a:p>
          <a:p>
            <a:pPr algn="ctr">
              <a:lnSpc>
                <a:spcPct val="112000"/>
              </a:lnSpc>
              <a:spcBef>
                <a:spcPts val="0"/>
              </a:spcBef>
              <a:spcAft>
                <a:spcPts val="100"/>
              </a:spcAft>
            </a:pPr>
            <a:r>
              <a:rPr sz="1200" b="0" i="0">
                <a:solidFill>
                  <a:srgbClr val="5B6879"/>
                </a:solidFill>
                <a:latin typeface="Calibri"/>
              </a:rPr>
              <a:t>images, triage</a:t>
            </a:r>
          </a:p>
        </p:txBody>
      </p:sp>
      <p:sp>
        <p:nvSpPr>
          <p:cNvPr id="14" name="Rounded Rectangle 13"/>
          <p:cNvSpPr/>
          <p:nvPr/>
        </p:nvSpPr>
        <p:spPr>
          <a:xfrm>
            <a:off x="6176772" y="3200400"/>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Banque</a:t>
            </a:r>
          </a:p>
          <a:p>
            <a:pPr algn="ctr">
              <a:lnSpc>
                <a:spcPct val="112000"/>
              </a:lnSpc>
              <a:spcBef>
                <a:spcPts val="0"/>
              </a:spcBef>
              <a:spcAft>
                <a:spcPts val="100"/>
              </a:spcAft>
            </a:pPr>
            <a:r>
              <a:rPr sz="1200" b="0" i="0">
                <a:solidFill>
                  <a:srgbClr val="5B6879"/>
                </a:solidFill>
                <a:latin typeface="Calibri"/>
              </a:rPr>
              <a:t>fraude, crédit</a:t>
            </a:r>
          </a:p>
        </p:txBody>
      </p:sp>
      <p:sp>
        <p:nvSpPr>
          <p:cNvPr id="15" name="Rounded Rectangle 14"/>
          <p:cNvSpPr/>
          <p:nvPr/>
        </p:nvSpPr>
        <p:spPr>
          <a:xfrm>
            <a:off x="8922258" y="3200400"/>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Transport</a:t>
            </a:r>
          </a:p>
          <a:p>
            <a:pPr algn="ctr">
              <a:lnSpc>
                <a:spcPct val="112000"/>
              </a:lnSpc>
              <a:spcBef>
                <a:spcPts val="0"/>
              </a:spcBef>
              <a:spcAft>
                <a:spcPts val="100"/>
              </a:spcAft>
            </a:pPr>
            <a:r>
              <a:rPr sz="1200" b="0" i="0">
                <a:solidFill>
                  <a:srgbClr val="5B6879"/>
                </a:solidFill>
                <a:latin typeface="Calibri"/>
              </a:rPr>
              <a:t>trafic, itinéraires</a:t>
            </a:r>
          </a:p>
        </p:txBody>
      </p:sp>
      <p:sp>
        <p:nvSpPr>
          <p:cNvPr id="16" name="Rounded Rectangle 15"/>
          <p:cNvSpPr/>
          <p:nvPr/>
        </p:nvSpPr>
        <p:spPr>
          <a:xfrm>
            <a:off x="685800" y="4255008"/>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Agriculture</a:t>
            </a:r>
          </a:p>
          <a:p>
            <a:pPr algn="ctr">
              <a:lnSpc>
                <a:spcPct val="112000"/>
              </a:lnSpc>
              <a:spcBef>
                <a:spcPts val="0"/>
              </a:spcBef>
              <a:spcAft>
                <a:spcPts val="100"/>
              </a:spcAft>
            </a:pPr>
            <a:r>
              <a:rPr sz="1200" b="0" i="0">
                <a:solidFill>
                  <a:srgbClr val="5B6879"/>
                </a:solidFill>
                <a:latin typeface="Calibri"/>
              </a:rPr>
              <a:t>rendement, maladies</a:t>
            </a:r>
          </a:p>
        </p:txBody>
      </p:sp>
      <p:sp>
        <p:nvSpPr>
          <p:cNvPr id="17" name="Rounded Rectangle 16"/>
          <p:cNvSpPr/>
          <p:nvPr/>
        </p:nvSpPr>
        <p:spPr>
          <a:xfrm>
            <a:off x="3431286" y="4255008"/>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Éducation</a:t>
            </a:r>
          </a:p>
          <a:p>
            <a:pPr algn="ctr">
              <a:lnSpc>
                <a:spcPct val="112000"/>
              </a:lnSpc>
              <a:spcBef>
                <a:spcPts val="0"/>
              </a:spcBef>
              <a:spcAft>
                <a:spcPts val="100"/>
              </a:spcAft>
            </a:pPr>
            <a:r>
              <a:rPr sz="1200" b="0" i="0">
                <a:solidFill>
                  <a:srgbClr val="5B6879"/>
                </a:solidFill>
                <a:latin typeface="Calibri"/>
              </a:rPr>
              <a:t>notes, contenu</a:t>
            </a:r>
          </a:p>
        </p:txBody>
      </p:sp>
      <p:sp>
        <p:nvSpPr>
          <p:cNvPr id="18" name="Rounded Rectangle 17"/>
          <p:cNvSpPr/>
          <p:nvPr/>
        </p:nvSpPr>
        <p:spPr>
          <a:xfrm>
            <a:off x="6176772" y="4255008"/>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Industrie</a:t>
            </a:r>
          </a:p>
          <a:p>
            <a:pPr algn="ctr">
              <a:lnSpc>
                <a:spcPct val="112000"/>
              </a:lnSpc>
              <a:spcBef>
                <a:spcPts val="0"/>
              </a:spcBef>
              <a:spcAft>
                <a:spcPts val="100"/>
              </a:spcAft>
            </a:pPr>
            <a:r>
              <a:rPr sz="1200" b="0" i="0">
                <a:solidFill>
                  <a:srgbClr val="5B6879"/>
                </a:solidFill>
                <a:latin typeface="Calibri"/>
              </a:rPr>
              <a:t>contrôle qualité</a:t>
            </a:r>
          </a:p>
        </p:txBody>
      </p:sp>
      <p:sp>
        <p:nvSpPr>
          <p:cNvPr id="19" name="Rounded Rectangle 18"/>
          <p:cNvSpPr/>
          <p:nvPr/>
        </p:nvSpPr>
        <p:spPr>
          <a:xfrm>
            <a:off x="8922258" y="4255008"/>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Énergie</a:t>
            </a:r>
          </a:p>
          <a:p>
            <a:pPr algn="ctr">
              <a:lnSpc>
                <a:spcPct val="112000"/>
              </a:lnSpc>
              <a:spcBef>
                <a:spcPts val="0"/>
              </a:spcBef>
              <a:spcAft>
                <a:spcPts val="100"/>
              </a:spcAft>
            </a:pPr>
            <a:r>
              <a:rPr sz="1200" b="0" i="0">
                <a:solidFill>
                  <a:srgbClr val="5B6879"/>
                </a:solidFill>
                <a:latin typeface="Calibri"/>
              </a:rPr>
              <a:t>réseau, prévision</a:t>
            </a:r>
          </a:p>
        </p:txBody>
      </p:sp>
      <p:sp>
        <p:nvSpPr>
          <p:cNvPr id="20" name="Rounded Rectangle 19"/>
          <p:cNvSpPr/>
          <p:nvPr/>
        </p:nvSpPr>
        <p:spPr>
          <a:xfrm>
            <a:off x="685800" y="5309616"/>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Vidéo</a:t>
            </a:r>
          </a:p>
          <a:p>
            <a:pPr algn="ctr">
              <a:lnSpc>
                <a:spcPct val="112000"/>
              </a:lnSpc>
              <a:spcBef>
                <a:spcPts val="0"/>
              </a:spcBef>
              <a:spcAft>
                <a:spcPts val="100"/>
              </a:spcAft>
            </a:pPr>
            <a:r>
              <a:rPr sz="1200" b="0" i="0">
                <a:solidFill>
                  <a:srgbClr val="5B6879"/>
                </a:solidFill>
                <a:latin typeface="Calibri"/>
              </a:rPr>
              <a:t>recommandation</a:t>
            </a:r>
          </a:p>
        </p:txBody>
      </p:sp>
      <p:sp>
        <p:nvSpPr>
          <p:cNvPr id="21" name="Rounded Rectangle 20"/>
          <p:cNvSpPr/>
          <p:nvPr/>
        </p:nvSpPr>
        <p:spPr>
          <a:xfrm>
            <a:off x="3431286" y="5309616"/>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Recherche</a:t>
            </a:r>
          </a:p>
          <a:p>
            <a:pPr algn="ctr">
              <a:lnSpc>
                <a:spcPct val="112000"/>
              </a:lnSpc>
              <a:spcBef>
                <a:spcPts val="0"/>
              </a:spcBef>
              <a:spcAft>
                <a:spcPts val="100"/>
              </a:spcAft>
            </a:pPr>
            <a:r>
              <a:rPr sz="1200" b="0" i="0">
                <a:solidFill>
                  <a:srgbClr val="5B6879"/>
                </a:solidFill>
                <a:latin typeface="Calibri"/>
              </a:rPr>
              <a:t>tri, résumé</a:t>
            </a:r>
          </a:p>
        </p:txBody>
      </p:sp>
      <p:sp>
        <p:nvSpPr>
          <p:cNvPr id="22" name="Rounded Rectangle 21"/>
          <p:cNvSpPr/>
          <p:nvPr/>
        </p:nvSpPr>
        <p:spPr>
          <a:xfrm>
            <a:off x="6176772" y="5309616"/>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Réparation</a:t>
            </a:r>
          </a:p>
          <a:p>
            <a:pPr algn="ctr">
              <a:lnSpc>
                <a:spcPct val="112000"/>
              </a:lnSpc>
              <a:spcBef>
                <a:spcPts val="0"/>
              </a:spcBef>
              <a:spcAft>
                <a:spcPts val="100"/>
              </a:spcAft>
            </a:pPr>
            <a:r>
              <a:rPr sz="1200" b="0" i="0">
                <a:solidFill>
                  <a:srgbClr val="5B6879"/>
                </a:solidFill>
                <a:latin typeface="Calibri"/>
              </a:rPr>
              <a:t>schémas, composants</a:t>
            </a:r>
          </a:p>
        </p:txBody>
      </p:sp>
      <p:sp>
        <p:nvSpPr>
          <p:cNvPr id="23" name="Rounded Rectangle 22"/>
          <p:cNvSpPr/>
          <p:nvPr/>
        </p:nvSpPr>
        <p:spPr>
          <a:xfrm>
            <a:off x="8922258" y="5309616"/>
            <a:ext cx="2580894" cy="890016"/>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Site web</a:t>
            </a:r>
          </a:p>
          <a:p>
            <a:pPr algn="ctr">
              <a:lnSpc>
                <a:spcPct val="112000"/>
              </a:lnSpc>
              <a:spcBef>
                <a:spcPts val="0"/>
              </a:spcBef>
              <a:spcAft>
                <a:spcPts val="100"/>
              </a:spcAft>
            </a:pPr>
            <a:r>
              <a:rPr sz="1200" b="0" i="0">
                <a:solidFill>
                  <a:srgbClr val="5B6879"/>
                </a:solidFill>
                <a:latin typeface="Calibri"/>
              </a:rPr>
              <a:t>code, mise en page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
            <a:ext cx="12191695" cy="581558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74519"/>
            <a:ext cx="960120" cy="960120"/>
          </a:xfrm>
          <a:prstGeom prst="roundRect">
            <a:avLst>
              <a:gd name="adj" fmla="val 50000"/>
            </a:avLst>
          </a:prstGeom>
          <a:solidFill>
            <a:srgbClr val="1A3864"/>
          </a:solidFill>
          <a:ln w="254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960120" cy="960120"/>
          </a:xfrm>
          <a:prstGeom prst="rect">
            <a:avLst/>
          </a:prstGeom>
          <a:noFill/>
        </p:spPr>
        <p:txBody>
          <a:bodyPr wrap="square" lIns="0" rIns="0" tIns="0" bIns="0" anchor="ctr">
            <a:spAutoFit/>
          </a:bodyPr>
          <a:lstStyle/>
          <a:p>
            <a:pPr algn="ctr">
              <a:lnSpc>
                <a:spcPct val="112000"/>
              </a:lnSpc>
              <a:spcBef>
                <a:spcPts val="0"/>
              </a:spcBef>
              <a:spcAft>
                <a:spcPts val="0"/>
              </a:spcAft>
            </a:pPr>
            <a:r>
              <a:rPr sz="3000" b="1" i="0">
                <a:solidFill>
                  <a:srgbClr val="FFFFFF"/>
                </a:solidFill>
                <a:latin typeface="Calibri"/>
              </a:rPr>
              <a:t>2</a:t>
            </a:r>
          </a:p>
        </p:txBody>
      </p:sp>
      <p:sp>
        <p:nvSpPr>
          <p:cNvPr id="6" name="TextBox 5"/>
          <p:cNvSpPr txBox="1"/>
          <p:nvPr/>
        </p:nvSpPr>
        <p:spPr>
          <a:xfrm>
            <a:off x="2240280" y="1874519"/>
            <a:ext cx="8595360" cy="960120"/>
          </a:xfrm>
          <a:prstGeom prst="rect">
            <a:avLst/>
          </a:prstGeom>
          <a:noFill/>
        </p:spPr>
        <p:txBody>
          <a:bodyPr wrap="square" lIns="0" rIns="0" tIns="0" bIns="0" anchor="ctr">
            <a:spAutoFit/>
          </a:bodyPr>
          <a:lstStyle/>
          <a:p>
            <a:pPr algn="l">
              <a:lnSpc>
                <a:spcPct val="112000"/>
              </a:lnSpc>
              <a:spcBef>
                <a:spcPts val="0"/>
              </a:spcBef>
              <a:spcAft>
                <a:spcPts val="0"/>
              </a:spcAft>
            </a:pPr>
            <a:r>
              <a:rPr sz="3400" b="1" i="0">
                <a:solidFill>
                  <a:srgbClr val="FFFFFF"/>
                </a:solidFill>
                <a:latin typeface="Calibri"/>
              </a:rPr>
              <a:t>Comment ça marche vraiment</a:t>
            </a:r>
          </a:p>
        </p:txBody>
      </p:sp>
      <p:sp>
        <p:nvSpPr>
          <p:cNvPr id="7" name="TextBox 6"/>
          <p:cNvSpPr txBox="1"/>
          <p:nvPr/>
        </p:nvSpPr>
        <p:spPr>
          <a:xfrm>
            <a:off x="1005840" y="3154680"/>
            <a:ext cx="10149840" cy="1280160"/>
          </a:xfrm>
          <a:prstGeom prst="rect">
            <a:avLst/>
          </a:prstGeom>
          <a:noFill/>
        </p:spPr>
        <p:txBody>
          <a:bodyPr wrap="square" lIns="0" rIns="0" tIns="0" bIns="0" anchor="t">
            <a:spAutoFit/>
          </a:bodyPr>
          <a:lstStyle/>
          <a:p>
            <a:pPr algn="l">
              <a:lnSpc>
                <a:spcPct val="125000"/>
              </a:lnSpc>
              <a:spcBef>
                <a:spcPts val="0"/>
              </a:spcBef>
              <a:spcAft>
                <a:spcPts val="1000"/>
              </a:spcAft>
            </a:pPr>
            <a:r>
              <a:rPr sz="1700" b="0" i="0">
                <a:solidFill>
                  <a:srgbClr val="FFFFFF"/>
                </a:solidFill>
                <a:latin typeface="Calibri"/>
              </a:rPr>
              <a:t>Pas de mathématiques. Une phrase suffit à comprendre toute l'IA qui tourne autour de vous.</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L'idée centrale en une phrase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Un exemple chiffré</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Pourquoi elle se trompe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Le rôle des données</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8</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Une phrase : une machine qui devine le suivant</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11</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Pour prévoir quelque chose de nouveau, elle cherche ce qui ressemble le plus à ce qu'elle a déjà vu.</a:t>
            </a:r>
          </a:p>
        </p:txBody>
      </p:sp>
      <p:sp>
        <p:nvSpPr>
          <p:cNvPr id="12" name="Rounded Rectangle 11"/>
          <p:cNvSpPr/>
          <p:nvPr/>
        </p:nvSpPr>
        <p:spPr>
          <a:xfrm>
            <a:off x="868680" y="3337560"/>
            <a:ext cx="2318004" cy="1234440"/>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DONNÉES</a:t>
            </a:r>
          </a:p>
          <a:p>
            <a:pPr algn="ctr">
              <a:lnSpc>
                <a:spcPct val="100000"/>
              </a:lnSpc>
              <a:spcBef>
                <a:spcPts val="300"/>
              </a:spcBef>
              <a:spcAft>
                <a:spcPts val="0"/>
              </a:spcAft>
            </a:pPr>
            <a:r>
              <a:rPr sz="1200" b="0" i="0">
                <a:solidFill>
                  <a:srgbClr val="5B6879"/>
                </a:solidFill>
                <a:latin typeface="Calibri"/>
              </a:rPr>
              <a:t>10 000 photos étiquetées</a:t>
            </a:r>
          </a:p>
        </p:txBody>
      </p:sp>
      <p:sp>
        <p:nvSpPr>
          <p:cNvPr id="13" name="TextBox 12"/>
          <p:cNvSpPr txBox="1"/>
          <p:nvPr/>
        </p:nvSpPr>
        <p:spPr>
          <a:xfrm>
            <a:off x="3186684"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4" name="Rounded Rectangle 13"/>
          <p:cNvSpPr/>
          <p:nvPr/>
        </p:nvSpPr>
        <p:spPr>
          <a:xfrm>
            <a:off x="3570732" y="3337560"/>
            <a:ext cx="2318004" cy="123444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MOTIF</a:t>
            </a:r>
          </a:p>
          <a:p>
            <a:pPr algn="ctr">
              <a:lnSpc>
                <a:spcPct val="100000"/>
              </a:lnSpc>
              <a:spcBef>
                <a:spcPts val="300"/>
              </a:spcBef>
              <a:spcAft>
                <a:spcPts val="0"/>
              </a:spcAft>
            </a:pPr>
            <a:r>
              <a:rPr sz="1200" b="0" i="0">
                <a:solidFill>
                  <a:srgbClr val="5B6879"/>
                </a:solidFill>
                <a:latin typeface="Calibri"/>
              </a:rPr>
              <a:t>des chats ont des oreilles pointues</a:t>
            </a:r>
          </a:p>
        </p:txBody>
      </p:sp>
      <p:sp>
        <p:nvSpPr>
          <p:cNvPr id="15" name="TextBox 14"/>
          <p:cNvSpPr txBox="1"/>
          <p:nvPr/>
        </p:nvSpPr>
        <p:spPr>
          <a:xfrm>
            <a:off x="5888736"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6" name="Rounded Rectangle 15"/>
          <p:cNvSpPr/>
          <p:nvPr/>
        </p:nvSpPr>
        <p:spPr>
          <a:xfrm>
            <a:off x="6272784" y="3337560"/>
            <a:ext cx="2318004" cy="123444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PRÉDICTION</a:t>
            </a:r>
          </a:p>
          <a:p>
            <a:pPr algn="ctr">
              <a:lnSpc>
                <a:spcPct val="100000"/>
              </a:lnSpc>
              <a:spcBef>
                <a:spcPts val="300"/>
              </a:spcBef>
              <a:spcAft>
                <a:spcPts val="0"/>
              </a:spcAft>
            </a:pPr>
            <a:r>
              <a:rPr sz="1200" b="0" i="0">
                <a:solidFill>
                  <a:srgbClr val="5B6879"/>
                </a:solidFill>
                <a:latin typeface="Calibri"/>
              </a:rPr>
              <a:t>cette image est un chat : 92 %</a:t>
            </a:r>
          </a:p>
        </p:txBody>
      </p:sp>
      <p:sp>
        <p:nvSpPr>
          <p:cNvPr id="17" name="TextBox 16"/>
          <p:cNvSpPr txBox="1"/>
          <p:nvPr/>
        </p:nvSpPr>
        <p:spPr>
          <a:xfrm>
            <a:off x="8590788"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8" name="Rounded Rectangle 17"/>
          <p:cNvSpPr/>
          <p:nvPr/>
        </p:nvSpPr>
        <p:spPr>
          <a:xfrm>
            <a:off x="8974836" y="3337560"/>
            <a:ext cx="2318004" cy="123444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DÉCISION</a:t>
            </a:r>
          </a:p>
          <a:p>
            <a:pPr algn="ctr">
              <a:lnSpc>
                <a:spcPct val="100000"/>
              </a:lnSpc>
              <a:spcBef>
                <a:spcPts val="300"/>
              </a:spcBef>
              <a:spcAft>
                <a:spcPts val="0"/>
              </a:spcAft>
            </a:pPr>
            <a:r>
              <a:rPr sz="1200" b="0" i="0">
                <a:solidFill>
                  <a:srgbClr val="5B6879"/>
                </a:solidFill>
                <a:latin typeface="Calibri"/>
              </a:rPr>
              <a:t>je le classe « chat »</a:t>
            </a:r>
          </a:p>
        </p:txBody>
      </p:sp>
      <p:sp>
        <p:nvSpPr>
          <p:cNvPr id="19" name="TextBox 18"/>
          <p:cNvSpPr txBox="1"/>
          <p:nvPr/>
        </p:nvSpPr>
        <p:spPr>
          <a:xfrm>
            <a:off x="868680" y="4846320"/>
            <a:ext cx="10424160" cy="868680"/>
          </a:xfrm>
          <a:prstGeom prst="rect">
            <a:avLst/>
          </a:prstGeom>
          <a:noFill/>
        </p:spPr>
        <p:txBody>
          <a:bodyPr wrap="square" lIns="0" rIns="0" tIns="0" bIns="0" anchor="t">
            <a:spAutoFit/>
          </a:bodyPr>
          <a:lstStyle/>
          <a:p>
            <a:pPr algn="l">
              <a:lnSpc>
                <a:spcPct val="120000"/>
              </a:lnSpc>
              <a:spcBef>
                <a:spcPts val="0"/>
              </a:spcBef>
              <a:spcAft>
                <a:spcPts val="0"/>
              </a:spcAft>
            </a:pPr>
            <a:r>
              <a:rPr sz="1500" b="1" i="0">
                <a:solidFill>
                  <a:srgbClr val="122A4F"/>
                </a:solidFill>
                <a:latin typeface="Calibri"/>
              </a:rPr>
              <a:t>Le mot à retenir : </a:t>
            </a:r>
            <a:r>
              <a:rPr sz="1500" b="0" i="0">
                <a:solidFill>
                  <a:srgbClr val="1B2433"/>
                </a:solidFill>
                <a:latin typeface="Calibri"/>
              </a:rPr>
              <a:t>ce qui compte n'est pas la machine, c'est la qualité des exemples. Deux mille bons exemples valent mieux que cent mille mauvais.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9</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Le même mécanisme, cinq fois par jour</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12</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Rien de nouveau dans chaque ligne : uniquement le même enchaînement, avec des données différentes.</a:t>
            </a:r>
          </a:p>
        </p:txBody>
      </p:sp>
      <p:sp>
        <p:nvSpPr>
          <p:cNvPr id="12" name="Rectangle 11"/>
          <p:cNvSpPr/>
          <p:nvPr/>
        </p:nvSpPr>
        <p:spPr>
          <a:xfrm>
            <a:off x="685800" y="3246120"/>
            <a:ext cx="3950207"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246120"/>
            <a:ext cx="3730752"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Ce que tu fais</a:t>
            </a:r>
          </a:p>
        </p:txBody>
      </p:sp>
      <p:sp>
        <p:nvSpPr>
          <p:cNvPr id="14" name="Rectangle 13"/>
          <p:cNvSpPr/>
          <p:nvPr/>
        </p:nvSpPr>
        <p:spPr>
          <a:xfrm>
            <a:off x="4663440" y="3246120"/>
            <a:ext cx="3493008"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3246120"/>
            <a:ext cx="3273552"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Ce que la machine a vu</a:t>
            </a:r>
          </a:p>
        </p:txBody>
      </p:sp>
      <p:sp>
        <p:nvSpPr>
          <p:cNvPr id="16" name="Rectangle 15"/>
          <p:cNvSpPr/>
          <p:nvPr/>
        </p:nvSpPr>
        <p:spPr>
          <a:xfrm>
            <a:off x="8183879" y="3246120"/>
            <a:ext cx="3291840"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7" y="3246120"/>
            <a:ext cx="3072384"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Ce qu'elle prédit</a:t>
            </a:r>
          </a:p>
        </p:txBody>
      </p:sp>
      <p:sp>
        <p:nvSpPr>
          <p:cNvPr id="18" name="Rectangle 17"/>
          <p:cNvSpPr/>
          <p:nvPr/>
        </p:nvSpPr>
        <p:spPr>
          <a:xfrm>
            <a:off x="685800" y="3596640"/>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3596640"/>
            <a:ext cx="37307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Reconnaître un visage au portail</a:t>
            </a:r>
          </a:p>
        </p:txBody>
      </p:sp>
      <p:sp>
        <p:nvSpPr>
          <p:cNvPr id="20" name="TextBox 19"/>
          <p:cNvSpPr txBox="1"/>
          <p:nvPr/>
        </p:nvSpPr>
        <p:spPr>
          <a:xfrm>
            <a:off x="4773168" y="3596640"/>
            <a:ext cx="3273552" cy="323087"/>
          </a:xfrm>
          <a:prstGeom prst="rect">
            <a:avLst/>
          </a:prstGeom>
          <a:noFill/>
        </p:spPr>
        <p:txBody>
          <a:bodyPr wrap="square" lIns="0" rIns="0" tIns="0" bIns="0" anchor="ctr">
            <a:spAutoFit/>
          </a:bodyPr>
          <a:lstStyle/>
          <a:p>
            <a:pPr algn="l">
              <a:lnSpc>
                <a:spcPct val="105000"/>
              </a:lnSpc>
              <a:spcBef>
                <a:spcPts val="0"/>
              </a:spcBef>
              <a:spcAft>
                <a:spcPts val="0"/>
              </a:spcAft>
            </a:pPr>
            <a:r>
              <a:rPr sz="1200" b="0" i="0">
                <a:solidFill>
                  <a:srgbClr val="1B2433"/>
                </a:solidFill>
                <a:latin typeface="Calibri"/>
              </a:rPr>
              <a:t>des milliers de visages étiquetés</a:t>
            </a:r>
          </a:p>
        </p:txBody>
      </p:sp>
      <p:sp>
        <p:nvSpPr>
          <p:cNvPr id="21" name="TextBox 20"/>
          <p:cNvSpPr txBox="1"/>
          <p:nvPr/>
        </p:nvSpPr>
        <p:spPr>
          <a:xfrm>
            <a:off x="8293607" y="3596640"/>
            <a:ext cx="307238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c'est lui »</a:t>
            </a:r>
          </a:p>
        </p:txBody>
      </p:sp>
      <p:sp>
        <p:nvSpPr>
          <p:cNvPr id="22" name="Rectangle 21"/>
          <p:cNvSpPr/>
          <p:nvPr/>
        </p:nvSpPr>
        <p:spPr>
          <a:xfrm>
            <a:off x="685800" y="3947160"/>
            <a:ext cx="10817352" cy="323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947160"/>
            <a:ext cx="37307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Compléter ton message</a:t>
            </a:r>
          </a:p>
        </p:txBody>
      </p:sp>
      <p:sp>
        <p:nvSpPr>
          <p:cNvPr id="24" name="TextBox 23"/>
          <p:cNvSpPr txBox="1"/>
          <p:nvPr/>
        </p:nvSpPr>
        <p:spPr>
          <a:xfrm>
            <a:off x="4773168" y="3947160"/>
            <a:ext cx="32735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des milliards de phrases</a:t>
            </a:r>
          </a:p>
        </p:txBody>
      </p:sp>
      <p:sp>
        <p:nvSpPr>
          <p:cNvPr id="25" name="TextBox 24"/>
          <p:cNvSpPr txBox="1"/>
          <p:nvPr/>
        </p:nvSpPr>
        <p:spPr>
          <a:xfrm>
            <a:off x="8293607" y="3947160"/>
            <a:ext cx="307238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le mot « instituteur »</a:t>
            </a:r>
          </a:p>
        </p:txBody>
      </p:sp>
      <p:sp>
        <p:nvSpPr>
          <p:cNvPr id="26" name="Rectangle 25"/>
          <p:cNvSpPr/>
          <p:nvPr/>
        </p:nvSpPr>
        <p:spPr>
          <a:xfrm>
            <a:off x="685800" y="4297679"/>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4297679"/>
            <a:ext cx="37307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Choisir un itinéraire</a:t>
            </a:r>
          </a:p>
        </p:txBody>
      </p:sp>
      <p:sp>
        <p:nvSpPr>
          <p:cNvPr id="28" name="TextBox 27"/>
          <p:cNvSpPr txBox="1"/>
          <p:nvPr/>
        </p:nvSpPr>
        <p:spPr>
          <a:xfrm>
            <a:off x="4773168" y="4297679"/>
            <a:ext cx="3273552" cy="323087"/>
          </a:xfrm>
          <a:prstGeom prst="rect">
            <a:avLst/>
          </a:prstGeom>
          <a:noFill/>
        </p:spPr>
        <p:txBody>
          <a:bodyPr wrap="square" lIns="0" rIns="0" tIns="0" bIns="0" anchor="ctr">
            <a:spAutoFit/>
          </a:bodyPr>
          <a:lstStyle/>
          <a:p>
            <a:pPr algn="l">
              <a:lnSpc>
                <a:spcPct val="105000"/>
              </a:lnSpc>
              <a:spcBef>
                <a:spcPts val="0"/>
              </a:spcBef>
              <a:spcAft>
                <a:spcPts val="0"/>
              </a:spcAft>
            </a:pPr>
            <a:r>
              <a:rPr sz="1000" b="0" i="0">
                <a:solidFill>
                  <a:srgbClr val="1B2433"/>
                </a:solidFill>
                <a:latin typeface="Calibri"/>
              </a:rPr>
              <a:t>des millions de trajets et leurs temps</a:t>
            </a:r>
          </a:p>
        </p:txBody>
      </p:sp>
      <p:sp>
        <p:nvSpPr>
          <p:cNvPr id="29" name="TextBox 28"/>
          <p:cNvSpPr txBox="1"/>
          <p:nvPr/>
        </p:nvSpPr>
        <p:spPr>
          <a:xfrm>
            <a:off x="8293607" y="4297679"/>
            <a:ext cx="307238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20 min via la RN1</a:t>
            </a:r>
          </a:p>
        </p:txBody>
      </p:sp>
      <p:sp>
        <p:nvSpPr>
          <p:cNvPr id="30" name="Rectangle 29"/>
          <p:cNvSpPr/>
          <p:nvPr/>
        </p:nvSpPr>
        <p:spPr>
          <a:xfrm>
            <a:off x="685800" y="4648200"/>
            <a:ext cx="10817352" cy="323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4648200"/>
            <a:ext cx="37307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Photographier une pièce à payer</a:t>
            </a:r>
          </a:p>
        </p:txBody>
      </p:sp>
      <p:sp>
        <p:nvSpPr>
          <p:cNvPr id="32" name="TextBox 31"/>
          <p:cNvSpPr txBox="1"/>
          <p:nvPr/>
        </p:nvSpPr>
        <p:spPr>
          <a:xfrm>
            <a:off x="4773168" y="4648200"/>
            <a:ext cx="32735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des millions de factures</a:t>
            </a:r>
          </a:p>
        </p:txBody>
      </p:sp>
      <p:sp>
        <p:nvSpPr>
          <p:cNvPr id="33" name="TextBox 32"/>
          <p:cNvSpPr txBox="1"/>
          <p:nvPr/>
        </p:nvSpPr>
        <p:spPr>
          <a:xfrm>
            <a:off x="8293607" y="4648200"/>
            <a:ext cx="307238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le montant de la ligne 4</a:t>
            </a:r>
          </a:p>
        </p:txBody>
      </p:sp>
      <p:sp>
        <p:nvSpPr>
          <p:cNvPr id="34" name="Rectangle 33"/>
          <p:cNvSpPr/>
          <p:nvPr/>
        </p:nvSpPr>
        <p:spPr>
          <a:xfrm>
            <a:off x="685800" y="4998720"/>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998720"/>
            <a:ext cx="373075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Filtrer un pourriel</a:t>
            </a:r>
          </a:p>
        </p:txBody>
      </p:sp>
      <p:sp>
        <p:nvSpPr>
          <p:cNvPr id="36" name="TextBox 35"/>
          <p:cNvSpPr txBox="1"/>
          <p:nvPr/>
        </p:nvSpPr>
        <p:spPr>
          <a:xfrm>
            <a:off x="4773168" y="4998720"/>
            <a:ext cx="3273552" cy="323087"/>
          </a:xfrm>
          <a:prstGeom prst="rect">
            <a:avLst/>
          </a:prstGeom>
          <a:noFill/>
        </p:spPr>
        <p:txBody>
          <a:bodyPr wrap="square" lIns="0" rIns="0" tIns="0" bIns="0" anchor="ctr">
            <a:spAutoFit/>
          </a:bodyPr>
          <a:lstStyle/>
          <a:p>
            <a:pPr algn="l">
              <a:lnSpc>
                <a:spcPct val="105000"/>
              </a:lnSpc>
              <a:spcBef>
                <a:spcPts val="0"/>
              </a:spcBef>
              <a:spcAft>
                <a:spcPts val="0"/>
              </a:spcAft>
            </a:pPr>
            <a:r>
              <a:rPr sz="1200" b="0" i="0">
                <a:solidFill>
                  <a:srgbClr val="1B2433"/>
                </a:solidFill>
                <a:latin typeface="Calibri"/>
              </a:rPr>
              <a:t>des milliards de messages classés</a:t>
            </a:r>
          </a:p>
        </p:txBody>
      </p:sp>
      <p:sp>
        <p:nvSpPr>
          <p:cNvPr id="37" name="TextBox 36"/>
          <p:cNvSpPr txBox="1"/>
          <p:nvPr/>
        </p:nvSpPr>
        <p:spPr>
          <a:xfrm>
            <a:off x="8293607" y="4998720"/>
            <a:ext cx="307238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probabilité de spam : 99 %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10</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Pourquoi l'IA se trompe</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13</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Trois causes suffisent à expliquer presque toutes les erreurs. Aucune n'est un bug : ce sont les conséquences directes du mécanisme.</a:t>
            </a:r>
          </a:p>
        </p:txBody>
      </p:sp>
      <p:sp>
        <p:nvSpPr>
          <p:cNvPr id="12" name="Rounded Rectangle 11"/>
          <p:cNvSpPr/>
          <p:nvPr/>
        </p:nvSpPr>
        <p:spPr>
          <a:xfrm>
            <a:off x="685800" y="3291840"/>
            <a:ext cx="3496056"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Données insuffisantes</a:t>
            </a:r>
          </a:p>
          <a:p>
            <a:pPr algn="ctr">
              <a:lnSpc>
                <a:spcPct val="112000"/>
              </a:lnSpc>
              <a:spcBef>
                <a:spcPts val="0"/>
              </a:spcBef>
              <a:spcAft>
                <a:spcPts val="100"/>
              </a:spcAft>
            </a:pPr>
            <a:r>
              <a:rPr sz="1200" b="0" i="0">
                <a:solidFill>
                  <a:srgbClr val="5B6879"/>
                </a:solidFill>
                <a:latin typeface="Calibri"/>
              </a:rPr>
              <a:t>vu 100 chats roux, il ne reconnaît pas un chat noir</a:t>
            </a:r>
          </a:p>
        </p:txBody>
      </p:sp>
      <p:sp>
        <p:nvSpPr>
          <p:cNvPr id="13" name="Rounded Rectangle 12"/>
          <p:cNvSpPr/>
          <p:nvPr/>
        </p:nvSpPr>
        <p:spPr>
          <a:xfrm>
            <a:off x="4346448" y="3291840"/>
            <a:ext cx="3496056"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Cas rares</a:t>
            </a:r>
          </a:p>
          <a:p>
            <a:pPr algn="ctr">
              <a:lnSpc>
                <a:spcPct val="112000"/>
              </a:lnSpc>
              <a:spcBef>
                <a:spcPts val="0"/>
              </a:spcBef>
              <a:spcAft>
                <a:spcPts val="100"/>
              </a:spcAft>
            </a:pPr>
            <a:r>
              <a:rPr sz="1200" b="0" i="0">
                <a:solidFill>
                  <a:srgbClr val="5B6879"/>
                </a:solidFill>
                <a:latin typeface="Calibri"/>
              </a:rPr>
              <a:t>vu 10 000 photos mais aucun cas de panne rare</a:t>
            </a:r>
          </a:p>
        </p:txBody>
      </p:sp>
      <p:sp>
        <p:nvSpPr>
          <p:cNvPr id="14" name="Rounded Rectangle 13"/>
          <p:cNvSpPr/>
          <p:nvPr/>
        </p:nvSpPr>
        <p:spPr>
          <a:xfrm>
            <a:off x="8007096" y="3291840"/>
            <a:ext cx="3496056"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Bonne réponse à la mauvaise question</a:t>
            </a:r>
          </a:p>
          <a:p>
            <a:pPr algn="ctr">
              <a:lnSpc>
                <a:spcPct val="112000"/>
              </a:lnSpc>
              <a:spcBef>
                <a:spcPts val="0"/>
              </a:spcBef>
              <a:spcAft>
                <a:spcPts val="100"/>
              </a:spcAft>
            </a:pPr>
            <a:r>
              <a:rPr sz="1200" b="0" i="0">
                <a:solidFill>
                  <a:srgbClr val="5B6879"/>
                </a:solidFill>
                <a:latin typeface="Calibri"/>
              </a:rPr>
              <a:t>une réponse convaincante sur une question mal posée</a:t>
            </a:r>
          </a:p>
        </p:txBody>
      </p:sp>
      <p:sp>
        <p:nvSpPr>
          <p:cNvPr id="15" name="TextBox 14"/>
          <p:cNvSpPr txBox="1"/>
          <p:nvPr/>
        </p:nvSpPr>
        <p:spPr>
          <a:xfrm>
            <a:off x="777240" y="5212080"/>
            <a:ext cx="10634472" cy="502920"/>
          </a:xfrm>
          <a:prstGeom prst="rect">
            <a:avLst/>
          </a:prstGeom>
          <a:noFill/>
        </p:spPr>
        <p:txBody>
          <a:bodyPr wrap="square" lIns="0" rIns="0" tIns="0" bIns="0" anchor="t">
            <a:spAutoFit/>
          </a:bodyPr>
          <a:lstStyle/>
          <a:p>
            <a:pPr algn="l">
              <a:lnSpc>
                <a:spcPct val="112000"/>
              </a:lnSpc>
              <a:spcBef>
                <a:spcPts val="0"/>
              </a:spcBef>
              <a:spcAft>
                <a:spcPts val="0"/>
              </a:spcAft>
            </a:pPr>
            <a:r>
              <a:rPr sz="1500" b="1" i="0">
                <a:solidFill>
                  <a:srgbClr val="122A4F"/>
                </a:solidFill>
                <a:latin typeface="Calibri"/>
              </a:rPr>
              <a:t>Conséquence : </a:t>
            </a:r>
            <a:r>
              <a:rPr sz="1500" b="0" i="0">
                <a:solidFill>
                  <a:srgbClr val="1B2433"/>
                </a:solidFill>
                <a:latin typeface="Calibri"/>
              </a:rPr>
              <a:t>une erreur n'est pas un échec de l'IA. C'est la conséquence logique de données insuffisantes. D'où la règle : toujours vérifier.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11</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Ce que l'IA ne fait pas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14</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Quatre limites qui restent valables, quels que soient les progrès : elles découlent du mécanisme, pas de la puissance de la machine.</a:t>
            </a:r>
          </a:p>
        </p:txBody>
      </p:sp>
      <p:sp>
        <p:nvSpPr>
          <p:cNvPr id="12" name="Rounded Rectangle 11"/>
          <p:cNvSpPr/>
          <p:nvPr/>
        </p:nvSpPr>
        <p:spPr>
          <a:xfrm>
            <a:off x="685800" y="3383280"/>
            <a:ext cx="2580894" cy="2816352"/>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Elle ne comprend pas</a:t>
            </a:r>
          </a:p>
          <a:p>
            <a:pPr algn="ctr">
              <a:lnSpc>
                <a:spcPct val="112000"/>
              </a:lnSpc>
              <a:spcBef>
                <a:spcPts val="0"/>
              </a:spcBef>
              <a:spcAft>
                <a:spcPts val="100"/>
              </a:spcAft>
            </a:pPr>
            <a:r>
              <a:rPr sz="1200" b="0" i="0">
                <a:solidFill>
                  <a:srgbClr val="5B6879"/>
                </a:solidFill>
                <a:latin typeface="Calibri"/>
              </a:rPr>
              <a:t>elle mesure des ressemblances, elle ne saisit pas l'intention</a:t>
            </a:r>
          </a:p>
        </p:txBody>
      </p:sp>
      <p:sp>
        <p:nvSpPr>
          <p:cNvPr id="13" name="Rounded Rectangle 12"/>
          <p:cNvSpPr/>
          <p:nvPr/>
        </p:nvSpPr>
        <p:spPr>
          <a:xfrm>
            <a:off x="3431286" y="3383280"/>
            <a:ext cx="2580894" cy="2816352"/>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Elle n'a pas de mémoire fiable</a:t>
            </a:r>
          </a:p>
          <a:p>
            <a:pPr algn="ctr">
              <a:lnSpc>
                <a:spcPct val="112000"/>
              </a:lnSpc>
              <a:spcBef>
                <a:spcPts val="0"/>
              </a:spcBef>
              <a:spcAft>
                <a:spcPts val="100"/>
              </a:spcAft>
            </a:pPr>
            <a:r>
              <a:rPr sz="1200" b="0" i="0">
                <a:solidFill>
                  <a:srgbClr val="5B6879"/>
                </a:solidFill>
                <a:latin typeface="Calibri"/>
              </a:rPr>
              <a:t>tout ce qui n'est pas dans la fenêtre de conversation est oublié</a:t>
            </a:r>
          </a:p>
        </p:txBody>
      </p:sp>
      <p:sp>
        <p:nvSpPr>
          <p:cNvPr id="14" name="Rounded Rectangle 13"/>
          <p:cNvSpPr/>
          <p:nvPr/>
        </p:nvSpPr>
        <p:spPr>
          <a:xfrm>
            <a:off x="6176772" y="3383280"/>
            <a:ext cx="2580894" cy="2816352"/>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Elle n'a pas conscience</a:t>
            </a:r>
          </a:p>
          <a:p>
            <a:pPr algn="ctr">
              <a:lnSpc>
                <a:spcPct val="112000"/>
              </a:lnSpc>
              <a:spcBef>
                <a:spcPts val="0"/>
              </a:spcBef>
              <a:spcAft>
                <a:spcPts val="100"/>
              </a:spcAft>
            </a:pPr>
            <a:r>
              <a:rPr sz="1200" b="0" i="0">
                <a:solidFill>
                  <a:srgbClr val="5B6879"/>
                </a:solidFill>
                <a:latin typeface="Calibri"/>
              </a:rPr>
              <a:t>aucune expérience vécue, aucune intention propre</a:t>
            </a:r>
          </a:p>
        </p:txBody>
      </p:sp>
      <p:sp>
        <p:nvSpPr>
          <p:cNvPr id="15" name="Rounded Rectangle 14"/>
          <p:cNvSpPr/>
          <p:nvPr/>
        </p:nvSpPr>
        <p:spPr>
          <a:xfrm>
            <a:off x="8922258" y="3383280"/>
            <a:ext cx="2580894" cy="2816352"/>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Elle n'est pas sourde aux biais</a:t>
            </a:r>
          </a:p>
          <a:p>
            <a:pPr algn="ctr">
              <a:lnSpc>
                <a:spcPct val="112000"/>
              </a:lnSpc>
              <a:spcBef>
                <a:spcPts val="0"/>
              </a:spcBef>
              <a:spcAft>
                <a:spcPts val="100"/>
              </a:spcAft>
            </a:pPr>
            <a:r>
              <a:rPr sz="1200" b="0" i="0">
                <a:solidFill>
                  <a:srgbClr val="5B6879"/>
                </a:solidFill>
                <a:latin typeface="Calibri"/>
              </a:rPr>
              <a:t>elle reproduit les biais présents dans ses données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
            <a:ext cx="12191695" cy="581558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74519"/>
            <a:ext cx="960120" cy="960120"/>
          </a:xfrm>
          <a:prstGeom prst="roundRect">
            <a:avLst>
              <a:gd name="adj" fmla="val 50000"/>
            </a:avLst>
          </a:prstGeom>
          <a:solidFill>
            <a:srgbClr val="1A3864"/>
          </a:solidFill>
          <a:ln w="254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960120" cy="960120"/>
          </a:xfrm>
          <a:prstGeom prst="rect">
            <a:avLst/>
          </a:prstGeom>
          <a:noFill/>
        </p:spPr>
        <p:txBody>
          <a:bodyPr wrap="square" lIns="0" rIns="0" tIns="0" bIns="0" anchor="ctr">
            <a:spAutoFit/>
          </a:bodyPr>
          <a:lstStyle/>
          <a:p>
            <a:pPr algn="ctr">
              <a:lnSpc>
                <a:spcPct val="112000"/>
              </a:lnSpc>
              <a:spcBef>
                <a:spcPts val="0"/>
              </a:spcBef>
              <a:spcAft>
                <a:spcPts val="0"/>
              </a:spcAft>
            </a:pPr>
            <a:r>
              <a:rPr sz="3000" b="1" i="0">
                <a:solidFill>
                  <a:srgbClr val="FFFFFF"/>
                </a:solidFill>
                <a:latin typeface="Calibri"/>
              </a:rPr>
              <a:t>3</a:t>
            </a:r>
          </a:p>
        </p:txBody>
      </p:sp>
      <p:sp>
        <p:nvSpPr>
          <p:cNvPr id="6" name="TextBox 5"/>
          <p:cNvSpPr txBox="1"/>
          <p:nvPr/>
        </p:nvSpPr>
        <p:spPr>
          <a:xfrm>
            <a:off x="2240280" y="1874519"/>
            <a:ext cx="8595360" cy="960120"/>
          </a:xfrm>
          <a:prstGeom prst="rect">
            <a:avLst/>
          </a:prstGeom>
          <a:noFill/>
        </p:spPr>
        <p:txBody>
          <a:bodyPr wrap="square" lIns="0" rIns="0" tIns="0" bIns="0" anchor="ctr">
            <a:spAutoFit/>
          </a:bodyPr>
          <a:lstStyle/>
          <a:p>
            <a:pPr algn="l">
              <a:lnSpc>
                <a:spcPct val="112000"/>
              </a:lnSpc>
              <a:spcBef>
                <a:spcPts val="0"/>
              </a:spcBef>
              <a:spcAft>
                <a:spcPts val="0"/>
              </a:spcAft>
            </a:pPr>
            <a:r>
              <a:rPr sz="3400" b="1" i="0">
                <a:solidFill>
                  <a:srgbClr val="FFFFFF"/>
                </a:solidFill>
                <a:latin typeface="Calibri"/>
              </a:rPr>
              <a:t>Les familles d'outils</a:t>
            </a:r>
          </a:p>
        </p:txBody>
      </p:sp>
      <p:sp>
        <p:nvSpPr>
          <p:cNvPr id="7" name="TextBox 6"/>
          <p:cNvSpPr txBox="1"/>
          <p:nvPr/>
        </p:nvSpPr>
        <p:spPr>
          <a:xfrm>
            <a:off x="1005840" y="3154680"/>
            <a:ext cx="10149840" cy="1280160"/>
          </a:xfrm>
          <a:prstGeom prst="rect">
            <a:avLst/>
          </a:prstGeom>
          <a:noFill/>
        </p:spPr>
        <p:txBody>
          <a:bodyPr wrap="square" lIns="0" rIns="0" tIns="0" bIns="0" anchor="t">
            <a:spAutoFit/>
          </a:bodyPr>
          <a:lstStyle/>
          <a:p>
            <a:pPr algn="l">
              <a:lnSpc>
                <a:spcPct val="125000"/>
              </a:lnSpc>
              <a:spcBef>
                <a:spcPts val="0"/>
              </a:spcBef>
              <a:spcAft>
                <a:spcPts val="1000"/>
              </a:spcAft>
            </a:pPr>
            <a:r>
              <a:rPr sz="1700" b="0" i="0">
                <a:solidFill>
                  <a:srgbClr val="FFFFFF"/>
                </a:solidFill>
                <a:latin typeface="Calibri"/>
              </a:rPr>
              <a:t>Six familles, cinq façons de raisonner, et une frontière récente : les agents, qui n'écrivent plus des phrases mais des fichiers.</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La grille des 6 familles</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La boucle des agents</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Cursor et OpenCode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Cinq modèles de raisonnement</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12</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Six familles d'outils, six usages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16</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Le nom du produit change tous les trois mois. La famille, elle, ne change pas — et c'est elle qui détermine ce que l'outil peut faire pour vous.</a:t>
            </a:r>
          </a:p>
        </p:txBody>
      </p:sp>
      <p:sp>
        <p:nvSpPr>
          <p:cNvPr id="12" name="Rounded Rectangle 11"/>
          <p:cNvSpPr/>
          <p:nvPr/>
        </p:nvSpPr>
        <p:spPr>
          <a:xfrm>
            <a:off x="685800" y="3291840"/>
            <a:ext cx="3496056" cy="137160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Conversation</a:t>
            </a:r>
          </a:p>
          <a:p>
            <a:pPr algn="ctr">
              <a:lnSpc>
                <a:spcPct val="112000"/>
              </a:lnSpc>
              <a:spcBef>
                <a:spcPts val="0"/>
              </a:spcBef>
              <a:spcAft>
                <a:spcPts val="100"/>
              </a:spcAft>
            </a:pPr>
            <a:r>
              <a:rPr sz="1200" b="0" i="0">
                <a:solidFill>
                  <a:srgbClr val="5B6879"/>
                </a:solidFill>
                <a:latin typeface="Calibri"/>
              </a:rPr>
              <a:t>ChatGPT, Claude,</a:t>
            </a:r>
          </a:p>
          <a:p>
            <a:pPr algn="ctr">
              <a:lnSpc>
                <a:spcPct val="112000"/>
              </a:lnSpc>
              <a:spcBef>
                <a:spcPts val="0"/>
              </a:spcBef>
              <a:spcAft>
                <a:spcPts val="100"/>
              </a:spcAft>
            </a:pPr>
            <a:r>
              <a:rPr sz="1200" b="0" i="0">
                <a:solidFill>
                  <a:srgbClr val="5B6879"/>
                </a:solidFill>
                <a:latin typeface="Calibri"/>
              </a:rPr>
              <a:t>Gemini, DeepSeek, Grok</a:t>
            </a:r>
          </a:p>
          <a:p>
            <a:pPr algn="ctr">
              <a:lnSpc>
                <a:spcPct val="112000"/>
              </a:lnSpc>
              <a:spcBef>
                <a:spcPts val="0"/>
              </a:spcBef>
              <a:spcAft>
                <a:spcPts val="100"/>
              </a:spcAft>
            </a:pPr>
            <a:r>
              <a:rPr sz="1200" b="0" i="0">
                <a:solidFill>
                  <a:srgbClr val="5B6879"/>
                </a:solidFill>
                <a:latin typeface="Calibri"/>
              </a:rPr>
              <a:t>répond en texte</a:t>
            </a:r>
          </a:p>
        </p:txBody>
      </p:sp>
      <p:sp>
        <p:nvSpPr>
          <p:cNvPr id="13" name="Rounded Rectangle 12"/>
          <p:cNvSpPr/>
          <p:nvPr/>
        </p:nvSpPr>
        <p:spPr>
          <a:xfrm>
            <a:off x="4346448" y="3291840"/>
            <a:ext cx="3496056" cy="137160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Recherche</a:t>
            </a:r>
          </a:p>
          <a:p>
            <a:pPr algn="ctr">
              <a:lnSpc>
                <a:spcPct val="112000"/>
              </a:lnSpc>
              <a:spcBef>
                <a:spcPts val="0"/>
              </a:spcBef>
              <a:spcAft>
                <a:spcPts val="100"/>
              </a:spcAft>
            </a:pPr>
            <a:r>
              <a:rPr sz="1200" b="0" i="0">
                <a:solidFill>
                  <a:srgbClr val="5B6879"/>
                </a:solidFill>
                <a:latin typeface="Calibri"/>
              </a:rPr>
              <a:t>Perplexity, Google IA</a:t>
            </a:r>
          </a:p>
          <a:p>
            <a:pPr algn="ctr">
              <a:lnSpc>
                <a:spcPct val="112000"/>
              </a:lnSpc>
              <a:spcBef>
                <a:spcPts val="0"/>
              </a:spcBef>
              <a:spcAft>
                <a:spcPts val="100"/>
              </a:spcAft>
            </a:pPr>
            <a:r>
              <a:rPr sz="1200" b="0" i="0">
                <a:solidFill>
                  <a:srgbClr val="5B6879"/>
                </a:solidFill>
                <a:latin typeface="Calibri"/>
              </a:rPr>
              <a:t>cite ses sources</a:t>
            </a:r>
          </a:p>
        </p:txBody>
      </p:sp>
      <p:sp>
        <p:nvSpPr>
          <p:cNvPr id="14" name="Rounded Rectangle 13"/>
          <p:cNvSpPr/>
          <p:nvPr/>
        </p:nvSpPr>
        <p:spPr>
          <a:xfrm>
            <a:off x="8007096" y="3291840"/>
            <a:ext cx="3496056" cy="137160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Image et vidéo</a:t>
            </a:r>
          </a:p>
          <a:p>
            <a:pPr algn="ctr">
              <a:lnSpc>
                <a:spcPct val="112000"/>
              </a:lnSpc>
              <a:spcBef>
                <a:spcPts val="0"/>
              </a:spcBef>
              <a:spcAft>
                <a:spcPts val="100"/>
              </a:spcAft>
            </a:pPr>
            <a:r>
              <a:rPr sz="1200" b="0" i="0">
                <a:solidFill>
                  <a:srgbClr val="5B6879"/>
                </a:solidFill>
                <a:latin typeface="Calibri"/>
              </a:rPr>
              <a:t>Midjourney, Runway, Firefly</a:t>
            </a:r>
          </a:p>
          <a:p>
            <a:pPr algn="ctr">
              <a:lnSpc>
                <a:spcPct val="112000"/>
              </a:lnSpc>
              <a:spcBef>
                <a:spcPts val="0"/>
              </a:spcBef>
              <a:spcAft>
                <a:spcPts val="100"/>
              </a:spcAft>
            </a:pPr>
            <a:r>
              <a:rPr sz="1200" b="0" i="0">
                <a:solidFill>
                  <a:srgbClr val="5B6879"/>
                </a:solidFill>
                <a:latin typeface="Calibri"/>
              </a:rPr>
              <a:t>crée et édite</a:t>
            </a:r>
          </a:p>
        </p:txBody>
      </p:sp>
      <p:sp>
        <p:nvSpPr>
          <p:cNvPr id="15" name="Rounded Rectangle 14"/>
          <p:cNvSpPr/>
          <p:nvPr/>
        </p:nvSpPr>
        <p:spPr>
          <a:xfrm>
            <a:off x="685800" y="4828032"/>
            <a:ext cx="3496056" cy="137160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Voix et audio</a:t>
            </a:r>
          </a:p>
          <a:p>
            <a:pPr algn="ctr">
              <a:lnSpc>
                <a:spcPct val="112000"/>
              </a:lnSpc>
              <a:spcBef>
                <a:spcPts val="0"/>
              </a:spcBef>
              <a:spcAft>
                <a:spcPts val="100"/>
              </a:spcAft>
            </a:pPr>
            <a:r>
              <a:rPr sz="1200" b="0" i="0">
                <a:solidFill>
                  <a:srgbClr val="5B6879"/>
                </a:solidFill>
                <a:latin typeface="Calibri"/>
              </a:rPr>
              <a:t>Whisper, ElevenLabs</a:t>
            </a:r>
          </a:p>
          <a:p>
            <a:pPr algn="ctr">
              <a:lnSpc>
                <a:spcPct val="112000"/>
              </a:lnSpc>
              <a:spcBef>
                <a:spcPts val="0"/>
              </a:spcBef>
              <a:spcAft>
                <a:spcPts val="100"/>
              </a:spcAft>
            </a:pPr>
            <a:r>
              <a:rPr sz="1200" b="0" i="0">
                <a:solidFill>
                  <a:srgbClr val="5B6879"/>
                </a:solidFill>
                <a:latin typeface="Calibri"/>
              </a:rPr>
              <a:t>transcrit, imite</a:t>
            </a:r>
          </a:p>
        </p:txBody>
      </p:sp>
      <p:sp>
        <p:nvSpPr>
          <p:cNvPr id="16" name="Rounded Rectangle 15"/>
          <p:cNvSpPr/>
          <p:nvPr/>
        </p:nvSpPr>
        <p:spPr>
          <a:xfrm>
            <a:off x="4346448" y="4828032"/>
            <a:ext cx="3496056" cy="137160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Agents</a:t>
            </a:r>
          </a:p>
          <a:p>
            <a:pPr algn="ctr">
              <a:lnSpc>
                <a:spcPct val="112000"/>
              </a:lnSpc>
              <a:spcBef>
                <a:spcPts val="0"/>
              </a:spcBef>
              <a:spcAft>
                <a:spcPts val="100"/>
              </a:spcAft>
            </a:pPr>
            <a:r>
              <a:rPr sz="1200" b="0" i="0">
                <a:solidFill>
                  <a:srgbClr val="5B6879"/>
                </a:solidFill>
                <a:latin typeface="Calibri"/>
              </a:rPr>
              <a:t>Cursor, OpenCode,</a:t>
            </a:r>
          </a:p>
          <a:p>
            <a:pPr algn="ctr">
              <a:lnSpc>
                <a:spcPct val="112000"/>
              </a:lnSpc>
              <a:spcBef>
                <a:spcPts val="0"/>
              </a:spcBef>
              <a:spcAft>
                <a:spcPts val="100"/>
              </a:spcAft>
            </a:pPr>
            <a:r>
              <a:rPr sz="1200" b="0" i="0">
                <a:solidFill>
                  <a:srgbClr val="5B6879"/>
                </a:solidFill>
                <a:latin typeface="Calibri"/>
              </a:rPr>
              <a:t>Copilot, Claude Code</a:t>
            </a:r>
          </a:p>
          <a:p>
            <a:pPr algn="ctr">
              <a:lnSpc>
                <a:spcPct val="112000"/>
              </a:lnSpc>
              <a:spcBef>
                <a:spcPts val="0"/>
              </a:spcBef>
              <a:spcAft>
                <a:spcPts val="100"/>
              </a:spcAft>
            </a:pPr>
            <a:r>
              <a:rPr sz="1200" b="0" i="0">
                <a:solidFill>
                  <a:srgbClr val="5B6879"/>
                </a:solidFill>
                <a:latin typeface="Calibri"/>
              </a:rPr>
              <a:t>agit sur vos fichiers</a:t>
            </a:r>
          </a:p>
        </p:txBody>
      </p:sp>
      <p:sp>
        <p:nvSpPr>
          <p:cNvPr id="17" name="Rounded Rectangle 16"/>
          <p:cNvSpPr/>
          <p:nvPr/>
        </p:nvSpPr>
        <p:spPr>
          <a:xfrm>
            <a:off x="8007096" y="4828032"/>
            <a:ext cx="3496056" cy="1371600"/>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Locale</a:t>
            </a:r>
          </a:p>
          <a:p>
            <a:pPr algn="ctr">
              <a:lnSpc>
                <a:spcPct val="112000"/>
              </a:lnSpc>
              <a:spcBef>
                <a:spcPts val="0"/>
              </a:spcBef>
              <a:spcAft>
                <a:spcPts val="100"/>
              </a:spcAft>
            </a:pPr>
            <a:r>
              <a:rPr sz="1200" b="0" i="0">
                <a:solidFill>
                  <a:srgbClr val="5B6879"/>
                </a:solidFill>
                <a:latin typeface="Calibri"/>
              </a:rPr>
              <a:t>Ollama, modèles téléchargés</a:t>
            </a:r>
          </a:p>
          <a:p>
            <a:pPr algn="ctr">
              <a:lnSpc>
                <a:spcPct val="112000"/>
              </a:lnSpc>
              <a:spcBef>
                <a:spcPts val="0"/>
              </a:spcBef>
              <a:spcAft>
                <a:spcPts val="100"/>
              </a:spcAft>
            </a:pPr>
            <a:r>
              <a:rPr sz="1200" b="0" i="0">
                <a:solidFill>
                  <a:srgbClr val="5B6879"/>
                </a:solidFill>
                <a:latin typeface="Calibri"/>
              </a:rPr>
              <a:t>tourne chez vous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13</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L'agent ne répond pas, il agit</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17</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C'est la différence qui sépare un assistant de conversation d'un agent. Il ne rédige pas une phrase : il exécute une suite d'opérations sur vos fichiers.</a:t>
            </a:r>
          </a:p>
        </p:txBody>
      </p:sp>
      <p:sp>
        <p:nvSpPr>
          <p:cNvPr id="12" name="Rounded Rectangle 11"/>
          <p:cNvSpPr/>
          <p:nvPr/>
        </p:nvSpPr>
        <p:spPr>
          <a:xfrm>
            <a:off x="685800" y="3383280"/>
            <a:ext cx="2416302" cy="1280160"/>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1 · DEMANDE</a:t>
            </a:r>
          </a:p>
          <a:p>
            <a:pPr algn="ctr">
              <a:lnSpc>
                <a:spcPct val="100000"/>
              </a:lnSpc>
              <a:spcBef>
                <a:spcPts val="300"/>
              </a:spcBef>
              <a:spcAft>
                <a:spcPts val="0"/>
              </a:spcAft>
            </a:pPr>
            <a:r>
              <a:rPr sz="1200" b="0" i="0">
                <a:solidFill>
                  <a:srgbClr val="5B6879"/>
                </a:solidFill>
                <a:latin typeface="Calibri"/>
              </a:rPr>
              <a:t>« corrige ce script »</a:t>
            </a:r>
          </a:p>
        </p:txBody>
      </p:sp>
      <p:sp>
        <p:nvSpPr>
          <p:cNvPr id="13" name="TextBox 12"/>
          <p:cNvSpPr txBox="1"/>
          <p:nvPr/>
        </p:nvSpPr>
        <p:spPr>
          <a:xfrm>
            <a:off x="3102102" y="3383280"/>
            <a:ext cx="384048" cy="128016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4" name="Rounded Rectangle 13"/>
          <p:cNvSpPr/>
          <p:nvPr/>
        </p:nvSpPr>
        <p:spPr>
          <a:xfrm>
            <a:off x="3486150" y="3383280"/>
            <a:ext cx="2416302" cy="12801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2 · PLAN</a:t>
            </a:r>
          </a:p>
          <a:p>
            <a:pPr algn="ctr">
              <a:lnSpc>
                <a:spcPct val="100000"/>
              </a:lnSpc>
              <a:spcBef>
                <a:spcPts val="300"/>
              </a:spcBef>
              <a:spcAft>
                <a:spcPts val="0"/>
              </a:spcAft>
            </a:pPr>
            <a:r>
              <a:rPr sz="1200" b="0" i="0">
                <a:solidFill>
                  <a:srgbClr val="5B6879"/>
                </a:solidFill>
                <a:latin typeface="Calibri"/>
              </a:rPr>
              <a:t>« je lis, je corrige, je teste »</a:t>
            </a:r>
          </a:p>
        </p:txBody>
      </p:sp>
      <p:sp>
        <p:nvSpPr>
          <p:cNvPr id="15" name="TextBox 14"/>
          <p:cNvSpPr txBox="1"/>
          <p:nvPr/>
        </p:nvSpPr>
        <p:spPr>
          <a:xfrm>
            <a:off x="5902452" y="3383280"/>
            <a:ext cx="384048" cy="128016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6" name="Rounded Rectangle 15"/>
          <p:cNvSpPr/>
          <p:nvPr/>
        </p:nvSpPr>
        <p:spPr>
          <a:xfrm>
            <a:off x="6286500" y="3383280"/>
            <a:ext cx="2416302" cy="128016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3 · OUTILS</a:t>
            </a:r>
          </a:p>
          <a:p>
            <a:pPr algn="ctr">
              <a:lnSpc>
                <a:spcPct val="100000"/>
              </a:lnSpc>
              <a:spcBef>
                <a:spcPts val="300"/>
              </a:spcBef>
              <a:spcAft>
                <a:spcPts val="0"/>
              </a:spcAft>
            </a:pPr>
            <a:r>
              <a:rPr sz="1200" b="0" i="0">
                <a:solidFill>
                  <a:srgbClr val="5B6879"/>
                </a:solidFill>
                <a:latin typeface="Calibri"/>
              </a:rPr>
              <a:t>lit, écrit, lance</a:t>
            </a:r>
          </a:p>
        </p:txBody>
      </p:sp>
      <p:sp>
        <p:nvSpPr>
          <p:cNvPr id="17" name="TextBox 16"/>
          <p:cNvSpPr txBox="1"/>
          <p:nvPr/>
        </p:nvSpPr>
        <p:spPr>
          <a:xfrm>
            <a:off x="8702802" y="3383280"/>
            <a:ext cx="384048" cy="128016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8" name="Rounded Rectangle 17"/>
          <p:cNvSpPr/>
          <p:nvPr/>
        </p:nvSpPr>
        <p:spPr>
          <a:xfrm>
            <a:off x="9086850" y="3383280"/>
            <a:ext cx="2416302" cy="128016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4 · VÉRIFICATION</a:t>
            </a:r>
          </a:p>
          <a:p>
            <a:pPr algn="ctr">
              <a:lnSpc>
                <a:spcPct val="100000"/>
              </a:lnSpc>
              <a:spcBef>
                <a:spcPts val="300"/>
              </a:spcBef>
              <a:spcAft>
                <a:spcPts val="0"/>
              </a:spcAft>
            </a:pPr>
            <a:r>
              <a:rPr sz="1200" b="0" i="0">
                <a:solidFill>
                  <a:srgbClr val="5B6879"/>
                </a:solidFill>
                <a:latin typeface="Calibri"/>
              </a:rPr>
              <a:t>le script marche-t-il ?</a:t>
            </a:r>
          </a:p>
        </p:txBody>
      </p:sp>
      <p:sp>
        <p:nvSpPr>
          <p:cNvPr id="19" name="TextBox 18"/>
          <p:cNvSpPr txBox="1"/>
          <p:nvPr/>
        </p:nvSpPr>
        <p:spPr>
          <a:xfrm>
            <a:off x="777240" y="4892040"/>
            <a:ext cx="10634472" cy="960120"/>
          </a:xfrm>
          <a:prstGeom prst="rect">
            <a:avLst/>
          </a:prstGeom>
          <a:noFill/>
        </p:spPr>
        <p:txBody>
          <a:bodyPr wrap="square" lIns="0" rIns="0" tIns="0" bIns="0" anchor="t">
            <a:spAutoFit/>
          </a:bodyPr>
          <a:lstStyle/>
          <a:p>
            <a:pPr algn="l">
              <a:lnSpc>
                <a:spcPct val="120000"/>
              </a:lnSpc>
              <a:spcBef>
                <a:spcPts val="0"/>
              </a:spcBef>
              <a:spcAft>
                <a:spcPts val="600"/>
              </a:spcAft>
            </a:pPr>
            <a:r>
              <a:rPr sz="1500" b="1" i="0">
                <a:solidFill>
                  <a:srgbClr val="122A4F"/>
                </a:solidFill>
                <a:latin typeface="Calibri"/>
              </a:rPr>
              <a:t>Pourquoi le plan d'abord : </a:t>
            </a:r>
            <a:r>
              <a:rPr sz="1500" b="0" i="0">
                <a:solidFill>
                  <a:srgbClr val="1B2433"/>
                </a:solidFill>
                <a:latin typeface="Calibri"/>
              </a:rPr>
              <a:t>parce qu'il vous permet de l'arrêter avant qu'il n'écrive. Un agent qui écrit sans demander votre avis peut modifier dix fichiers pour rien. Demandez le plan, lisez-le, puis validez.</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14</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Deux familles : lui parler, ou coder avec elle</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18</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750" b="0" i="0">
                <a:solidFill>
                  <a:srgbClr val="1B2433"/>
                </a:solidFill>
                <a:latin typeface="Calibri"/>
              </a:rPr>
              <a:t>Vous connaissez déjà ces deux familles sans être informaticien. L'une aide à penser et à rédiger, l'autre construit des logiciels avec vous, sur votre propre disque dur.</a:t>
            </a:r>
          </a:p>
        </p:txBody>
      </p:sp>
      <p:sp>
        <p:nvSpPr>
          <p:cNvPr id="12" name="Rounded Rectangle 11"/>
          <p:cNvSpPr/>
          <p:nvPr/>
        </p:nvSpPr>
        <p:spPr>
          <a:xfrm>
            <a:off x="685800" y="3383280"/>
            <a:ext cx="5271516" cy="210312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Assistants de conversation</a:t>
            </a:r>
          </a:p>
          <a:p>
            <a:pPr algn="ctr">
              <a:lnSpc>
                <a:spcPct val="112000"/>
              </a:lnSpc>
              <a:spcBef>
                <a:spcPts val="0"/>
              </a:spcBef>
              <a:spcAft>
                <a:spcPts val="100"/>
              </a:spcAft>
            </a:pPr>
            <a:r>
              <a:rPr sz="1200" b="0" i="0">
                <a:solidFill>
                  <a:srgbClr val="5B6879"/>
                </a:solidFill>
                <a:latin typeface="Calibri"/>
              </a:rPr>
              <a:t>ChatGPT · Grok · Gemini · DeepSeek</a:t>
            </a:r>
          </a:p>
          <a:p>
            <a:pPr algn="ctr">
              <a:lnSpc>
                <a:spcPct val="112000"/>
              </a:lnSpc>
              <a:spcBef>
                <a:spcPts val="0"/>
              </a:spcBef>
              <a:spcAft>
                <a:spcPts val="100"/>
              </a:spcAft>
            </a:pPr>
            <a:r>
              <a:rPr sz="1200" b="0" i="0">
                <a:solidFill>
                  <a:srgbClr val="5B6879"/>
                </a:solidFill>
                <a:latin typeface="Calibri"/>
              </a:rPr>
              <a:t>Vous écrivez une question en langue normale, vous obtenez une réponse rédigée. Rien n'est touché sur votre ordinateur.</a:t>
            </a:r>
          </a:p>
        </p:txBody>
      </p:sp>
      <p:sp>
        <p:nvSpPr>
          <p:cNvPr id="13" name="Rounded Rectangle 12"/>
          <p:cNvSpPr/>
          <p:nvPr/>
        </p:nvSpPr>
        <p:spPr>
          <a:xfrm>
            <a:off x="6231636" y="3383280"/>
            <a:ext cx="5271516" cy="210312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Assistants de code et agents</a:t>
            </a:r>
          </a:p>
          <a:p>
            <a:pPr algn="ctr">
              <a:lnSpc>
                <a:spcPct val="112000"/>
              </a:lnSpc>
              <a:spcBef>
                <a:spcPts val="0"/>
              </a:spcBef>
              <a:spcAft>
                <a:spcPts val="100"/>
              </a:spcAft>
            </a:pPr>
            <a:r>
              <a:rPr sz="1200" b="0" i="0">
                <a:solidFill>
                  <a:srgbClr val="5B6879"/>
                </a:solidFill>
                <a:latin typeface="Calibri"/>
              </a:rPr>
              <a:t>OpenCode · Cursor · GitHub Copilot</a:t>
            </a:r>
          </a:p>
          <a:p>
            <a:pPr algn="ctr">
              <a:lnSpc>
                <a:spcPct val="112000"/>
              </a:lnSpc>
              <a:spcBef>
                <a:spcPts val="0"/>
              </a:spcBef>
              <a:spcAft>
                <a:spcPts val="100"/>
              </a:spcAft>
            </a:pPr>
            <a:r>
              <a:rPr sz="1200" b="0" i="0">
                <a:solidFill>
                  <a:srgbClr val="5B6879"/>
                </a:solidFill>
                <a:latin typeface="Calibri"/>
              </a:rPr>
              <a:t>L'IA lit vos fichiers, en crée, les modifie, analyse un dossier entier. Elle construit le logiciel avec vous.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15</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Cinq façons de demander, cinq résultats différents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19</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La même question posée de cinq façons donne cinq réponses différentes. Choisir la bonne façon fait gagner plus de temps qu'un outil supplémentaire.</a:t>
            </a:r>
          </a:p>
        </p:txBody>
      </p:sp>
      <p:sp>
        <p:nvSpPr>
          <p:cNvPr id="12" name="Rectangle 11"/>
          <p:cNvSpPr/>
          <p:nvPr/>
        </p:nvSpPr>
        <p:spPr>
          <a:xfrm>
            <a:off x="685800" y="3246120"/>
            <a:ext cx="3127248"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246120"/>
            <a:ext cx="2907792"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Manière de demander</a:t>
            </a:r>
          </a:p>
        </p:txBody>
      </p:sp>
      <p:sp>
        <p:nvSpPr>
          <p:cNvPr id="14" name="Rectangle 13"/>
          <p:cNvSpPr/>
          <p:nvPr/>
        </p:nvSpPr>
        <p:spPr>
          <a:xfrm>
            <a:off x="3840480" y="3246120"/>
            <a:ext cx="4041648"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50208" y="3246120"/>
            <a:ext cx="3822191"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Ce que vous obtenez</a:t>
            </a:r>
          </a:p>
        </p:txBody>
      </p:sp>
      <p:sp>
        <p:nvSpPr>
          <p:cNvPr id="16" name="Rectangle 15"/>
          <p:cNvSpPr/>
          <p:nvPr/>
        </p:nvSpPr>
        <p:spPr>
          <a:xfrm>
            <a:off x="7909560" y="3246120"/>
            <a:ext cx="3566160" cy="35052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9288" y="3246120"/>
            <a:ext cx="3346704" cy="35052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Pour quoi</a:t>
            </a:r>
          </a:p>
        </p:txBody>
      </p:sp>
      <p:sp>
        <p:nvSpPr>
          <p:cNvPr id="18" name="Rectangle 17"/>
          <p:cNvSpPr/>
          <p:nvPr/>
        </p:nvSpPr>
        <p:spPr>
          <a:xfrm>
            <a:off x="685800" y="3596640"/>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3596640"/>
            <a:ext cx="290779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Enchaîner les étapes</a:t>
            </a:r>
          </a:p>
        </p:txBody>
      </p:sp>
      <p:sp>
        <p:nvSpPr>
          <p:cNvPr id="20" name="TextBox 19"/>
          <p:cNvSpPr txBox="1"/>
          <p:nvPr/>
        </p:nvSpPr>
        <p:spPr>
          <a:xfrm>
            <a:off x="3950208" y="3596640"/>
            <a:ext cx="3822191"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 raisonnement détaillé, vérifiable</a:t>
            </a:r>
          </a:p>
        </p:txBody>
      </p:sp>
      <p:sp>
        <p:nvSpPr>
          <p:cNvPr id="21" name="TextBox 20"/>
          <p:cNvSpPr txBox="1"/>
          <p:nvPr/>
        </p:nvSpPr>
        <p:spPr>
          <a:xfrm>
            <a:off x="8019288" y="3596640"/>
            <a:ext cx="334670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comprendre, réviser</a:t>
            </a:r>
          </a:p>
        </p:txBody>
      </p:sp>
      <p:sp>
        <p:nvSpPr>
          <p:cNvPr id="22" name="Rectangle 21"/>
          <p:cNvSpPr/>
          <p:nvPr/>
        </p:nvSpPr>
        <p:spPr>
          <a:xfrm>
            <a:off x="685800" y="3947160"/>
            <a:ext cx="10817352" cy="323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947160"/>
            <a:ext cx="290779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Décomposer en parties</a:t>
            </a:r>
          </a:p>
        </p:txBody>
      </p:sp>
      <p:sp>
        <p:nvSpPr>
          <p:cNvPr id="24" name="TextBox 23"/>
          <p:cNvSpPr txBox="1"/>
          <p:nvPr/>
        </p:nvSpPr>
        <p:spPr>
          <a:xfrm>
            <a:off x="3950208" y="3947160"/>
            <a:ext cx="3822191"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 plan, puis une partie à la fois</a:t>
            </a:r>
          </a:p>
        </p:txBody>
      </p:sp>
      <p:sp>
        <p:nvSpPr>
          <p:cNvPr id="25" name="TextBox 24"/>
          <p:cNvSpPr txBox="1"/>
          <p:nvPr/>
        </p:nvSpPr>
        <p:spPr>
          <a:xfrm>
            <a:off x="8019288" y="3947160"/>
            <a:ext cx="334670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 exposé, un mémoire</a:t>
            </a:r>
          </a:p>
        </p:txBody>
      </p:sp>
      <p:sp>
        <p:nvSpPr>
          <p:cNvPr id="26" name="Rectangle 25"/>
          <p:cNvSpPr/>
          <p:nvPr/>
        </p:nvSpPr>
        <p:spPr>
          <a:xfrm>
            <a:off x="685800" y="4297679"/>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4297679"/>
            <a:ext cx="290779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Croiser plusieurs IA</a:t>
            </a:r>
          </a:p>
        </p:txBody>
      </p:sp>
      <p:sp>
        <p:nvSpPr>
          <p:cNvPr id="28" name="TextBox 27"/>
          <p:cNvSpPr txBox="1"/>
          <p:nvPr/>
        </p:nvSpPr>
        <p:spPr>
          <a:xfrm>
            <a:off x="3950208" y="4297679"/>
            <a:ext cx="3822191"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 consensus, et les désaccords</a:t>
            </a:r>
          </a:p>
        </p:txBody>
      </p:sp>
      <p:sp>
        <p:nvSpPr>
          <p:cNvPr id="29" name="TextBox 28"/>
          <p:cNvSpPr txBox="1"/>
          <p:nvPr/>
        </p:nvSpPr>
        <p:spPr>
          <a:xfrm>
            <a:off x="8019288" y="4297679"/>
            <a:ext cx="334670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une information importante</a:t>
            </a:r>
          </a:p>
        </p:txBody>
      </p:sp>
      <p:sp>
        <p:nvSpPr>
          <p:cNvPr id="30" name="Rectangle 29"/>
          <p:cNvSpPr/>
          <p:nvPr/>
        </p:nvSpPr>
        <p:spPr>
          <a:xfrm>
            <a:off x="685800" y="4648200"/>
            <a:ext cx="10817352" cy="323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4648200"/>
            <a:ext cx="290779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Faire critiquer</a:t>
            </a:r>
          </a:p>
        </p:txBody>
      </p:sp>
      <p:sp>
        <p:nvSpPr>
          <p:cNvPr id="32" name="TextBox 31"/>
          <p:cNvSpPr txBox="1"/>
          <p:nvPr/>
        </p:nvSpPr>
        <p:spPr>
          <a:xfrm>
            <a:off x="3950208" y="4648200"/>
            <a:ext cx="3822191"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une relecture hostile, utile</a:t>
            </a:r>
          </a:p>
        </p:txBody>
      </p:sp>
      <p:sp>
        <p:nvSpPr>
          <p:cNvPr id="33" name="TextBox 32"/>
          <p:cNvSpPr txBox="1"/>
          <p:nvPr/>
        </p:nvSpPr>
        <p:spPr>
          <a:xfrm>
            <a:off x="8019288" y="4648200"/>
            <a:ext cx="334670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avant de rendre un devoir</a:t>
            </a:r>
          </a:p>
        </p:txBody>
      </p:sp>
      <p:sp>
        <p:nvSpPr>
          <p:cNvPr id="34" name="Rectangle 33"/>
          <p:cNvSpPr/>
          <p:nvPr/>
        </p:nvSpPr>
        <p:spPr>
          <a:xfrm>
            <a:off x="685800" y="4998720"/>
            <a:ext cx="10817352" cy="32308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998720"/>
            <a:ext cx="2907792"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Demander le plan d'abord</a:t>
            </a:r>
          </a:p>
        </p:txBody>
      </p:sp>
      <p:sp>
        <p:nvSpPr>
          <p:cNvPr id="36" name="TextBox 35"/>
          <p:cNvSpPr txBox="1"/>
          <p:nvPr/>
        </p:nvSpPr>
        <p:spPr>
          <a:xfrm>
            <a:off x="3950208" y="4998720"/>
            <a:ext cx="3822191" cy="323087"/>
          </a:xfrm>
          <a:prstGeom prst="rect">
            <a:avLst/>
          </a:prstGeom>
          <a:noFill/>
        </p:spPr>
        <p:txBody>
          <a:bodyPr wrap="square" lIns="0" rIns="0" tIns="0" bIns="0" anchor="ctr">
            <a:spAutoFit/>
          </a:bodyPr>
          <a:lstStyle/>
          <a:p>
            <a:pPr algn="l">
              <a:lnSpc>
                <a:spcPct val="105000"/>
              </a:lnSpc>
              <a:spcBef>
                <a:spcPts val="0"/>
              </a:spcBef>
              <a:spcAft>
                <a:spcPts val="0"/>
              </a:spcAft>
            </a:pPr>
            <a:r>
              <a:rPr sz="1200" b="0" i="0">
                <a:solidFill>
                  <a:srgbClr val="1B2433"/>
                </a:solidFill>
                <a:latin typeface="Calibri"/>
              </a:rPr>
              <a:t>un programme d'action avant l'exécution</a:t>
            </a:r>
          </a:p>
        </p:txBody>
      </p:sp>
      <p:sp>
        <p:nvSpPr>
          <p:cNvPr id="37" name="TextBox 36"/>
          <p:cNvSpPr txBox="1"/>
          <p:nvPr/>
        </p:nvSpPr>
        <p:spPr>
          <a:xfrm>
            <a:off x="8019288" y="4998720"/>
            <a:ext cx="3346704" cy="32308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toute tâche sur des fichiers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16</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Choisir son outil en trois questions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20</a:t>
            </a:r>
          </a:p>
        </p:txBody>
      </p:sp>
      <p:sp>
        <p:nvSpPr>
          <p:cNvPr id="10" name="Rounded Rectangle 9"/>
          <p:cNvSpPr/>
          <p:nvPr/>
        </p:nvSpPr>
        <p:spPr>
          <a:xfrm>
            <a:off x="685800" y="3383280"/>
            <a:ext cx="3496056" cy="281635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Quel résultat ?</a:t>
            </a:r>
          </a:p>
          <a:p>
            <a:pPr algn="ctr">
              <a:lnSpc>
                <a:spcPct val="112000"/>
              </a:lnSpc>
              <a:spcBef>
                <a:spcPts val="0"/>
              </a:spcBef>
              <a:spcAft>
                <a:spcPts val="100"/>
              </a:spcAft>
            </a:pPr>
            <a:r>
              <a:rPr sz="1200" b="0" i="0">
                <a:solidFill>
                  <a:srgbClr val="5B6879"/>
                </a:solidFill>
                <a:latin typeface="Calibri"/>
              </a:rPr>
              <a:t>une réponse en texte, un fichier, une modification, une image ?</a:t>
            </a:r>
          </a:p>
        </p:txBody>
      </p:sp>
      <p:sp>
        <p:nvSpPr>
          <p:cNvPr id="11" name="Rounded Rectangle 10"/>
          <p:cNvSpPr/>
          <p:nvPr/>
        </p:nvSpPr>
        <p:spPr>
          <a:xfrm>
            <a:off x="4346448" y="3383280"/>
            <a:ext cx="3496056" cy="281635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Quel risque ?</a:t>
            </a:r>
          </a:p>
          <a:p>
            <a:pPr algn="ctr">
              <a:lnSpc>
                <a:spcPct val="112000"/>
              </a:lnSpc>
              <a:spcBef>
                <a:spcPts val="0"/>
              </a:spcBef>
              <a:spcAft>
                <a:spcPts val="100"/>
              </a:spcAft>
            </a:pPr>
            <a:r>
              <a:rPr sz="1200" b="0" i="0">
                <a:solidFill>
                  <a:srgbClr val="5B6879"/>
                </a:solidFill>
                <a:latin typeface="Calibri"/>
              </a:rPr>
              <a:t>données confidentielles, fichiers importants, usage au quotidien ?</a:t>
            </a:r>
          </a:p>
        </p:txBody>
      </p:sp>
      <p:sp>
        <p:nvSpPr>
          <p:cNvPr id="12" name="Rounded Rectangle 11"/>
          <p:cNvSpPr/>
          <p:nvPr/>
        </p:nvSpPr>
        <p:spPr>
          <a:xfrm>
            <a:off x="8007096" y="3383280"/>
            <a:ext cx="3496056" cy="2816352"/>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B2433"/>
                </a:solidFill>
                <a:latin typeface="Calibri"/>
              </a:rPr>
              <a:t>Quel coût ?</a:t>
            </a:r>
          </a:p>
          <a:p>
            <a:pPr algn="ctr">
              <a:lnSpc>
                <a:spcPct val="112000"/>
              </a:lnSpc>
              <a:spcBef>
                <a:spcPts val="0"/>
              </a:spcBef>
              <a:spcAft>
                <a:spcPts val="100"/>
              </a:spcAft>
            </a:pPr>
            <a:r>
              <a:rPr sz="1200" b="0" i="0">
                <a:solidFill>
                  <a:srgbClr val="5B6879"/>
                </a:solidFill>
                <a:latin typeface="Calibri"/>
              </a:rPr>
              <a:t>gratuit avec limites, ou abonnement ? Le temps compté aussi.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
            <a:ext cx="12191695" cy="581558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74519"/>
            <a:ext cx="960120" cy="960120"/>
          </a:xfrm>
          <a:prstGeom prst="roundRect">
            <a:avLst>
              <a:gd name="adj" fmla="val 50000"/>
            </a:avLst>
          </a:prstGeom>
          <a:solidFill>
            <a:srgbClr val="1A3864"/>
          </a:solidFill>
          <a:ln w="254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960120" cy="960120"/>
          </a:xfrm>
          <a:prstGeom prst="rect">
            <a:avLst/>
          </a:prstGeom>
          <a:noFill/>
        </p:spPr>
        <p:txBody>
          <a:bodyPr wrap="square" lIns="0" rIns="0" tIns="0" bIns="0" anchor="ctr">
            <a:spAutoFit/>
          </a:bodyPr>
          <a:lstStyle/>
          <a:p>
            <a:pPr algn="ctr">
              <a:lnSpc>
                <a:spcPct val="112000"/>
              </a:lnSpc>
              <a:spcBef>
                <a:spcPts val="0"/>
              </a:spcBef>
              <a:spcAft>
                <a:spcPts val="0"/>
              </a:spcAft>
            </a:pPr>
            <a:r>
              <a:rPr sz="3000" b="1" i="0">
                <a:solidFill>
                  <a:srgbClr val="FFFFFF"/>
                </a:solidFill>
                <a:latin typeface="Calibri"/>
              </a:rPr>
              <a:t>4</a:t>
            </a:r>
          </a:p>
        </p:txBody>
      </p:sp>
      <p:sp>
        <p:nvSpPr>
          <p:cNvPr id="6" name="TextBox 5"/>
          <p:cNvSpPr txBox="1"/>
          <p:nvPr/>
        </p:nvSpPr>
        <p:spPr>
          <a:xfrm>
            <a:off x="2240280" y="1874519"/>
            <a:ext cx="8595360" cy="960120"/>
          </a:xfrm>
          <a:prstGeom prst="rect">
            <a:avLst/>
          </a:prstGeom>
          <a:noFill/>
        </p:spPr>
        <p:txBody>
          <a:bodyPr wrap="square" lIns="0" rIns="0" tIns="0" bIns="0" anchor="ctr">
            <a:spAutoFit/>
          </a:bodyPr>
          <a:lstStyle/>
          <a:p>
            <a:pPr algn="l">
              <a:lnSpc>
                <a:spcPct val="112000"/>
              </a:lnSpc>
              <a:spcBef>
                <a:spcPts val="0"/>
              </a:spcBef>
              <a:spcAft>
                <a:spcPts val="0"/>
              </a:spcAft>
            </a:pPr>
            <a:r>
              <a:rPr sz="3400" b="1" i="0">
                <a:solidFill>
                  <a:srgbClr val="FFFFFF"/>
                </a:solidFill>
                <a:latin typeface="Calibri"/>
              </a:rPr>
              <a:t>Cinq cas concrets</a:t>
            </a:r>
          </a:p>
        </p:txBody>
      </p:sp>
      <p:sp>
        <p:nvSpPr>
          <p:cNvPr id="7" name="TextBox 6"/>
          <p:cNvSpPr txBox="1"/>
          <p:nvPr/>
        </p:nvSpPr>
        <p:spPr>
          <a:xfrm>
            <a:off x="1005840" y="3154680"/>
            <a:ext cx="10149840" cy="1280160"/>
          </a:xfrm>
          <a:prstGeom prst="rect">
            <a:avLst/>
          </a:prstGeom>
          <a:noFill/>
        </p:spPr>
        <p:txBody>
          <a:bodyPr wrap="square" lIns="0" rIns="0" tIns="0" bIns="0" anchor="t">
            <a:spAutoFit/>
          </a:bodyPr>
          <a:lstStyle/>
          <a:p>
            <a:pPr algn="l">
              <a:lnSpc>
                <a:spcPct val="125000"/>
              </a:lnSpc>
              <a:spcBef>
                <a:spcPts val="0"/>
              </a:spcBef>
              <a:spcAft>
                <a:spcPts val="1000"/>
              </a:spcAft>
            </a:pPr>
            <a:r>
              <a:rPr sz="1700" b="0" i="0">
                <a:solidFill>
                  <a:srgbClr val="FFFFFF"/>
                </a:solidFill>
                <a:latin typeface="Calibri"/>
              </a:rPr>
              <a:t>Les six problèmes de la deuxième diapositive : voici comment on les résout, et ce que l'IA ne fera pas à votre place.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Réparer et flasher un appareil</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Créer un site web</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Réviser un examen</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Rédiger et traduire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Utiliser l'IA pour enseigner le FLE</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17</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Cas 1 — Réparer, flasher, diagnostiquer</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22</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L'IA ne répare rien. Elle évite la recherche : en trente secondes de questions bien posées, onEconomise une heure.</a:t>
            </a:r>
          </a:p>
        </p:txBody>
      </p:sp>
      <p:sp>
        <p:nvSpPr>
          <p:cNvPr id="12" name="Rectangle 11"/>
          <p:cNvSpPr/>
          <p:nvPr/>
        </p:nvSpPr>
        <p:spPr>
          <a:xfrm>
            <a:off x="685800" y="3200400"/>
            <a:ext cx="2944368" cy="37338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200400"/>
            <a:ext cx="2724912" cy="37338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Le problème réel</a:t>
            </a:r>
          </a:p>
        </p:txBody>
      </p:sp>
      <p:sp>
        <p:nvSpPr>
          <p:cNvPr id="14" name="Rectangle 13"/>
          <p:cNvSpPr/>
          <p:nvPr/>
        </p:nvSpPr>
        <p:spPr>
          <a:xfrm>
            <a:off x="3657600" y="3200400"/>
            <a:ext cx="4956048" cy="37338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3200400"/>
            <a:ext cx="4736592" cy="37338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La question à poser</a:t>
            </a:r>
          </a:p>
        </p:txBody>
      </p:sp>
      <p:sp>
        <p:nvSpPr>
          <p:cNvPr id="16" name="Rectangle 15"/>
          <p:cNvSpPr/>
          <p:nvPr/>
        </p:nvSpPr>
        <p:spPr>
          <a:xfrm>
            <a:off x="8641080" y="3200400"/>
            <a:ext cx="2834640" cy="37338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0807" y="3200400"/>
            <a:ext cx="2615184" cy="37338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Le gain</a:t>
            </a:r>
          </a:p>
        </p:txBody>
      </p:sp>
      <p:sp>
        <p:nvSpPr>
          <p:cNvPr id="18" name="Rectangle 17"/>
          <p:cNvSpPr/>
          <p:nvPr/>
        </p:nvSpPr>
        <p:spPr>
          <a:xfrm>
            <a:off x="685800" y="3573780"/>
            <a:ext cx="10817352" cy="3459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3573780"/>
            <a:ext cx="272491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Comprendre un schéma</a:t>
            </a:r>
          </a:p>
        </p:txBody>
      </p:sp>
      <p:sp>
        <p:nvSpPr>
          <p:cNvPr id="20" name="TextBox 19"/>
          <p:cNvSpPr txBox="1"/>
          <p:nvPr/>
        </p:nvSpPr>
        <p:spPr>
          <a:xfrm>
            <a:off x="3767328" y="3573780"/>
            <a:ext cx="473659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ce circuit alimente quel composant ? »</a:t>
            </a:r>
          </a:p>
        </p:txBody>
      </p:sp>
      <p:sp>
        <p:nvSpPr>
          <p:cNvPr id="21" name="TextBox 20"/>
          <p:cNvSpPr txBox="1"/>
          <p:nvPr/>
        </p:nvSpPr>
        <p:spPr>
          <a:xfrm>
            <a:off x="8750807" y="3573780"/>
            <a:ext cx="2615184"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évite 30 min de fouille</a:t>
            </a:r>
          </a:p>
        </p:txBody>
      </p:sp>
      <p:sp>
        <p:nvSpPr>
          <p:cNvPr id="22" name="Rectangle 21"/>
          <p:cNvSpPr/>
          <p:nvPr/>
        </p:nvSpPr>
        <p:spPr>
          <a:xfrm>
            <a:off x="685800" y="3947160"/>
            <a:ext cx="10817352" cy="3459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947160"/>
            <a:ext cx="272491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Identifier une pièce</a:t>
            </a:r>
          </a:p>
        </p:txBody>
      </p:sp>
      <p:sp>
        <p:nvSpPr>
          <p:cNvPr id="24" name="TextBox 23"/>
          <p:cNvSpPr txBox="1"/>
          <p:nvPr/>
        </p:nvSpPr>
        <p:spPr>
          <a:xfrm>
            <a:off x="3767328" y="3947160"/>
            <a:ext cx="473659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valeur et tension de ce composant ? »</a:t>
            </a:r>
          </a:p>
        </p:txBody>
      </p:sp>
      <p:sp>
        <p:nvSpPr>
          <p:cNvPr id="25" name="TextBox 24"/>
          <p:cNvSpPr txBox="1"/>
          <p:nvPr/>
        </p:nvSpPr>
        <p:spPr>
          <a:xfrm>
            <a:off x="8750807" y="3947160"/>
            <a:ext cx="2615184"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on commande la bonne</a:t>
            </a:r>
          </a:p>
        </p:txBody>
      </p:sp>
      <p:sp>
        <p:nvSpPr>
          <p:cNvPr id="26" name="Rectangle 25"/>
          <p:cNvSpPr/>
          <p:nvPr/>
        </p:nvSpPr>
        <p:spPr>
          <a:xfrm>
            <a:off x="685800" y="4320540"/>
            <a:ext cx="10817352" cy="3459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4320540"/>
            <a:ext cx="272491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Lire un code d'erreur</a:t>
            </a:r>
          </a:p>
        </p:txBody>
      </p:sp>
      <p:sp>
        <p:nvSpPr>
          <p:cNvPr id="28" name="TextBox 27"/>
          <p:cNvSpPr txBox="1"/>
          <p:nvPr/>
        </p:nvSpPr>
        <p:spPr>
          <a:xfrm>
            <a:off x="3767328" y="4320540"/>
            <a:ext cx="473659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que signifie ce code sur ce modèle ? »</a:t>
            </a:r>
          </a:p>
        </p:txBody>
      </p:sp>
      <p:sp>
        <p:nvSpPr>
          <p:cNvPr id="29" name="TextBox 28"/>
          <p:cNvSpPr txBox="1"/>
          <p:nvPr/>
        </p:nvSpPr>
        <p:spPr>
          <a:xfrm>
            <a:off x="8750807" y="4320540"/>
            <a:ext cx="2615184"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plus de tâtonnement</a:t>
            </a:r>
          </a:p>
        </p:txBody>
      </p:sp>
      <p:sp>
        <p:nvSpPr>
          <p:cNvPr id="30" name="Rectangle 29"/>
          <p:cNvSpPr/>
          <p:nvPr/>
        </p:nvSpPr>
        <p:spPr>
          <a:xfrm>
            <a:off x="685800" y="4693920"/>
            <a:ext cx="10817352" cy="3459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4693920"/>
            <a:ext cx="272491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Choisir un script de flash</a:t>
            </a:r>
          </a:p>
        </p:txBody>
      </p:sp>
      <p:sp>
        <p:nvSpPr>
          <p:cNvPr id="32" name="TextBox 31"/>
          <p:cNvSpPr txBox="1"/>
          <p:nvPr/>
        </p:nvSpPr>
        <p:spPr>
          <a:xfrm>
            <a:off x="3767328" y="4693920"/>
            <a:ext cx="473659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compatible avec ce modèle exact ? »</a:t>
            </a:r>
          </a:p>
        </p:txBody>
      </p:sp>
      <p:sp>
        <p:nvSpPr>
          <p:cNvPr id="33" name="TextBox 32"/>
          <p:cNvSpPr txBox="1"/>
          <p:nvPr/>
        </p:nvSpPr>
        <p:spPr>
          <a:xfrm>
            <a:off x="8750807" y="4693920"/>
            <a:ext cx="2615184" cy="345948"/>
          </a:xfrm>
          <a:prstGeom prst="rect">
            <a:avLst/>
          </a:prstGeom>
          <a:noFill/>
        </p:spPr>
        <p:txBody>
          <a:bodyPr wrap="square" lIns="0" rIns="0" tIns="0" bIns="0" anchor="ctr">
            <a:spAutoFit/>
          </a:bodyPr>
          <a:lstStyle/>
          <a:p>
            <a:pPr algn="l">
              <a:lnSpc>
                <a:spcPct val="105000"/>
              </a:lnSpc>
              <a:spcBef>
                <a:spcPts val="0"/>
              </a:spcBef>
              <a:spcAft>
                <a:spcPts val="0"/>
              </a:spcAft>
            </a:pPr>
            <a:r>
              <a:rPr sz="1200" b="0" i="0">
                <a:solidFill>
                  <a:srgbClr val="1B2433"/>
                </a:solidFill>
                <a:latin typeface="Calibri"/>
              </a:rPr>
              <a:t>on ne bloque pas l'appareil</a:t>
            </a:r>
          </a:p>
        </p:txBody>
      </p:sp>
      <p:sp>
        <p:nvSpPr>
          <p:cNvPr id="34" name="Rectangle 33"/>
          <p:cNvSpPr/>
          <p:nvPr/>
        </p:nvSpPr>
        <p:spPr>
          <a:xfrm>
            <a:off x="685800" y="5067300"/>
            <a:ext cx="10817352" cy="345948"/>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067300"/>
            <a:ext cx="2724912" cy="345948"/>
          </a:xfrm>
          <a:prstGeom prst="rect">
            <a:avLst/>
          </a:prstGeom>
          <a:noFill/>
        </p:spPr>
        <p:txBody>
          <a:bodyPr wrap="square" lIns="0" rIns="0" tIns="0" bIns="0" anchor="ctr">
            <a:spAutoFit/>
          </a:bodyPr>
          <a:lstStyle/>
          <a:p>
            <a:pPr algn="l">
              <a:lnSpc>
                <a:spcPct val="105000"/>
              </a:lnSpc>
              <a:spcBef>
                <a:spcPts val="0"/>
              </a:spcBef>
              <a:spcAft>
                <a:spcPts val="0"/>
              </a:spcAft>
            </a:pPr>
            <a:r>
              <a:rPr sz="1050" b="1" i="0">
                <a:solidFill>
                  <a:srgbClr val="122A4F"/>
                </a:solidFill>
                <a:latin typeface="Calibri"/>
              </a:rPr>
              <a:t>Rédiger la fiche d'intervention</a:t>
            </a:r>
          </a:p>
        </p:txBody>
      </p:sp>
      <p:sp>
        <p:nvSpPr>
          <p:cNvPr id="36" name="TextBox 35"/>
          <p:cNvSpPr txBox="1"/>
          <p:nvPr/>
        </p:nvSpPr>
        <p:spPr>
          <a:xfrm>
            <a:off x="3767328" y="5067300"/>
            <a:ext cx="4736592"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mets en forme ces mesures »</a:t>
            </a:r>
          </a:p>
        </p:txBody>
      </p:sp>
      <p:sp>
        <p:nvSpPr>
          <p:cNvPr id="37" name="TextBox 36"/>
          <p:cNvSpPr txBox="1"/>
          <p:nvPr/>
        </p:nvSpPr>
        <p:spPr>
          <a:xfrm>
            <a:off x="8750807" y="5067300"/>
            <a:ext cx="2615184" cy="345948"/>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10 min gagnées à la fin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18</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Cas 2 — Un site web pour le club, en un cours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23</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Le schéma d'un site est simple : trois fichiers. L'agent écrit le code, vous choisissez ce qui est juste et ce qui ne l'est pas.</a:t>
            </a:r>
          </a:p>
        </p:txBody>
      </p:sp>
      <p:sp>
        <p:nvSpPr>
          <p:cNvPr id="12" name="Rounded Rectangle 11"/>
          <p:cNvSpPr/>
          <p:nvPr/>
        </p:nvSpPr>
        <p:spPr>
          <a:xfrm>
            <a:off x="685800" y="3337560"/>
            <a:ext cx="2416302" cy="1234440"/>
          </a:xfrm>
          <a:prstGeom prst="roundRect">
            <a:avLst>
              <a:gd name="adj" fmla="val 14000"/>
            </a:avLst>
          </a:prstGeom>
          <a:solidFill>
            <a:srgbClr val="F3F6FA"/>
          </a:solidFill>
          <a:ln w="1587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B2433"/>
                </a:solidFill>
                <a:latin typeface="Calibri"/>
              </a:rPr>
              <a:t>PAGE</a:t>
            </a:r>
          </a:p>
          <a:p>
            <a:pPr algn="ctr">
              <a:lnSpc>
                <a:spcPct val="100000"/>
              </a:lnSpc>
              <a:spcBef>
                <a:spcPts val="300"/>
              </a:spcBef>
              <a:spcAft>
                <a:spcPts val="0"/>
              </a:spcAft>
            </a:pPr>
            <a:r>
              <a:rPr sz="1200" b="0" i="0">
                <a:solidFill>
                  <a:srgbClr val="5B6879"/>
                </a:solidFill>
                <a:latin typeface="Calibri"/>
              </a:rPr>
              <a:t>HTML
le texte et la structure</a:t>
            </a:r>
          </a:p>
        </p:txBody>
      </p:sp>
      <p:sp>
        <p:nvSpPr>
          <p:cNvPr id="13" name="TextBox 12"/>
          <p:cNvSpPr txBox="1"/>
          <p:nvPr/>
        </p:nvSpPr>
        <p:spPr>
          <a:xfrm>
            <a:off x="3102102"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4" name="Rounded Rectangle 13"/>
          <p:cNvSpPr/>
          <p:nvPr/>
        </p:nvSpPr>
        <p:spPr>
          <a:xfrm>
            <a:off x="3486150" y="3337560"/>
            <a:ext cx="2416302" cy="123444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STYLE</a:t>
            </a:r>
          </a:p>
          <a:p>
            <a:pPr algn="ctr">
              <a:lnSpc>
                <a:spcPct val="100000"/>
              </a:lnSpc>
              <a:spcBef>
                <a:spcPts val="300"/>
              </a:spcBef>
              <a:spcAft>
                <a:spcPts val="0"/>
              </a:spcAft>
            </a:pPr>
            <a:r>
              <a:rPr sz="1200" b="0" i="0">
                <a:solidFill>
                  <a:srgbClr val="5B6879"/>
                </a:solidFill>
                <a:latin typeface="Calibri"/>
              </a:rPr>
              <a:t>CSS
les couleurs et la mise en page</a:t>
            </a:r>
          </a:p>
        </p:txBody>
      </p:sp>
      <p:sp>
        <p:nvSpPr>
          <p:cNvPr id="15" name="TextBox 14"/>
          <p:cNvSpPr txBox="1"/>
          <p:nvPr/>
        </p:nvSpPr>
        <p:spPr>
          <a:xfrm>
            <a:off x="5902452"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6" name="Rounded Rectangle 15"/>
          <p:cNvSpPr/>
          <p:nvPr/>
        </p:nvSpPr>
        <p:spPr>
          <a:xfrm>
            <a:off x="6286500" y="3337560"/>
            <a:ext cx="2416302" cy="1234440"/>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122A4F"/>
                </a:solidFill>
                <a:latin typeface="Calibri"/>
              </a:rPr>
              <a:t>SCRIPT</a:t>
            </a:r>
          </a:p>
          <a:p>
            <a:pPr algn="ctr">
              <a:lnSpc>
                <a:spcPct val="100000"/>
              </a:lnSpc>
              <a:spcBef>
                <a:spcPts val="300"/>
              </a:spcBef>
              <a:spcAft>
                <a:spcPts val="0"/>
              </a:spcAft>
            </a:pPr>
            <a:r>
              <a:rPr sz="1200" b="0" i="0">
                <a:solidFill>
                  <a:srgbClr val="5B6879"/>
                </a:solidFill>
                <a:latin typeface="Calibri"/>
              </a:rPr>
              <a:t>JavaScript
les interactions</a:t>
            </a:r>
          </a:p>
        </p:txBody>
      </p:sp>
      <p:sp>
        <p:nvSpPr>
          <p:cNvPr id="17" name="TextBox 16"/>
          <p:cNvSpPr txBox="1"/>
          <p:nvPr/>
        </p:nvSpPr>
        <p:spPr>
          <a:xfrm>
            <a:off x="8702802" y="3337560"/>
            <a:ext cx="384048" cy="1234440"/>
          </a:xfrm>
          <a:prstGeom prst="rect">
            <a:avLst/>
          </a:prstGeom>
          <a:noFill/>
        </p:spPr>
        <p:txBody>
          <a:bodyPr wrap="square" lIns="0" rIns="0" tIns="0" bIns="0" anchor="ctr">
            <a:spAutoFit/>
          </a:bodyPr>
          <a:lstStyle/>
          <a:p>
            <a:pPr algn="ctr">
              <a:lnSpc>
                <a:spcPct val="100000"/>
              </a:lnSpc>
              <a:spcBef>
                <a:spcPts val="0"/>
              </a:spcBef>
              <a:spcAft>
                <a:spcPts val="0"/>
              </a:spcAft>
            </a:pPr>
            <a:r>
              <a:rPr sz="2100" b="1" i="0">
                <a:solidFill>
                  <a:srgbClr val="1F5C99"/>
                </a:solidFill>
                <a:latin typeface="Calibri"/>
              </a:rPr>
              <a:t>→</a:t>
            </a:r>
          </a:p>
        </p:txBody>
      </p:sp>
      <p:sp>
        <p:nvSpPr>
          <p:cNvPr id="18" name="Rounded Rectangle 17"/>
          <p:cNvSpPr/>
          <p:nvPr/>
        </p:nvSpPr>
        <p:spPr>
          <a:xfrm>
            <a:off x="9086850" y="3337560"/>
            <a:ext cx="2416302" cy="1234440"/>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0000"/>
              </a:lnSpc>
              <a:spcBef>
                <a:spcPts val="0"/>
              </a:spcBef>
              <a:spcAft>
                <a:spcPts val="0"/>
              </a:spcAft>
            </a:pPr>
            <a:r>
              <a:rPr sz="1550" b="1" i="0">
                <a:solidFill>
                  <a:srgbClr val="0F4A32"/>
                </a:solidFill>
                <a:latin typeface="Calibri"/>
              </a:rPr>
              <a:t>MISE EN LIGNE</a:t>
            </a:r>
          </a:p>
          <a:p>
            <a:pPr algn="ctr">
              <a:lnSpc>
                <a:spcPct val="100000"/>
              </a:lnSpc>
              <a:spcBef>
                <a:spcPts val="300"/>
              </a:spcBef>
              <a:spcAft>
                <a:spcPts val="0"/>
              </a:spcAft>
            </a:pPr>
            <a:r>
              <a:rPr sz="1200" b="0" i="0">
                <a:solidFill>
                  <a:srgbClr val="5B6879"/>
                </a:solidFill>
                <a:latin typeface="Calibri"/>
              </a:rPr>
              <a:t>hébergé, visible par tous</a:t>
            </a:r>
          </a:p>
        </p:txBody>
      </p:sp>
      <p:sp>
        <p:nvSpPr>
          <p:cNvPr id="19" name="TextBox 18"/>
          <p:cNvSpPr txBox="1"/>
          <p:nvPr/>
        </p:nvSpPr>
        <p:spPr>
          <a:xfrm>
            <a:off x="777240" y="4800600"/>
            <a:ext cx="10634472" cy="1051560"/>
          </a:xfrm>
          <a:prstGeom prst="rect">
            <a:avLst/>
          </a:prstGeom>
          <a:noFill/>
        </p:spPr>
        <p:txBody>
          <a:bodyPr wrap="square" lIns="0" rIns="0" tIns="0" bIns="0" anchor="t">
            <a:spAutoFit/>
          </a:bodyPr>
          <a:lstStyle/>
          <a:p>
            <a:pPr algn="l">
              <a:lnSpc>
                <a:spcPct val="120000"/>
              </a:lnSpc>
              <a:spcBef>
                <a:spcPts val="0"/>
              </a:spcBef>
              <a:spcAft>
                <a:spcPts val="0"/>
              </a:spcAft>
            </a:pPr>
            <a:r>
              <a:rPr sz="1450" b="1" i="0">
                <a:solidFill>
                  <a:srgbClr val="122A4F"/>
                </a:solidFill>
                <a:latin typeface="Calibri"/>
              </a:rPr>
              <a:t>Les 4 questions à poser dans l'ordre : </a:t>
            </a:r>
            <a:r>
              <a:rPr sz="1450" b="0" i="0">
                <a:solidFill>
                  <a:srgbClr val="1B2433"/>
                </a:solidFill>
                <a:latin typeface="Calibri"/>
              </a:rPr>
              <a:t>① quel est le contenu exact (liste des membres, dates, photos) · ② quelles couleurs et quel style · ③ quelles pages (accueil, à propos, contact) · ④ où l'héberger, gratuitement.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19</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Cas 3 — Réviser un examen avec l'IA</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24</a:t>
            </a:r>
          </a:p>
        </p:txBody>
      </p:sp>
      <p:sp>
        <p:nvSpPr>
          <p:cNvPr id="10" name="Rounded Rectangle 9"/>
          <p:cNvSpPr/>
          <p:nvPr/>
        </p:nvSpPr>
        <p:spPr>
          <a:xfrm>
            <a:off x="685800"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Explication en deux niveaux</a:t>
            </a:r>
          </a:p>
          <a:p>
            <a:pPr algn="ctr">
              <a:lnSpc>
                <a:spcPct val="112000"/>
              </a:lnSpc>
              <a:spcBef>
                <a:spcPts val="0"/>
              </a:spcBef>
              <a:spcAft>
                <a:spcPts val="100"/>
              </a:spcAft>
            </a:pPr>
            <a:r>
              <a:rPr sz="1200" b="0" i="0">
                <a:solidFill>
                  <a:srgbClr val="5B6879"/>
                </a:solidFill>
                <a:latin typeface="Calibri"/>
              </a:rPr>
              <a:t>une version simple, une version technique. Vous comprenez, et vous savez réciter pour l'examen.</a:t>
            </a:r>
          </a:p>
        </p:txBody>
      </p:sp>
      <p:sp>
        <p:nvSpPr>
          <p:cNvPr id="11" name="Rounded Rectangle 10"/>
          <p:cNvSpPr/>
          <p:nvPr/>
        </p:nvSpPr>
        <p:spPr>
          <a:xfrm>
            <a:off x="3431286" y="3337560"/>
            <a:ext cx="2580894" cy="286207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Cartes mémoire</a:t>
            </a:r>
          </a:p>
          <a:p>
            <a:pPr algn="ctr">
              <a:lnSpc>
                <a:spcPct val="112000"/>
              </a:lnSpc>
              <a:spcBef>
                <a:spcPts val="0"/>
              </a:spcBef>
              <a:spcAft>
                <a:spcPts val="100"/>
              </a:spcAft>
            </a:pPr>
            <a:r>
              <a:rPr sz="1200" b="0" i="0">
                <a:solidFill>
                  <a:srgbClr val="5B6879"/>
                </a:solidFill>
                <a:latin typeface="Calibri"/>
              </a:rPr>
              <a:t>une notion par carte, réponse de cinq mots maximum. Import direct dans Anki ou Quizlet.</a:t>
            </a:r>
          </a:p>
        </p:txBody>
      </p:sp>
      <p:sp>
        <p:nvSpPr>
          <p:cNvPr id="12" name="Rounded Rectangle 11"/>
          <p:cNvSpPr/>
          <p:nvPr/>
        </p:nvSpPr>
        <p:spPr>
          <a:xfrm>
            <a:off x="6176772"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QCM d'entraînement</a:t>
            </a:r>
          </a:p>
          <a:p>
            <a:pPr algn="ctr">
              <a:lnSpc>
                <a:spcPct val="112000"/>
              </a:lnSpc>
              <a:spcBef>
                <a:spcPts val="0"/>
              </a:spcBef>
              <a:spcAft>
                <a:spcPts val="100"/>
              </a:spcAft>
            </a:pPr>
            <a:r>
              <a:rPr sz="1200" b="0" i="0">
                <a:solidFill>
                  <a:srgbClr val="5B6879"/>
                </a:solidFill>
                <a:latin typeface="Calibri"/>
              </a:rPr>
              <a:t>dix questions, corrigées, avec l'explication de chaque réponse. Vous voyez vos lacunes.</a:t>
            </a:r>
          </a:p>
        </p:txBody>
      </p:sp>
      <p:sp>
        <p:nvSpPr>
          <p:cNvPr id="13" name="Rounded Rectangle 12"/>
          <p:cNvSpPr/>
          <p:nvPr/>
        </p:nvSpPr>
        <p:spPr>
          <a:xfrm>
            <a:off x="8922258" y="3337560"/>
            <a:ext cx="2580894" cy="286207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Explication à rebours</a:t>
            </a:r>
          </a:p>
          <a:p>
            <a:pPr algn="ctr">
              <a:lnSpc>
                <a:spcPct val="112000"/>
              </a:lnSpc>
              <a:spcBef>
                <a:spcPts val="0"/>
              </a:spcBef>
              <a:spcAft>
                <a:spcPts val="100"/>
              </a:spcAft>
            </a:pPr>
            <a:r>
              <a:rPr sz="1200" b="0" i="0">
                <a:solidFill>
                  <a:srgbClr val="5B6879"/>
                </a:solidFill>
                <a:latin typeface="Calibri"/>
              </a:rPr>
              <a:t>« explique-moi la méthode Feynman » : vous expliquez, l'IA repère ce qui manque.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20</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Cas 4 — Rédiger, corriger, traduire en 3 langues</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25</a:t>
            </a:r>
          </a:p>
        </p:txBody>
      </p:sp>
      <p:sp>
        <p:nvSpPr>
          <p:cNvPr id="10" name="Rounded Rectangle 9"/>
          <p:cNvSpPr/>
          <p:nvPr/>
        </p:nvSpPr>
        <p:spPr>
          <a:xfrm>
            <a:off x="685800"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Français</a:t>
            </a:r>
          </a:p>
          <a:p>
            <a:pPr algn="ctr">
              <a:lnSpc>
                <a:spcPct val="112000"/>
              </a:lnSpc>
              <a:spcBef>
                <a:spcPts val="0"/>
              </a:spcBef>
              <a:spcAft>
                <a:spcPts val="100"/>
              </a:spcAft>
            </a:pPr>
            <a:r>
              <a:rPr sz="1200" b="0" i="0">
                <a:solidFill>
                  <a:srgbClr val="5B6879"/>
                </a:solidFill>
                <a:latin typeface="Calibri"/>
              </a:rPr>
              <a:t>le plus fiable. Dépouillez vos textes, l'IA respecte bien les nuances.</a:t>
            </a:r>
          </a:p>
        </p:txBody>
      </p:sp>
      <p:sp>
        <p:nvSpPr>
          <p:cNvPr id="11" name="Rounded Rectangle 10"/>
          <p:cNvSpPr/>
          <p:nvPr/>
        </p:nvSpPr>
        <p:spPr>
          <a:xfrm>
            <a:off x="3431286"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Anglais</a:t>
            </a:r>
          </a:p>
          <a:p>
            <a:pPr algn="ctr">
              <a:lnSpc>
                <a:spcPct val="112000"/>
              </a:lnSpc>
              <a:spcBef>
                <a:spcPts val="0"/>
              </a:spcBef>
              <a:spcAft>
                <a:spcPts val="100"/>
              </a:spcAft>
            </a:pPr>
            <a:r>
              <a:rPr sz="1200" b="0" i="0">
                <a:solidFill>
                  <a:srgbClr val="5B6879"/>
                </a:solidFill>
                <a:latin typeface="Calibri"/>
              </a:rPr>
              <a:t>très bon niveau. Attention aux faux amis et au registre : précisez « académique » ou « familier ».</a:t>
            </a:r>
          </a:p>
        </p:txBody>
      </p:sp>
      <p:sp>
        <p:nvSpPr>
          <p:cNvPr id="12" name="Rounded Rectangle 11"/>
          <p:cNvSpPr/>
          <p:nvPr/>
        </p:nvSpPr>
        <p:spPr>
          <a:xfrm>
            <a:off x="6176772" y="3337560"/>
            <a:ext cx="2580894" cy="286207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Arabe</a:t>
            </a:r>
          </a:p>
          <a:p>
            <a:pPr algn="ctr">
              <a:lnSpc>
                <a:spcPct val="112000"/>
              </a:lnSpc>
              <a:spcBef>
                <a:spcPts val="0"/>
              </a:spcBef>
              <a:spcAft>
                <a:spcPts val="100"/>
              </a:spcAft>
            </a:pPr>
            <a:r>
              <a:rPr sz="1200" b="0" i="0">
                <a:solidFill>
                  <a:srgbClr val="5B6879"/>
                </a:solidFill>
                <a:latin typeface="Calibri"/>
              </a:rPr>
              <a:t>correct, mais fragile sur les formes verbales et le genre. Faites toujours relire par un natif.</a:t>
            </a:r>
          </a:p>
        </p:txBody>
      </p:sp>
      <p:sp>
        <p:nvSpPr>
          <p:cNvPr id="13" name="Rounded Rectangle 12"/>
          <p:cNvSpPr/>
          <p:nvPr/>
        </p:nvSpPr>
        <p:spPr>
          <a:xfrm>
            <a:off x="8922258" y="3337560"/>
            <a:ext cx="2580894" cy="286207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Traduction littéraire</a:t>
            </a:r>
          </a:p>
          <a:p>
            <a:pPr algn="ctr">
              <a:lnSpc>
                <a:spcPct val="112000"/>
              </a:lnSpc>
              <a:spcBef>
                <a:spcPts val="0"/>
              </a:spcBef>
              <a:spcAft>
                <a:spcPts val="100"/>
              </a:spcAft>
            </a:pPr>
            <a:r>
              <a:rPr sz="1200" b="0" i="0">
                <a:solidFill>
                  <a:srgbClr val="5B6879"/>
                </a:solidFill>
                <a:latin typeface="Calibri"/>
              </a:rPr>
              <a:t>traduit le sens, pas le tour. Jamais pour un texte que vous devez signer.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21</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Cas 5 — Préparer un cours de FLE avec l'IA</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26</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Plusieurs d'entre vous enseigneront l'anglais. C'est le domaine où l'IA vous fait gagner le plus de temps, parce que le matériel est standardisé.</a:t>
            </a:r>
          </a:p>
        </p:txBody>
      </p:sp>
      <p:sp>
        <p:nvSpPr>
          <p:cNvPr id="12" name="Rounded Rectangle 11"/>
          <p:cNvSpPr/>
          <p:nvPr/>
        </p:nvSpPr>
        <p:spPr>
          <a:xfrm>
            <a:off x="685800"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Fiche de vocabulaire</a:t>
            </a:r>
          </a:p>
          <a:p>
            <a:pPr algn="ctr">
              <a:lnSpc>
                <a:spcPct val="112000"/>
              </a:lnSpc>
              <a:spcBef>
                <a:spcPts val="0"/>
              </a:spcBef>
              <a:spcAft>
                <a:spcPts val="100"/>
              </a:spcAft>
            </a:pPr>
            <a:r>
              <a:rPr sz="1200" b="0" i="0">
                <a:solidFill>
                  <a:srgbClr val="5B6879"/>
                </a:solidFill>
                <a:latin typeface="Calibri"/>
              </a:rPr>
              <a:t>20 mots avec le niveau CECRL, des exemples et un exercice</a:t>
            </a:r>
          </a:p>
        </p:txBody>
      </p:sp>
      <p:sp>
        <p:nvSpPr>
          <p:cNvPr id="13" name="Rounded Rectangle 12"/>
          <p:cNvSpPr/>
          <p:nvPr/>
        </p:nvSpPr>
        <p:spPr>
          <a:xfrm>
            <a:off x="3431286" y="3337560"/>
            <a:ext cx="2580894" cy="286207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Activités de classe</a:t>
            </a:r>
          </a:p>
          <a:p>
            <a:pPr algn="ctr">
              <a:lnSpc>
                <a:spcPct val="112000"/>
              </a:lnSpc>
              <a:spcBef>
                <a:spcPts val="0"/>
              </a:spcBef>
              <a:spcAft>
                <a:spcPts val="100"/>
              </a:spcAft>
            </a:pPr>
            <a:r>
              <a:rPr sz="1200" b="0" i="0">
                <a:solidFill>
                  <a:srgbClr val="5B6879"/>
                </a:solidFill>
                <a:latin typeface="Calibri"/>
              </a:rPr>
              <a:t>jeux de rôle, jeux de rôle grammaticaux, textes à trous</a:t>
            </a:r>
          </a:p>
        </p:txBody>
      </p:sp>
      <p:sp>
        <p:nvSpPr>
          <p:cNvPr id="14" name="Rounded Rectangle 13"/>
          <p:cNvSpPr/>
          <p:nvPr/>
        </p:nvSpPr>
        <p:spPr>
          <a:xfrm>
            <a:off x="6176772" y="3337560"/>
            <a:ext cx="2580894" cy="286207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122A4F"/>
                </a:solidFill>
                <a:latin typeface="Calibri"/>
              </a:rPr>
              <a:t>Évaluation corrigée</a:t>
            </a:r>
          </a:p>
          <a:p>
            <a:pPr algn="ctr">
              <a:lnSpc>
                <a:spcPct val="112000"/>
              </a:lnSpc>
              <a:spcBef>
                <a:spcPts val="0"/>
              </a:spcBef>
              <a:spcAft>
                <a:spcPts val="100"/>
              </a:spcAft>
            </a:pPr>
            <a:r>
              <a:rPr sz="1200" b="0" i="0">
                <a:solidFill>
                  <a:srgbClr val="5B6879"/>
                </a:solidFill>
                <a:latin typeface="Calibri"/>
              </a:rPr>
              <a:t>QCM, exercices, barème, et l'explication de chaque erreur attendue</a:t>
            </a:r>
          </a:p>
        </p:txBody>
      </p:sp>
      <p:sp>
        <p:nvSpPr>
          <p:cNvPr id="15" name="Rounded Rectangle 14"/>
          <p:cNvSpPr/>
          <p:nvPr/>
        </p:nvSpPr>
        <p:spPr>
          <a:xfrm>
            <a:off x="8922258" y="3337560"/>
            <a:ext cx="2580894" cy="286207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0F4A32"/>
                </a:solidFill>
                <a:latin typeface="Calibri"/>
              </a:rPr>
              <a:t>Adaptation</a:t>
            </a:r>
          </a:p>
          <a:p>
            <a:pPr algn="ctr">
              <a:lnSpc>
                <a:spcPct val="112000"/>
              </a:lnSpc>
              <a:spcBef>
                <a:spcPts val="0"/>
              </a:spcBef>
              <a:spcAft>
                <a:spcPts val="100"/>
              </a:spcAft>
            </a:pPr>
            <a:r>
              <a:rPr sz="1200" b="0" i="0">
                <a:solidFill>
                  <a:srgbClr val="5B6879"/>
                </a:solidFill>
                <a:latin typeface="Calibri"/>
              </a:rPr>
              <a:t>un même texte rendu plus facile pour un niveau déterminé, sans le réécrire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
            <a:ext cx="12191695" cy="581558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1874519"/>
            <a:ext cx="960120" cy="960120"/>
          </a:xfrm>
          <a:prstGeom prst="roundRect">
            <a:avLst>
              <a:gd name="adj" fmla="val 50000"/>
            </a:avLst>
          </a:prstGeom>
          <a:solidFill>
            <a:srgbClr val="1A3864"/>
          </a:solidFill>
          <a:ln w="254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960120" cy="960120"/>
          </a:xfrm>
          <a:prstGeom prst="rect">
            <a:avLst/>
          </a:prstGeom>
          <a:noFill/>
        </p:spPr>
        <p:txBody>
          <a:bodyPr wrap="square" lIns="0" rIns="0" tIns="0" bIns="0" anchor="ctr">
            <a:spAutoFit/>
          </a:bodyPr>
          <a:lstStyle/>
          <a:p>
            <a:pPr algn="ctr">
              <a:lnSpc>
                <a:spcPct val="112000"/>
              </a:lnSpc>
              <a:spcBef>
                <a:spcPts val="0"/>
              </a:spcBef>
              <a:spcAft>
                <a:spcPts val="0"/>
              </a:spcAft>
            </a:pPr>
            <a:r>
              <a:rPr sz="3000" b="1" i="0">
                <a:solidFill>
                  <a:srgbClr val="FFFFFF"/>
                </a:solidFill>
                <a:latin typeface="Calibri"/>
              </a:rPr>
              <a:t>5</a:t>
            </a:r>
          </a:p>
        </p:txBody>
      </p:sp>
      <p:sp>
        <p:nvSpPr>
          <p:cNvPr id="6" name="TextBox 5"/>
          <p:cNvSpPr txBox="1"/>
          <p:nvPr/>
        </p:nvSpPr>
        <p:spPr>
          <a:xfrm>
            <a:off x="2240280" y="1874519"/>
            <a:ext cx="8595360" cy="960120"/>
          </a:xfrm>
          <a:prstGeom prst="rect">
            <a:avLst/>
          </a:prstGeom>
          <a:noFill/>
        </p:spPr>
        <p:txBody>
          <a:bodyPr wrap="square" lIns="0" rIns="0" tIns="0" bIns="0" anchor="ctr">
            <a:spAutoFit/>
          </a:bodyPr>
          <a:lstStyle/>
          <a:p>
            <a:pPr algn="l">
              <a:lnSpc>
                <a:spcPct val="112000"/>
              </a:lnSpc>
              <a:spcBef>
                <a:spcPts val="0"/>
              </a:spcBef>
              <a:spcAft>
                <a:spcPts val="0"/>
              </a:spcAft>
            </a:pPr>
            <a:r>
              <a:rPr sz="3400" b="1" i="0">
                <a:solidFill>
                  <a:srgbClr val="FFFFFF"/>
                </a:solidFill>
                <a:latin typeface="Calibri"/>
              </a:rPr>
              <a:t>Les vraies astuces du terrain</a:t>
            </a:r>
          </a:p>
        </p:txBody>
      </p:sp>
      <p:sp>
        <p:nvSpPr>
          <p:cNvPr id="7" name="TextBox 6"/>
          <p:cNvSpPr txBox="1"/>
          <p:nvPr/>
        </p:nvSpPr>
        <p:spPr>
          <a:xfrm>
            <a:off x="1005840" y="3154680"/>
            <a:ext cx="10149840" cy="1280160"/>
          </a:xfrm>
          <a:prstGeom prst="rect">
            <a:avLst/>
          </a:prstGeom>
          <a:noFill/>
        </p:spPr>
        <p:txBody>
          <a:bodyPr wrap="square" lIns="0" rIns="0" tIns="0" bIns="0" anchor="t">
            <a:spAutoFit/>
          </a:bodyPr>
          <a:lstStyle/>
          <a:p>
            <a:pPr algn="l">
              <a:lnSpc>
                <a:spcPct val="125000"/>
              </a:lnSpc>
              <a:spcBef>
                <a:spcPts val="0"/>
              </a:spcBef>
              <a:spcAft>
                <a:spcPts val="1000"/>
              </a:spcAft>
            </a:pPr>
            <a:r>
              <a:rPr sz="1700" b="0" i="0">
                <a:solidFill>
                  <a:srgbClr val="FFFFFF"/>
                </a:solidFill>
                <a:latin typeface="Calibri"/>
              </a:rPr>
              <a:t>Ce que font les étudiants qui en tirent le plus : des gestes simples, ningún outil interdit, aucune règle de produit violée.</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Contourner les limites sans tricher</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Les quatre pièges à éviter</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La charte en sept lignes</a:t>
            </a:r>
          </a:p>
          <a:p>
            <a:pPr algn="l">
              <a:lnSpc>
                <a:spcPct val="112000"/>
              </a:lnSpc>
              <a:spcBef>
                <a:spcPts val="0"/>
              </a:spcBef>
              <a:spcAft>
                <a:spcPts val="600"/>
              </a:spcAft>
            </a:pPr>
            <a:r>
              <a:rPr sz="1450" b="0" i="0">
                <a:solidFill>
                  <a:srgbClr val="C5D6EA"/>
                </a:solidFill>
                <a:latin typeface="Calibri"/>
              </a:rPr>
              <a:t>→  </a:t>
            </a:r>
            <a:r>
              <a:rPr sz="1450" b="0" i="0">
                <a:solidFill>
                  <a:srgbClr val="C5D6EA"/>
                </a:solidFill>
                <a:latin typeface="Calibri"/>
              </a:rPr>
              <a:t>Cinq gestes à retenir</a:t>
            </a:r>
          </a:p>
        </p:txBody>
      </p:sp>
      <p:sp>
        <p:nvSpPr>
          <p:cNvPr id="8" name="Rectangle 7"/>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10" name="TextBox 9"/>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22</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Sept solutions qui marchent vraiment</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28</a:t>
            </a:r>
          </a:p>
        </p:txBody>
      </p:sp>
      <p:sp>
        <p:nvSpPr>
          <p:cNvPr id="10" name="Rounded Rectangle 9"/>
          <p:cNvSpPr/>
          <p:nvPr/>
        </p:nvSpPr>
        <p:spPr>
          <a:xfrm>
            <a:off x="502920" y="2048256"/>
            <a:ext cx="11183112" cy="868680"/>
          </a:xfrm>
          <a:prstGeom prst="roundRect">
            <a:avLst>
              <a:gd name="adj" fmla="val 10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76272"/>
            <a:ext cx="10634472" cy="612647"/>
          </a:xfrm>
          <a:prstGeom prst="rect">
            <a:avLst/>
          </a:prstGeom>
          <a:noFill/>
        </p:spPr>
        <p:txBody>
          <a:bodyPr wrap="square" lIns="0" rIns="0" tIns="0" bIns="0" anchor="t">
            <a:spAutoFit/>
          </a:bodyPr>
          <a:lstStyle/>
          <a:p>
            <a:pPr algn="l">
              <a:lnSpc>
                <a:spcPct val="116000"/>
              </a:lnSpc>
              <a:spcBef>
                <a:spcPts val="0"/>
              </a:spcBef>
              <a:spcAft>
                <a:spcPts val="0"/>
              </a:spcAft>
            </a:pPr>
            <a:r>
              <a:rPr sz="1900" b="0" i="0">
                <a:solidFill>
                  <a:srgbClr val="1B2433"/>
                </a:solidFill>
                <a:latin typeface="Calibri"/>
              </a:rPr>
              <a:t>Vous allez être bloqués. Voilà ce que font les étudiants qui n'arrêtent jamais de travailler — sans créer de compte fantôme et sans script de contournement.</a:t>
            </a:r>
          </a:p>
        </p:txBody>
      </p:sp>
      <p:sp>
        <p:nvSpPr>
          <p:cNvPr id="12" name="Rectangle 11"/>
          <p:cNvSpPr/>
          <p:nvPr/>
        </p:nvSpPr>
        <p:spPr>
          <a:xfrm>
            <a:off x="685800" y="3154680"/>
            <a:ext cx="4133087" cy="28575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154680"/>
            <a:ext cx="3913631" cy="28575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Le problème</a:t>
            </a:r>
          </a:p>
        </p:txBody>
      </p:sp>
      <p:sp>
        <p:nvSpPr>
          <p:cNvPr id="14" name="Rectangle 13"/>
          <p:cNvSpPr/>
          <p:nvPr/>
        </p:nvSpPr>
        <p:spPr>
          <a:xfrm>
            <a:off x="4846320" y="3154680"/>
            <a:ext cx="6629400" cy="28575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6048" y="3154680"/>
            <a:ext cx="6409944" cy="285750"/>
          </a:xfrm>
          <a:prstGeom prst="rect">
            <a:avLst/>
          </a:prstGeom>
          <a:noFill/>
        </p:spPr>
        <p:txBody>
          <a:bodyPr wrap="square" lIns="0" rIns="0" tIns="0" bIns="0" anchor="ctr">
            <a:spAutoFit/>
          </a:bodyPr>
          <a:lstStyle/>
          <a:p>
            <a:pPr algn="l">
              <a:lnSpc>
                <a:spcPct val="112000"/>
              </a:lnSpc>
              <a:spcBef>
                <a:spcPts val="0"/>
              </a:spcBef>
              <a:spcAft>
                <a:spcPts val="0"/>
              </a:spcAft>
            </a:pPr>
            <a:r>
              <a:rPr sz="1250" b="1" i="0">
                <a:solidFill>
                  <a:srgbClr val="FFFFFF"/>
                </a:solidFill>
                <a:latin typeface="Calibri"/>
              </a:rPr>
              <a:t>Ce qui marche</a:t>
            </a:r>
          </a:p>
        </p:txBody>
      </p:sp>
      <p:sp>
        <p:nvSpPr>
          <p:cNvPr id="16" name="Rectangle 15"/>
          <p:cNvSpPr/>
          <p:nvPr/>
        </p:nvSpPr>
        <p:spPr>
          <a:xfrm>
            <a:off x="685800" y="3440430"/>
            <a:ext cx="10817352" cy="25831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44043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Le quota est atteint</a:t>
            </a:r>
          </a:p>
        </p:txBody>
      </p:sp>
      <p:sp>
        <p:nvSpPr>
          <p:cNvPr id="18" name="TextBox 17"/>
          <p:cNvSpPr txBox="1"/>
          <p:nvPr/>
        </p:nvSpPr>
        <p:spPr>
          <a:xfrm>
            <a:off x="4956048" y="344043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regrouper 5 questions en un seul message</a:t>
            </a:r>
          </a:p>
        </p:txBody>
      </p:sp>
      <p:sp>
        <p:nvSpPr>
          <p:cNvPr id="19" name="Rectangle 18"/>
          <p:cNvSpPr/>
          <p:nvPr/>
        </p:nvSpPr>
        <p:spPr>
          <a:xfrm>
            <a:off x="685800" y="3726180"/>
            <a:ext cx="10817352" cy="2583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72618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Toujours bloqué</a:t>
            </a:r>
          </a:p>
        </p:txBody>
      </p:sp>
      <p:sp>
        <p:nvSpPr>
          <p:cNvPr id="21" name="TextBox 20"/>
          <p:cNvSpPr txBox="1"/>
          <p:nvPr/>
        </p:nvSpPr>
        <p:spPr>
          <a:xfrm>
            <a:off x="4956048" y="372618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changer d'outil : ChatGPT, Gemini, Claude, DeepSeek</a:t>
            </a:r>
          </a:p>
        </p:txBody>
      </p:sp>
      <p:sp>
        <p:nvSpPr>
          <p:cNvPr id="22" name="Rectangle 21"/>
          <p:cNvSpPr/>
          <p:nvPr/>
        </p:nvSpPr>
        <p:spPr>
          <a:xfrm>
            <a:off x="685800" y="4011930"/>
            <a:ext cx="10817352" cy="25831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401193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Le site ne s'ouvre plus</a:t>
            </a:r>
          </a:p>
        </p:txBody>
      </p:sp>
      <p:sp>
        <p:nvSpPr>
          <p:cNvPr id="24" name="TextBox 23"/>
          <p:cNvSpPr txBox="1"/>
          <p:nvPr/>
        </p:nvSpPr>
        <p:spPr>
          <a:xfrm>
            <a:off x="4956048" y="401193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l'application mobile fonctionne souvent</a:t>
            </a:r>
          </a:p>
        </p:txBody>
      </p:sp>
      <p:sp>
        <p:nvSpPr>
          <p:cNvPr id="25" name="Rectangle 24"/>
          <p:cNvSpPr/>
          <p:nvPr/>
        </p:nvSpPr>
        <p:spPr>
          <a:xfrm>
            <a:off x="685800" y="4297680"/>
            <a:ext cx="10817352" cy="2583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429768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Trop lent aux heures de pointe</a:t>
            </a:r>
          </a:p>
        </p:txBody>
      </p:sp>
      <p:sp>
        <p:nvSpPr>
          <p:cNvPr id="27" name="TextBox 26"/>
          <p:cNvSpPr txBox="1"/>
          <p:nvPr/>
        </p:nvSpPr>
        <p:spPr>
          <a:xfrm>
            <a:off x="4956048" y="429768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travailler aux heures creuses</a:t>
            </a:r>
          </a:p>
        </p:txBody>
      </p:sp>
      <p:sp>
        <p:nvSpPr>
          <p:cNvPr id="28" name="Rectangle 27"/>
          <p:cNvSpPr/>
          <p:nvPr/>
        </p:nvSpPr>
        <p:spPr>
          <a:xfrm>
            <a:off x="685800" y="4583430"/>
            <a:ext cx="10817352" cy="25831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458343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C'est cher</a:t>
            </a:r>
          </a:p>
        </p:txBody>
      </p:sp>
      <p:sp>
        <p:nvSpPr>
          <p:cNvPr id="30" name="TextBox 29"/>
          <p:cNvSpPr txBox="1"/>
          <p:nvPr/>
        </p:nvSpPr>
        <p:spPr>
          <a:xfrm>
            <a:off x="4956048" y="458343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chercher l'offre étudiante officielle de l'université</a:t>
            </a:r>
          </a:p>
        </p:txBody>
      </p:sp>
      <p:sp>
        <p:nvSpPr>
          <p:cNvPr id="31" name="Rectangle 30"/>
          <p:cNvSpPr/>
          <p:nvPr/>
        </p:nvSpPr>
        <p:spPr>
          <a:xfrm>
            <a:off x="685800" y="4869180"/>
            <a:ext cx="10817352" cy="25831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486918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La session va expire</a:t>
            </a:r>
          </a:p>
        </p:txBody>
      </p:sp>
      <p:sp>
        <p:nvSpPr>
          <p:cNvPr id="33" name="TextBox 32"/>
          <p:cNvSpPr txBox="1"/>
          <p:nvPr/>
        </p:nvSpPr>
        <p:spPr>
          <a:xfrm>
            <a:off x="4956048" y="486918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copier la réponse avant de la perdre</a:t>
            </a:r>
          </a:p>
        </p:txBody>
      </p:sp>
      <p:sp>
        <p:nvSpPr>
          <p:cNvPr id="34" name="Rectangle 33"/>
          <p:cNvSpPr/>
          <p:nvPr/>
        </p:nvSpPr>
        <p:spPr>
          <a:xfrm>
            <a:off x="685800" y="5154930"/>
            <a:ext cx="10817352" cy="258317"/>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154930"/>
            <a:ext cx="3913631"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1" i="0">
                <a:solidFill>
                  <a:srgbClr val="122A4F"/>
                </a:solidFill>
                <a:latin typeface="Calibri"/>
              </a:rPr>
              <a:t>La réponse est trop générique</a:t>
            </a:r>
          </a:p>
        </p:txBody>
      </p:sp>
      <p:sp>
        <p:nvSpPr>
          <p:cNvPr id="36" name="TextBox 35"/>
          <p:cNvSpPr txBox="1"/>
          <p:nvPr/>
        </p:nvSpPr>
        <p:spPr>
          <a:xfrm>
            <a:off x="4956048" y="5154930"/>
            <a:ext cx="6409944" cy="258317"/>
          </a:xfrm>
          <a:prstGeom prst="rect">
            <a:avLst/>
          </a:prstGeom>
          <a:noFill/>
        </p:spPr>
        <p:txBody>
          <a:bodyPr wrap="square" lIns="0" rIns="0" tIns="0" bIns="0" anchor="ctr">
            <a:spAutoFit/>
          </a:bodyPr>
          <a:lstStyle/>
          <a:p>
            <a:pPr algn="l">
              <a:lnSpc>
                <a:spcPct val="105000"/>
              </a:lnSpc>
              <a:spcBef>
                <a:spcPts val="0"/>
              </a:spcBef>
              <a:spcAft>
                <a:spcPts val="0"/>
              </a:spcAft>
            </a:pPr>
            <a:r>
              <a:rPr sz="1250" b="0" i="0">
                <a:solidFill>
                  <a:srgbClr val="1B2433"/>
                </a:solidFill>
                <a:latin typeface="Calibri"/>
              </a:rPr>
              <a:t> rôle + contexte + tâche + format + contraintes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23</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Les quatre pièges, et la charte</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29</a:t>
            </a:r>
          </a:p>
        </p:txBody>
      </p:sp>
      <p:sp>
        <p:nvSpPr>
          <p:cNvPr id="10" name="Rounded Rectangle 9"/>
          <p:cNvSpPr/>
          <p:nvPr/>
        </p:nvSpPr>
        <p:spPr>
          <a:xfrm>
            <a:off x="685800" y="3291840"/>
            <a:ext cx="2580894"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1 · Elle invente</a:t>
            </a:r>
          </a:p>
          <a:p>
            <a:pPr algn="ctr">
              <a:lnSpc>
                <a:spcPct val="112000"/>
              </a:lnSpc>
              <a:spcBef>
                <a:spcPts val="0"/>
              </a:spcBef>
              <a:spcAft>
                <a:spcPts val="100"/>
              </a:spcAft>
            </a:pPr>
            <a:r>
              <a:rPr sz="1200" b="0" i="0">
                <a:solidFill>
                  <a:srgbClr val="5B6879"/>
                </a:solidFill>
                <a:latin typeface="Calibri"/>
              </a:rPr>
              <a:t>une référence, un chiffre, un auteur. Toujours vérifier avant de citer.</a:t>
            </a:r>
          </a:p>
        </p:txBody>
      </p:sp>
      <p:sp>
        <p:nvSpPr>
          <p:cNvPr id="11" name="Rounded Rectangle 10"/>
          <p:cNvSpPr/>
          <p:nvPr/>
        </p:nvSpPr>
        <p:spPr>
          <a:xfrm>
            <a:off x="3431286" y="3291840"/>
            <a:ext cx="2580894"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2 · Elle se trompe sur vous</a:t>
            </a:r>
          </a:p>
          <a:p>
            <a:pPr algn="ctr">
              <a:lnSpc>
                <a:spcPct val="112000"/>
              </a:lnSpc>
              <a:spcBef>
                <a:spcPts val="0"/>
              </a:spcBef>
              <a:spcAft>
                <a:spcPts val="100"/>
              </a:spcAft>
            </a:pPr>
            <a:r>
              <a:rPr sz="1200" b="0" i="0">
                <a:solidFill>
                  <a:srgbClr val="5B6879"/>
                </a:solidFill>
                <a:latin typeface="Calibri"/>
              </a:rPr>
              <a:t>elle ne sait pas votre niveau, votre module, votre programme : dites-le.</a:t>
            </a:r>
          </a:p>
        </p:txBody>
      </p:sp>
      <p:sp>
        <p:nvSpPr>
          <p:cNvPr id="12" name="Rounded Rectangle 11"/>
          <p:cNvSpPr/>
          <p:nvPr/>
        </p:nvSpPr>
        <p:spPr>
          <a:xfrm>
            <a:off x="6176772" y="3291840"/>
            <a:ext cx="2580894"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3 · Elle oublie</a:t>
            </a:r>
          </a:p>
          <a:p>
            <a:pPr algn="ctr">
              <a:lnSpc>
                <a:spcPct val="112000"/>
              </a:lnSpc>
              <a:spcBef>
                <a:spcPts val="0"/>
              </a:spcBef>
              <a:spcAft>
                <a:spcPts val="100"/>
              </a:spcAft>
            </a:pPr>
            <a:r>
              <a:rPr sz="1200" b="0" i="0">
                <a:solidFill>
                  <a:srgbClr val="5B6879"/>
                </a:solidFill>
                <a:latin typeface="Calibri"/>
              </a:rPr>
              <a:t>au-delà de quelques pages, la conversation n'est plus reliable : reprenez le contexte.</a:t>
            </a:r>
          </a:p>
        </p:txBody>
      </p:sp>
      <p:sp>
        <p:nvSpPr>
          <p:cNvPr id="13" name="Rounded Rectangle 12"/>
          <p:cNvSpPr/>
          <p:nvPr/>
        </p:nvSpPr>
        <p:spPr>
          <a:xfrm>
            <a:off x="8922258" y="3291840"/>
            <a:ext cx="2580894" cy="290779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550" b="1" i="0">
                <a:solidFill>
                  <a:srgbClr val="7A4205"/>
                </a:solidFill>
                <a:latin typeface="Calibri"/>
              </a:rPr>
              <a:t>4 · Elle expose</a:t>
            </a:r>
          </a:p>
          <a:p>
            <a:pPr algn="ctr">
              <a:lnSpc>
                <a:spcPct val="112000"/>
              </a:lnSpc>
              <a:spcBef>
                <a:spcPts val="0"/>
              </a:spcBef>
              <a:spcAft>
                <a:spcPts val="100"/>
              </a:spcAft>
            </a:pPr>
            <a:r>
              <a:rPr sz="1200" b="0" i="0">
                <a:solidFill>
                  <a:srgbClr val="5B6879"/>
                </a:solidFill>
                <a:latin typeface="Calibri"/>
              </a:rPr>
              <a:t>coller un nom, une adresse, une photo de carte d'étudiant : ne le faites jamais.</a:t>
            </a:r>
          </a:p>
        </p:txBody>
      </p:sp>
      <p:sp>
        <p:nvSpPr>
          <p:cNvPr id="14" name="TextBox 13"/>
          <p:cNvSpPr txBox="1"/>
          <p:nvPr/>
        </p:nvSpPr>
        <p:spPr>
          <a:xfrm>
            <a:off x="777240" y="5212080"/>
            <a:ext cx="10634472" cy="548640"/>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22A4F"/>
                </a:solidFill>
                <a:latin typeface="Calibri"/>
              </a:rPr>
              <a:t>La charte en une ligne : </a:t>
            </a:r>
            <a:r>
              <a:rPr sz="1600" b="0" i="0">
                <a:solidFill>
                  <a:srgbClr val="1B2433"/>
                </a:solidFill>
                <a:latin typeface="Calibri"/>
              </a:rPr>
              <a:t>l'IA propose, l'humain décide, l'étudiant assume.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34440" cy="310896"/>
          </a:xfrm>
          <a:prstGeom prst="roundRect">
            <a:avLst>
              <a:gd name="adj" fmla="val 25000"/>
            </a:avLst>
          </a:prstGeom>
          <a:solidFill>
            <a:srgbClr val="E4EFF9"/>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30352"/>
            <a:ext cx="1234440" cy="310896"/>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24</a:t>
            </a:r>
          </a:p>
        </p:txBody>
      </p:sp>
      <p:sp>
        <p:nvSpPr>
          <p:cNvPr id="5" name="TextBox 4"/>
          <p:cNvSpPr txBox="1"/>
          <p:nvPr/>
        </p:nvSpPr>
        <p:spPr>
          <a:xfrm>
            <a:off x="685800" y="969264"/>
            <a:ext cx="10817352"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Cinq gestes, et ton défi de la semaine</a:t>
            </a:r>
          </a:p>
        </p:txBody>
      </p:sp>
      <p:sp>
        <p:nvSpPr>
          <p:cNvPr id="6" name="Rectangle 5"/>
          <p:cNvSpPr/>
          <p:nvPr/>
        </p:nvSpPr>
        <p:spPr>
          <a:xfrm>
            <a:off x="685800" y="1956816"/>
            <a:ext cx="10817352" cy="9144"/>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Q/R — Cours 01 · Introduction à l'IA   |   Dr. Madani BELACEL — Université de Mostaganem</a:t>
            </a:r>
          </a:p>
        </p:txBody>
      </p:sp>
      <p:sp>
        <p:nvSpPr>
          <p:cNvPr id="9" name="TextBox 8"/>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30</a:t>
            </a:r>
          </a:p>
        </p:txBody>
      </p:sp>
      <p:sp>
        <p:nvSpPr>
          <p:cNvPr id="10" name="Rounded Rectangle 9"/>
          <p:cNvSpPr/>
          <p:nvPr/>
        </p:nvSpPr>
        <p:spPr>
          <a:xfrm>
            <a:off x="685800" y="3154680"/>
            <a:ext cx="2031796" cy="304495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400" b="1" i="0">
                <a:solidFill>
                  <a:srgbClr val="122A4F"/>
                </a:solidFill>
                <a:latin typeface="Calibri"/>
              </a:rPr>
              <a:t>1 · Commence par l'exemple</a:t>
            </a:r>
          </a:p>
          <a:p>
            <a:pPr algn="ctr">
              <a:lnSpc>
                <a:spcPct val="112000"/>
              </a:lnSpc>
              <a:spcBef>
                <a:spcPts val="0"/>
              </a:spcBef>
              <a:spcAft>
                <a:spcPts val="100"/>
              </a:spcAft>
            </a:pPr>
            <a:r>
              <a:rPr sz="1100" b="0" i="0">
                <a:solidFill>
                  <a:srgbClr val="5B6879"/>
                </a:solidFill>
                <a:latin typeface="Calibri"/>
              </a:rPr>
              <a:t>ne demande jamais « explique l'IA » : donne un cas précis.</a:t>
            </a:r>
          </a:p>
        </p:txBody>
      </p:sp>
      <p:sp>
        <p:nvSpPr>
          <p:cNvPr id="11" name="Rounded Rectangle 10"/>
          <p:cNvSpPr/>
          <p:nvPr/>
        </p:nvSpPr>
        <p:spPr>
          <a:xfrm>
            <a:off x="2882188" y="3154680"/>
            <a:ext cx="2031796" cy="3044952"/>
          </a:xfrm>
          <a:prstGeom prst="roundRect">
            <a:avLst>
              <a:gd name="adj" fmla="val 14000"/>
            </a:avLst>
          </a:prstGeom>
          <a:solidFill>
            <a:srgbClr val="E4EFF9"/>
          </a:solidFill>
          <a:ln w="15875">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400" b="1" i="0">
                <a:solidFill>
                  <a:srgbClr val="122A4F"/>
                </a:solidFill>
                <a:latin typeface="Calibri"/>
              </a:rPr>
              <a:t>2 · Rôle + contexte + tâche</a:t>
            </a:r>
          </a:p>
          <a:p>
            <a:pPr algn="ctr">
              <a:lnSpc>
                <a:spcPct val="112000"/>
              </a:lnSpc>
              <a:spcBef>
                <a:spcPts val="0"/>
              </a:spcBef>
              <a:spcAft>
                <a:spcPts val="100"/>
              </a:spcAft>
            </a:pPr>
            <a:r>
              <a:rPr sz="1100" b="0" i="0">
                <a:solidFill>
                  <a:srgbClr val="5B6879"/>
                </a:solidFill>
                <a:latin typeface="Calibri"/>
              </a:rPr>
              <a:t>les trois premiers mots qui changent la qualité d'une réponse.</a:t>
            </a:r>
          </a:p>
        </p:txBody>
      </p:sp>
      <p:sp>
        <p:nvSpPr>
          <p:cNvPr id="12" name="Rounded Rectangle 11"/>
          <p:cNvSpPr/>
          <p:nvPr/>
        </p:nvSpPr>
        <p:spPr>
          <a:xfrm>
            <a:off x="5078577" y="3154680"/>
            <a:ext cx="2031796" cy="304495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400" b="1" i="0">
                <a:solidFill>
                  <a:srgbClr val="0F4A32"/>
                </a:solidFill>
                <a:latin typeface="Calibri"/>
              </a:rPr>
              <a:t>3 · Fais critiquer avant de rendre</a:t>
            </a:r>
          </a:p>
          <a:p>
            <a:pPr algn="ctr">
              <a:lnSpc>
                <a:spcPct val="112000"/>
              </a:lnSpc>
              <a:spcBef>
                <a:spcPts val="0"/>
              </a:spcBef>
              <a:spcAft>
                <a:spcPts val="100"/>
              </a:spcAft>
            </a:pPr>
            <a:r>
              <a:rPr sz="1100" b="0" i="0">
                <a:solidFill>
                  <a:srgbClr val="5B6879"/>
                </a:solidFill>
                <a:latin typeface="Calibri"/>
              </a:rPr>
              <a:t>une relecture à froid trouve ce que tu ne vois plus.</a:t>
            </a:r>
          </a:p>
        </p:txBody>
      </p:sp>
      <p:sp>
        <p:nvSpPr>
          <p:cNvPr id="13" name="Rounded Rectangle 12"/>
          <p:cNvSpPr/>
          <p:nvPr/>
        </p:nvSpPr>
        <p:spPr>
          <a:xfrm>
            <a:off x="7274966" y="3154680"/>
            <a:ext cx="2031796" cy="3044952"/>
          </a:xfrm>
          <a:prstGeom prst="roundRect">
            <a:avLst>
              <a:gd name="adj" fmla="val 14000"/>
            </a:avLst>
          </a:prstGeom>
          <a:solidFill>
            <a:srgbClr val="E4F5EC"/>
          </a:solidFill>
          <a:ln w="15875">
            <a:solidFill>
              <a:srgbClr val="1B7A5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400" b="1" i="0">
                <a:solidFill>
                  <a:srgbClr val="0F4A32"/>
                </a:solidFill>
                <a:latin typeface="Calibri"/>
              </a:rPr>
              <a:t>4 · Demande le plan</a:t>
            </a:r>
          </a:p>
          <a:p>
            <a:pPr algn="ctr">
              <a:lnSpc>
                <a:spcPct val="112000"/>
              </a:lnSpc>
              <a:spcBef>
                <a:spcPts val="0"/>
              </a:spcBef>
              <a:spcAft>
                <a:spcPts val="100"/>
              </a:spcAft>
            </a:pPr>
            <a:r>
              <a:rPr sz="1100" b="0" i="0">
                <a:solidFill>
                  <a:srgbClr val="5B6879"/>
                </a:solidFill>
                <a:latin typeface="Calibri"/>
              </a:rPr>
              <a:t>sur toute tâche qui touche un fichier, avant toute écriture.</a:t>
            </a:r>
          </a:p>
        </p:txBody>
      </p:sp>
      <p:sp>
        <p:nvSpPr>
          <p:cNvPr id="14" name="Rounded Rectangle 13"/>
          <p:cNvSpPr/>
          <p:nvPr/>
        </p:nvSpPr>
        <p:spPr>
          <a:xfrm>
            <a:off x="9471355" y="3154680"/>
            <a:ext cx="2031796" cy="3044952"/>
          </a:xfrm>
          <a:prstGeom prst="roundRect">
            <a:avLst>
              <a:gd name="adj" fmla="val 14000"/>
            </a:avLst>
          </a:prstGeom>
          <a:solidFill>
            <a:srgbClr val="FDF0DD"/>
          </a:solidFill>
          <a:ln w="15875">
            <a:solidFill>
              <a:srgbClr val="C2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108000"/>
              </a:lnSpc>
              <a:spcBef>
                <a:spcPts val="0"/>
              </a:spcBef>
              <a:spcAft>
                <a:spcPts val="300"/>
              </a:spcAft>
            </a:pPr>
            <a:r>
              <a:rPr sz="1400" b="1" i="0">
                <a:solidFill>
                  <a:srgbClr val="7A4205"/>
                </a:solidFill>
                <a:latin typeface="Calibri"/>
              </a:rPr>
              <a:t>5 · Vérifie toujours</a:t>
            </a:r>
          </a:p>
          <a:p>
            <a:pPr algn="ctr">
              <a:lnSpc>
                <a:spcPct val="112000"/>
              </a:lnSpc>
              <a:spcBef>
                <a:spcPts val="0"/>
              </a:spcBef>
              <a:spcAft>
                <a:spcPts val="100"/>
              </a:spcAft>
            </a:pPr>
            <a:r>
              <a:rPr sz="1100" b="0" i="0">
                <a:solidFill>
                  <a:srgbClr val="5B6879"/>
                </a:solidFill>
                <a:latin typeface="Calibri"/>
              </a:rPr>
              <a:t>une référence, un chiffre, un nom : trente secondes de vérification.</a:t>
            </a:r>
          </a:p>
        </p:txBody>
      </p:sp>
      <p:sp>
        <p:nvSpPr>
          <p:cNvPr id="15" name="TextBox 14"/>
          <p:cNvSpPr txBox="1"/>
          <p:nvPr/>
        </p:nvSpPr>
        <p:spPr>
          <a:xfrm>
            <a:off x="777240" y="4937760"/>
            <a:ext cx="10634472" cy="868680"/>
          </a:xfrm>
          <a:prstGeom prst="rect">
            <a:avLst/>
          </a:prstGeom>
          <a:noFill/>
        </p:spPr>
        <p:txBody>
          <a:bodyPr wrap="square" lIns="0" rIns="0" tIns="0" bIns="0" anchor="t">
            <a:spAutoFit/>
          </a:bodyPr>
          <a:lstStyle/>
          <a:p>
            <a:pPr algn="l">
              <a:lnSpc>
                <a:spcPct val="120000"/>
              </a:lnSpc>
              <a:spcBef>
                <a:spcPts val="0"/>
              </a:spcBef>
              <a:spcAft>
                <a:spcPts val="0"/>
              </a:spcAft>
            </a:pPr>
            <a:r>
              <a:rPr sz="1500" b="1" i="0">
                <a:solidFill>
                  <a:srgbClr val="122A4F"/>
                </a:solidFill>
                <a:latin typeface="Calibri"/>
              </a:rPr>
              <a:t>Ton défi pour la semaine : </a:t>
            </a:r>
            <a:r>
              <a:rPr sz="1500" b="0" i="0">
                <a:solidFill>
                  <a:srgbClr val="1B2433"/>
                </a:solidFill>
                <a:latin typeface="Calibri"/>
              </a:rPr>
              <a:t>① résous un des six problèmes de la deuxième diapositive ② fabrique dix cartes mémoire sur un chapitre ③ demande le plan avant d'écrire dans un fichier. Puis raconte le résultat au prochain cours.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