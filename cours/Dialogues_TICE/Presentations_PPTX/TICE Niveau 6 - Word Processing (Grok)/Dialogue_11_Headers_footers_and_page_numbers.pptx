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914400"/>
            <a:ext cx="7680960" cy="1097280"/>
          </a:xfrm>
          <a:prstGeom prst="rect">
            <a:avLst/>
          </a:prstGeom>
          <a:noFill/>
        </p:spPr>
        <p:txBody>
          <a:bodyPr wrap="square">
            <a:spAutoFit/>
          </a:bodyPr>
          <a:lstStyle/>
          <a:p>
            <a:pPr algn="ctr">
              <a:defRPr sz="3200" b="1">
                <a:solidFill>
                  <a:srgbClr val="FFFFFF"/>
                </a:solidFill>
                <a:latin typeface="Calibri"/>
              </a:defRPr>
            </a:pPr>
            <a:r>
              <a:t>Dialogue 11 — Headers, footers and page numbers</a:t>
            </a:r>
          </a:p>
        </p:txBody>
      </p:sp>
      <p:sp>
        <p:nvSpPr>
          <p:cNvPr id="3" name="TextBox 2"/>
          <p:cNvSpPr txBox="1"/>
          <p:nvPr/>
        </p:nvSpPr>
        <p:spPr>
          <a:xfrm>
            <a:off x="731520" y="2103120"/>
            <a:ext cx="7680960" cy="731520"/>
          </a:xfrm>
          <a:prstGeom prst="rect">
            <a:avLst/>
          </a:prstGeom>
          <a:noFill/>
        </p:spPr>
        <p:txBody>
          <a:bodyPr wrap="square">
            <a:spAutoFit/>
          </a:bodyPr>
          <a:lstStyle/>
          <a:p>
            <a:pPr algn="ctr">
              <a:defRPr sz="2000" b="0">
                <a:solidFill>
                  <a:srgbClr val="C5D9C7"/>
                </a:solidFill>
                <a:latin typeface="Calibri"/>
              </a:defRPr>
            </a:pPr>
            <a:r>
              <a:t>💻 TICE Niveau 6 - Word Processing (Grok)</a:t>
            </a:r>
          </a:p>
        </p:txBody>
      </p:sp>
      <p:sp>
        <p:nvSpPr>
          <p:cNvPr id="4" name="TextBox 3"/>
          <p:cNvSpPr txBox="1"/>
          <p:nvPr/>
        </p:nvSpPr>
        <p:spPr>
          <a:xfrm>
            <a:off x="731520" y="3200400"/>
            <a:ext cx="7680960" cy="548640"/>
          </a:xfrm>
          <a:prstGeom prst="rect">
            <a:avLst/>
          </a:prstGeom>
          <a:noFill/>
        </p:spPr>
        <p:txBody>
          <a:bodyPr wrap="square">
            <a:spAutoFit/>
          </a:bodyPr>
          <a:lstStyle/>
          <a:p>
            <a:pPr algn="ctr">
              <a:defRPr sz="1400" b="0">
                <a:solidFill>
                  <a:srgbClr val="A0C0A8"/>
                </a:solidFill>
                <a:latin typeface="Calibri"/>
              </a:defRPr>
            </a:pPr>
            <a:r>
              <a:t>Dr. BELACEL Madani — Université de Mostaganem</a:t>
            </a:r>
          </a:p>
        </p:txBody>
      </p:sp>
      <p:sp>
        <p:nvSpPr>
          <p:cNvPr id="5" name="TextBox 4"/>
          <p:cNvSpPr txBox="1"/>
          <p:nvPr/>
        </p:nvSpPr>
        <p:spPr>
          <a:xfrm>
            <a:off x="731520" y="3931920"/>
            <a:ext cx="7680960" cy="457200"/>
          </a:xfrm>
          <a:prstGeom prst="rect">
            <a:avLst/>
          </a:prstGeom>
          <a:noFill/>
        </p:spPr>
        <p:txBody>
          <a:bodyPr wrap="square">
            <a:spAutoFit/>
          </a:bodyPr>
          <a:lstStyle/>
          <a:p>
            <a:pPr algn="ctr">
              <a:defRPr sz="1200" b="0">
                <a:solidFill>
                  <a:srgbClr val="80B088"/>
                </a:solidFill>
                <a:latin typeface="Calibri"/>
              </a:defRPr>
            </a:pPr>
            <a:r>
              <a:t>Dialogue 11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11 — Headers, footers and page numbers  |  💻 TICE Niveau 6 - Word Processing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1/6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Student</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What is a header and a footer?</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Qu'est-ce qu'un en-tête et un pied de page ?</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Dialogue_11_Headers_footers_and_page_numbers/01_Student.mp3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11 — Headers, footers and page numbers  |  💻 TICE Niveau 6 - Word Processing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2/6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Teacher</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The header is the area at the top of every page. The footer is the area at the bottom. They often contain the title, the author’s name or the page number.</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L'en-tête est la zone en haut de chaque page. Le pied de page est la zone en bas. Ils contiennent souvent le titre, le nom de l'auteur ou le numéro de page.</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Dialogue_11_Headers_footers_and_page_numbers/02_Teacher.mp3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11 — Headers, footers and page numbers  |  💻 TICE Niveau 6 - Word Processing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3/6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Student</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How do we add page numbers?</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Comment ajouter les numéros de page ?</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Dialogue_11_Headers_footers_and_page_numbers/03_Student.mp3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11 — Headers, footers and page numbers  |  💻 TICE Niveau 6 - Word Processing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4/6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Teacher</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Go to the Insert tab, click “Page Number”, and choose the position you prefer.</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Allez dans l'onglet Insertion, cliquez sur « Numéro de page », et choisissez la position que vous préférez.</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Dialogue_11_Headers_footers_and_page_numbers/04_Teacher.mp3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11 — Headers, footers and page numbers  |  💻 TICE Niveau 6 - Word Processing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5/6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Student</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Should every academic document have page numbers?</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Tout document académique doit-il avoir des numéros de page ?</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Dialogue_11_Headers_footers_and_page_numbers/05_Student.mp3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8229600" cy="365760"/>
          </a:xfrm>
          <a:prstGeom prst="rect">
            <a:avLst/>
          </a:prstGeom>
          <a:noFill/>
        </p:spPr>
        <p:txBody>
          <a:bodyPr wrap="square">
            <a:spAutoFit/>
          </a:bodyPr>
          <a:lstStyle/>
          <a:p>
            <a:pPr algn="l">
              <a:defRPr sz="1000" b="0">
                <a:solidFill>
                  <a:srgbClr val="666666"/>
                </a:solidFill>
                <a:latin typeface="Calibri"/>
              </a:defRPr>
            </a:pPr>
            <a:r>
              <a:t>Dialogue 11 — Headers, footers and page numbers  |  💻 TICE Niveau 6 - Word Processing (Grok)</a:t>
            </a:r>
          </a:p>
        </p:txBody>
      </p:sp>
      <p:sp>
        <p:nvSpPr>
          <p:cNvPr id="4" name="TextBox 3"/>
          <p:cNvSpPr txBox="1"/>
          <p:nvPr/>
        </p:nvSpPr>
        <p:spPr>
          <a:xfrm>
            <a:off x="7772400" y="137160"/>
            <a:ext cx="1097280" cy="365760"/>
          </a:xfrm>
          <a:prstGeom prst="rect">
            <a:avLst/>
          </a:prstGeom>
          <a:noFill/>
        </p:spPr>
        <p:txBody>
          <a:bodyPr wrap="square">
            <a:spAutoFit/>
          </a:bodyPr>
          <a:lstStyle/>
          <a:p>
            <a:pPr algn="r">
              <a:defRPr sz="1000" b="0">
                <a:solidFill>
                  <a:srgbClr val="666666"/>
                </a:solidFill>
                <a:latin typeface="Calibri"/>
              </a:defRPr>
            </a:pPr>
            <a:r>
              <a:t>6/6</a:t>
            </a:r>
          </a:p>
        </p:txBody>
      </p:sp>
      <p:sp>
        <p:nvSpPr>
          <p:cNvPr id="5" name="TextBox 4"/>
          <p:cNvSpPr txBox="1"/>
          <p:nvPr/>
        </p:nvSpPr>
        <p:spPr>
          <a:xfrm>
            <a:off x="457200" y="594360"/>
            <a:ext cx="8229600" cy="457200"/>
          </a:xfrm>
          <a:prstGeom prst="rect">
            <a:avLst/>
          </a:prstGeom>
          <a:noFill/>
        </p:spPr>
        <p:txBody>
          <a:bodyPr wrap="square">
            <a:spAutoFit/>
          </a:bodyPr>
          <a:lstStyle/>
          <a:p>
            <a:pPr algn="l">
              <a:defRPr sz="2400" b="1">
                <a:solidFill>
                  <a:srgbClr val="B45309"/>
                </a:solidFill>
                <a:latin typeface="Calibri"/>
              </a:defRPr>
            </a:pPr>
            <a:r>
              <a:t>Teacher</a:t>
            </a:r>
          </a:p>
        </p:txBody>
      </p:sp>
      <p:sp>
        <p:nvSpPr>
          <p:cNvPr id="6" name="TextBox 5"/>
          <p:cNvSpPr txBox="1"/>
          <p:nvPr/>
        </p:nvSpPr>
        <p:spPr>
          <a:xfrm>
            <a:off x="457200" y="1097280"/>
            <a:ext cx="8229600" cy="1371600"/>
          </a:xfrm>
          <a:prstGeom prst="rect">
            <a:avLst/>
          </a:prstGeom>
          <a:noFill/>
        </p:spPr>
        <p:txBody>
          <a:bodyPr wrap="square">
            <a:spAutoFit/>
          </a:bodyPr>
          <a:lstStyle/>
          <a:p>
            <a:pPr algn="l">
              <a:defRPr sz="2200" b="0">
                <a:solidFill>
                  <a:srgbClr val="222222"/>
                </a:solidFill>
                <a:latin typeface="Calibri"/>
              </a:defRPr>
            </a:pPr>
            <a:r>
              <a:t>Yes. Page numbers make it easy to refer to specific parts of the text.</a:t>
            </a:r>
          </a:p>
        </p:txBody>
      </p:sp>
      <p:sp>
        <p:nvSpPr>
          <p:cNvPr id="7" name="Rectangle 6"/>
          <p:cNvSpPr/>
          <p:nvPr/>
        </p:nvSpPr>
        <p:spPr>
          <a:xfrm>
            <a:off x="457200" y="2606040"/>
            <a:ext cx="8229600" cy="18288"/>
          </a:xfrm>
          <a:prstGeom prst="rect">
            <a:avLst/>
          </a:prstGeom>
          <a:solidFill>
            <a:srgbClr val="E8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743200"/>
            <a:ext cx="8229600" cy="320040"/>
          </a:xfrm>
          <a:prstGeom prst="rect">
            <a:avLst/>
          </a:prstGeom>
          <a:noFill/>
        </p:spPr>
        <p:txBody>
          <a:bodyPr wrap="square">
            <a:spAutoFit/>
          </a:bodyPr>
          <a:lstStyle/>
          <a:p>
            <a:pPr algn="l">
              <a:defRPr sz="1100" b="1">
                <a:solidFill>
                  <a:srgbClr val="2C6E49"/>
                </a:solidFill>
                <a:latin typeface="Calibri"/>
              </a:defRPr>
            </a:pPr>
            <a:r>
              <a:t>Traduction :</a:t>
            </a:r>
          </a:p>
        </p:txBody>
      </p:sp>
      <p:sp>
        <p:nvSpPr>
          <p:cNvPr id="9" name="TextBox 8"/>
          <p:cNvSpPr txBox="1"/>
          <p:nvPr/>
        </p:nvSpPr>
        <p:spPr>
          <a:xfrm>
            <a:off x="457200" y="3108960"/>
            <a:ext cx="8229600" cy="1097280"/>
          </a:xfrm>
          <a:prstGeom prst="rect">
            <a:avLst/>
          </a:prstGeom>
          <a:noFill/>
        </p:spPr>
        <p:txBody>
          <a:bodyPr wrap="square">
            <a:spAutoFit/>
          </a:bodyPr>
          <a:lstStyle/>
          <a:p>
            <a:pPr algn="l">
              <a:defRPr sz="2000" b="0">
                <a:solidFill>
                  <a:srgbClr val="1A3C6E"/>
                </a:solidFill>
                <a:latin typeface="Calibri"/>
              </a:defRPr>
            </a:pPr>
            <a:r>
              <a:t>Oui. Les numéros de page facilitent le renvoi à des parties précises du texte.</a:t>
            </a:r>
          </a:p>
        </p:txBody>
      </p:sp>
      <p:sp>
        <p:nvSpPr>
          <p:cNvPr id="10" name="TextBox 9"/>
          <p:cNvSpPr txBox="1"/>
          <p:nvPr/>
        </p:nvSpPr>
        <p:spPr>
          <a:xfrm>
            <a:off x="457200" y="4572000"/>
            <a:ext cx="8229600" cy="320040"/>
          </a:xfrm>
          <a:prstGeom prst="rect">
            <a:avLst/>
          </a:prstGeom>
          <a:noFill/>
        </p:spPr>
        <p:txBody>
          <a:bodyPr wrap="square">
            <a:spAutoFit/>
          </a:bodyPr>
          <a:lstStyle/>
          <a:p>
            <a:pPr algn="l">
              <a:defRPr sz="900" b="0">
                <a:solidFill>
                  <a:srgbClr val="666666"/>
                </a:solidFill>
                <a:latin typeface="Calibri"/>
              </a:defRPr>
            </a:pPr>
            <a:r>
              <a:t>Audio : Dialogue_11_Headers_footers_and_page_numbers/06_Teacher.mp3</a:t>
            </a:r>
          </a:p>
        </p:txBody>
      </p:sp>
      <p:sp>
        <p:nvSpPr>
          <p:cNvPr id="11" name="Rectangle 10"/>
          <p:cNvSpPr/>
          <p:nvPr/>
        </p:nvSpPr>
        <p:spPr>
          <a:xfrm>
            <a:off x="0" y="6784848"/>
            <a:ext cx="9144000" cy="73152"/>
          </a:xfrm>
          <a:prstGeom prst="rect">
            <a:avLst/>
          </a:prstGeom>
          <a:solidFill>
            <a:srgbClr val="1A5C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