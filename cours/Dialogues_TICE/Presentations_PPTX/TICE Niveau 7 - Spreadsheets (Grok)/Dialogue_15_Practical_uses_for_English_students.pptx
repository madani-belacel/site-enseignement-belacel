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914400"/>
            <a:ext cx="7680960" cy="1097280"/>
          </a:xfrm>
          <a:prstGeom prst="rect">
            <a:avLst/>
          </a:prstGeom>
          <a:noFill/>
        </p:spPr>
        <p:txBody>
          <a:bodyPr wrap="square">
            <a:spAutoFit/>
          </a:bodyPr>
          <a:lstStyle/>
          <a:p>
            <a:pPr algn="ctr">
              <a:defRPr sz="3200" b="1">
                <a:solidFill>val="FFFFFF"/&gt;</a:solidFill>
                <a:latin typeface="Poppins"/>
              </a:defRPr>
            </a:pPr>
            <a:r>
              <a:t>Dialogue 15 — Practical uses for English students</a:t>
            </a:r>
          </a:p>
        </p:txBody>
      </p:sp>
      <p:sp>
        <p:nvSpPr>
          <p:cNvPr id="3" name="TextBox 2"/>
          <p:cNvSpPr txBox="1"/>
          <p:nvPr/>
        </p:nvSpPr>
        <p:spPr>
          <a:xfrm>
            <a:off x="731520" y="2103120"/>
            <a:ext cx="7680960" cy="731520"/>
          </a:xfrm>
          <a:prstGeom prst="rect">
            <a:avLst/>
          </a:prstGeom>
          <a:noFill/>
        </p:spPr>
        <p:txBody>
          <a:bodyPr wrap="square">
            <a:spAutoFit/>
          </a:bodyPr>
          <a:lstStyle/>
          <a:p>
            <a:pPr algn="ctr">
              <a:defRPr sz="2000" b="0">
                <a:solidFill>val="DFE5EA"/&gt;</a:solidFill>
                <a:latin typeface="Poppins"/>
              </a:defRPr>
            </a:pPr>
            <a:r>
              <a:t>💻 TICE Niveau 7 - Spreadsheets (Grok)</a:t>
            </a:r>
          </a:p>
        </p:txBody>
      </p:sp>
      <p:sp>
        <p:nvSpPr>
          <p:cNvPr id="4" name="TextBox 3"/>
          <p:cNvSpPr txBox="1"/>
          <p:nvPr/>
        </p:nvSpPr>
        <p:spPr>
          <a:xfrm>
            <a:off x="731520" y="3200400"/>
            <a:ext cx="7680960" cy="548640"/>
          </a:xfrm>
          <a:prstGeom prst="rect">
            <a:avLst/>
          </a:prstGeom>
          <a:noFill/>
        </p:spPr>
        <p:txBody>
          <a:bodyPr wrap="square">
            <a:spAutoFit/>
          </a:bodyPr>
          <a:lstStyle/>
          <a:p>
            <a:pPr algn="ctr">
              <a:defRPr sz="1400" b="0">
                <a:solidFill>val="B7C9BE"/&gt;</a:solidFill>
                <a:latin typeface="Poppins"/>
              </a:defRPr>
            </a:pPr>
            <a:r>
              <a:t>Dr. BELACEL Madani — Université de Mostaganem</a:t>
            </a:r>
          </a:p>
        </p:txBody>
      </p:sp>
      <p:sp>
        <p:nvSpPr>
          <p:cNvPr id="5" name="TextBox 4"/>
          <p:cNvSpPr txBox="1"/>
          <p:nvPr/>
        </p:nvSpPr>
        <p:spPr>
          <a:xfrm>
            <a:off x="731520" y="3931920"/>
            <a:ext cx="7680960" cy="457200"/>
          </a:xfrm>
          <a:prstGeom prst="rect">
            <a:avLst/>
          </a:prstGeom>
          <a:noFill/>
        </p:spPr>
        <p:txBody>
          <a:bodyPr wrap="square">
            <a:spAutoFit/>
          </a:bodyPr>
          <a:lstStyle/>
          <a:p>
            <a:pPr algn="ctr">
              <a:defRPr sz="1200" b="0">
                <a:solidFill>val="93B39E"/&gt;</a:solidFill>
                <a:latin typeface="Poppins"/>
              </a:defRPr>
            </a:pPr>
            <a:r>
              <a:t>Dialogue 15 / 20</a:t>
            </a:r>
          </a:p>
        </p:txBody>
      </p:sp>
      <p:sp>
        <p:nvSpPr>
          <p:cNvPr id="990001" name="Pied de page FLE"/>
          <p:cNvSpPr>
            <a:spLocks noGrp="1"/>
          </p:cNvSpPr>
          <p:nvPr/>
        </p:nvSpPr>
        <p:spPr>
          <a:xfrm>
            <a:off x="2880360" y="6400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15 — Practical uses for English students  |  💻 TICE Niveau 7 - Spreadsheets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1/6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Student</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How can spreadsheets help us as English students?</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Comment les tableurs peuvent-ils nous aider en tant qu'étudiants d'anglais ?</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Dialogue_15_Practical_uses_for_English_students/01_Student.mp3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15 — Practical uses for English students  |  💻 TICE Niveau 7 - Spreadsheets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2/6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Teacher</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You can keep a vocabulary list with columns for word, translation, example and date, track your marks, plan a study schedule, or organise a reading list.</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Vous pouvez tenir une liste de vocabulaire avec des colonnes pour le mot, la traduction, l'exemple et la date, suivre vos notes, planifier un emploi du temps d'étude, ou organiser une liste de lectures.</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Dialogue_15_Practical_uses_for_English_students/02_Teacher.mp3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15 — Practical uses for English students  |  💻 TICE Niveau 7 - Spreadsheets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3/6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Student</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Can we calculate our average mark?</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Pouvons-nous calculer notre moyenne ?</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Dialogue_15_Practical_uses_for_English_students/03_Student.mp3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15 — Practical uses for English students  |  💻 TICE Niveau 7 - Spreadsheets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4/6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Teacher</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Yes. Enter your marks in a column and use the AVERAGE function. It is a simple and useful exercise.</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Oui. Entrez vos notes dans une colonne et utilisez la fonction MOYENNE. C'est un exercice simple et utile.</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Dialogue_15_Practical_uses_for_English_students/04_Teacher.mp3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15 — Practical uses for English students  |  💻 TICE Niveau 7 - Spreadsheets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5/6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Student</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Is it useful for group projects?</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Est-ce utile pour les projets de groupe ?</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Dialogue_15_Practical_uses_for_English_students/05_Student.mp3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9144000" cy="73152"/>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365760"/>
          </a:xfrm>
          <a:prstGeom prst="rect">
            <a:avLst/>
          </a:prstGeom>
          <a:noFill/>
        </p:spPr>
        <p:txBody>
          <a:bodyPr wrap="square">
            <a:spAutoFit/>
          </a:bodyPr>
          <a:lstStyle/>
          <a:p>
            <a:pPr algn="l">
              <a:defRPr sz="1000" b="0">
                <a:solidFill>val="69788B"/&gt;</a:solidFill>
                <a:latin typeface="Poppins"/>
              </a:defRPr>
            </a:pPr>
            <a:r>
              <a:t>Dialogue 15 — Practical uses for English students  |  💻 TICE Niveau 7 - Spreadsheets (Grok)</a:t>
            </a:r>
          </a:p>
        </p:txBody>
      </p:sp>
      <p:sp>
        <p:nvSpPr>
          <p:cNvPr id="4" name="TextBox 3"/>
          <p:cNvSpPr txBox="1"/>
          <p:nvPr/>
        </p:nvSpPr>
        <p:spPr>
          <a:xfrm>
            <a:off x="7772400" y="137160"/>
            <a:ext cx="1097280" cy="365760"/>
          </a:xfrm>
          <a:prstGeom prst="rect">
            <a:avLst/>
          </a:prstGeom>
          <a:noFill/>
        </p:spPr>
        <p:txBody>
          <a:bodyPr wrap="square">
            <a:spAutoFit/>
          </a:bodyPr>
          <a:lstStyle/>
          <a:p>
            <a:pPr algn="r">
              <a:defRPr sz="1000" b="0">
                <a:solidFill>val="69788B"/&gt;</a:solidFill>
                <a:latin typeface="Poppins"/>
              </a:defRPr>
            </a:pPr>
            <a:r>
              <a:t>6/6</a:t>
            </a:r>
          </a:p>
        </p:txBody>
      </p:sp>
      <p:sp>
        <p:nvSpPr>
          <p:cNvPr id="5" name="TextBox 4"/>
          <p:cNvSpPr txBox="1"/>
          <p:nvPr/>
        </p:nvSpPr>
        <p:spPr>
          <a:xfrm>
            <a:off x="457200" y="594360"/>
            <a:ext cx="8229600" cy="457200"/>
          </a:xfrm>
          <a:prstGeom prst="rect">
            <a:avLst/>
          </a:prstGeom>
          <a:noFill/>
        </p:spPr>
        <p:txBody>
          <a:bodyPr wrap="square">
            <a:spAutoFit/>
          </a:bodyPr>
          <a:lstStyle/>
          <a:p>
            <a:pPr algn="l">
              <a:defRPr sz="2400" b="1">
                <a:solidFill>val="F0B429"/&gt;</a:solidFill>
                <a:latin typeface="Poppins"/>
              </a:defRPr>
            </a:pPr>
            <a:r>
              <a:t>Teacher</a:t>
            </a:r>
          </a:p>
        </p:txBody>
      </p:sp>
      <p:sp>
        <p:nvSpPr>
          <p:cNvPr id="6" name="TextBox 5"/>
          <p:cNvSpPr txBox="1"/>
          <p:nvPr/>
        </p:nvSpPr>
        <p:spPr>
          <a:xfrm>
            <a:off x="457200" y="1097280"/>
            <a:ext cx="8229600" cy="1371600"/>
          </a:xfrm>
          <a:prstGeom prst="rect">
            <a:avLst/>
          </a:prstGeom>
          <a:noFill/>
        </p:spPr>
        <p:txBody>
          <a:bodyPr wrap="square">
            <a:spAutoFit/>
          </a:bodyPr>
          <a:lstStyle/>
          <a:p>
            <a:pPr algn="l">
              <a:defRPr sz="2200" b="0">
                <a:solidFill>val="22344A"/&gt;</a:solidFill>
                <a:latin typeface="Poppins"/>
              </a:defRPr>
            </a:pPr>
            <a:r>
              <a:t>Yes. You can share a Google Sheet to organise tasks, deadlines and responsibilities.</a:t>
            </a:r>
          </a:p>
        </p:txBody>
      </p:sp>
      <p:sp>
        <p:nvSpPr>
          <p:cNvPr id="7" name="Rectangle 6"/>
          <p:cNvSpPr/>
          <p:nvPr/>
        </p:nvSpPr>
        <p:spPr>
          <a:xfrm>
            <a:off x="457200" y="2606040"/>
            <a:ext cx="8229600" cy="18288"/>
          </a:xfrm>
          <a:prstGeom prst="rect">
            <a:avLst/>
          </a:prstGeom>
          <a:solidFill>val="F4F6F8"/&gt;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8229600" cy="320040"/>
          </a:xfrm>
          <a:prstGeom prst="rect">
            <a:avLst/>
          </a:prstGeom>
          <a:noFill/>
        </p:spPr>
        <p:txBody>
          <a:bodyPr wrap="square">
            <a:spAutoFit/>
          </a:bodyPr>
          <a:lstStyle/>
          <a:p>
            <a:pPr algn="l">
              <a:defRPr sz="1100" b="1">
                <a:solidFill>val="00875B"/&gt;</a:solidFill>
                <a:latin typeface="Poppins"/>
              </a:defRPr>
            </a:pPr>
            <a:r>
              <a:t>Traduction :</a:t>
            </a:r>
          </a:p>
        </p:txBody>
      </p:sp>
      <p:sp>
        <p:nvSpPr>
          <p:cNvPr id="9" name="TextBox 8"/>
          <p:cNvSpPr txBox="1"/>
          <p:nvPr/>
        </p:nvSpPr>
        <p:spPr>
          <a:xfrm>
            <a:off x="457200" y="3108960"/>
            <a:ext cx="8229600" cy="1097280"/>
          </a:xfrm>
          <a:prstGeom prst="rect">
            <a:avLst/>
          </a:prstGeom>
          <a:noFill/>
        </p:spPr>
        <p:txBody>
          <a:bodyPr wrap="square">
            <a:spAutoFit/>
          </a:bodyPr>
          <a:lstStyle/>
          <a:p>
            <a:pPr algn="l">
              <a:defRPr sz="2000" b="0">
                <a:solidFill>val="34495E"/&gt;</a:solidFill>
                <a:latin typeface="Poppins"/>
              </a:defRPr>
            </a:pPr>
            <a:r>
              <a:t>Oui. Vous pouvez partager une Google Sheet pour organiser les tâches, les délais et les responsabilités.</a:t>
            </a:r>
          </a:p>
        </p:txBody>
      </p:sp>
      <p:sp>
        <p:nvSpPr>
          <p:cNvPr id="10" name="TextBox 9"/>
          <p:cNvSpPr txBox="1"/>
          <p:nvPr/>
        </p:nvSpPr>
        <p:spPr>
          <a:xfrm>
            <a:off x="457200" y="4572000"/>
            <a:ext cx="8229600" cy="320040"/>
          </a:xfrm>
          <a:prstGeom prst="rect">
            <a:avLst/>
          </a:prstGeom>
          <a:noFill/>
        </p:spPr>
        <p:txBody>
          <a:bodyPr wrap="square">
            <a:spAutoFit/>
          </a:bodyPr>
          <a:lstStyle/>
          <a:p>
            <a:pPr algn="l">
              <a:defRPr sz="900" b="0">
                <a:solidFill>val="69788B"/&gt;</a:solidFill>
                <a:latin typeface="Poppins"/>
              </a:defRPr>
            </a:pPr>
            <a:r>
              <a:t>Audio : Dialogue_15_Practical_uses_for_English_students/06_Teacher.mp3</a:t>
            </a:r>
          </a:p>
        </p:txBody>
      </p:sp>
      <p:sp>
        <p:nvSpPr>
          <p:cNvPr id="11" name="Rectangle 10"/>
          <p:cNvSpPr/>
          <p:nvPr/>
        </p:nvSpPr>
        <p:spPr>
          <a:xfrm>
            <a:off x="0" y="6784848"/>
            <a:ext cx="9144000" cy="73152"/>
          </a:xfrm>
          <a:prstGeom prst="rect">
            <a:avLst/>
          </a:prstGeom>
          <a:solidFill>val="006847"/&gt;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001" name="Pied de page FLE"/>
          <p:cNvSpPr>
            <a:spLocks noGrp="1"/>
          </p:cNvSpPr>
          <p:nvPr/>
        </p:nvSpPr>
        <p:spPr>
          <a:xfrm>
            <a:off x="4343400" y="-384048"/>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