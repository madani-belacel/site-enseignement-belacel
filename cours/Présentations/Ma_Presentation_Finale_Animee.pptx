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307" r:id="rId3"/>
    <p:sldId id="300" r:id="rId4"/>
    <p:sldId id="298" r:id="rId5"/>
    <p:sldId id="299" r:id="rId6"/>
    <p:sldId id="313" r:id="rId7"/>
    <p:sldId id="312" r:id="rId8"/>
    <p:sldId id="260" r:id="rId9"/>
    <p:sldId id="261" r:id="rId10"/>
    <p:sldId id="264" r:id="rId11"/>
    <p:sldId id="265" r:id="rId12"/>
    <p:sldId id="322" r:id="rId13"/>
    <p:sldId id="314" r:id="rId14"/>
    <p:sldId id="321" r:id="rId15"/>
    <p:sldId id="266" r:id="rId16"/>
    <p:sldId id="309" r:id="rId17"/>
    <p:sldId id="267" r:id="rId18"/>
    <p:sldId id="315" r:id="rId19"/>
    <p:sldId id="268" r:id="rId20"/>
    <p:sldId id="316" r:id="rId21"/>
    <p:sldId id="317" r:id="rId22"/>
    <p:sldId id="269" r:id="rId23"/>
    <p:sldId id="318" r:id="rId24"/>
    <p:sldId id="320" r:id="rId25"/>
    <p:sldId id="270" r:id="rId26"/>
    <p:sldId id="275" r:id="rId27"/>
    <p:sldId id="276" r:id="rId28"/>
    <p:sldId id="277" r:id="rId29"/>
    <p:sldId id="278" r:id="rId30"/>
    <p:sldId id="303" r:id="rId31"/>
    <p:sldId id="304" r:id="rId32"/>
    <p:sldId id="305" r:id="rId33"/>
    <p:sldId id="306" r:id="rId34"/>
    <p:sldId id="294" r:id="rId35"/>
    <p:sldId id="295" r:id="rId36"/>
    <p:sldId id="308"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3D3"/>
    <a:srgbClr val="0782F0"/>
    <a:srgbClr val="3333B2"/>
    <a:srgbClr val="262686"/>
    <a:srgbClr val="191959"/>
    <a:srgbClr val="0083F7"/>
    <a:srgbClr val="0152FF"/>
    <a:srgbClr val="0078EB"/>
    <a:srgbClr val="0152D2"/>
    <a:srgbClr val="0069E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35" autoAdjust="0"/>
    <p:restoredTop sz="82899" autoAdjust="0"/>
  </p:normalViewPr>
  <p:slideViewPr>
    <p:cSldViewPr snapToGrid="0" snapToObjects="1">
      <p:cViewPr>
        <p:scale>
          <a:sx n="70" d="100"/>
          <a:sy n="70" d="100"/>
        </p:scale>
        <p:origin x="148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F0B2C1-4194-45A7-9834-731A4F36BABD}" type="datetimeFigureOut">
              <a:rPr lang="fr-FR" smtClean="0"/>
              <a:t>20/04/2026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B5666F-E79B-4A29-9A64-FA4855FAABBD}" type="slidenum">
              <a:rPr lang="fr-FR" smtClean="0"/>
              <a:t>‹N°›</a:t>
            </a:fld>
            <a:endParaRPr lang="fr-FR"/>
          </a:p>
        </p:txBody>
      </p:sp>
    </p:spTree>
    <p:extLst>
      <p:ext uri="{BB962C8B-B14F-4D97-AF65-F5344CB8AC3E}">
        <p14:creationId xmlns:p14="http://schemas.microsoft.com/office/powerpoint/2010/main" val="4057233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a toutes et  a tous.</a:t>
            </a:r>
          </a:p>
          <a:p>
            <a:r>
              <a:rPr lang="fr-FR" dirty="0"/>
              <a:t>Je me présente, </a:t>
            </a:r>
            <a:r>
              <a:rPr lang="fr-FR" b="1" dirty="0"/>
              <a:t>Madani BELACEL</a:t>
            </a:r>
            <a:r>
              <a:rPr lang="fr-FR" dirty="0"/>
              <a:t>, étudiant en doctorat à l’Université </a:t>
            </a:r>
            <a:r>
              <a:rPr lang="fr-FR" b="1" dirty="0"/>
              <a:t>Djillali Liabès de Sidi Bel Abbès</a:t>
            </a:r>
            <a:r>
              <a:rPr lang="fr-FR" dirty="0"/>
              <a:t>.</a:t>
            </a:r>
          </a:p>
          <a:p>
            <a:r>
              <a:rPr lang="fr-FR" dirty="0"/>
              <a:t>J’ai l’honneur de vous présenter aujourd’hui les travaux de ma thèse de doctorat, intitulée :</a:t>
            </a:r>
            <a:br>
              <a:rPr lang="fr-FR" dirty="0"/>
            </a:br>
            <a:r>
              <a:rPr lang="fr-FR" b="1" dirty="0"/>
              <a:t>« La Qualité de Service dans les Réseaux IoT basés sur RPL »</a:t>
            </a:r>
            <a:r>
              <a:rPr lang="fr-FR" dirty="0"/>
              <a:t>.</a:t>
            </a:r>
          </a:p>
          <a:p>
            <a:r>
              <a:rPr lang="fr-FR" dirty="0"/>
              <a:t>Cette thèse s’intéresse aux </a:t>
            </a:r>
            <a:r>
              <a:rPr lang="fr-FR" b="1" dirty="0"/>
              <a:t>réseaux de l’Internet des Objets</a:t>
            </a:r>
            <a:r>
              <a:rPr lang="fr-FR" dirty="0"/>
              <a:t>, qui sont des réseaux composés de nœuds </a:t>
            </a:r>
            <a:r>
              <a:rPr lang="fr-FR" b="1" dirty="0"/>
              <a:t>fortement contraints</a:t>
            </a:r>
            <a:r>
              <a:rPr lang="fr-FR" dirty="0"/>
              <a:t>, en termes d’énergie, de mémoire et de capacité de calcul.</a:t>
            </a:r>
          </a:p>
          <a:p>
            <a:r>
              <a:rPr lang="fr-FR" dirty="0"/>
              <a:t>Dans ce travail, je propose </a:t>
            </a:r>
            <a:r>
              <a:rPr lang="fr-FR" b="1" dirty="0"/>
              <a:t>deux protocoles complémentaires</a:t>
            </a:r>
            <a:r>
              <a:rPr lang="fr-FR" dirty="0"/>
              <a:t> : </a:t>
            </a:r>
            <a:r>
              <a:rPr lang="fr-FR" b="1" dirty="0"/>
              <a:t>RPLMQoS</a:t>
            </a:r>
            <a:r>
              <a:rPr lang="fr-FR" dirty="0"/>
              <a:t> et </a:t>
            </a:r>
            <a:r>
              <a:rPr lang="fr-FR" b="1" dirty="0"/>
              <a:t>AER-RPL</a:t>
            </a:r>
            <a:r>
              <a:rPr lang="fr-FR" dirty="0"/>
              <a:t>,</a:t>
            </a:r>
            <a:br>
              <a:rPr lang="fr-FR" dirty="0"/>
            </a:br>
            <a:r>
              <a:rPr lang="fr-FR" dirty="0"/>
              <a:t>dont l’objectif est d’améliorer </a:t>
            </a:r>
            <a:r>
              <a:rPr lang="fr-FR" b="1" dirty="0"/>
              <a:t>la qualité de service</a:t>
            </a:r>
            <a:r>
              <a:rPr lang="fr-FR" dirty="0"/>
              <a:t>, mais aussi </a:t>
            </a:r>
            <a:r>
              <a:rPr lang="fr-FR" b="1" dirty="0"/>
              <a:t>la sécurité</a:t>
            </a:r>
            <a:r>
              <a:rPr lang="fr-FR" dirty="0"/>
              <a:t> et </a:t>
            </a:r>
            <a:r>
              <a:rPr lang="fr-FR" b="1" dirty="0"/>
              <a:t>l’efficacité énergétique</a:t>
            </a:r>
            <a:r>
              <a:rPr lang="fr-FR" dirty="0"/>
              <a:t> de ces réseaux.</a:t>
            </a:r>
          </a:p>
          <a:p>
            <a:r>
              <a:rPr lang="fr-FR" dirty="0"/>
              <a:t>👉 L’idée principale est de rendre les réseaux IoT </a:t>
            </a:r>
            <a:r>
              <a:rPr lang="fr-FR" b="1" dirty="0"/>
              <a:t>plus fiables</a:t>
            </a:r>
            <a:r>
              <a:rPr lang="fr-FR" dirty="0"/>
              <a:t>, </a:t>
            </a:r>
            <a:r>
              <a:rPr lang="fr-FR" b="1" dirty="0"/>
              <a:t>plus sûrs</a:t>
            </a:r>
            <a:r>
              <a:rPr lang="fr-FR" dirty="0"/>
              <a:t> et </a:t>
            </a:r>
            <a:r>
              <a:rPr lang="fr-FR" b="1" dirty="0"/>
              <a:t>plus durables</a:t>
            </a:r>
            <a:r>
              <a:rPr lang="fr-FR" dirty="0"/>
              <a:t>, notamment pour des applications critiques.</a:t>
            </a:r>
          </a:p>
          <a:p>
            <a:r>
              <a:rPr lang="fr-FR" dirty="0"/>
              <a:t>Je vais maintenant commencer par vous présenter </a:t>
            </a:r>
            <a:r>
              <a:rPr lang="fr-FR" b="1" dirty="0"/>
              <a:t>le plan de cette soutenance</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a:t>
            </a:fld>
            <a:endParaRPr lang="fr-FR"/>
          </a:p>
        </p:txBody>
      </p:sp>
    </p:spTree>
    <p:extLst>
      <p:ext uri="{BB962C8B-B14F-4D97-AF65-F5344CB8AC3E}">
        <p14:creationId xmlns:p14="http://schemas.microsoft.com/office/powerpoint/2010/main" val="1896257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a toutes et  a tous.</a:t>
            </a:r>
          </a:p>
          <a:p>
            <a:r>
              <a:rPr lang="fr-FR" dirty="0"/>
              <a:t>Je me présente, </a:t>
            </a:r>
            <a:r>
              <a:rPr lang="fr-FR" b="1" dirty="0"/>
              <a:t>Madani BELACEL</a:t>
            </a:r>
            <a:r>
              <a:rPr lang="fr-FR" dirty="0"/>
              <a:t>, étudiant en doctorat à l’Université </a:t>
            </a:r>
            <a:r>
              <a:rPr lang="fr-FR" b="1" dirty="0"/>
              <a:t>Djillali Liabès de Sidi Bel Abbès</a:t>
            </a:r>
            <a:r>
              <a:rPr lang="fr-FR" dirty="0"/>
              <a:t>.</a:t>
            </a:r>
          </a:p>
          <a:p>
            <a:r>
              <a:rPr lang="fr-FR" dirty="0"/>
              <a:t>J’ai l’honneur de vous présenter aujourd’hui les travaux de ma thèse de doctorat, intitulée :</a:t>
            </a:r>
            <a:br>
              <a:rPr lang="fr-FR" dirty="0"/>
            </a:br>
            <a:r>
              <a:rPr lang="fr-FR" b="1" dirty="0"/>
              <a:t>« La Qualité de Service dans les Réseaux IoT basés sur RPL »</a:t>
            </a:r>
            <a:r>
              <a:rPr lang="fr-FR" dirty="0"/>
              <a:t>.</a:t>
            </a:r>
          </a:p>
          <a:p>
            <a:r>
              <a:rPr lang="fr-FR" dirty="0"/>
              <a:t>Cette thèse s’intéresse aux </a:t>
            </a:r>
            <a:r>
              <a:rPr lang="fr-FR" b="1" dirty="0"/>
              <a:t>réseaux de l’Internet des Objets</a:t>
            </a:r>
            <a:r>
              <a:rPr lang="fr-FR" dirty="0"/>
              <a:t>, qui sont des réseaux composés de nœuds </a:t>
            </a:r>
            <a:r>
              <a:rPr lang="fr-FR" b="1" dirty="0"/>
              <a:t>fortement contraints</a:t>
            </a:r>
            <a:r>
              <a:rPr lang="fr-FR" dirty="0"/>
              <a:t>, en termes d’énergie, de mémoire et de capacité de calcul.</a:t>
            </a:r>
          </a:p>
          <a:p>
            <a:r>
              <a:rPr lang="fr-FR" dirty="0"/>
              <a:t>Dans ce travail, je propose </a:t>
            </a:r>
            <a:r>
              <a:rPr lang="fr-FR" b="1" dirty="0"/>
              <a:t>deux protocoles complémentaires</a:t>
            </a:r>
            <a:r>
              <a:rPr lang="fr-FR" dirty="0"/>
              <a:t> : </a:t>
            </a:r>
            <a:r>
              <a:rPr lang="fr-FR" b="1" dirty="0"/>
              <a:t>RPLMQoS</a:t>
            </a:r>
            <a:r>
              <a:rPr lang="fr-FR" dirty="0"/>
              <a:t> et </a:t>
            </a:r>
            <a:r>
              <a:rPr lang="fr-FR" b="1" dirty="0"/>
              <a:t>AER-RPL</a:t>
            </a:r>
            <a:r>
              <a:rPr lang="fr-FR" dirty="0"/>
              <a:t>,</a:t>
            </a:r>
            <a:br>
              <a:rPr lang="fr-FR" dirty="0"/>
            </a:br>
            <a:r>
              <a:rPr lang="fr-FR" dirty="0"/>
              <a:t>dont l’objectif est d’améliorer </a:t>
            </a:r>
            <a:r>
              <a:rPr lang="fr-FR" b="1" dirty="0"/>
              <a:t>la qualité de service</a:t>
            </a:r>
            <a:r>
              <a:rPr lang="fr-FR" dirty="0"/>
              <a:t>, mais aussi </a:t>
            </a:r>
            <a:r>
              <a:rPr lang="fr-FR" b="1" dirty="0"/>
              <a:t>la sécurité</a:t>
            </a:r>
            <a:r>
              <a:rPr lang="fr-FR" dirty="0"/>
              <a:t> et </a:t>
            </a:r>
            <a:r>
              <a:rPr lang="fr-FR" b="1" dirty="0"/>
              <a:t>l’efficacité énergétique</a:t>
            </a:r>
            <a:r>
              <a:rPr lang="fr-FR" dirty="0"/>
              <a:t> de ces réseaux.</a:t>
            </a:r>
          </a:p>
          <a:p>
            <a:r>
              <a:rPr lang="fr-FR" dirty="0"/>
              <a:t>👉 L’idée principale est de rendre les réseaux IoT </a:t>
            </a:r>
            <a:r>
              <a:rPr lang="fr-FR" b="1" dirty="0"/>
              <a:t>plus fiables</a:t>
            </a:r>
            <a:r>
              <a:rPr lang="fr-FR" dirty="0"/>
              <a:t>, </a:t>
            </a:r>
            <a:r>
              <a:rPr lang="fr-FR" b="1" dirty="0"/>
              <a:t>plus sûrs</a:t>
            </a:r>
            <a:r>
              <a:rPr lang="fr-FR" dirty="0"/>
              <a:t> et </a:t>
            </a:r>
            <a:r>
              <a:rPr lang="fr-FR" b="1" dirty="0"/>
              <a:t>plus durables</a:t>
            </a:r>
            <a:r>
              <a:rPr lang="fr-FR" dirty="0"/>
              <a:t>, notamment pour des applications critiques.</a:t>
            </a:r>
          </a:p>
          <a:p>
            <a:r>
              <a:rPr lang="fr-FR" dirty="0"/>
              <a:t>Je vais maintenant commencer par vous présenter </a:t>
            </a:r>
            <a:r>
              <a:rPr lang="fr-FR" b="1" dirty="0"/>
              <a:t>le plan de cette soutenance</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a:t>
            </a:fld>
            <a:endParaRPr lang="fr-FR"/>
          </a:p>
        </p:txBody>
      </p:sp>
    </p:spTree>
    <p:extLst>
      <p:ext uri="{BB962C8B-B14F-4D97-AF65-F5344CB8AC3E}">
        <p14:creationId xmlns:p14="http://schemas.microsoft.com/office/powerpoint/2010/main" val="3366049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Afin de vous présenter ce travail de manière claire et progressive, j’ai organisé cette soutenance en </a:t>
            </a:r>
            <a:r>
              <a:rPr lang="fr-FR" sz="1200" b="1" kern="100" dirty="0">
                <a:effectLst/>
                <a:latin typeface="Aptos" panose="020B0004020202020204" pitchFamily="34" charset="0"/>
                <a:ea typeface="Aptos" panose="020B0004020202020204" pitchFamily="34" charset="0"/>
                <a:cs typeface="Arial" panose="020B0604020202020204" pitchFamily="34" charset="0"/>
              </a:rPr>
              <a:t>six parties</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b="1" dirty="0"/>
              <a:t>Premièrement</a:t>
            </a:r>
            <a:r>
              <a:rPr lang="fr-FR" sz="1800" dirty="0"/>
              <a:t>, je vais commencer par </a:t>
            </a:r>
            <a:r>
              <a:rPr lang="fr-FR" sz="1200" kern="100" dirty="0">
                <a:effectLst/>
                <a:latin typeface="Aptos" panose="020B0004020202020204" pitchFamily="34" charset="0"/>
                <a:ea typeface="Aptos" panose="020B0004020202020204" pitchFamily="34" charset="0"/>
                <a:cs typeface="Arial" panose="020B0604020202020204" pitchFamily="34" charset="0"/>
              </a:rPr>
              <a:t>le </a:t>
            </a:r>
            <a:r>
              <a:rPr lang="fr-FR" sz="1200" b="1" kern="100" dirty="0">
                <a:effectLst/>
                <a:latin typeface="Aptos" panose="020B0004020202020204" pitchFamily="34" charset="0"/>
                <a:ea typeface="Aptos" panose="020B0004020202020204" pitchFamily="34" charset="0"/>
                <a:cs typeface="Arial" panose="020B0604020202020204" pitchFamily="34" charset="0"/>
              </a:rPr>
              <a:t>contexte de l’Internet des Objets</a:t>
            </a:r>
            <a:r>
              <a:rPr lang="fr-FR" sz="1200" kern="100" dirty="0">
                <a:effectLst/>
                <a:latin typeface="Aptos" panose="020B0004020202020204" pitchFamily="34" charset="0"/>
                <a:ea typeface="Aptos" panose="020B0004020202020204" pitchFamily="34" charset="0"/>
                <a:cs typeface="Arial" panose="020B0604020202020204" pitchFamily="34" charset="0"/>
              </a:rPr>
              <a:t>, et expliquer l’architecture, la problématique et les </a:t>
            </a:r>
            <a:r>
              <a:rPr lang="fr-FR" sz="1200" b="1" kern="100" dirty="0">
                <a:effectLst/>
                <a:latin typeface="Aptos" panose="020B0004020202020204" pitchFamily="34" charset="0"/>
                <a:ea typeface="Aptos" panose="020B0004020202020204" pitchFamily="34" charset="0"/>
                <a:cs typeface="Arial" panose="020B0604020202020204" pitchFamily="34" charset="0"/>
              </a:rPr>
              <a:t>limites du protocole RPL</a:t>
            </a:r>
            <a:r>
              <a:rPr lang="fr-FR" sz="1200" kern="100" dirty="0">
                <a:effectLst/>
                <a:latin typeface="Aptos" panose="020B0004020202020204" pitchFamily="34" charset="0"/>
                <a:ea typeface="Aptos" panose="020B0004020202020204" pitchFamily="34" charset="0"/>
                <a:cs typeface="Arial" panose="020B0604020202020204" pitchFamily="34" charset="0"/>
              </a:rPr>
              <a:t>, notamment dans les réseaux IoT contraints.</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b="1" dirty="0"/>
              <a:t>Deuxièmement</a:t>
            </a:r>
            <a:r>
              <a:rPr lang="fr-FR" sz="1200" kern="100" dirty="0">
                <a:effectLst/>
                <a:latin typeface="Aptos" panose="020B0004020202020204" pitchFamily="34" charset="0"/>
                <a:ea typeface="Aptos" panose="020B0004020202020204" pitchFamily="34" charset="0"/>
                <a:cs typeface="Arial" panose="020B0604020202020204" pitchFamily="34" charset="0"/>
              </a:rPr>
              <a:t>, je présenterai un </a:t>
            </a:r>
            <a:r>
              <a:rPr lang="fr-FR" sz="1200" b="1" kern="100" dirty="0">
                <a:effectLst/>
                <a:latin typeface="Aptos" panose="020B0004020202020204" pitchFamily="34" charset="0"/>
                <a:ea typeface="Aptos" panose="020B0004020202020204" pitchFamily="34" charset="0"/>
                <a:cs typeface="Arial" panose="020B0604020202020204" pitchFamily="34" charset="0"/>
              </a:rPr>
              <a:t>état de l’art</a:t>
            </a:r>
            <a:r>
              <a:rPr lang="fr-FR" sz="1200" kern="100" dirty="0">
                <a:effectLst/>
                <a:latin typeface="Aptos" panose="020B0004020202020204" pitchFamily="34" charset="0"/>
                <a:ea typeface="Aptos" panose="020B0004020202020204" pitchFamily="34" charset="0"/>
                <a:cs typeface="Arial" panose="020B0604020202020204" pitchFamily="34" charset="0"/>
              </a:rPr>
              <a:t> des principales solutions existantes, en me concentrant sur trois aspects : la </a:t>
            </a:r>
            <a:r>
              <a:rPr lang="fr-FR" sz="1200" b="1" kern="100" dirty="0">
                <a:effectLst/>
                <a:latin typeface="Aptos" panose="020B0004020202020204" pitchFamily="34" charset="0"/>
                <a:ea typeface="Aptos" panose="020B0004020202020204" pitchFamily="34" charset="0"/>
                <a:cs typeface="Arial" panose="020B0604020202020204" pitchFamily="34" charset="0"/>
              </a:rPr>
              <a:t>qualité de service</a:t>
            </a:r>
            <a:r>
              <a:rPr lang="fr-FR" sz="1200" kern="100" dirty="0">
                <a:effectLst/>
                <a:latin typeface="Aptos" panose="020B0004020202020204" pitchFamily="34" charset="0"/>
                <a:ea typeface="Aptos" panose="020B0004020202020204" pitchFamily="34" charset="0"/>
                <a:cs typeface="Arial" panose="020B0604020202020204" pitchFamily="34" charset="0"/>
              </a:rPr>
              <a:t>, la </a:t>
            </a:r>
            <a:r>
              <a:rPr lang="fr-FR" sz="1200" b="1" kern="100" dirty="0">
                <a:effectLst/>
                <a:latin typeface="Aptos" panose="020B0004020202020204" pitchFamily="34" charset="0"/>
                <a:ea typeface="Aptos" panose="020B0004020202020204" pitchFamily="34" charset="0"/>
                <a:cs typeface="Arial" panose="020B0604020202020204" pitchFamily="34" charset="0"/>
              </a:rPr>
              <a:t>sécurité</a:t>
            </a:r>
            <a:r>
              <a:rPr lang="fr-FR" sz="1200" kern="100" dirty="0">
                <a:effectLst/>
                <a:latin typeface="Aptos" panose="020B0004020202020204" pitchFamily="34" charset="0"/>
                <a:ea typeface="Aptos" panose="020B0004020202020204" pitchFamily="34" charset="0"/>
                <a:cs typeface="Arial" panose="020B0604020202020204" pitchFamily="34" charset="0"/>
              </a:rPr>
              <a:t> et la </a:t>
            </a:r>
            <a:r>
              <a:rPr lang="fr-FR" sz="1200" b="1" kern="100" dirty="0">
                <a:effectLst/>
                <a:latin typeface="Aptos" panose="020B0004020202020204" pitchFamily="34" charset="0"/>
                <a:ea typeface="Aptos" panose="020B0004020202020204" pitchFamily="34" charset="0"/>
                <a:cs typeface="Arial" panose="020B0604020202020204" pitchFamily="34" charset="0"/>
              </a:rPr>
              <a:t>gestion de l’énergie</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b="1" dirty="0"/>
              <a:t>Troisièmement</a:t>
            </a:r>
            <a:r>
              <a:rPr lang="fr-FR" sz="1200" kern="100" dirty="0">
                <a:effectLst/>
                <a:latin typeface="Aptos" panose="020B0004020202020204" pitchFamily="34" charset="0"/>
                <a:ea typeface="Aptos" panose="020B0004020202020204" pitchFamily="34" charset="0"/>
                <a:cs typeface="Arial" panose="020B0604020202020204" pitchFamily="34" charset="0"/>
              </a:rPr>
              <a:t>, je détaillerai les </a:t>
            </a:r>
            <a:r>
              <a:rPr lang="fr-FR" sz="1200" b="1" kern="100" dirty="0">
                <a:effectLst/>
                <a:latin typeface="Aptos" panose="020B0004020202020204" pitchFamily="34" charset="0"/>
                <a:ea typeface="Aptos" panose="020B0004020202020204" pitchFamily="34" charset="0"/>
                <a:cs typeface="Arial" panose="020B0604020202020204" pitchFamily="34" charset="0"/>
              </a:rPr>
              <a:t>contributions de cette thèse</a:t>
            </a:r>
            <a:r>
              <a:rPr lang="fr-FR" sz="1200" kern="100" dirty="0">
                <a:effectLst/>
                <a:latin typeface="Aptos" panose="020B0004020202020204" pitchFamily="34" charset="0"/>
                <a:ea typeface="Aptos" panose="020B0004020202020204" pitchFamily="34" charset="0"/>
                <a:cs typeface="Arial" panose="020B0604020202020204" pitchFamily="34" charset="0"/>
              </a:rPr>
              <a:t>, à savoir : le protocole </a:t>
            </a:r>
            <a:r>
              <a:rPr lang="fr-FR" sz="1200" b="1" kern="100" dirty="0">
                <a:effectLst/>
                <a:latin typeface="Aptos" panose="020B0004020202020204" pitchFamily="34" charset="0"/>
                <a:ea typeface="Aptos" panose="020B0004020202020204" pitchFamily="34" charset="0"/>
                <a:cs typeface="Arial" panose="020B0604020202020204" pitchFamily="34" charset="0"/>
              </a:rPr>
              <a:t>RPLMQoS</a:t>
            </a:r>
            <a:r>
              <a:rPr lang="fr-FR" sz="1200" kern="100" dirty="0">
                <a:effectLst/>
                <a:latin typeface="Aptos" panose="020B0004020202020204" pitchFamily="34" charset="0"/>
                <a:ea typeface="Aptos" panose="020B0004020202020204" pitchFamily="34" charset="0"/>
                <a:cs typeface="Arial" panose="020B0604020202020204" pitchFamily="34" charset="0"/>
              </a:rPr>
              <a:t>, orienté qualité de service, et le protocole </a:t>
            </a:r>
            <a:r>
              <a:rPr lang="fr-FR" sz="1200" b="1" kern="100" dirty="0">
                <a:effectLst/>
                <a:latin typeface="Aptos" panose="020B0004020202020204" pitchFamily="34" charset="0"/>
                <a:ea typeface="Aptos" panose="020B0004020202020204" pitchFamily="34" charset="0"/>
                <a:cs typeface="Arial" panose="020B0604020202020204" pitchFamily="34" charset="0"/>
              </a:rPr>
              <a:t>AER-RPL</a:t>
            </a:r>
            <a:r>
              <a:rPr lang="fr-FR" sz="1200" kern="100" dirty="0">
                <a:effectLst/>
                <a:latin typeface="Aptos" panose="020B0004020202020204" pitchFamily="34" charset="0"/>
                <a:ea typeface="Aptos" panose="020B0004020202020204" pitchFamily="34" charset="0"/>
                <a:cs typeface="Arial" panose="020B0604020202020204" pitchFamily="34" charset="0"/>
              </a:rPr>
              <a:t>, orienté sécurité et efficacité énergétique.</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b="1" dirty="0"/>
              <a:t>Quatrièmement</a:t>
            </a:r>
            <a:r>
              <a:rPr lang="fr-FR" sz="1200" kern="100" dirty="0">
                <a:effectLst/>
                <a:latin typeface="Aptos" panose="020B0004020202020204" pitchFamily="34" charset="0"/>
                <a:ea typeface="Aptos" panose="020B0004020202020204" pitchFamily="34" charset="0"/>
                <a:cs typeface="Arial" panose="020B0604020202020204" pitchFamily="34" charset="0"/>
              </a:rPr>
              <a:t>, je présenterai les </a:t>
            </a:r>
            <a:r>
              <a:rPr lang="fr-FR" sz="1200" b="1" kern="100" dirty="0">
                <a:effectLst/>
                <a:latin typeface="Aptos" panose="020B0004020202020204" pitchFamily="34" charset="0"/>
                <a:ea typeface="Aptos" panose="020B0004020202020204" pitchFamily="34" charset="0"/>
                <a:cs typeface="Arial" panose="020B0604020202020204" pitchFamily="34" charset="0"/>
              </a:rPr>
              <a:t>résultats expérimentaux</a:t>
            </a:r>
            <a:r>
              <a:rPr lang="fr-FR" sz="1200" kern="100" dirty="0">
                <a:effectLst/>
                <a:latin typeface="Aptos" panose="020B0004020202020204" pitchFamily="34" charset="0"/>
                <a:ea typeface="Aptos" panose="020B0004020202020204" pitchFamily="34" charset="0"/>
                <a:cs typeface="Arial" panose="020B0604020202020204" pitchFamily="34" charset="0"/>
              </a:rPr>
              <a:t>, obtenus à partir d’une campagne de </a:t>
            </a:r>
            <a:r>
              <a:rPr lang="fr-FR" sz="1200" b="1" kern="100" dirty="0">
                <a:effectLst/>
                <a:latin typeface="Aptos" panose="020B0004020202020204" pitchFamily="34" charset="0"/>
                <a:ea typeface="Aptos" panose="020B0004020202020204" pitchFamily="34" charset="0"/>
                <a:cs typeface="Arial" panose="020B0604020202020204" pitchFamily="34" charset="0"/>
              </a:rPr>
              <a:t>1200 simulations représentatives</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b="1" dirty="0"/>
              <a:t>Cinquièmement</a:t>
            </a:r>
            <a:r>
              <a:rPr lang="fr-FR" sz="1200" kern="100" dirty="0">
                <a:effectLst/>
                <a:latin typeface="Aptos" panose="020B0004020202020204" pitchFamily="34" charset="0"/>
                <a:ea typeface="Aptos" panose="020B0004020202020204" pitchFamily="34" charset="0"/>
                <a:cs typeface="Arial" panose="020B0604020202020204" pitchFamily="34" charset="0"/>
              </a:rPr>
              <a:t>, je comparerai nos résultats avec ceux de </a:t>
            </a:r>
            <a:r>
              <a:rPr lang="fr-FR" sz="1200" b="1" kern="100" dirty="0">
                <a:effectLst/>
                <a:latin typeface="Aptos" panose="020B0004020202020204" pitchFamily="34" charset="0"/>
                <a:ea typeface="Aptos" panose="020B0004020202020204" pitchFamily="34" charset="0"/>
                <a:cs typeface="Arial" panose="020B0604020202020204" pitchFamily="34" charset="0"/>
              </a:rPr>
              <a:t>l’état de l’art</a:t>
            </a:r>
            <a:r>
              <a:rPr lang="fr-FR" sz="1200" kern="100" dirty="0">
                <a:effectLst/>
                <a:latin typeface="Aptos" panose="020B0004020202020204" pitchFamily="34" charset="0"/>
                <a:ea typeface="Aptos" panose="020B0004020202020204" pitchFamily="34" charset="0"/>
                <a:cs typeface="Arial" panose="020B0604020202020204" pitchFamily="34" charset="0"/>
              </a:rPr>
              <a:t>, et je présenterai la méthode de validation statistique appliqué sur nos résultats ainsi les limites de nos deux contributions,</a:t>
            </a:r>
          </a:p>
          <a:p>
            <a:pPr marL="0" marR="0" lvl="0" indent="0" algn="l" defTabSz="914400" rtl="0" eaLnBrk="1" fontAlgn="auto" latinLnBrk="0" hangingPunct="1">
              <a:lnSpc>
                <a:spcPct val="115000"/>
              </a:lnSpc>
              <a:spcBef>
                <a:spcPts val="0"/>
              </a:spcBef>
              <a:spcAft>
                <a:spcPts val="800"/>
              </a:spcAft>
              <a:buClrTx/>
              <a:buSzTx/>
              <a:buFontTx/>
              <a:buNone/>
              <a:tabLst/>
              <a:defRPr/>
            </a:pP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200" b="1" kern="100" dirty="0">
                <a:effectLst/>
                <a:latin typeface="Aptos" panose="020B0004020202020204" pitchFamily="34" charset="0"/>
                <a:ea typeface="Aptos" panose="020B0004020202020204" pitchFamily="34" charset="0"/>
                <a:cs typeface="Arial" panose="020B0604020202020204" pitchFamily="34" charset="0"/>
              </a:rPr>
              <a:t>Enfin</a:t>
            </a:r>
            <a:r>
              <a:rPr lang="fr-FR" sz="1200" kern="100" dirty="0">
                <a:effectLst/>
                <a:latin typeface="Aptos" panose="020B0004020202020204" pitchFamily="34" charset="0"/>
                <a:ea typeface="Aptos" panose="020B0004020202020204" pitchFamily="34" charset="0"/>
                <a:cs typeface="Arial" panose="020B0604020202020204" pitchFamily="34" charset="0"/>
              </a:rPr>
              <a:t>,</a:t>
            </a:r>
            <a:r>
              <a:rPr lang="fr-FR" sz="1800" dirty="0"/>
              <a:t> je terminerai par une </a:t>
            </a:r>
            <a:r>
              <a:rPr lang="fr-FR" sz="1800" b="1" dirty="0"/>
              <a:t>conclusion générale</a:t>
            </a:r>
            <a:r>
              <a:rPr lang="fr-FR" sz="1800" dirty="0"/>
              <a:t> qui résume les apports principaux de cette thèse, </a:t>
            </a:r>
            <a:r>
              <a:rPr lang="fr-FR" sz="1800" kern="100" dirty="0">
                <a:effectLst/>
                <a:latin typeface="Aptos" panose="020B0004020202020204" pitchFamily="34" charset="0"/>
                <a:ea typeface="Aptos" panose="020B0004020202020204" pitchFamily="34" charset="0"/>
                <a:cs typeface="Arial" panose="020B0604020202020204" pitchFamily="34" charset="0"/>
              </a:rPr>
              <a:t>et je présenterai également </a:t>
            </a:r>
            <a:r>
              <a:rPr lang="fr-FR" sz="1800" b="1" kern="100" dirty="0">
                <a:effectLst/>
                <a:latin typeface="Aptos" panose="020B0004020202020204" pitchFamily="34" charset="0"/>
                <a:ea typeface="Aptos" panose="020B0004020202020204" pitchFamily="34" charset="0"/>
                <a:cs typeface="Arial" panose="020B0604020202020204" pitchFamily="34" charset="0"/>
              </a:rPr>
              <a:t>quelques perspectives</a:t>
            </a:r>
            <a:r>
              <a:rPr lang="fr-FR" sz="1800" kern="100" dirty="0">
                <a:effectLst/>
                <a:latin typeface="Aptos" panose="020B0004020202020204" pitchFamily="34" charset="0"/>
                <a:ea typeface="Aptos" panose="020B0004020202020204" pitchFamily="34" charset="0"/>
                <a:cs typeface="Arial" panose="020B0604020202020204" pitchFamily="34" charset="0"/>
              </a:rPr>
              <a:t> pour la suite de ce travail.</a:t>
            </a:r>
          </a:p>
          <a:p>
            <a:pPr>
              <a:lnSpc>
                <a:spcPct val="115000"/>
              </a:lnSpc>
              <a:spcAft>
                <a:spcPts val="800"/>
              </a:spcAft>
            </a:pPr>
            <a:endParaRPr lang="fr-FR" sz="1800" dirty="0"/>
          </a:p>
          <a:p>
            <a:pPr>
              <a:lnSpc>
                <a:spcPct val="115000"/>
              </a:lnSpc>
              <a:spcAft>
                <a:spcPts val="800"/>
              </a:spcAft>
            </a:pPr>
            <a:r>
              <a:rPr lang="fr-FR" sz="1200" kern="100" dirty="0">
                <a:effectLst/>
                <a:latin typeface="Segoe UI Symbol" panose="020B0502040204020203" pitchFamily="34" charset="0"/>
                <a:ea typeface="Aptos" panose="020B0004020202020204" pitchFamily="34" charset="0"/>
                <a:cs typeface="Segoe UI Symbol"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Nous allons maintenant commencer par le </a:t>
            </a:r>
            <a:r>
              <a:rPr lang="fr-FR" sz="1200" b="1" kern="100" dirty="0">
                <a:effectLst/>
                <a:latin typeface="Aptos" panose="020B0004020202020204" pitchFamily="34" charset="0"/>
                <a:ea typeface="Aptos" panose="020B0004020202020204" pitchFamily="34" charset="0"/>
                <a:cs typeface="Arial" panose="020B0604020202020204" pitchFamily="34" charset="0"/>
              </a:rPr>
              <a:t>contexte de l’Internet des Objets</a:t>
            </a:r>
            <a:r>
              <a:rPr lang="fr-FR" sz="1200" kern="100" dirty="0">
                <a:effectLst/>
                <a:latin typeface="Aptos" panose="020B0004020202020204" pitchFamily="34" charset="0"/>
                <a:ea typeface="Aptos" panose="020B0004020202020204" pitchFamily="34" charset="0"/>
                <a:cs typeface="Arial" panose="020B0604020202020204" pitchFamily="34" charset="0"/>
              </a:rPr>
              <a:t> </a:t>
            </a:r>
            <a:r>
              <a:rPr lang="fr-FR" sz="1800" dirty="0">
                <a:effectLst/>
                <a:latin typeface="Aptos" panose="020B0004020202020204" pitchFamily="34" charset="0"/>
                <a:ea typeface="Aptos" panose="020B0004020202020204" pitchFamily="34" charset="0"/>
                <a:cs typeface="Arial" panose="020B0604020202020204" pitchFamily="34" charset="0"/>
              </a:rPr>
              <a:t>et expliquer l’architecture et la </a:t>
            </a:r>
            <a:r>
              <a:rPr lang="fr-FR" sz="1200" b="1" kern="100" dirty="0">
                <a:effectLst/>
                <a:latin typeface="Aptos" panose="020B0004020202020204" pitchFamily="34" charset="0"/>
                <a:ea typeface="Aptos" panose="020B0004020202020204" pitchFamily="34" charset="0"/>
                <a:cs typeface="Arial" panose="020B0604020202020204" pitchFamily="34" charset="0"/>
              </a:rPr>
              <a:t>problématique du protocole RPL</a:t>
            </a:r>
            <a:r>
              <a:rPr lang="fr-FR" sz="1200" kern="100" dirty="0">
                <a:effectLst/>
                <a:latin typeface="Aptos" panose="020B0004020202020204" pitchFamily="34" charset="0"/>
                <a:ea typeface="Aptos" panose="020B0004020202020204" pitchFamily="34" charset="0"/>
                <a:cs typeface="Arial" panose="020B0604020202020204" pitchFamily="34" charset="0"/>
              </a:rPr>
              <a:t>.</a:t>
            </a:r>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3</a:t>
            </a:fld>
            <a:endParaRPr lang="fr-FR"/>
          </a:p>
        </p:txBody>
      </p:sp>
    </p:spTree>
    <p:extLst>
      <p:ext uri="{BB962C8B-B14F-4D97-AF65-F5344CB8AC3E}">
        <p14:creationId xmlns:p14="http://schemas.microsoft.com/office/powerpoint/2010/main" val="3404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Je vais </a:t>
            </a:r>
            <a:r>
              <a:rPr lang="fr-FR" sz="1200" b="1" kern="100" dirty="0">
                <a:effectLst/>
                <a:latin typeface="Aptos" panose="020B0004020202020204" pitchFamily="34" charset="0"/>
                <a:ea typeface="Aptos" panose="020B0004020202020204" pitchFamily="34" charset="0"/>
                <a:cs typeface="Arial" panose="020B0604020202020204" pitchFamily="34" charset="0"/>
              </a:rPr>
              <a:t>présenter le contexte général de l’Internet des Objets</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Aujourd’hui, l’IoT connaît une croissance très rapide. On estime qu’il y aura </a:t>
            </a:r>
            <a:r>
              <a:rPr lang="fr-FR" sz="1200" b="1" kern="100" dirty="0">
                <a:effectLst/>
                <a:latin typeface="Aptos" panose="020B0004020202020204" pitchFamily="34" charset="0"/>
                <a:ea typeface="Aptos" panose="020B0004020202020204" pitchFamily="34" charset="0"/>
                <a:cs typeface="Arial" panose="020B0604020202020204" pitchFamily="34" charset="0"/>
              </a:rPr>
              <a:t>environ 50 milliards d’objets connectés d’ici 2030</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Ces objets sont très variés : des capteurs médicaux, des capteurs industriels, des compteurs intelligents, ou encore des équipements utilisés dans les villes intelligentes.</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La plupart de ces objets fonctionnent dans des </a:t>
            </a:r>
            <a:r>
              <a:rPr lang="fr-FR" sz="1200" b="1" kern="100" dirty="0">
                <a:effectLst/>
                <a:latin typeface="Aptos" panose="020B0004020202020204" pitchFamily="34" charset="0"/>
                <a:ea typeface="Aptos" panose="020B0004020202020204" pitchFamily="34" charset="0"/>
                <a:cs typeface="Arial" panose="020B0604020202020204" pitchFamily="34" charset="0"/>
              </a:rPr>
              <a:t>réseaux à très faibles ressources</a:t>
            </a:r>
            <a:r>
              <a:rPr lang="fr-FR" sz="1200" kern="100" dirty="0">
                <a:effectLst/>
                <a:latin typeface="Aptos" panose="020B0004020202020204" pitchFamily="34" charset="0"/>
                <a:ea typeface="Aptos" panose="020B0004020202020204" pitchFamily="34" charset="0"/>
                <a:cs typeface="Arial" panose="020B0604020202020204" pitchFamily="34" charset="0"/>
              </a:rPr>
              <a:t>, qu’on appelle </a:t>
            </a:r>
            <a:r>
              <a:rPr lang="fr-FR" sz="1200" b="1" kern="100" dirty="0">
                <a:effectLst/>
                <a:latin typeface="Aptos" panose="020B0004020202020204" pitchFamily="34" charset="0"/>
                <a:ea typeface="Aptos" panose="020B0004020202020204" pitchFamily="34" charset="0"/>
                <a:cs typeface="Arial" panose="020B0604020202020204" pitchFamily="34" charset="0"/>
              </a:rPr>
              <a:t>Low-Power and Lossy Networks,</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Cela veut dire : très peu d’énergie, très peu de mémoire, un lien radio instable.</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Malgré ces contraintes, ces réseaux sont utilisés dans des </a:t>
            </a:r>
            <a:r>
              <a:rPr lang="fr-FR" sz="1200" b="1" kern="100" dirty="0">
                <a:effectLst/>
                <a:latin typeface="Aptos" panose="020B0004020202020204" pitchFamily="34" charset="0"/>
                <a:ea typeface="Aptos" panose="020B0004020202020204" pitchFamily="34" charset="0"/>
                <a:cs typeface="Arial" panose="020B0604020202020204" pitchFamily="34" charset="0"/>
              </a:rPr>
              <a:t>domaines critiques</a:t>
            </a:r>
            <a:r>
              <a:rPr lang="fr-FR" sz="1200" kern="100" dirty="0">
                <a:effectLst/>
                <a:latin typeface="Aptos" panose="020B0004020202020204" pitchFamily="34" charset="0"/>
                <a:ea typeface="Aptos" panose="020B0004020202020204" pitchFamily="34" charset="0"/>
                <a:cs typeface="Arial" panose="020B0604020202020204" pitchFamily="34" charset="0"/>
              </a:rPr>
              <a:t>. Par exemple :</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 en </a:t>
            </a:r>
            <a:r>
              <a:rPr lang="fr-FR" sz="1200" b="1" kern="100" dirty="0">
                <a:effectLst/>
                <a:latin typeface="Aptos" panose="020B0004020202020204" pitchFamily="34" charset="0"/>
                <a:ea typeface="Aptos" panose="020B0004020202020204" pitchFamily="34" charset="0"/>
                <a:cs typeface="Arial" panose="020B0604020202020204" pitchFamily="34" charset="0"/>
              </a:rPr>
              <a:t>santé connectée</a:t>
            </a:r>
            <a:r>
              <a:rPr lang="fr-FR" sz="1200" kern="100" dirty="0">
                <a:effectLst/>
                <a:latin typeface="Aptos" panose="020B0004020202020204" pitchFamily="34" charset="0"/>
                <a:ea typeface="Aptos" panose="020B0004020202020204" pitchFamily="34" charset="0"/>
                <a:cs typeface="Arial" panose="020B0604020202020204" pitchFamily="34" charset="0"/>
              </a:rPr>
              <a:t>, des capteurs surveillent en continu l’état d’un patient,</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 en </a:t>
            </a:r>
            <a:r>
              <a:rPr lang="fr-FR" sz="1200" b="1" kern="100" dirty="0">
                <a:effectLst/>
                <a:latin typeface="Aptos" panose="020B0004020202020204" pitchFamily="34" charset="0"/>
                <a:ea typeface="Aptos" panose="020B0004020202020204" pitchFamily="34" charset="0"/>
                <a:cs typeface="Arial" panose="020B0604020202020204" pitchFamily="34" charset="0"/>
              </a:rPr>
              <a:t>industrie 4.0</a:t>
            </a:r>
            <a:r>
              <a:rPr lang="fr-FR" sz="1200" kern="100" dirty="0">
                <a:effectLst/>
                <a:latin typeface="Aptos" panose="020B0004020202020204" pitchFamily="34" charset="0"/>
                <a:ea typeface="Aptos" panose="020B0004020202020204" pitchFamily="34" charset="0"/>
                <a:cs typeface="Arial" panose="020B0604020202020204" pitchFamily="34" charset="0"/>
              </a:rPr>
              <a:t>, des capteurs détectent des anomalies sur des machines,</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 dans les </a:t>
            </a:r>
            <a:r>
              <a:rPr lang="fr-FR" sz="1200" b="1" kern="100" dirty="0">
                <a:effectLst/>
                <a:latin typeface="Aptos" panose="020B0004020202020204" pitchFamily="34" charset="0"/>
                <a:ea typeface="Aptos" panose="020B0004020202020204" pitchFamily="34" charset="0"/>
                <a:cs typeface="Arial" panose="020B0604020202020204" pitchFamily="34" charset="0"/>
              </a:rPr>
              <a:t>villes intelligentes</a:t>
            </a:r>
            <a:r>
              <a:rPr lang="fr-FR" sz="1200" kern="100" dirty="0">
                <a:effectLst/>
                <a:latin typeface="Aptos" panose="020B0004020202020204" pitchFamily="34" charset="0"/>
                <a:ea typeface="Aptos" panose="020B0004020202020204" pitchFamily="34" charset="0"/>
                <a:cs typeface="Arial" panose="020B0604020202020204" pitchFamily="34" charset="0"/>
              </a:rPr>
              <a:t>, des capteurs participent à la gestion du trafic ou de l’éclairage public.</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Arial" panose="020B0604020202020204" pitchFamily="34" charset="0"/>
              </a:rPr>
              <a:t>Dans ce contexte, </a:t>
            </a:r>
            <a:r>
              <a:rPr lang="fr-FR" sz="1200" b="1" kern="100" dirty="0">
                <a:effectLst/>
                <a:latin typeface="Aptos" panose="020B0004020202020204" pitchFamily="34" charset="0"/>
                <a:ea typeface="Aptos" panose="020B0004020202020204" pitchFamily="34" charset="0"/>
                <a:cs typeface="Arial" panose="020B0604020202020204" pitchFamily="34" charset="0"/>
              </a:rPr>
              <a:t>trois défis majeurs</a:t>
            </a:r>
            <a:r>
              <a:rPr lang="fr-FR" sz="1200" kern="100" dirty="0">
                <a:effectLst/>
                <a:latin typeface="Aptos" panose="020B0004020202020204" pitchFamily="34" charset="0"/>
                <a:ea typeface="Aptos" panose="020B0004020202020204" pitchFamily="34" charset="0"/>
                <a:cs typeface="Arial" panose="020B0604020202020204" pitchFamily="34" charset="0"/>
              </a:rPr>
              <a:t> apparaissent clairement. </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Le premier défi est la </a:t>
            </a:r>
            <a:r>
              <a:rPr lang="fr-FR" sz="1200" b="1" kern="100" dirty="0">
                <a:effectLst/>
                <a:latin typeface="Aptos" panose="020B0004020202020204" pitchFamily="34" charset="0"/>
                <a:ea typeface="Aptos" panose="020B0004020202020204" pitchFamily="34" charset="0"/>
                <a:cs typeface="Arial" panose="020B0604020202020204" pitchFamily="34" charset="0"/>
              </a:rPr>
              <a:t>qualité de service</a:t>
            </a:r>
            <a:r>
              <a:rPr lang="fr-FR" sz="1200" kern="100" dirty="0">
                <a:effectLst/>
                <a:latin typeface="Aptos" panose="020B0004020202020204" pitchFamily="34" charset="0"/>
                <a:ea typeface="Aptos" panose="020B0004020202020204" pitchFamily="34" charset="0"/>
                <a:cs typeface="Arial" panose="020B0604020202020204" pitchFamily="34" charset="0"/>
              </a:rPr>
              <a:t> : il faut garantir que les </a:t>
            </a:r>
            <a:r>
              <a:rPr lang="fr-FR" sz="1200" b="1" kern="100" dirty="0">
                <a:effectLst/>
                <a:latin typeface="Aptos" panose="020B0004020202020204" pitchFamily="34" charset="0"/>
                <a:ea typeface="Aptos" panose="020B0004020202020204" pitchFamily="34" charset="0"/>
                <a:cs typeface="Arial" panose="020B0604020202020204" pitchFamily="34" charset="0"/>
              </a:rPr>
              <a:t>flux critiques</a:t>
            </a:r>
            <a:r>
              <a:rPr lang="fr-FR" sz="1200" kern="100" dirty="0">
                <a:effectLst/>
                <a:latin typeface="Aptos" panose="020B0004020202020204" pitchFamily="34" charset="0"/>
                <a:ea typeface="Aptos" panose="020B0004020202020204" pitchFamily="34" charset="0"/>
                <a:cs typeface="Arial" panose="020B0604020202020204" pitchFamily="34" charset="0"/>
              </a:rPr>
              <a:t> arrivent correctement et rapidement. </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Le deuxième défi est la </a:t>
            </a:r>
            <a:r>
              <a:rPr lang="fr-FR" sz="1200" b="1" kern="100" dirty="0">
                <a:effectLst/>
                <a:latin typeface="Aptos" panose="020B0004020202020204" pitchFamily="34" charset="0"/>
                <a:ea typeface="Aptos" panose="020B0004020202020204" pitchFamily="34" charset="0"/>
                <a:cs typeface="Arial" panose="020B0604020202020204" pitchFamily="34" charset="0"/>
              </a:rPr>
              <a:t>sécurité</a:t>
            </a:r>
            <a:r>
              <a:rPr lang="fr-FR" sz="1200" kern="100" dirty="0">
                <a:effectLst/>
                <a:latin typeface="Aptos" panose="020B0004020202020204" pitchFamily="34" charset="0"/>
                <a:ea typeface="Aptos" panose="020B0004020202020204" pitchFamily="34" charset="0"/>
                <a:cs typeface="Arial" panose="020B0604020202020204" pitchFamily="34" charset="0"/>
              </a:rPr>
              <a:t> : ces réseaux sont vulnérables aux </a:t>
            </a:r>
            <a:r>
              <a:rPr lang="fr-FR" sz="1200" b="1" kern="100" dirty="0">
                <a:effectLst/>
                <a:latin typeface="Aptos" panose="020B0004020202020204" pitchFamily="34" charset="0"/>
                <a:ea typeface="Aptos" panose="020B0004020202020204" pitchFamily="34" charset="0"/>
                <a:cs typeface="Arial" panose="020B0604020202020204" pitchFamily="34" charset="0"/>
              </a:rPr>
              <a:t>attaques de routage</a:t>
            </a:r>
            <a:r>
              <a:rPr lang="fr-FR" sz="1200" kern="100" dirty="0">
                <a:effectLst/>
                <a:latin typeface="Aptos" panose="020B0004020202020204" pitchFamily="34" charset="0"/>
                <a:ea typeface="Aptos" panose="020B0004020202020204" pitchFamily="34" charset="0"/>
                <a:cs typeface="Arial" panose="020B0604020202020204" pitchFamily="34" charset="0"/>
              </a:rPr>
              <a:t>, qui peuvent perturber fortement le fonctionnement du système. </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Enfin, le troisième défi est l’</a:t>
            </a:r>
            <a:r>
              <a:rPr lang="fr-FR" sz="1200" b="1" kern="100" dirty="0">
                <a:effectLst/>
                <a:latin typeface="Aptos" panose="020B0004020202020204" pitchFamily="34" charset="0"/>
                <a:ea typeface="Aptos" panose="020B0004020202020204" pitchFamily="34" charset="0"/>
                <a:cs typeface="Arial" panose="020B0604020202020204" pitchFamily="34" charset="0"/>
              </a:rPr>
              <a:t>efficacité énergétique</a:t>
            </a:r>
            <a:r>
              <a:rPr lang="fr-FR" sz="1200" kern="100" dirty="0">
                <a:effectLst/>
                <a:latin typeface="Aptos" panose="020B0004020202020204" pitchFamily="34" charset="0"/>
                <a:ea typeface="Aptos" panose="020B0004020202020204" pitchFamily="34" charset="0"/>
                <a:cs typeface="Arial" panose="020B0604020202020204" pitchFamily="34" charset="0"/>
              </a:rPr>
              <a:t> : les capteurs fonctionnent sur batterie, et il est donc essentiel de </a:t>
            </a:r>
            <a:r>
              <a:rPr lang="fr-FR" sz="1200" b="1" kern="100" dirty="0">
                <a:effectLst/>
                <a:latin typeface="Aptos" panose="020B0004020202020204" pitchFamily="34" charset="0"/>
                <a:ea typeface="Aptos" panose="020B0004020202020204" pitchFamily="34" charset="0"/>
                <a:cs typeface="Arial" panose="020B0604020202020204" pitchFamily="34" charset="0"/>
              </a:rPr>
              <a:t>prolonger leur durée de vie</a:t>
            </a:r>
            <a:r>
              <a:rPr lang="fr-FR" sz="1200" kern="100" dirty="0">
                <a:effectLst/>
                <a:latin typeface="Aptos" panose="020B0004020202020204" pitchFamily="34" charset="0"/>
                <a:ea typeface="Aptos" panose="020B0004020202020204" pitchFamily="34" charset="0"/>
                <a:cs typeface="Arial" panose="020B0604020202020204" pitchFamily="34" charset="0"/>
              </a:rPr>
              <a:t>.</a:t>
            </a:r>
          </a:p>
          <a:p>
            <a:pPr>
              <a:lnSpc>
                <a:spcPct val="115000"/>
              </a:lnSpc>
              <a:spcAft>
                <a:spcPts val="800"/>
              </a:spcAft>
            </a:pPr>
            <a:r>
              <a:rPr lang="fr-FR" sz="1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C’est précisément à l’</a:t>
            </a:r>
            <a:r>
              <a:rPr lang="fr-FR" sz="1200" b="1" kern="100" dirty="0">
                <a:effectLst/>
                <a:latin typeface="Aptos" panose="020B0004020202020204" pitchFamily="34" charset="0"/>
                <a:ea typeface="Aptos" panose="020B0004020202020204" pitchFamily="34" charset="0"/>
                <a:cs typeface="Arial" panose="020B0604020202020204" pitchFamily="34" charset="0"/>
              </a:rPr>
              <a:t>intersection de ces trois défis</a:t>
            </a:r>
            <a:r>
              <a:rPr lang="fr-FR" sz="1200" kern="100" dirty="0">
                <a:effectLst/>
                <a:latin typeface="Aptos" panose="020B0004020202020204" pitchFamily="34" charset="0"/>
                <a:ea typeface="Aptos" panose="020B0004020202020204" pitchFamily="34" charset="0"/>
                <a:cs typeface="Arial" panose="020B0604020202020204" pitchFamily="34" charset="0"/>
              </a:rPr>
              <a:t> — qualité de service, sécurité et énergie — que se situe le travail présenté dans cette thèse.</a:t>
            </a:r>
          </a:p>
          <a:p>
            <a:pPr>
              <a:lnSpc>
                <a:spcPct val="115000"/>
              </a:lnSpc>
              <a:spcAft>
                <a:spcPts val="800"/>
              </a:spcAft>
            </a:pPr>
            <a:r>
              <a:rPr lang="fr-FR" sz="1200" kern="100" dirty="0">
                <a:effectLst/>
                <a:latin typeface="Segoe UI Symbol" panose="020B0502040204020203" pitchFamily="34" charset="0"/>
                <a:ea typeface="Aptos" panose="020B0004020202020204" pitchFamily="34" charset="0"/>
                <a:cs typeface="Segoe UI Symbol" panose="020B0502040204020203" pitchFamily="34" charset="0"/>
              </a:rPr>
              <a:t>➡️</a:t>
            </a:r>
            <a:r>
              <a:rPr lang="fr-FR" sz="1200" kern="100" dirty="0">
                <a:effectLst/>
                <a:latin typeface="Aptos" panose="020B0004020202020204" pitchFamily="34" charset="0"/>
                <a:ea typeface="Aptos" panose="020B0004020202020204" pitchFamily="34" charset="0"/>
                <a:cs typeface="Arial" panose="020B0604020202020204" pitchFamily="34" charset="0"/>
              </a:rPr>
              <a:t> Pour aller plus loin, je vais maintenant présenter </a:t>
            </a:r>
            <a:r>
              <a:rPr lang="fr-FR" sz="1200" b="1" kern="100" dirty="0">
                <a:effectLst/>
                <a:latin typeface="Aptos" panose="020B0004020202020204" pitchFamily="34" charset="0"/>
                <a:ea typeface="Aptos" panose="020B0004020202020204" pitchFamily="34" charset="0"/>
                <a:cs typeface="Arial" panose="020B0604020202020204" pitchFamily="34" charset="0"/>
              </a:rPr>
              <a:t>l’architecture</a:t>
            </a:r>
            <a:r>
              <a:rPr lang="fr-FR" sz="1200" kern="100" dirty="0">
                <a:effectLst/>
                <a:latin typeface="Aptos" panose="020B0004020202020204" pitchFamily="34" charset="0"/>
                <a:ea typeface="Aptos" panose="020B0004020202020204" pitchFamily="34" charset="0"/>
                <a:cs typeface="Arial" panose="020B0604020202020204" pitchFamily="34" charset="0"/>
              </a:rPr>
              <a:t> la </a:t>
            </a:r>
            <a:r>
              <a:rPr lang="fr-FR" sz="1200" b="1" kern="100" dirty="0">
                <a:effectLst/>
                <a:latin typeface="Aptos" panose="020B0004020202020204" pitchFamily="34" charset="0"/>
                <a:ea typeface="Aptos" panose="020B0004020202020204" pitchFamily="34" charset="0"/>
                <a:cs typeface="Arial" panose="020B0604020202020204" pitchFamily="34" charset="0"/>
              </a:rPr>
              <a:t>problématique liée au protocole RPL</a:t>
            </a:r>
            <a:r>
              <a:rPr lang="fr-FR" sz="1200" kern="100" dirty="0">
                <a:effectLst/>
                <a:latin typeface="Aptos" panose="020B0004020202020204" pitchFamily="34" charset="0"/>
                <a:ea typeface="Aptos" panose="020B0004020202020204" pitchFamily="34" charset="0"/>
                <a:cs typeface="Arial" panose="020B0604020202020204" pitchFamily="34" charset="0"/>
              </a:rPr>
              <a:t>, qui est le protocole de routage le plus utilisé dans ce type de réseaux.</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4</a:t>
            </a:fld>
            <a:endParaRPr lang="fr-FR"/>
          </a:p>
        </p:txBody>
      </p:sp>
    </p:spTree>
    <p:extLst>
      <p:ext uri="{BB962C8B-B14F-4D97-AF65-F5344CB8AC3E}">
        <p14:creationId xmlns:p14="http://schemas.microsoft.com/office/powerpoint/2010/main" val="3542986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None/>
            </a:pPr>
            <a:r>
              <a:rPr lang="fr-FR" b="1" dirty="0"/>
              <a:t>Architecture RPL – DODAG</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effectLst/>
                <a:latin typeface="Aptos" panose="020B0004020202020204" pitchFamily="34" charset="0"/>
                <a:ea typeface="+mn-ea"/>
                <a:cs typeface="+mn-cs"/>
              </a:rPr>
              <a:t>Le protocole RPL</a:t>
            </a:r>
            <a:r>
              <a:rPr lang="fr-FR" sz="1200" kern="1200" dirty="0">
                <a:effectLst/>
                <a:latin typeface="Aptos" panose="020B0004020202020204" pitchFamily="34" charset="0"/>
                <a:ea typeface="+mn-ea"/>
                <a:cs typeface="+mn-cs"/>
              </a:rPr>
              <a:t> est aujourd’hui le </a:t>
            </a:r>
            <a:r>
              <a:rPr lang="fr-FR" sz="1200" b="1" kern="1200" dirty="0">
                <a:effectLst/>
                <a:latin typeface="Aptos" panose="020B0004020202020204" pitchFamily="34" charset="0"/>
                <a:ea typeface="+mn-ea"/>
                <a:cs typeface="+mn-cs"/>
              </a:rPr>
              <a:t>standard de routage</a:t>
            </a:r>
            <a:r>
              <a:rPr lang="fr-FR" sz="1200" kern="1200" dirty="0">
                <a:effectLst/>
                <a:latin typeface="Aptos" panose="020B0004020202020204" pitchFamily="34" charset="0"/>
                <a:ea typeface="+mn-ea"/>
                <a:cs typeface="+mn-cs"/>
              </a:rPr>
              <a:t> pour les réseaux IoT contraints.</a:t>
            </a:r>
            <a:br>
              <a:rPr lang="fr-FR" sz="1200" kern="1200" dirty="0">
                <a:effectLst/>
                <a:latin typeface="Aptos" panose="020B0004020202020204" pitchFamily="34" charset="0"/>
                <a:ea typeface="+mn-ea"/>
                <a:cs typeface="+mn-cs"/>
              </a:rPr>
            </a:br>
            <a:r>
              <a:rPr lang="fr-FR" sz="1200" b="1" kern="1200" dirty="0">
                <a:effectLst/>
                <a:latin typeface="Aptos" panose="020B0004020202020204" pitchFamily="34" charset="0"/>
                <a:ea typeface="+mn-ea"/>
                <a:cs typeface="+mn-cs"/>
              </a:rPr>
              <a:t>Il a été </a:t>
            </a:r>
            <a:r>
              <a:rPr lang="fr-FR" sz="1200" kern="1200" dirty="0">
                <a:effectLst/>
                <a:latin typeface="Aptos" panose="020B0004020202020204" pitchFamily="34" charset="0"/>
                <a:ea typeface="+mn-ea"/>
                <a:cs typeface="+mn-cs"/>
              </a:rPr>
              <a:t>standardisé par l’</a:t>
            </a:r>
            <a:r>
              <a:rPr lang="fr-FR" sz="1200" b="1" kern="1200" dirty="0">
                <a:effectLst/>
                <a:latin typeface="Aptos" panose="020B0004020202020204" pitchFamily="34" charset="0"/>
                <a:ea typeface="+mn-ea"/>
                <a:cs typeface="+mn-cs"/>
              </a:rPr>
              <a:t>IETF</a:t>
            </a:r>
            <a:r>
              <a:rPr lang="fr-FR" sz="1200" kern="1200" dirty="0">
                <a:effectLst/>
                <a:latin typeface="Aptos" panose="020B0004020202020204" pitchFamily="34" charset="0"/>
                <a:ea typeface="+mn-ea"/>
                <a:cs typeface="+mn-cs"/>
              </a:rPr>
              <a:t> et il est largement utilisé dans la recherche et dans l’industrie.</a:t>
            </a:r>
          </a:p>
          <a:p>
            <a:r>
              <a:rPr lang="fr-FR" b="1" dirty="0">
                <a:effectLst/>
              </a:rPr>
              <a:t>Il organise </a:t>
            </a:r>
            <a:r>
              <a:rPr lang="fr-FR" dirty="0">
                <a:effectLst/>
              </a:rPr>
              <a:t>le réseau sous forme d’un </a:t>
            </a:r>
            <a:r>
              <a:rPr lang="fr-FR" b="1" dirty="0">
                <a:effectLst/>
              </a:rPr>
              <a:t>DODAG</a:t>
            </a:r>
            <a:r>
              <a:rPr lang="fr-FR" dirty="0">
                <a:effectLst/>
              </a:rPr>
              <a:t>, un graphe orienté acyclique dirigé vers la racine.</a:t>
            </a:r>
          </a:p>
          <a:p>
            <a:r>
              <a:rPr lang="fr-FR" b="1" dirty="0">
                <a:effectLst/>
              </a:rPr>
              <a:t>Les nœuds </a:t>
            </a:r>
            <a:r>
              <a:rPr lang="fr-FR" dirty="0">
                <a:effectLst/>
              </a:rPr>
              <a:t>échangent des messages </a:t>
            </a:r>
            <a:r>
              <a:rPr lang="fr-FR" b="1" dirty="0">
                <a:effectLst/>
              </a:rPr>
              <a:t>DIO</a:t>
            </a:r>
            <a:r>
              <a:rPr lang="fr-FR" dirty="0">
                <a:effectLst/>
              </a:rPr>
              <a:t> pour diffuser la topologie et </a:t>
            </a:r>
            <a:r>
              <a:rPr lang="fr-FR" b="1" dirty="0">
                <a:effectLst/>
              </a:rPr>
              <a:t>DAO</a:t>
            </a:r>
            <a:r>
              <a:rPr lang="fr-FR" dirty="0">
                <a:effectLst/>
              </a:rPr>
              <a:t> pour remonter les routes. </a:t>
            </a:r>
          </a:p>
          <a:p>
            <a:r>
              <a:rPr lang="fr-FR" b="1" dirty="0">
                <a:effectLst/>
              </a:rPr>
              <a:t>La sélection </a:t>
            </a:r>
            <a:r>
              <a:rPr lang="fr-FR" dirty="0">
                <a:effectLst/>
              </a:rPr>
              <a:t>du parent préféré repose principalement sur la métrique ETX. </a:t>
            </a:r>
          </a:p>
          <a:p>
            <a:r>
              <a:rPr lang="fr-FR" b="1" dirty="0">
                <a:effectLst/>
              </a:rPr>
              <a:t>Cependant</a:t>
            </a:r>
            <a:r>
              <a:rPr lang="fr-FR" dirty="0">
                <a:effectLst/>
              </a:rPr>
              <a:t>, cette architecture présente des limites importantes en termes de QoS, de sécurité et d’efficacité énergétique, </a:t>
            </a:r>
            <a:r>
              <a:rPr lang="fr-FR" sz="1800" dirty="0">
                <a:effectLst/>
                <a:latin typeface="Aptos" panose="020B0004020202020204" pitchFamily="34" charset="0"/>
                <a:ea typeface="Aptos" panose="020B0004020202020204" pitchFamily="34" charset="0"/>
                <a:cs typeface="Arial" panose="020B0604020202020204" pitchFamily="34" charset="0"/>
              </a:rPr>
              <a:t>c’est ce que je présenterai dans la diapositive suivante.</a:t>
            </a:r>
            <a:r>
              <a:rPr lang="fr-FR" dirty="0">
                <a:effectLst/>
              </a:rPr>
              <a:t>.</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5</a:t>
            </a:fld>
            <a:endParaRPr lang="fr-FR"/>
          </a:p>
        </p:txBody>
      </p:sp>
    </p:spTree>
    <p:extLst>
      <p:ext uri="{BB962C8B-B14F-4D97-AF65-F5344CB8AC3E}">
        <p14:creationId xmlns:p14="http://schemas.microsoft.com/office/powerpoint/2010/main" val="4074625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Bef>
                <a:spcPts val="600"/>
              </a:spcBef>
              <a:spcAft>
                <a:spcPts val="600"/>
              </a:spcAft>
            </a:pPr>
            <a:r>
              <a:rPr lang="fr-FR" sz="1200" kern="1200" dirty="0">
                <a:effectLst/>
                <a:latin typeface="Aptos" panose="020B0004020202020204" pitchFamily="34" charset="0"/>
                <a:ea typeface="+mn-ea"/>
                <a:cs typeface="+mn-cs"/>
              </a:rPr>
              <a:t>RPL fonctionne bien pour </a:t>
            </a:r>
            <a:r>
              <a:rPr lang="fr-FR" sz="1200" b="1" kern="1200" dirty="0">
                <a:effectLst/>
                <a:latin typeface="Aptos" panose="020B0004020202020204" pitchFamily="34" charset="0"/>
                <a:ea typeface="+mn-ea"/>
                <a:cs typeface="+mn-cs"/>
              </a:rPr>
              <a:t>construire la topologie du réseau</a:t>
            </a:r>
            <a:r>
              <a:rPr lang="fr-FR" sz="1200" kern="1200" dirty="0">
                <a:effectLst/>
                <a:latin typeface="Aptos" panose="020B0004020202020204" pitchFamily="34" charset="0"/>
                <a:ea typeface="+mn-ea"/>
                <a:cs typeface="+mn-cs"/>
              </a:rPr>
              <a:t>, mais lorsqu’on s’intéresse à des </a:t>
            </a:r>
            <a:r>
              <a:rPr lang="fr-FR" sz="1200" b="1" kern="1200" dirty="0">
                <a:effectLst/>
                <a:latin typeface="Aptos" panose="020B0004020202020204" pitchFamily="34" charset="0"/>
                <a:ea typeface="+mn-ea"/>
                <a:cs typeface="+mn-cs"/>
              </a:rPr>
              <a:t>applications critiques</a:t>
            </a:r>
            <a:r>
              <a:rPr lang="fr-FR" sz="1200" kern="1200" dirty="0">
                <a:effectLst/>
                <a:latin typeface="Aptos" panose="020B0004020202020204" pitchFamily="34" charset="0"/>
                <a:ea typeface="+mn-ea"/>
                <a:cs typeface="+mn-cs"/>
              </a:rPr>
              <a:t>, il présente plusieurs </a:t>
            </a:r>
            <a:r>
              <a:rPr lang="fr-FR" sz="1200" b="1" kern="1200" dirty="0">
                <a:effectLst/>
                <a:latin typeface="Aptos" panose="020B0004020202020204" pitchFamily="34" charset="0"/>
                <a:ea typeface="+mn-ea"/>
                <a:cs typeface="+mn-cs"/>
              </a:rPr>
              <a:t>limitations importantes</a:t>
            </a:r>
            <a:r>
              <a:rPr lang="fr-FR" sz="1200" kern="1200" dirty="0">
                <a:effectLst/>
                <a:latin typeface="Aptos" panose="020B0004020202020204" pitchFamily="34" charset="0"/>
                <a:ea typeface="+mn-ea"/>
                <a:cs typeface="+mn-cs"/>
              </a:rPr>
              <a:t>.</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Aptos" panose="020B0004020202020204" pitchFamily="34" charset="0"/>
                <a:ea typeface="+mn-ea"/>
                <a:cs typeface="+mn-cs"/>
              </a:rPr>
              <a:t>On peut résumer ces limites en </a:t>
            </a:r>
            <a:r>
              <a:rPr lang="fr-FR" sz="1200" b="1" kern="1200" dirty="0">
                <a:effectLst/>
                <a:latin typeface="Aptos" panose="020B0004020202020204" pitchFamily="34" charset="0"/>
                <a:ea typeface="+mn-ea"/>
                <a:cs typeface="+mn-cs"/>
              </a:rPr>
              <a:t>trois points principaux</a:t>
            </a:r>
            <a:r>
              <a:rPr lang="fr-FR" sz="1200" kern="1200" dirty="0">
                <a:effectLst/>
                <a:latin typeface="Aptos" panose="020B0004020202020204" pitchFamily="34" charset="0"/>
                <a:ea typeface="+mn-ea"/>
                <a:cs typeface="+mn-cs"/>
              </a:rPr>
              <a:t>.</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Segoe UI Emoji" panose="020B0502040204020203" pitchFamily="34" charset="0"/>
                <a:ea typeface="+mn-ea"/>
                <a:cs typeface="Segoe UI Emoji" panose="020B0502040204020203" pitchFamily="34" charset="0"/>
              </a:rPr>
              <a:t>👉</a:t>
            </a:r>
            <a:r>
              <a:rPr lang="fr-FR" sz="1200" kern="1200" dirty="0">
                <a:effectLst/>
                <a:latin typeface="Aptos" panose="020B0004020202020204" pitchFamily="34" charset="0"/>
                <a:ea typeface="+mn-ea"/>
                <a:cs typeface="+mn-cs"/>
              </a:rPr>
              <a:t> </a:t>
            </a:r>
            <a:r>
              <a:rPr lang="fr-FR" sz="1200" b="1" kern="1200" dirty="0">
                <a:effectLst/>
                <a:latin typeface="Aptos" panose="020B0004020202020204" pitchFamily="34" charset="0"/>
                <a:ea typeface="+mn-ea"/>
                <a:cs typeface="+mn-cs"/>
              </a:rPr>
              <a:t>Première limite : la qualité de service. </a:t>
            </a:r>
            <a:r>
              <a:rPr lang="fr-FR" sz="1200" kern="1200" dirty="0">
                <a:effectLst/>
                <a:latin typeface="Aptos" panose="020B0004020202020204" pitchFamily="34" charset="0"/>
                <a:ea typeface="+mn-ea"/>
                <a:cs typeface="+mn-cs"/>
              </a:rPr>
              <a:t>RPL </a:t>
            </a:r>
            <a:r>
              <a:rPr lang="fr-FR" sz="1200" b="1" kern="1200" dirty="0">
                <a:effectLst/>
                <a:latin typeface="Aptos" panose="020B0004020202020204" pitchFamily="34" charset="0"/>
                <a:ea typeface="+mn-ea"/>
                <a:cs typeface="+mn-cs"/>
              </a:rPr>
              <a:t>ne fait aucune distinction</a:t>
            </a:r>
            <a:r>
              <a:rPr lang="fr-FR" sz="1200" kern="1200" dirty="0">
                <a:effectLst/>
                <a:latin typeface="Aptos" panose="020B0004020202020204" pitchFamily="34" charset="0"/>
                <a:ea typeface="+mn-ea"/>
                <a:cs typeface="+mn-cs"/>
              </a:rPr>
              <a:t> entre les différents types de trafic.</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Un paquet critique, comme une </a:t>
            </a:r>
            <a:r>
              <a:rPr lang="fr-FR" sz="1200" b="1" kern="1200" dirty="0">
                <a:effectLst/>
                <a:latin typeface="Aptos" panose="020B0004020202020204" pitchFamily="34" charset="0"/>
                <a:ea typeface="+mn-ea"/>
                <a:cs typeface="+mn-cs"/>
              </a:rPr>
              <a:t>alerte médicale</a:t>
            </a:r>
            <a:r>
              <a:rPr lang="fr-FR" sz="1200" kern="1200" dirty="0">
                <a:effectLst/>
                <a:latin typeface="Aptos" panose="020B0004020202020204" pitchFamily="34" charset="0"/>
                <a:ea typeface="+mn-ea"/>
                <a:cs typeface="+mn-cs"/>
              </a:rPr>
              <a:t>, est traité exactement de la même manière qu’un paquet peu important, par exemple une mesure de température.</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Aptos" panose="020B0004020202020204" pitchFamily="34" charset="0"/>
                <a:ea typeface="+mn-ea"/>
                <a:cs typeface="+mn-cs"/>
              </a:rPr>
              <a:t>En situation normale, cela peut fonctionner. Mais </a:t>
            </a:r>
            <a:r>
              <a:rPr lang="fr-FR" sz="1200" b="1" kern="1200" dirty="0">
                <a:effectLst/>
                <a:latin typeface="Aptos" panose="020B0004020202020204" pitchFamily="34" charset="0"/>
                <a:ea typeface="+mn-ea"/>
                <a:cs typeface="+mn-cs"/>
              </a:rPr>
              <a:t>en cas de congestion</a:t>
            </a:r>
            <a:r>
              <a:rPr lang="fr-FR" sz="1200" kern="1200" dirty="0">
                <a:effectLst/>
                <a:latin typeface="Aptos" panose="020B0004020202020204" pitchFamily="34" charset="0"/>
                <a:ea typeface="+mn-ea"/>
                <a:cs typeface="+mn-cs"/>
              </a:rPr>
              <a:t>, les paquets critiques peuvent être </a:t>
            </a:r>
            <a:r>
              <a:rPr lang="fr-FR" sz="1200" b="1" kern="1200" dirty="0">
                <a:effectLst/>
                <a:latin typeface="Aptos" panose="020B0004020202020204" pitchFamily="34" charset="0"/>
                <a:ea typeface="+mn-ea"/>
                <a:cs typeface="+mn-cs"/>
              </a:rPr>
              <a:t>retardés</a:t>
            </a:r>
            <a:r>
              <a:rPr lang="fr-FR" sz="1200" kern="1200" dirty="0">
                <a:effectLst/>
                <a:latin typeface="Aptos" panose="020B0004020202020204" pitchFamily="34" charset="0"/>
                <a:ea typeface="+mn-ea"/>
                <a:cs typeface="+mn-cs"/>
              </a:rPr>
              <a:t> ou même </a:t>
            </a:r>
            <a:r>
              <a:rPr lang="fr-FR" sz="1200" b="1" kern="1200" dirty="0">
                <a:effectLst/>
                <a:latin typeface="Aptos" panose="020B0004020202020204" pitchFamily="34" charset="0"/>
                <a:ea typeface="+mn-ea"/>
                <a:cs typeface="+mn-cs"/>
              </a:rPr>
              <a:t>perdus</a:t>
            </a:r>
            <a:r>
              <a:rPr lang="fr-FR" sz="1200" kern="1200" dirty="0">
                <a:effectLst/>
                <a:latin typeface="Aptos" panose="020B0004020202020204" pitchFamily="34" charset="0"/>
                <a:ea typeface="+mn-ea"/>
                <a:cs typeface="+mn-cs"/>
              </a:rPr>
              <a:t>, ce qui est inacceptable pour certaines applications.</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Aptos" panose="020B0004020202020204" pitchFamily="34" charset="0"/>
                <a:ea typeface="+mn-ea"/>
                <a:cs typeface="+mn-cs"/>
              </a:rPr>
              <a:t>Exemple concret :</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dans un </a:t>
            </a:r>
            <a:r>
              <a:rPr lang="fr-FR" sz="1200" b="1" kern="1200" dirty="0">
                <a:effectLst/>
                <a:latin typeface="Aptos" panose="020B0004020202020204" pitchFamily="34" charset="0"/>
                <a:ea typeface="+mn-ea"/>
                <a:cs typeface="+mn-cs"/>
              </a:rPr>
              <a:t>hôpital</a:t>
            </a:r>
            <a:r>
              <a:rPr lang="fr-FR" sz="1200" kern="1200" dirty="0">
                <a:effectLst/>
                <a:latin typeface="Aptos" panose="020B0004020202020204" pitchFamily="34" charset="0"/>
                <a:ea typeface="+mn-ea"/>
                <a:cs typeface="+mn-cs"/>
              </a:rPr>
              <a:t>, une alerte cardiaque peut être retardée par des données de routine, ce qui peut avoir des conséquences graves.</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Segoe UI Emoji" panose="020B0502040204020203" pitchFamily="34" charset="0"/>
                <a:ea typeface="+mn-ea"/>
                <a:cs typeface="Segoe UI Emoji" panose="020B0502040204020203" pitchFamily="34" charset="0"/>
              </a:rPr>
              <a:t>👉</a:t>
            </a:r>
            <a:r>
              <a:rPr lang="fr-FR" sz="1200" kern="1200" dirty="0">
                <a:effectLst/>
                <a:latin typeface="Aptos" panose="020B0004020202020204" pitchFamily="34" charset="0"/>
                <a:ea typeface="+mn-ea"/>
                <a:cs typeface="+mn-cs"/>
              </a:rPr>
              <a:t> </a:t>
            </a:r>
            <a:r>
              <a:rPr lang="fr-FR" sz="1200" b="1" kern="1200" dirty="0">
                <a:effectLst/>
                <a:latin typeface="Aptos" panose="020B0004020202020204" pitchFamily="34" charset="0"/>
                <a:ea typeface="+mn-ea"/>
                <a:cs typeface="+mn-cs"/>
              </a:rPr>
              <a:t>Deuxième limite : la consommation énergétique. </a:t>
            </a:r>
            <a:r>
              <a:rPr lang="fr-FR" sz="1200" kern="1200" dirty="0">
                <a:effectLst/>
                <a:latin typeface="Aptos" panose="020B0004020202020204" pitchFamily="34" charset="0"/>
                <a:ea typeface="+mn-ea"/>
                <a:cs typeface="+mn-cs"/>
              </a:rPr>
              <a:t>Dans les </a:t>
            </a:r>
            <a:r>
              <a:rPr lang="fr-FR" sz="1200" b="1" kern="1200" dirty="0">
                <a:effectLst/>
                <a:latin typeface="Aptos" panose="020B0004020202020204" pitchFamily="34" charset="0"/>
                <a:ea typeface="+mn-ea"/>
                <a:cs typeface="+mn-cs"/>
              </a:rPr>
              <a:t>réseaux denses</a:t>
            </a:r>
            <a:r>
              <a:rPr lang="fr-FR" sz="1200" kern="1200" dirty="0">
                <a:effectLst/>
                <a:latin typeface="Aptos" panose="020B0004020202020204" pitchFamily="34" charset="0"/>
                <a:ea typeface="+mn-ea"/>
                <a:cs typeface="+mn-cs"/>
              </a:rPr>
              <a:t>, les mesures montrent que RPL peut consommer jusqu’à </a:t>
            </a:r>
            <a:r>
              <a:rPr lang="fr-FR" sz="1200" b="1" kern="1200" dirty="0">
                <a:effectLst/>
                <a:latin typeface="Aptos" panose="020B0004020202020204" pitchFamily="34" charset="0"/>
                <a:ea typeface="+mn-ea"/>
                <a:cs typeface="+mn-cs"/>
              </a:rPr>
              <a:t>1200 millijoules par paquet</a:t>
            </a:r>
            <a:r>
              <a:rPr lang="fr-FR" sz="1200" kern="1200" dirty="0">
                <a:effectLst/>
                <a:latin typeface="Aptos" panose="020B0004020202020204" pitchFamily="34" charset="0"/>
                <a:ea typeface="+mn-ea"/>
                <a:cs typeface="+mn-cs"/>
              </a:rPr>
              <a:t>.</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Aptos" panose="020B0004020202020204" pitchFamily="34" charset="0"/>
                <a:ea typeface="+mn-ea"/>
                <a:cs typeface="+mn-cs"/>
              </a:rPr>
              <a:t>Cette consommation élevée est problématique, car les capteurs IoT fonctionnent souvent sur </a:t>
            </a:r>
            <a:r>
              <a:rPr lang="fr-FR" sz="1200" b="1" kern="1200" dirty="0">
                <a:effectLst/>
                <a:latin typeface="Aptos" panose="020B0004020202020204" pitchFamily="34" charset="0"/>
                <a:ea typeface="+mn-ea"/>
                <a:cs typeface="+mn-cs"/>
              </a:rPr>
              <a:t>batterie</a:t>
            </a:r>
            <a:r>
              <a:rPr lang="fr-FR" sz="1200" kern="1200" dirty="0">
                <a:effectLst/>
                <a:latin typeface="Aptos" panose="020B0004020202020204" pitchFamily="34" charset="0"/>
                <a:ea typeface="+mn-ea"/>
                <a:cs typeface="+mn-cs"/>
              </a:rPr>
              <a:t> ou sur </a:t>
            </a:r>
            <a:r>
              <a:rPr lang="fr-FR" sz="1200" b="1" kern="1200" dirty="0">
                <a:effectLst/>
                <a:latin typeface="Aptos" panose="020B0004020202020204" pitchFamily="34" charset="0"/>
                <a:ea typeface="+mn-ea"/>
                <a:cs typeface="+mn-cs"/>
              </a:rPr>
              <a:t>énergie récupérée</a:t>
            </a:r>
            <a:r>
              <a:rPr lang="fr-FR" sz="1200" kern="1200" dirty="0">
                <a:effectLst/>
                <a:latin typeface="Aptos" panose="020B0004020202020204" pitchFamily="34" charset="0"/>
                <a:ea typeface="+mn-ea"/>
                <a:cs typeface="+mn-cs"/>
              </a:rPr>
              <a:t>.</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Résultat : la </a:t>
            </a:r>
            <a:r>
              <a:rPr lang="fr-FR" sz="1200" b="1" kern="1200" dirty="0">
                <a:effectLst/>
                <a:latin typeface="Aptos" panose="020B0004020202020204" pitchFamily="34" charset="0"/>
                <a:ea typeface="+mn-ea"/>
                <a:cs typeface="+mn-cs"/>
              </a:rPr>
              <a:t>durée de vie des capteurs est fortement réduite</a:t>
            </a:r>
            <a:r>
              <a:rPr lang="fr-FR" sz="1200" kern="1200" dirty="0">
                <a:effectLst/>
                <a:latin typeface="Aptos" panose="020B0004020202020204" pitchFamily="34" charset="0"/>
                <a:ea typeface="+mn-ea"/>
                <a:cs typeface="+mn-cs"/>
              </a:rPr>
              <a:t>, ce qui augmente les coûts de maintenance.</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Segoe UI Emoji" panose="020B0502040204020203" pitchFamily="34" charset="0"/>
                <a:ea typeface="+mn-ea"/>
                <a:cs typeface="Segoe UI Emoji" panose="020B0502040204020203" pitchFamily="34" charset="0"/>
              </a:rPr>
              <a:t>👉</a:t>
            </a:r>
            <a:r>
              <a:rPr lang="fr-FR" sz="1200" kern="1200" dirty="0">
                <a:effectLst/>
                <a:latin typeface="Aptos" panose="020B0004020202020204" pitchFamily="34" charset="0"/>
                <a:ea typeface="+mn-ea"/>
                <a:cs typeface="+mn-cs"/>
              </a:rPr>
              <a:t> </a:t>
            </a:r>
            <a:r>
              <a:rPr lang="fr-FR" sz="1200" b="1" kern="1200" dirty="0">
                <a:effectLst/>
                <a:latin typeface="Aptos" panose="020B0004020202020204" pitchFamily="34" charset="0"/>
                <a:ea typeface="+mn-ea"/>
                <a:cs typeface="+mn-cs"/>
              </a:rPr>
              <a:t>Troisième limite : la sécurité. </a:t>
            </a:r>
            <a:r>
              <a:rPr lang="fr-FR" sz="1200" kern="1200" dirty="0">
                <a:effectLst/>
                <a:latin typeface="Aptos" panose="020B0004020202020204" pitchFamily="34" charset="0"/>
                <a:ea typeface="+mn-ea"/>
                <a:cs typeface="+mn-cs"/>
              </a:rPr>
              <a:t>RPL est vulnérable à plusieurs </a:t>
            </a:r>
            <a:r>
              <a:rPr lang="fr-FR" sz="1200" b="1" kern="1200" dirty="0">
                <a:effectLst/>
                <a:latin typeface="Aptos" panose="020B0004020202020204" pitchFamily="34" charset="0"/>
                <a:ea typeface="+mn-ea"/>
                <a:cs typeface="+mn-cs"/>
              </a:rPr>
              <a:t>attaques de routage</a:t>
            </a:r>
            <a:r>
              <a:rPr lang="fr-FR" sz="1200" kern="1200" dirty="0">
                <a:effectLst/>
                <a:latin typeface="Aptos" panose="020B0004020202020204" pitchFamily="34" charset="0"/>
                <a:ea typeface="+mn-ea"/>
                <a:cs typeface="+mn-cs"/>
              </a:rPr>
              <a:t>, parmi lesquelles :</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 l’attaque </a:t>
            </a:r>
            <a:r>
              <a:rPr lang="fr-FR" sz="1200" b="1" kern="1200" dirty="0">
                <a:effectLst/>
                <a:latin typeface="Aptos" panose="020B0004020202020204" pitchFamily="34" charset="0"/>
                <a:ea typeface="+mn-ea"/>
                <a:cs typeface="+mn-cs"/>
              </a:rPr>
              <a:t>sinkhole</a:t>
            </a:r>
            <a:r>
              <a:rPr lang="fr-FR" sz="1200" kern="1200" dirty="0">
                <a:effectLst/>
                <a:latin typeface="Aptos" panose="020B0004020202020204" pitchFamily="34" charset="0"/>
                <a:ea typeface="+mn-ea"/>
                <a:cs typeface="+mn-cs"/>
              </a:rPr>
              <a:t>, où un nœud malveillant attire tout le trafic,</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 l’attaque </a:t>
            </a:r>
            <a:r>
              <a:rPr lang="fr-FR" sz="1200" b="1" kern="1200" dirty="0">
                <a:effectLst/>
                <a:latin typeface="Aptos" panose="020B0004020202020204" pitchFamily="34" charset="0"/>
                <a:ea typeface="+mn-ea"/>
                <a:cs typeface="+mn-cs"/>
              </a:rPr>
              <a:t>selective forwarding</a:t>
            </a:r>
            <a:r>
              <a:rPr lang="fr-FR" sz="1200" kern="1200" dirty="0">
                <a:effectLst/>
                <a:latin typeface="Aptos" panose="020B0004020202020204" pitchFamily="34" charset="0"/>
                <a:ea typeface="+mn-ea"/>
                <a:cs typeface="+mn-cs"/>
              </a:rPr>
              <a:t>, où </a:t>
            </a:r>
            <a:r>
              <a:rPr lang="fr-FR" sz="1800" dirty="0">
                <a:effectLst/>
                <a:latin typeface="Aptos" panose="020B0004020202020204" pitchFamily="34" charset="0"/>
                <a:ea typeface="Aptos" panose="020B0004020202020204" pitchFamily="34" charset="0"/>
                <a:cs typeface="Arial" panose="020B0604020202020204" pitchFamily="34" charset="0"/>
              </a:rPr>
              <a:t>nœud malveillant laisse passé certains paquets et bloque les autres,</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 et l’attaque,</a:t>
            </a:r>
            <a:r>
              <a:rPr lang="fr-FR" sz="1200" b="1" kern="1200" dirty="0">
                <a:effectLst/>
                <a:latin typeface="Aptos" panose="020B0004020202020204" pitchFamily="34" charset="0"/>
                <a:ea typeface="+mn-ea"/>
                <a:cs typeface="+mn-cs"/>
              </a:rPr>
              <a:t> hello flood</a:t>
            </a:r>
            <a:r>
              <a:rPr lang="fr-FR" sz="1200" kern="1200" dirty="0">
                <a:effectLst/>
                <a:latin typeface="Aptos" panose="020B0004020202020204" pitchFamily="34" charset="0"/>
                <a:ea typeface="+mn-ea"/>
                <a:cs typeface="+mn-cs"/>
              </a:rPr>
              <a:t> basée sur l’inondation de messages de contrôle.</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Aptos" panose="020B0004020202020204" pitchFamily="34" charset="0"/>
                <a:ea typeface="+mn-ea"/>
                <a:cs typeface="+mn-cs"/>
              </a:rPr>
              <a:t>Les mécanismes de défense classiques restent </a:t>
            </a:r>
            <a:r>
              <a:rPr lang="fr-FR" sz="1200" b="1" kern="1200" dirty="0">
                <a:effectLst/>
                <a:latin typeface="Aptos" panose="020B0004020202020204" pitchFamily="34" charset="0"/>
                <a:ea typeface="+mn-ea"/>
                <a:cs typeface="+mn-cs"/>
              </a:rPr>
              <a:t>peu efficaces</a:t>
            </a:r>
            <a:r>
              <a:rPr lang="fr-FR" sz="1200" kern="1200" dirty="0">
                <a:effectLst/>
                <a:latin typeface="Aptos" panose="020B0004020202020204" pitchFamily="34" charset="0"/>
                <a:ea typeface="+mn-ea"/>
                <a:cs typeface="+mn-cs"/>
              </a:rPr>
              <a:t> :</a:t>
            </a:r>
            <a:br>
              <a:rPr lang="fr-FR" sz="1200" kern="1200" dirty="0">
                <a:effectLst/>
                <a:latin typeface="Aptos" panose="020B0004020202020204" pitchFamily="34" charset="0"/>
                <a:ea typeface="+mn-ea"/>
                <a:cs typeface="+mn-cs"/>
              </a:rPr>
            </a:br>
            <a:r>
              <a:rPr lang="fr-FR" sz="1200" kern="1200" dirty="0">
                <a:effectLst/>
                <a:latin typeface="Aptos" panose="020B0004020202020204" pitchFamily="34" charset="0"/>
                <a:ea typeface="+mn-ea"/>
                <a:cs typeface="+mn-cs"/>
              </a:rPr>
              <a:t>le taux de détection est souvent </a:t>
            </a:r>
            <a:r>
              <a:rPr lang="fr-FR" sz="1200" b="1" kern="1200" dirty="0">
                <a:effectLst/>
                <a:latin typeface="Aptos" panose="020B0004020202020204" pitchFamily="34" charset="0"/>
                <a:ea typeface="+mn-ea"/>
                <a:cs typeface="+mn-cs"/>
              </a:rPr>
              <a:t>inférieur à 90 %</a:t>
            </a:r>
            <a:r>
              <a:rPr lang="fr-FR" sz="1200" kern="1200" dirty="0">
                <a:effectLst/>
                <a:latin typeface="Aptos" panose="020B0004020202020204" pitchFamily="34" charset="0"/>
                <a:ea typeface="+mn-ea"/>
                <a:cs typeface="+mn-cs"/>
              </a:rPr>
              <a:t>, avec en plus </a:t>
            </a:r>
            <a:r>
              <a:rPr lang="fr-FR" sz="1200" b="1" kern="1200" dirty="0">
                <a:effectLst/>
                <a:latin typeface="Aptos" panose="020B0004020202020204" pitchFamily="34" charset="0"/>
                <a:ea typeface="+mn-ea"/>
                <a:cs typeface="+mn-cs"/>
              </a:rPr>
              <a:t>beaucoup de fausses alertes</a:t>
            </a:r>
            <a:r>
              <a:rPr lang="fr-FR" sz="1200" kern="1200" dirty="0">
                <a:effectLst/>
                <a:latin typeface="Aptos" panose="020B0004020202020204" pitchFamily="34" charset="0"/>
                <a:ea typeface="+mn-ea"/>
                <a:cs typeface="+mn-cs"/>
              </a:rPr>
              <a:t>.</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Segoe UI Emoji" panose="020B0502040204020203" pitchFamily="34" charset="0"/>
                <a:ea typeface="+mn-ea"/>
                <a:cs typeface="Segoe UI Emoji" panose="020B0502040204020203" pitchFamily="34" charset="0"/>
              </a:rPr>
              <a:t>👉</a:t>
            </a:r>
            <a:r>
              <a:rPr lang="fr-FR" sz="1200" kern="1200" dirty="0">
                <a:effectLst/>
                <a:latin typeface="Aptos" panose="020B0004020202020204" pitchFamily="34" charset="0"/>
                <a:ea typeface="+mn-ea"/>
                <a:cs typeface="+mn-cs"/>
              </a:rPr>
              <a:t> En r</a:t>
            </a:r>
            <a:r>
              <a:rPr lang="fr-FR" sz="1200" kern="1200" dirty="0">
                <a:effectLst/>
                <a:latin typeface="+mn-ea"/>
                <a:ea typeface="+mn-ea"/>
                <a:cs typeface="+mn-cs"/>
              </a:rPr>
              <a:t>é</a:t>
            </a:r>
            <a:r>
              <a:rPr lang="fr-FR" sz="1200" kern="1200" dirty="0">
                <a:effectLst/>
                <a:latin typeface="Aptos" panose="020B0004020202020204" pitchFamily="34" charset="0"/>
                <a:ea typeface="+mn-ea"/>
                <a:cs typeface="+mn-cs"/>
              </a:rPr>
              <a:t>sum</a:t>
            </a:r>
            <a:r>
              <a:rPr lang="fr-FR" sz="1200" kern="1200" dirty="0">
                <a:effectLst/>
                <a:latin typeface="+mn-ea"/>
                <a:ea typeface="+mn-ea"/>
                <a:cs typeface="+mn-cs"/>
              </a:rPr>
              <a:t>é</a:t>
            </a:r>
            <a:r>
              <a:rPr lang="fr-FR" sz="1200" kern="1200" dirty="0">
                <a:effectLst/>
                <a:latin typeface="Aptos" panose="020B0004020202020204" pitchFamily="34" charset="0"/>
                <a:ea typeface="+mn-ea"/>
                <a:cs typeface="+mn-cs"/>
              </a:rPr>
              <a:t>, </a:t>
            </a:r>
            <a:r>
              <a:rPr lang="fr-FR" sz="1200" b="1" kern="1200" dirty="0">
                <a:effectLst/>
                <a:latin typeface="Aptos" panose="020B0004020202020204" pitchFamily="34" charset="0"/>
                <a:ea typeface="+mn-ea"/>
                <a:cs typeface="+mn-cs"/>
              </a:rPr>
              <a:t>RPL montre ses limites</a:t>
            </a:r>
            <a:r>
              <a:rPr lang="fr-FR" sz="1200" kern="1200" dirty="0">
                <a:effectLst/>
                <a:latin typeface="Aptos" panose="020B0004020202020204" pitchFamily="34" charset="0"/>
                <a:ea typeface="+mn-ea"/>
                <a:cs typeface="+mn-cs"/>
              </a:rPr>
              <a:t> dès que l’on parle de : qualité de service, consommation énergétique, et sécurité.</a:t>
            </a:r>
            <a:endParaRPr lang="fr-FR" sz="1200" dirty="0">
              <a:effectLst/>
              <a:latin typeface="Times New Roman" panose="02020603050405020304" pitchFamily="18" charset="0"/>
              <a:ea typeface="Times New Roman" panose="02020603050405020304" pitchFamily="18" charset="0"/>
            </a:endParaRPr>
          </a:p>
          <a:p>
            <a:pPr>
              <a:spcBef>
                <a:spcPts val="600"/>
              </a:spcBef>
              <a:spcAft>
                <a:spcPts val="600"/>
              </a:spcAft>
            </a:pPr>
            <a:r>
              <a:rPr lang="fr-FR" sz="1200" kern="1200" dirty="0">
                <a:effectLst/>
                <a:latin typeface="Segoe UI Emoji" panose="020B0502040204020203" pitchFamily="34" charset="0"/>
                <a:ea typeface="+mn-ea"/>
                <a:cs typeface="Segoe UI Emoji" panose="020B0502040204020203" pitchFamily="34" charset="0"/>
              </a:rPr>
              <a:t>👉</a:t>
            </a:r>
            <a:r>
              <a:rPr lang="fr-FR" sz="1200" kern="1200" dirty="0">
                <a:effectLst/>
                <a:latin typeface="Aptos" panose="020B0004020202020204" pitchFamily="34" charset="0"/>
                <a:ea typeface="+mn-ea"/>
                <a:cs typeface="+mn-cs"/>
              </a:rPr>
              <a:t> </a:t>
            </a:r>
            <a:r>
              <a:rPr lang="fr-FR" sz="1200" b="1" kern="1200" dirty="0">
                <a:effectLst/>
                <a:latin typeface="Aptos" panose="020B0004020202020204" pitchFamily="34" charset="0"/>
                <a:ea typeface="+mn-ea"/>
                <a:cs typeface="+mn-cs"/>
              </a:rPr>
              <a:t>C’est précisément ces limites</a:t>
            </a:r>
            <a:r>
              <a:rPr lang="fr-FR" sz="1200" kern="1200" dirty="0">
                <a:effectLst/>
                <a:latin typeface="Aptos" panose="020B0004020202020204" pitchFamily="34" charset="0"/>
                <a:ea typeface="+mn-ea"/>
                <a:cs typeface="+mn-cs"/>
              </a:rPr>
              <a:t> qui ont motivé le développement de nos deux protocoles :</a:t>
            </a:r>
            <a:br>
              <a:rPr lang="fr-FR" sz="1200" kern="1200" dirty="0">
                <a:effectLst/>
                <a:latin typeface="Aptos" panose="020B0004020202020204" pitchFamily="34" charset="0"/>
                <a:ea typeface="+mn-ea"/>
                <a:cs typeface="+mn-cs"/>
              </a:rPr>
            </a:br>
            <a:r>
              <a:rPr lang="fr-FR" sz="1200" b="1" kern="1200" dirty="0">
                <a:effectLst/>
                <a:latin typeface="Aptos" panose="020B0004020202020204" pitchFamily="34" charset="0"/>
                <a:ea typeface="+mn-ea"/>
                <a:cs typeface="+mn-cs"/>
              </a:rPr>
              <a:t>RPLMQoS</a:t>
            </a:r>
            <a:r>
              <a:rPr lang="fr-FR" sz="1200" kern="1200" dirty="0">
                <a:effectLst/>
                <a:latin typeface="Aptos" panose="020B0004020202020204" pitchFamily="34" charset="0"/>
                <a:ea typeface="+mn-ea"/>
                <a:cs typeface="+mn-cs"/>
              </a:rPr>
              <a:t>, pour améliorer la qualité de service, et </a:t>
            </a:r>
            <a:r>
              <a:rPr lang="fr-FR" sz="1200" b="1" kern="1200" dirty="0">
                <a:effectLst/>
                <a:latin typeface="Aptos" panose="020B0004020202020204" pitchFamily="34" charset="0"/>
                <a:ea typeface="+mn-ea"/>
                <a:cs typeface="+mn-cs"/>
              </a:rPr>
              <a:t>AER-RPL</a:t>
            </a:r>
            <a:r>
              <a:rPr lang="fr-FR" sz="1200" kern="1200" dirty="0">
                <a:effectLst/>
                <a:latin typeface="Aptos" panose="020B0004020202020204" pitchFamily="34" charset="0"/>
                <a:ea typeface="+mn-ea"/>
                <a:cs typeface="+mn-cs"/>
              </a:rPr>
              <a:t>, pour renforcer la sécurité tout en maîtrisant l’énergie.</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6</a:t>
            </a:fld>
            <a:endParaRPr lang="fr-FR"/>
          </a:p>
        </p:txBody>
      </p:sp>
    </p:spTree>
    <p:extLst>
      <p:ext uri="{BB962C8B-B14F-4D97-AF65-F5344CB8AC3E}">
        <p14:creationId xmlns:p14="http://schemas.microsoft.com/office/powerpoint/2010/main" val="866934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Cette figure montre visuellement les limites de RPL (PDR, latence, énergie) avant nos améliorations,</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7</a:t>
            </a:fld>
            <a:endParaRPr lang="fr-FR"/>
          </a:p>
        </p:txBody>
      </p:sp>
    </p:spTree>
    <p:extLst>
      <p:ext uri="{BB962C8B-B14F-4D97-AF65-F5344CB8AC3E}">
        <p14:creationId xmlns:p14="http://schemas.microsoft.com/office/powerpoint/2010/main" val="1846173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À partir de la problématique que je viens de présenter, nous avons défini </a:t>
            </a:r>
            <a:r>
              <a:rPr lang="fr-FR" b="1" dirty="0"/>
              <a:t>trois objectifs principaux</a:t>
            </a:r>
            <a:r>
              <a:rPr lang="fr-FR" dirty="0"/>
              <a:t> pour cette thèse.</a:t>
            </a:r>
          </a:p>
          <a:p>
            <a:r>
              <a:rPr lang="fr-FR" dirty="0"/>
              <a:t>👉 </a:t>
            </a:r>
            <a:r>
              <a:rPr lang="fr-FR" b="1" dirty="0"/>
              <a:t>Premier objectif : la qualité de service. </a:t>
            </a:r>
            <a:r>
              <a:rPr lang="fr-FR" dirty="0"/>
              <a:t>L’idée est simple : </a:t>
            </a:r>
            <a:r>
              <a:rPr lang="fr-FR" b="1" dirty="0"/>
              <a:t>tous les flux n’ont pas la même importance</a:t>
            </a:r>
            <a:r>
              <a:rPr lang="fr-FR" dirty="0"/>
              <a:t>.</a:t>
            </a:r>
            <a:br>
              <a:rPr lang="fr-FR" dirty="0"/>
            </a:br>
            <a:r>
              <a:rPr lang="fr-FR" dirty="0"/>
              <a:t>Un flux critique, comme une alerte médicale, ne doit pas être traité comme un simple message de mesure.</a:t>
            </a:r>
          </a:p>
          <a:p>
            <a:r>
              <a:rPr lang="fr-FR" dirty="0"/>
              <a:t>Pour les flux critiques, nous visons :</a:t>
            </a:r>
            <a:br>
              <a:rPr lang="fr-FR" dirty="0"/>
            </a:br>
            <a:r>
              <a:rPr lang="fr-FR" dirty="0"/>
              <a:t>– un </a:t>
            </a:r>
            <a:r>
              <a:rPr lang="fr-FR" b="1" dirty="0"/>
              <a:t>taux de livraison supérieur à 95 %</a:t>
            </a:r>
            <a:r>
              <a:rPr lang="fr-FR" dirty="0"/>
              <a:t>,</a:t>
            </a:r>
            <a:br>
              <a:rPr lang="fr-FR" dirty="0"/>
            </a:br>
            <a:r>
              <a:rPr lang="fr-FR" dirty="0"/>
              <a:t>– et une </a:t>
            </a:r>
            <a:r>
              <a:rPr lang="fr-FR" b="1" dirty="0"/>
              <a:t>latence de bout en bout inférieure à 100 millisecondes</a:t>
            </a:r>
            <a:r>
              <a:rPr lang="fr-FR" dirty="0"/>
              <a:t>.</a:t>
            </a:r>
          </a:p>
          <a:p>
            <a:r>
              <a:rPr lang="fr-FR" dirty="0"/>
              <a:t>Ces valeurs correspondent aux exigences des </a:t>
            </a:r>
            <a:r>
              <a:rPr lang="fr-FR" b="1" dirty="0"/>
              <a:t>applications médicales temps réel</a:t>
            </a:r>
            <a:r>
              <a:rPr lang="fr-FR" dirty="0"/>
              <a:t>, où le retard ou la perte d’un paquet peut avoir des conséquences graves.</a:t>
            </a:r>
          </a:p>
          <a:p>
            <a:r>
              <a:rPr lang="fr-FR" dirty="0"/>
              <a:t>👉 </a:t>
            </a:r>
            <a:r>
              <a:rPr lang="fr-FR" b="1" dirty="0"/>
              <a:t>Deuxième objectif : la sécurité. </a:t>
            </a:r>
            <a:r>
              <a:rPr lang="fr-FR" dirty="0"/>
              <a:t>L’objectif ici est de </a:t>
            </a:r>
            <a:r>
              <a:rPr lang="fr-FR" b="1" dirty="0"/>
              <a:t>détecter efficacement les attaques de routage</a:t>
            </a:r>
            <a:r>
              <a:rPr lang="fr-FR" dirty="0"/>
              <a:t> dans le réseau.</a:t>
            </a:r>
            <a:br>
              <a:rPr lang="fr-FR" dirty="0"/>
            </a:br>
            <a:r>
              <a:rPr lang="fr-FR" dirty="0"/>
              <a:t>Nous visons un </a:t>
            </a:r>
            <a:r>
              <a:rPr lang="fr-FR" b="1" dirty="0"/>
              <a:t>taux de détection supérieur à 95 %</a:t>
            </a:r>
            <a:r>
              <a:rPr lang="fr-FR" dirty="0"/>
              <a:t>, tout en maintenant les </a:t>
            </a:r>
            <a:r>
              <a:rPr lang="fr-FR" b="1" dirty="0"/>
              <a:t>faux positifs en dessous de 5 %</a:t>
            </a:r>
            <a:r>
              <a:rPr lang="fr-FR" dirty="0"/>
              <a:t>.</a:t>
            </a:r>
          </a:p>
          <a:p>
            <a:r>
              <a:rPr lang="fr-FR" dirty="0"/>
              <a:t>Le point important, ce n’est pas seulement de détecter les attaques,</a:t>
            </a:r>
            <a:r>
              <a:rPr lang="ar-EG" dirty="0"/>
              <a:t> </a:t>
            </a:r>
            <a:r>
              <a:rPr lang="fr-FR" dirty="0"/>
              <a:t>mais de le faire </a:t>
            </a:r>
            <a:r>
              <a:rPr lang="fr-FR" b="1" dirty="0"/>
              <a:t>sans surcharger le réseau</a:t>
            </a:r>
            <a:r>
              <a:rPr lang="fr-FR" dirty="0"/>
              <a:t> et </a:t>
            </a:r>
            <a:r>
              <a:rPr lang="fr-FR" b="1" dirty="0"/>
              <a:t>sans pénaliser les nœuds honnêtes</a:t>
            </a:r>
            <a:r>
              <a:rPr lang="fr-FR" dirty="0"/>
              <a:t>.</a:t>
            </a:r>
            <a:br>
              <a:rPr lang="fr-FR" dirty="0"/>
            </a:br>
            <a:r>
              <a:rPr lang="fr-FR" dirty="0"/>
              <a:t>Autrement dit, il faut maintenir de bonnes performances même lorsque le réseau est attaqué.</a:t>
            </a:r>
          </a:p>
          <a:p>
            <a:r>
              <a:rPr lang="fr-FR" dirty="0"/>
              <a:t>👉 </a:t>
            </a:r>
            <a:r>
              <a:rPr lang="fr-FR" b="1" dirty="0"/>
              <a:t>Troisième objectif : l’efficacité énergétique.</a:t>
            </a:r>
            <a:endParaRPr lang="fr-FR" dirty="0"/>
          </a:p>
          <a:p>
            <a:r>
              <a:rPr lang="fr-FR" dirty="0"/>
              <a:t>Les nœuds IoT ont très peu d’énergie. Nous cherchons donc à </a:t>
            </a:r>
            <a:r>
              <a:rPr lang="fr-FR" b="1" dirty="0"/>
              <a:t>réduire la consommation énergétique d’au moins 30 %</a:t>
            </a:r>
            <a:r>
              <a:rPr lang="fr-FR" dirty="0"/>
              <a:t> par rapport au RPL standard.</a:t>
            </a:r>
          </a:p>
          <a:p>
            <a:r>
              <a:rPr lang="fr-FR" dirty="0"/>
              <a:t>Cette réduction permet de </a:t>
            </a:r>
            <a:r>
              <a:rPr lang="fr-FR" b="1" dirty="0"/>
              <a:t>prolonger la durée de vie des capteurs</a:t>
            </a:r>
            <a:r>
              <a:rPr lang="fr-FR" dirty="0"/>
              <a:t>, en particulier dans les scénarios alimentés par </a:t>
            </a:r>
            <a:r>
              <a:rPr lang="fr-FR" b="1" dirty="0"/>
              <a:t>batterie</a:t>
            </a:r>
            <a:r>
              <a:rPr lang="fr-FR" dirty="0"/>
              <a:t> ou par </a:t>
            </a:r>
            <a:r>
              <a:rPr lang="fr-FR" b="1" dirty="0"/>
              <a:t>énergie récupérée</a:t>
            </a:r>
            <a:r>
              <a:rPr lang="fr-FR" dirty="0"/>
              <a:t>, comme l’énergie solaire.</a:t>
            </a:r>
          </a:p>
          <a:p>
            <a:r>
              <a:rPr lang="fr-FR" dirty="0"/>
              <a:t>👉 En résumé, ces </a:t>
            </a:r>
            <a:r>
              <a:rPr lang="fr-FR" b="1" dirty="0"/>
              <a:t>trois objectifs</a:t>
            </a:r>
            <a:r>
              <a:rPr lang="fr-FR" dirty="0"/>
              <a:t> —qualité de service, sécurité et énergie —ont guidé la </a:t>
            </a:r>
            <a:r>
              <a:rPr lang="fr-FR" b="1" dirty="0"/>
              <a:t>conception de nos deux solutions</a:t>
            </a:r>
            <a:r>
              <a:rPr lang="fr-FR" dirty="0"/>
              <a:t> :</a:t>
            </a:r>
            <a:br>
              <a:rPr lang="fr-FR" dirty="0"/>
            </a:br>
            <a:r>
              <a:rPr lang="fr-FR" b="1" dirty="0"/>
              <a:t>RPLMQoS</a:t>
            </a:r>
            <a:r>
              <a:rPr lang="fr-FR" dirty="0"/>
              <a:t>, dédié à l’amélioration de la QoS,</a:t>
            </a:r>
            <a:br>
              <a:rPr lang="fr-FR" dirty="0"/>
            </a:br>
            <a:r>
              <a:rPr lang="fr-FR" dirty="0"/>
              <a:t>et </a:t>
            </a:r>
            <a:r>
              <a:rPr lang="fr-FR" b="1" dirty="0"/>
              <a:t>AER-RPL</a:t>
            </a:r>
            <a:r>
              <a:rPr lang="fr-FR" dirty="0"/>
              <a:t>, dédié à la sécurité et à l’efficacité énergétique.</a:t>
            </a:r>
          </a:p>
          <a:p>
            <a:r>
              <a:rPr lang="fr-FR" dirty="0"/>
              <a:t>➡️ Avant de présenter ces contributions en détail, je vais d’abord revenir sur l’</a:t>
            </a:r>
            <a:r>
              <a:rPr lang="fr-FR" b="1" dirty="0"/>
              <a:t>état de l’art du routage dans les réseaux IoT</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8</a:t>
            </a:fld>
            <a:endParaRPr lang="fr-FR"/>
          </a:p>
        </p:txBody>
      </p:sp>
    </p:spTree>
    <p:extLst>
      <p:ext uri="{BB962C8B-B14F-4D97-AF65-F5344CB8AC3E}">
        <p14:creationId xmlns:p14="http://schemas.microsoft.com/office/powerpoint/2010/main" val="2429060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bien situer nos contributions, je vais faire un </a:t>
            </a:r>
            <a:r>
              <a:rPr lang="fr-FR" b="1" dirty="0"/>
              <a:t>rappel synthétique de l’état de l’art</a:t>
            </a:r>
            <a:r>
              <a:rPr lang="fr-FR" dirty="0"/>
              <a:t> du routage dans les réseaux IoT.</a:t>
            </a:r>
          </a:p>
          <a:p>
            <a:r>
              <a:rPr lang="fr-FR" dirty="0"/>
              <a:t>👉 </a:t>
            </a:r>
            <a:r>
              <a:rPr lang="fr-FR" b="1" dirty="0"/>
              <a:t>Tout d’abord, le protocole RPL standard.</a:t>
            </a:r>
            <a:endParaRPr lang="fr-FR" dirty="0"/>
          </a:p>
          <a:p>
            <a:r>
              <a:rPr lang="fr-FR" dirty="0"/>
              <a:t>RPL a été proposé par l’IETF en 2012, et il constitue aujourd’hui la </a:t>
            </a:r>
            <a:r>
              <a:rPr lang="fr-FR" b="1" dirty="0"/>
              <a:t>référence</a:t>
            </a:r>
            <a:r>
              <a:rPr lang="fr-FR" dirty="0"/>
              <a:t> pour le routage dans les réseaux IoT contraints.</a:t>
            </a:r>
          </a:p>
          <a:p>
            <a:r>
              <a:rPr lang="fr-FR" dirty="0"/>
              <a:t>Il est </a:t>
            </a:r>
            <a:r>
              <a:rPr lang="fr-FR" b="1" dirty="0"/>
              <a:t>robuste</a:t>
            </a:r>
            <a:r>
              <a:rPr lang="fr-FR" dirty="0"/>
              <a:t> pour construire la topologie du réseau, gérer les liens radio instables et s’adapter aux contraintes des nœuds.</a:t>
            </a:r>
          </a:p>
          <a:p>
            <a:r>
              <a:rPr lang="fr-FR" dirty="0"/>
              <a:t>En revanche, comme nous l’avons vu dans la problématique,</a:t>
            </a:r>
            <a:br>
              <a:rPr lang="fr-FR" dirty="0"/>
            </a:br>
            <a:r>
              <a:rPr lang="fr-FR" dirty="0"/>
              <a:t>il reste </a:t>
            </a:r>
            <a:r>
              <a:rPr lang="fr-FR" b="1" dirty="0"/>
              <a:t>très limité</a:t>
            </a:r>
            <a:r>
              <a:rPr lang="fr-FR" dirty="0"/>
              <a:t> lorsqu’il s’agit de </a:t>
            </a:r>
            <a:r>
              <a:rPr lang="fr-FR" b="1" dirty="0"/>
              <a:t>qualité de service</a:t>
            </a:r>
            <a:r>
              <a:rPr lang="fr-FR" dirty="0"/>
              <a:t>, de </a:t>
            </a:r>
            <a:r>
              <a:rPr lang="fr-FR" b="1" dirty="0"/>
              <a:t>sécurité</a:t>
            </a:r>
            <a:r>
              <a:rPr lang="fr-FR" dirty="0"/>
              <a:t>, et d’</a:t>
            </a:r>
            <a:r>
              <a:rPr lang="fr-FR" b="1" dirty="0"/>
              <a:t>efficacité énergétique</a:t>
            </a:r>
            <a:r>
              <a:rPr lang="fr-FR" dirty="0"/>
              <a:t>.</a:t>
            </a:r>
          </a:p>
          <a:p>
            <a:r>
              <a:rPr lang="fr-FR" dirty="0"/>
              <a:t>👉 </a:t>
            </a:r>
            <a:r>
              <a:rPr lang="fr-FR" b="1" dirty="0"/>
              <a:t>Ensuite, il existe des protocoles alternatifs.</a:t>
            </a:r>
            <a:endParaRPr lang="fr-FR" dirty="0"/>
          </a:p>
          <a:p>
            <a:r>
              <a:rPr lang="fr-FR" dirty="0"/>
              <a:t>On peut citer par exemple </a:t>
            </a:r>
            <a:r>
              <a:rPr lang="fr-FR" b="1" dirty="0"/>
              <a:t>LOADng</a:t>
            </a:r>
            <a:r>
              <a:rPr lang="fr-FR" dirty="0"/>
              <a:t>, </a:t>
            </a:r>
            <a:r>
              <a:rPr lang="fr-FR" b="1" dirty="0"/>
              <a:t>CORPL</a:t>
            </a:r>
            <a:r>
              <a:rPr lang="fr-FR" dirty="0"/>
              <a:t>, ou encore des solutions basées sur </a:t>
            </a:r>
            <a:r>
              <a:rPr lang="fr-FR" b="1" dirty="0"/>
              <a:t>6TiSCH</a:t>
            </a:r>
            <a:r>
              <a:rPr lang="fr-FR" dirty="0"/>
              <a:t> ou </a:t>
            </a:r>
            <a:r>
              <a:rPr lang="fr-FR" b="1" dirty="0" err="1"/>
              <a:t>Zigbee</a:t>
            </a:r>
            <a:r>
              <a:rPr lang="fr-FR" dirty="0"/>
              <a:t>.</a:t>
            </a:r>
          </a:p>
          <a:p>
            <a:r>
              <a:rPr lang="fr-FR" dirty="0"/>
              <a:t>Ces protocoles proposent des </a:t>
            </a:r>
            <a:r>
              <a:rPr lang="fr-FR" b="1" dirty="0"/>
              <a:t>améliorations ciblées</a:t>
            </a:r>
            <a:r>
              <a:rPr lang="fr-FR" dirty="0"/>
              <a:t>,</a:t>
            </a:r>
            <a:br>
              <a:rPr lang="fr-FR" dirty="0"/>
            </a:br>
            <a:r>
              <a:rPr lang="fr-FR" dirty="0"/>
              <a:t>comme une meilleure synchronisation temporelle, une meilleure gestion de la mobilité ou des routes plus fiables.</a:t>
            </a:r>
          </a:p>
          <a:p>
            <a:r>
              <a:rPr lang="fr-FR" dirty="0"/>
              <a:t>Cependant, ces solutions restent </a:t>
            </a:r>
            <a:r>
              <a:rPr lang="fr-FR" b="1" dirty="0"/>
              <a:t>partielles</a:t>
            </a:r>
            <a:r>
              <a:rPr lang="fr-FR" dirty="0"/>
              <a:t> :</a:t>
            </a:r>
            <a:br>
              <a:rPr lang="fr-FR" dirty="0"/>
            </a:br>
            <a:r>
              <a:rPr lang="fr-FR" dirty="0"/>
              <a:t>elles n’intègrent pas de manière conjointe la </a:t>
            </a:r>
            <a:r>
              <a:rPr lang="fr-FR" b="1" dirty="0"/>
              <a:t>QoS</a:t>
            </a:r>
            <a:r>
              <a:rPr lang="fr-FR" dirty="0"/>
              <a:t>, la </a:t>
            </a:r>
            <a:r>
              <a:rPr lang="fr-FR" b="1" dirty="0"/>
              <a:t>sécurité</a:t>
            </a:r>
            <a:r>
              <a:rPr lang="fr-FR" dirty="0"/>
              <a:t> et l’</a:t>
            </a:r>
            <a:r>
              <a:rPr lang="fr-FR" b="1" dirty="0"/>
              <a:t>énergie</a:t>
            </a:r>
            <a:r>
              <a:rPr lang="fr-FR" dirty="0"/>
              <a:t>.</a:t>
            </a:r>
          </a:p>
          <a:p>
            <a:r>
              <a:rPr lang="fr-FR" dirty="0"/>
              <a:t>👉 </a:t>
            </a:r>
            <a:r>
              <a:rPr lang="fr-FR" b="1" dirty="0"/>
              <a:t>Plus récemment, des approches dites adaptatives ou intelligentes ont été proposées</a:t>
            </a:r>
            <a:r>
              <a:rPr lang="fr-FR" dirty="0"/>
              <a:t>,</a:t>
            </a:r>
            <a:br>
              <a:rPr lang="fr-FR" dirty="0"/>
            </a:br>
            <a:r>
              <a:rPr lang="fr-FR" dirty="0"/>
              <a:t>comme </a:t>
            </a:r>
            <a:r>
              <a:rPr lang="fr-FR" b="1" dirty="0"/>
              <a:t>Q-RPL</a:t>
            </a:r>
            <a:r>
              <a:rPr lang="fr-FR" dirty="0"/>
              <a:t> ou </a:t>
            </a:r>
            <a:r>
              <a:rPr lang="fr-FR" b="1" dirty="0" err="1"/>
              <a:t>CoAR</a:t>
            </a:r>
            <a:r>
              <a:rPr lang="fr-FR" b="1" dirty="0"/>
              <a:t>-RPL</a:t>
            </a:r>
            <a:r>
              <a:rPr lang="fr-FR" dirty="0"/>
              <a:t>.</a:t>
            </a:r>
          </a:p>
          <a:p>
            <a:r>
              <a:rPr lang="fr-FR" dirty="0"/>
              <a:t>Ces travaux commencent à utiliser des mécanismes d’apprentissage ou d’adaptation au contexte,</a:t>
            </a:r>
            <a:br>
              <a:rPr lang="fr-FR" dirty="0"/>
            </a:br>
            <a:r>
              <a:rPr lang="fr-FR" dirty="0"/>
              <a:t>ce qui est une évolution intéressante.</a:t>
            </a:r>
          </a:p>
          <a:p>
            <a:r>
              <a:rPr lang="fr-FR" dirty="0"/>
              <a:t>Mais là encore, ces approches restent </a:t>
            </a:r>
            <a:r>
              <a:rPr lang="fr-FR" b="1" dirty="0"/>
              <a:t>focalisées sur un seul axe</a:t>
            </a:r>
            <a:r>
              <a:rPr lang="fr-FR" dirty="0"/>
              <a:t> :</a:t>
            </a:r>
            <a:br>
              <a:rPr lang="fr-FR" dirty="0"/>
            </a:br>
            <a:r>
              <a:rPr lang="fr-FR" dirty="0"/>
              <a:t>soit la qualité de service, soit l’énergie, soit un scénario bien spécifique.</a:t>
            </a:r>
          </a:p>
          <a:p>
            <a:r>
              <a:rPr lang="fr-FR" dirty="0"/>
              <a:t>👉 </a:t>
            </a:r>
            <a:r>
              <a:rPr lang="fr-FR" b="1" dirty="0"/>
              <a:t>Le constat général est donc clair.</a:t>
            </a:r>
            <a:endParaRPr lang="fr-FR" dirty="0"/>
          </a:p>
          <a:p>
            <a:r>
              <a:rPr lang="fr-FR" dirty="0"/>
              <a:t>À l’heure actuelle, </a:t>
            </a:r>
            <a:r>
              <a:rPr lang="fr-FR" b="1" dirty="0"/>
              <a:t>aucune solution existante n’est réellement holistique</a:t>
            </a:r>
            <a:r>
              <a:rPr lang="fr-FR" dirty="0"/>
              <a:t>.</a:t>
            </a:r>
            <a:br>
              <a:rPr lang="fr-FR" dirty="0"/>
            </a:br>
            <a:r>
              <a:rPr lang="fr-FR" dirty="0"/>
              <a:t>Il n’existe pas encore de protocole capable de prendre en charge </a:t>
            </a:r>
            <a:r>
              <a:rPr lang="fr-FR" b="1" dirty="0"/>
              <a:t>en même temps</a:t>
            </a:r>
            <a:br>
              <a:rPr lang="fr-FR" dirty="0"/>
            </a:br>
            <a:r>
              <a:rPr lang="fr-FR" dirty="0"/>
              <a:t>la </a:t>
            </a:r>
            <a:r>
              <a:rPr lang="fr-FR" b="1" dirty="0"/>
              <a:t>qualité de service</a:t>
            </a:r>
            <a:r>
              <a:rPr lang="fr-FR" dirty="0"/>
              <a:t>, la </a:t>
            </a:r>
            <a:r>
              <a:rPr lang="fr-FR" b="1" dirty="0"/>
              <a:t>sécurité</a:t>
            </a:r>
            <a:r>
              <a:rPr lang="fr-FR" dirty="0"/>
              <a:t> et l’</a:t>
            </a:r>
            <a:r>
              <a:rPr lang="fr-FR" b="1" dirty="0"/>
              <a:t>efficacité énergétique</a:t>
            </a:r>
            <a:r>
              <a:rPr lang="fr-FR" dirty="0"/>
              <a:t> dans les réseaux IoT basés sur RPL.</a:t>
            </a:r>
          </a:p>
          <a:p>
            <a:r>
              <a:rPr lang="fr-FR" dirty="0"/>
              <a:t>➡️ C’est précisément ce </a:t>
            </a:r>
            <a:r>
              <a:rPr lang="fr-FR" b="1" dirty="0"/>
              <a:t>manque global</a:t>
            </a:r>
            <a:r>
              <a:rPr lang="fr-FR" dirty="0"/>
              <a:t> qui a motivé nos travaux.</a:t>
            </a:r>
            <a:br>
              <a:rPr lang="fr-FR" dirty="0"/>
            </a:br>
            <a:r>
              <a:rPr lang="fr-FR" dirty="0"/>
              <a:t>Je vais maintenant entrer dans le détail de nos contributions,</a:t>
            </a:r>
            <a:br>
              <a:rPr lang="fr-FR" dirty="0"/>
            </a:br>
            <a:r>
              <a:rPr lang="fr-FR" dirty="0"/>
              <a:t>en commençant par la </a:t>
            </a:r>
            <a:r>
              <a:rPr lang="fr-FR" b="1" dirty="0"/>
              <a:t>proposition RPLMQoS</a:t>
            </a:r>
            <a:r>
              <a:rPr lang="fr-FR" dirty="0"/>
              <a:t>, dédiée à la qualité de service.</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9</a:t>
            </a:fld>
            <a:endParaRPr lang="fr-FR"/>
          </a:p>
        </p:txBody>
      </p:sp>
    </p:spTree>
    <p:extLst>
      <p:ext uri="{BB962C8B-B14F-4D97-AF65-F5344CB8AC3E}">
        <p14:creationId xmlns:p14="http://schemas.microsoft.com/office/powerpoint/2010/main" val="3779613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RPLMQoS est notre première contribution.</a:t>
            </a:r>
            <a:br>
              <a:rPr lang="fr-FR" dirty="0"/>
            </a:br>
            <a:r>
              <a:rPr lang="fr-FR" dirty="0"/>
              <a:t>L’objectif est simple :</a:t>
            </a:r>
            <a:br>
              <a:rPr lang="fr-FR" dirty="0"/>
            </a:br>
            <a:r>
              <a:rPr lang="fr-FR" dirty="0"/>
              <a:t>donner au protocole RPL une </a:t>
            </a:r>
            <a:r>
              <a:rPr lang="fr-FR" b="1" dirty="0"/>
              <a:t>vraie qualité de service différenciée</a:t>
            </a:r>
            <a:r>
              <a:rPr lang="fr-FR" dirty="0"/>
              <a:t>, tout en restant compatible avec les </a:t>
            </a:r>
            <a:r>
              <a:rPr lang="fr-FR" b="1" dirty="0"/>
              <a:t>fortes contraintes des nœuds IoT</a:t>
            </a:r>
            <a:r>
              <a:rPr lang="fr-FR" dirty="0"/>
              <a:t>.</a:t>
            </a:r>
          </a:p>
          <a:p>
            <a:r>
              <a:rPr lang="fr-FR" dirty="0"/>
              <a:t>L’architecture de RPLMQoS repose sur </a:t>
            </a:r>
            <a:r>
              <a:rPr lang="fr-FR" b="1" dirty="0"/>
              <a:t>quatre briques principales</a:t>
            </a:r>
            <a:r>
              <a:rPr lang="fr-FR" dirty="0"/>
              <a:t>.</a:t>
            </a:r>
          </a:p>
          <a:p>
            <a:r>
              <a:rPr lang="fr-FR" dirty="0"/>
              <a:t>👉 </a:t>
            </a:r>
            <a:r>
              <a:rPr lang="fr-FR" b="1" dirty="0"/>
              <a:t>Première brique : la classification du trafic.</a:t>
            </a:r>
            <a:endParaRPr lang="fr-FR" dirty="0"/>
          </a:p>
          <a:p>
            <a:r>
              <a:rPr lang="fr-FR" dirty="0"/>
              <a:t>Nous définissons </a:t>
            </a:r>
            <a:r>
              <a:rPr lang="fr-FR" b="1" dirty="0"/>
              <a:t>quatre classes de priorité</a:t>
            </a:r>
            <a:r>
              <a:rPr lang="fr-FR" dirty="0"/>
              <a:t>, de </a:t>
            </a:r>
            <a:r>
              <a:rPr lang="fr-FR" b="1" dirty="0"/>
              <a:t>C3 à C0</a:t>
            </a:r>
            <a:r>
              <a:rPr lang="fr-FR" dirty="0"/>
              <a:t>.</a:t>
            </a:r>
          </a:p>
          <a:p>
            <a:r>
              <a:rPr lang="fr-FR" dirty="0"/>
              <a:t>– </a:t>
            </a:r>
            <a:r>
              <a:rPr lang="fr-FR" b="1" dirty="0"/>
              <a:t>C3</a:t>
            </a:r>
            <a:r>
              <a:rPr lang="fr-FR" dirty="0"/>
              <a:t> correspond aux flux les plus critiques, par exemple une alerte médicale,</a:t>
            </a:r>
            <a:br>
              <a:rPr lang="fr-FR" dirty="0"/>
            </a:br>
            <a:r>
              <a:rPr lang="fr-FR" dirty="0"/>
              <a:t>– </a:t>
            </a:r>
            <a:r>
              <a:rPr lang="fr-FR" b="1" dirty="0"/>
              <a:t>C2</a:t>
            </a:r>
            <a:r>
              <a:rPr lang="fr-FR" dirty="0"/>
              <a:t> aux flux urgents,</a:t>
            </a:r>
            <a:br>
              <a:rPr lang="fr-FR" dirty="0"/>
            </a:br>
            <a:r>
              <a:rPr lang="fr-FR" dirty="0"/>
              <a:t>– </a:t>
            </a:r>
            <a:r>
              <a:rPr lang="fr-FR" b="1" dirty="0"/>
              <a:t>C1</a:t>
            </a:r>
            <a:r>
              <a:rPr lang="fr-FR" dirty="0"/>
              <a:t> au trafic normal,</a:t>
            </a:r>
            <a:br>
              <a:rPr lang="fr-FR" dirty="0"/>
            </a:br>
            <a:r>
              <a:rPr lang="fr-FR" dirty="0"/>
              <a:t>– et </a:t>
            </a:r>
            <a:r>
              <a:rPr lang="fr-FR" b="1" dirty="0"/>
              <a:t>C0</a:t>
            </a:r>
            <a:r>
              <a:rPr lang="fr-FR" dirty="0"/>
              <a:t> au trafic best-effort, qui peut attendre.</a:t>
            </a:r>
          </a:p>
          <a:p>
            <a:r>
              <a:rPr lang="fr-FR" dirty="0"/>
              <a:t>Cette classification permet de </a:t>
            </a:r>
            <a:r>
              <a:rPr lang="fr-FR" b="1" dirty="0"/>
              <a:t>différencier clairement</a:t>
            </a:r>
            <a:r>
              <a:rPr lang="fr-FR" dirty="0"/>
              <a:t> les flux critiques des flux non critiques,</a:t>
            </a:r>
            <a:br>
              <a:rPr lang="fr-FR" dirty="0"/>
            </a:br>
            <a:r>
              <a:rPr lang="fr-FR" dirty="0"/>
              <a:t>ce que RPL standard ne fait pas.</a:t>
            </a:r>
          </a:p>
          <a:p>
            <a:r>
              <a:rPr lang="fr-FR" dirty="0"/>
              <a:t>👉 </a:t>
            </a:r>
            <a:r>
              <a:rPr lang="fr-FR" b="1" dirty="0"/>
              <a:t>Deuxième brique : l’ordonnancement adaptatif.</a:t>
            </a:r>
            <a:endParaRPr lang="fr-FR" dirty="0"/>
          </a:p>
          <a:p>
            <a:r>
              <a:rPr lang="fr-FR" dirty="0"/>
              <a:t>À l’intérieur de chaque nœud, les paquets sont placés dans des </a:t>
            </a:r>
            <a:r>
              <a:rPr lang="fr-FR" b="1" dirty="0"/>
              <a:t>files prioritaires</a:t>
            </a:r>
            <a:r>
              <a:rPr lang="fr-FR" dirty="0"/>
              <a:t>.</a:t>
            </a:r>
            <a:br>
              <a:rPr lang="fr-FR" dirty="0"/>
            </a:br>
            <a:r>
              <a:rPr lang="fr-FR" dirty="0"/>
              <a:t>Un ordonnanceur de type </a:t>
            </a:r>
            <a:r>
              <a:rPr lang="fr-FR" b="1" dirty="0"/>
              <a:t>Weighted Round Robin</a:t>
            </a:r>
            <a:r>
              <a:rPr lang="fr-FR" dirty="0"/>
              <a:t>, ou WRR,</a:t>
            </a:r>
            <a:br>
              <a:rPr lang="fr-FR" dirty="0"/>
            </a:br>
            <a:r>
              <a:rPr lang="fr-FR" dirty="0"/>
              <a:t>répartit l’accès au médium radio entre ces files.</a:t>
            </a:r>
          </a:p>
          <a:p>
            <a:r>
              <a:rPr lang="fr-FR" dirty="0"/>
              <a:t>L’intérêt du WRR est double :</a:t>
            </a:r>
            <a:br>
              <a:rPr lang="fr-FR" dirty="0"/>
            </a:br>
            <a:r>
              <a:rPr lang="fr-FR" dirty="0"/>
              <a:t>– il </a:t>
            </a:r>
            <a:r>
              <a:rPr lang="fr-FR" b="1" dirty="0"/>
              <a:t>favorise fortement les flux critiques</a:t>
            </a:r>
            <a:r>
              <a:rPr lang="fr-FR" dirty="0"/>
              <a:t>,</a:t>
            </a:r>
            <a:br>
              <a:rPr lang="fr-FR" dirty="0"/>
            </a:br>
            <a:r>
              <a:rPr lang="fr-FR" dirty="0"/>
              <a:t>– tout en évitant la </a:t>
            </a:r>
            <a:r>
              <a:rPr lang="fr-FR" b="1" dirty="0"/>
              <a:t>famine</a:t>
            </a:r>
            <a:r>
              <a:rPr lang="fr-FR" dirty="0"/>
              <a:t> des flux de plus faible priorité.</a:t>
            </a:r>
          </a:p>
          <a:p>
            <a:r>
              <a:rPr lang="fr-FR" dirty="0"/>
              <a:t>Ainsi, même en situation de congestion,</a:t>
            </a:r>
            <a:br>
              <a:rPr lang="fr-FR" dirty="0"/>
            </a:br>
            <a:r>
              <a:rPr lang="fr-FR" dirty="0"/>
              <a:t>les flux critiques conservent un </a:t>
            </a:r>
            <a:r>
              <a:rPr lang="fr-FR" b="1" dirty="0"/>
              <a:t>accès garanti</a:t>
            </a:r>
            <a:r>
              <a:rPr lang="fr-FR" dirty="0"/>
              <a:t> au médium.</a:t>
            </a:r>
          </a:p>
          <a:p>
            <a:r>
              <a:rPr lang="fr-FR" dirty="0"/>
              <a:t>👉 </a:t>
            </a:r>
            <a:r>
              <a:rPr lang="fr-FR" b="1" dirty="0"/>
              <a:t>Troisième brique : la métrique composite de routage.</a:t>
            </a:r>
            <a:endParaRPr lang="fr-FR" dirty="0"/>
          </a:p>
          <a:p>
            <a:r>
              <a:rPr lang="fr-FR" dirty="0"/>
              <a:t>Pour le choix des routes,</a:t>
            </a:r>
            <a:br>
              <a:rPr lang="fr-FR" dirty="0"/>
            </a:br>
            <a:r>
              <a:rPr lang="fr-FR" dirty="0"/>
              <a:t>nous n’utilisons plus une seule métrique.</a:t>
            </a:r>
          </a:p>
          <a:p>
            <a:r>
              <a:rPr lang="fr-FR" dirty="0"/>
              <a:t>Nous définissons une </a:t>
            </a:r>
            <a:r>
              <a:rPr lang="fr-FR" b="1" dirty="0"/>
              <a:t>métrique composite</a:t>
            </a:r>
            <a:br>
              <a:rPr lang="fr-FR" dirty="0"/>
            </a:br>
            <a:r>
              <a:rPr lang="fr-FR" dirty="0"/>
              <a:t>qui combine :</a:t>
            </a:r>
            <a:br>
              <a:rPr lang="fr-FR" dirty="0"/>
            </a:br>
            <a:r>
              <a:rPr lang="fr-FR" dirty="0"/>
              <a:t>– l’</a:t>
            </a:r>
            <a:r>
              <a:rPr lang="fr-FR" b="1" dirty="0"/>
              <a:t>ETX</a:t>
            </a:r>
            <a:r>
              <a:rPr lang="fr-FR" dirty="0"/>
              <a:t>, pour la fiabilité du lien radio,</a:t>
            </a:r>
            <a:br>
              <a:rPr lang="fr-FR" dirty="0"/>
            </a:br>
            <a:r>
              <a:rPr lang="fr-FR" dirty="0"/>
              <a:t>– l’</a:t>
            </a:r>
            <a:r>
              <a:rPr lang="fr-FR" b="1" dirty="0"/>
              <a:t>énergie résiduelle</a:t>
            </a:r>
            <a:r>
              <a:rPr lang="fr-FR" dirty="0"/>
              <a:t> du nœud,</a:t>
            </a:r>
            <a:br>
              <a:rPr lang="fr-FR" dirty="0"/>
            </a:br>
            <a:r>
              <a:rPr lang="fr-FR" dirty="0"/>
              <a:t>– et le </a:t>
            </a:r>
            <a:r>
              <a:rPr lang="fr-FR" b="1" dirty="0"/>
              <a:t>délai de transmission</a:t>
            </a:r>
            <a:r>
              <a:rPr lang="fr-FR" dirty="0"/>
              <a:t> observé.</a:t>
            </a:r>
          </a:p>
          <a:p>
            <a:r>
              <a:rPr lang="fr-FR" dirty="0"/>
              <a:t>Cette combinaison permet de sélectionner des routes</a:t>
            </a:r>
            <a:br>
              <a:rPr lang="fr-FR" dirty="0"/>
            </a:br>
            <a:r>
              <a:rPr lang="fr-FR" dirty="0"/>
              <a:t>à la fois </a:t>
            </a:r>
            <a:r>
              <a:rPr lang="fr-FR" b="1" dirty="0"/>
              <a:t>fiables</a:t>
            </a:r>
            <a:r>
              <a:rPr lang="fr-FR" dirty="0"/>
              <a:t>, </a:t>
            </a:r>
            <a:r>
              <a:rPr lang="fr-FR" b="1" dirty="0"/>
              <a:t>rapides</a:t>
            </a:r>
            <a:br>
              <a:rPr lang="fr-FR" dirty="0"/>
            </a:br>
            <a:r>
              <a:rPr lang="fr-FR" dirty="0"/>
              <a:t>et </a:t>
            </a:r>
            <a:r>
              <a:rPr lang="fr-FR" b="1" dirty="0"/>
              <a:t>énergétiquement raisonnables</a:t>
            </a:r>
            <a:r>
              <a:rPr lang="fr-FR" dirty="0"/>
              <a:t>.</a:t>
            </a:r>
          </a:p>
          <a:p>
            <a:r>
              <a:rPr lang="fr-FR" dirty="0"/>
              <a:t>👉 </a:t>
            </a:r>
            <a:r>
              <a:rPr lang="fr-FR" b="1" dirty="0"/>
              <a:t>Quatrième brique : l’apprentissage léger.</a:t>
            </a:r>
            <a:endParaRPr lang="fr-FR" dirty="0"/>
          </a:p>
          <a:p>
            <a:r>
              <a:rPr lang="fr-FR" dirty="0"/>
              <a:t>Les poids de la métrique, notés </a:t>
            </a:r>
            <a:r>
              <a:rPr lang="fr-FR" b="1" dirty="0"/>
              <a:t>α, β et γ</a:t>
            </a:r>
            <a:r>
              <a:rPr lang="fr-FR" dirty="0"/>
              <a:t>,</a:t>
            </a:r>
            <a:br>
              <a:rPr lang="fr-FR" dirty="0"/>
            </a:br>
            <a:r>
              <a:rPr lang="fr-FR" dirty="0"/>
              <a:t>ne sont pas fixés à l’avance.</a:t>
            </a:r>
          </a:p>
          <a:p>
            <a:r>
              <a:rPr lang="fr-FR" dirty="0"/>
              <a:t>Ils sont ajustés dynamiquement grâce à un </a:t>
            </a:r>
            <a:r>
              <a:rPr lang="fr-FR" b="1" dirty="0"/>
              <a:t>Q-learning embarqué</a:t>
            </a:r>
            <a:r>
              <a:rPr lang="fr-FR" dirty="0"/>
              <a:t>,</a:t>
            </a:r>
            <a:br>
              <a:rPr lang="fr-FR" dirty="0"/>
            </a:br>
            <a:r>
              <a:rPr lang="fr-FR" dirty="0"/>
              <a:t>volontairement </a:t>
            </a:r>
            <a:r>
              <a:rPr lang="fr-FR" b="1" dirty="0"/>
              <a:t>léger</a:t>
            </a:r>
            <a:r>
              <a:rPr lang="fr-FR" dirty="0"/>
              <a:t> pour rester compatible avec l’IoT.</a:t>
            </a:r>
          </a:p>
          <a:p>
            <a:r>
              <a:rPr lang="fr-FR" dirty="0"/>
              <a:t>En fonction de l’état du réseau</a:t>
            </a:r>
            <a:br>
              <a:rPr lang="fr-FR" dirty="0"/>
            </a:br>
            <a:r>
              <a:rPr lang="fr-FR" dirty="0"/>
              <a:t>– congestion, pertes, niveau d’énergie –</a:t>
            </a:r>
            <a:br>
              <a:rPr lang="fr-FR" dirty="0"/>
            </a:br>
            <a:r>
              <a:rPr lang="fr-FR" dirty="0"/>
              <a:t>le protocole apprend à donner plus d’importance</a:t>
            </a:r>
            <a:br>
              <a:rPr lang="fr-FR" dirty="0"/>
            </a:br>
            <a:r>
              <a:rPr lang="fr-FR" dirty="0"/>
              <a:t>à la fiabilité, à la latence ou à l’énergie.</a:t>
            </a:r>
          </a:p>
          <a:p>
            <a:r>
              <a:rPr lang="fr-FR" dirty="0"/>
              <a:t>👉 </a:t>
            </a:r>
            <a:r>
              <a:rPr lang="fr-FR" b="1" dirty="0"/>
              <a:t>Message clé.</a:t>
            </a:r>
            <a:endParaRPr lang="fr-FR" dirty="0"/>
          </a:p>
          <a:p>
            <a:r>
              <a:rPr lang="fr-FR" dirty="0"/>
              <a:t>En résumé, </a:t>
            </a:r>
            <a:r>
              <a:rPr lang="fr-FR" b="1" dirty="0"/>
              <a:t>RPLMQoS apporte à RPL une QoS différenciée et adaptative</a:t>
            </a:r>
            <a:r>
              <a:rPr lang="fr-FR" dirty="0"/>
              <a:t>,</a:t>
            </a:r>
            <a:br>
              <a:rPr lang="fr-FR" dirty="0"/>
            </a:br>
            <a:r>
              <a:rPr lang="fr-FR" dirty="0"/>
              <a:t>sans alourdir les nœuds IoT.</a:t>
            </a:r>
          </a:p>
          <a:p>
            <a:r>
              <a:rPr lang="fr-FR" dirty="0"/>
              <a:t>➡️ Sur la diapositive suivante,</a:t>
            </a:r>
            <a:br>
              <a:rPr lang="fr-FR" dirty="0"/>
            </a:br>
            <a:r>
              <a:rPr lang="fr-FR" dirty="0"/>
              <a:t>je vais maintenant vous présenter les </a:t>
            </a:r>
            <a:r>
              <a:rPr lang="fr-FR" b="1" dirty="0"/>
              <a:t>résultats obtenus</a:t>
            </a:r>
            <a:r>
              <a:rPr lang="fr-FR" dirty="0"/>
              <a:t> avec cette architecture.</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10</a:t>
            </a:fld>
            <a:endParaRPr lang="fr-FR"/>
          </a:p>
        </p:txBody>
      </p:sp>
    </p:spTree>
    <p:extLst>
      <p:ext uri="{BB962C8B-B14F-4D97-AF65-F5344CB8AC3E}">
        <p14:creationId xmlns:p14="http://schemas.microsoft.com/office/powerpoint/2010/main" val="4047690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Je vais maintenant vous présenter les </a:t>
            </a:r>
            <a:r>
              <a:rPr lang="fr-FR" b="1" dirty="0"/>
              <a:t>résultats obtenus avec </a:t>
            </a:r>
            <a:r>
              <a:rPr lang="fr-FR" b="1" dirty="0" err="1"/>
              <a:t>RPLMQoS</a:t>
            </a:r>
            <a:r>
              <a:rPr lang="fr-FR" dirty="0"/>
              <a:t>, pour évaluer uniquement la qualité de service.</a:t>
            </a:r>
          </a:p>
          <a:p>
            <a:r>
              <a:rPr lang="fr-FR" dirty="0"/>
              <a:t>👉 </a:t>
            </a:r>
            <a:r>
              <a:rPr lang="fr-FR" b="1" dirty="0"/>
              <a:t>Premier résultat : la fiabilité, à travers le taux de livraison des paquets</a:t>
            </a:r>
            <a:r>
              <a:rPr lang="fr-FR" dirty="0"/>
              <a:t>, le PDR.</a:t>
            </a:r>
          </a:p>
          <a:p>
            <a:r>
              <a:rPr lang="fr-FR" dirty="0"/>
              <a:t>Avec le </a:t>
            </a:r>
            <a:r>
              <a:rPr lang="fr-FR" b="1" dirty="0"/>
              <a:t>RPL standard</a:t>
            </a:r>
            <a:r>
              <a:rPr lang="fr-FR" dirty="0"/>
              <a:t>, le taux de livraison est d’environ </a:t>
            </a:r>
            <a:r>
              <a:rPr lang="fr-FR" b="1" dirty="0"/>
              <a:t>89 %</a:t>
            </a:r>
            <a:r>
              <a:rPr lang="fr-FR" dirty="0"/>
              <a:t>.</a:t>
            </a:r>
          </a:p>
          <a:p>
            <a:r>
              <a:rPr lang="fr-FR" dirty="0"/>
              <a:t>Avec </a:t>
            </a:r>
            <a:r>
              <a:rPr lang="fr-FR" b="1" dirty="0"/>
              <a:t>RPLMQoS</a:t>
            </a:r>
            <a:r>
              <a:rPr lang="fr-FR" dirty="0"/>
              <a:t>, ce taux monte à </a:t>
            </a:r>
            <a:r>
              <a:rPr lang="fr-FR" b="1" dirty="0"/>
              <a:t>96,5 %</a:t>
            </a:r>
            <a:r>
              <a:rPr lang="fr-FR" dirty="0"/>
              <a:t>.</a:t>
            </a:r>
            <a:br>
              <a:rPr lang="fr-FR" dirty="0"/>
            </a:br>
            <a:r>
              <a:rPr lang="fr-FR" dirty="0"/>
              <a:t>Cela représente un </a:t>
            </a:r>
            <a:r>
              <a:rPr lang="fr-FR" b="1" dirty="0"/>
              <a:t>gain de 7,5 points</a:t>
            </a:r>
            <a:r>
              <a:rPr lang="fr-FR" dirty="0"/>
              <a:t>,</a:t>
            </a:r>
            <a:br>
              <a:rPr lang="fr-FR" dirty="0"/>
            </a:br>
            <a:r>
              <a:rPr lang="fr-FR" dirty="0"/>
              <a:t>ce qui est très significatif pour des applications critiques.</a:t>
            </a:r>
          </a:p>
          <a:p>
            <a:r>
              <a:rPr lang="fr-FR" dirty="0"/>
              <a:t>Si l’on regarde maintenant uniquement les </a:t>
            </a:r>
            <a:r>
              <a:rPr lang="fr-FR" b="1" dirty="0"/>
              <a:t>flux critiques</a:t>
            </a:r>
            <a:r>
              <a:rPr lang="fr-FR" dirty="0"/>
              <a:t>, la classe </a:t>
            </a:r>
            <a:r>
              <a:rPr lang="fr-FR" b="1" dirty="0"/>
              <a:t>C3</a:t>
            </a:r>
            <a:r>
              <a:rPr lang="fr-FR" dirty="0"/>
              <a:t>, dans la diapositive qui suit </a:t>
            </a:r>
            <a:br>
              <a:rPr lang="fr-FR" dirty="0"/>
            </a:br>
            <a:r>
              <a:rPr lang="fr-FR" dirty="0"/>
              <a:t>le PDR atteint en moyenne </a:t>
            </a:r>
            <a:r>
              <a:rPr lang="fr-FR" b="1" dirty="0"/>
              <a:t>97,3 %</a:t>
            </a:r>
            <a:r>
              <a:rPr lang="fr-FR" dirty="0"/>
              <a:t>,</a:t>
            </a:r>
            <a:br>
              <a:rPr lang="fr-FR" dirty="0"/>
            </a:br>
            <a:r>
              <a:rPr lang="fr-FR" dirty="0"/>
              <a:t>avec des </a:t>
            </a:r>
            <a:r>
              <a:rPr lang="fr-FR" b="1" dirty="0"/>
              <a:t>pics à 98,5 %</a:t>
            </a:r>
            <a:r>
              <a:rPr lang="fr-FR" dirty="0"/>
              <a:t> dans les topologies les plus stables.</a:t>
            </a:r>
          </a:p>
          <a:p>
            <a:r>
              <a:rPr lang="fr-FR" dirty="0"/>
              <a:t>Concrètement, cela veut dire que </a:t>
            </a:r>
            <a:r>
              <a:rPr lang="fr-FR" b="1" dirty="0"/>
              <a:t>presque tous les paquets critiques arrivent à destination</a:t>
            </a:r>
            <a:r>
              <a:rPr lang="fr-FR"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Courbes PDR (96,5 %), </a:t>
            </a:r>
            <a:r>
              <a:rPr lang="fr-FR" dirty="0" err="1">
                <a:effectLst/>
              </a:rPr>
              <a:t>jitter</a:t>
            </a:r>
            <a:r>
              <a:rPr lang="fr-FR" dirty="0">
                <a:effectLst/>
              </a:rPr>
              <a:t> et énergie : preuves concrètes des +7,5 points PDR et –18,7 % latence</a:t>
            </a:r>
            <a:endParaRPr lang="fr-FR" dirty="0"/>
          </a:p>
          <a:p>
            <a:r>
              <a:rPr lang="fr-FR" dirty="0"/>
              <a:t>👉 </a:t>
            </a:r>
            <a:r>
              <a:rPr lang="fr-FR" b="1" dirty="0"/>
              <a:t>Deuxième résultat : la latence de bout en bout.</a:t>
            </a:r>
            <a:endParaRPr lang="fr-FR" dirty="0"/>
          </a:p>
          <a:p>
            <a:r>
              <a:rPr lang="fr-FR" dirty="0"/>
              <a:t>Sur l’ensemble du trafic,</a:t>
            </a:r>
            <a:br>
              <a:rPr lang="fr-FR" dirty="0"/>
            </a:br>
            <a:r>
              <a:rPr lang="fr-FR" dirty="0"/>
              <a:t>la latence moyenne passe d’environ </a:t>
            </a:r>
            <a:r>
              <a:rPr lang="fr-FR" b="1" dirty="0"/>
              <a:t>80 millisecondes</a:t>
            </a:r>
            <a:r>
              <a:rPr lang="fr-FR" dirty="0"/>
              <a:t> avec RPL standard</a:t>
            </a:r>
            <a:br>
              <a:rPr lang="fr-FR" dirty="0"/>
            </a:br>
            <a:r>
              <a:rPr lang="fr-FR" dirty="0"/>
              <a:t>à </a:t>
            </a:r>
            <a:r>
              <a:rPr lang="fr-FR" b="1" dirty="0"/>
              <a:t>65 millisecondes</a:t>
            </a:r>
            <a:r>
              <a:rPr lang="fr-FR" dirty="0"/>
              <a:t> avec RPLMQoS,</a:t>
            </a:r>
            <a:br>
              <a:rPr lang="fr-FR" dirty="0"/>
            </a:br>
            <a:r>
              <a:rPr lang="fr-FR" dirty="0"/>
              <a:t>soit une </a:t>
            </a:r>
            <a:r>
              <a:rPr lang="fr-FR" b="1" dirty="0"/>
              <a:t>réduction d’environ 19 %</a:t>
            </a:r>
            <a:r>
              <a:rPr lang="fr-FR" dirty="0"/>
              <a:t>.</a:t>
            </a:r>
          </a:p>
          <a:p>
            <a:r>
              <a:rPr lang="fr-FR" dirty="0"/>
              <a:t>Pour les flux critiques </a:t>
            </a:r>
            <a:r>
              <a:rPr lang="fr-FR" b="1" dirty="0"/>
              <a:t>C3</a:t>
            </a:r>
            <a:r>
              <a:rPr lang="fr-FR" dirty="0"/>
              <a:t>, l’amélioration est encore plus marquée.</a:t>
            </a:r>
            <a:br>
              <a:rPr lang="fr-FR" dirty="0"/>
            </a:br>
            <a:r>
              <a:rPr lang="fr-FR" dirty="0"/>
              <a:t>On passe de </a:t>
            </a:r>
            <a:r>
              <a:rPr lang="fr-FR" b="1" dirty="0"/>
              <a:t>95 millisecondes</a:t>
            </a:r>
            <a:r>
              <a:rPr lang="fr-FR" dirty="0"/>
              <a:t> à </a:t>
            </a:r>
            <a:r>
              <a:rPr lang="fr-FR" b="1" dirty="0"/>
              <a:t>45 millisecondes</a:t>
            </a:r>
            <a:r>
              <a:rPr lang="fr-FR" dirty="0"/>
              <a:t>,</a:t>
            </a:r>
            <a:br>
              <a:rPr lang="fr-FR" dirty="0"/>
            </a:br>
            <a:r>
              <a:rPr lang="fr-FR" dirty="0"/>
              <a:t>ce qui correspond à une </a:t>
            </a:r>
            <a:r>
              <a:rPr lang="fr-FR" b="1" dirty="0"/>
              <a:t>réduction de plus de 50 %</a:t>
            </a:r>
            <a:r>
              <a:rPr lang="fr-FR" dirty="0"/>
              <a:t>.</a:t>
            </a:r>
          </a:p>
          <a:p>
            <a:r>
              <a:rPr lang="fr-FR" dirty="0"/>
              <a:t>Et surtout, on reste </a:t>
            </a:r>
            <a:r>
              <a:rPr lang="fr-FR" b="1" dirty="0"/>
              <a:t>largement en dessous du seuil de 100 ms</a:t>
            </a:r>
            <a:r>
              <a:rPr lang="fr-FR" dirty="0"/>
              <a:t>,</a:t>
            </a:r>
            <a:br>
              <a:rPr lang="fr-FR" dirty="0"/>
            </a:br>
            <a:r>
              <a:rPr lang="fr-FR" dirty="0"/>
              <a:t>qui est généralement requis pour les </a:t>
            </a:r>
            <a:r>
              <a:rPr lang="fr-FR" b="1" dirty="0"/>
              <a:t>applications médicales temps réel</a:t>
            </a:r>
            <a:r>
              <a:rPr lang="fr-FR" dirty="0"/>
              <a:t>.</a:t>
            </a:r>
          </a:p>
          <a:p>
            <a:r>
              <a:rPr lang="fr-FR" dirty="0"/>
              <a:t>👉 </a:t>
            </a:r>
            <a:r>
              <a:rPr lang="fr-FR" b="1" dirty="0"/>
              <a:t>Troisième résultat : le jitter.</a:t>
            </a:r>
            <a:endParaRPr lang="fr-FR" dirty="0"/>
          </a:p>
          <a:p>
            <a:r>
              <a:rPr lang="fr-FR" dirty="0"/>
              <a:t>Avec RPLMQoS,</a:t>
            </a:r>
            <a:br>
              <a:rPr lang="fr-FR" dirty="0"/>
            </a:br>
            <a:r>
              <a:rPr lang="fr-FR" dirty="0"/>
              <a:t>le jitter est réduit d’environ </a:t>
            </a:r>
            <a:r>
              <a:rPr lang="fr-FR" b="1" dirty="0"/>
              <a:t>36 %</a:t>
            </a:r>
            <a:r>
              <a:rPr lang="fr-FR" dirty="0"/>
              <a:t>.</a:t>
            </a:r>
          </a:p>
          <a:p>
            <a:r>
              <a:rPr lang="fr-FR" dirty="0"/>
              <a:t>Cela signifie une </a:t>
            </a:r>
            <a:r>
              <a:rPr lang="fr-FR" b="1" dirty="0"/>
              <a:t>meilleure stabilité temporelle</a:t>
            </a:r>
            <a:r>
              <a:rPr lang="fr-FR" dirty="0"/>
              <a:t>,</a:t>
            </a:r>
            <a:br>
              <a:rPr lang="fr-FR" dirty="0"/>
            </a:br>
            <a:r>
              <a:rPr lang="fr-FR" dirty="0"/>
              <a:t>ce qui est très important pour les applications sensibles aux variations de délai.</a:t>
            </a:r>
          </a:p>
          <a:p>
            <a:r>
              <a:rPr lang="fr-FR" dirty="0"/>
              <a:t>👉 </a:t>
            </a:r>
            <a:r>
              <a:rPr lang="fr-FR" b="1" dirty="0"/>
              <a:t>Message clé.</a:t>
            </a:r>
            <a:endParaRPr lang="fr-FR" dirty="0"/>
          </a:p>
          <a:p>
            <a:r>
              <a:rPr lang="fr-FR" dirty="0"/>
              <a:t>En résumé, </a:t>
            </a:r>
            <a:r>
              <a:rPr lang="fr-FR" b="1" dirty="0"/>
              <a:t>RPLMQoS permet d’obtenir une QoS plus fiable, plus rapide et plus stable</a:t>
            </a:r>
            <a:r>
              <a:rPr lang="fr-FR" dirty="0"/>
              <a:t>,</a:t>
            </a:r>
            <a:br>
              <a:rPr lang="fr-FR" dirty="0"/>
            </a:br>
            <a:r>
              <a:rPr lang="fr-FR" dirty="0"/>
              <a:t>en particulier pour les flux critiques,</a:t>
            </a:r>
            <a:br>
              <a:rPr lang="fr-FR" dirty="0"/>
            </a:br>
            <a:r>
              <a:rPr lang="fr-FR" b="1" dirty="0"/>
              <a:t>sans dépasser les contraintes des nœuds IoT</a:t>
            </a:r>
            <a:r>
              <a:rPr lang="fr-FR" dirty="0"/>
              <a:t>.</a:t>
            </a:r>
          </a:p>
          <a:p>
            <a:r>
              <a:rPr lang="fr-FR" dirty="0"/>
              <a:t>➡️ Je vais maintenant passer à la </a:t>
            </a:r>
            <a:r>
              <a:rPr lang="fr-FR" b="1" dirty="0"/>
              <a:t>deuxième contribution de cette thèse</a:t>
            </a:r>
            <a:r>
              <a:rPr lang="fr-FR" dirty="0"/>
              <a:t>,</a:t>
            </a:r>
            <a:br>
              <a:rPr lang="fr-FR" dirty="0"/>
            </a:br>
            <a:r>
              <a:rPr lang="fr-FR" dirty="0"/>
              <a:t>le protocole </a:t>
            </a:r>
            <a:r>
              <a:rPr lang="fr-FR" b="1" dirty="0"/>
              <a:t>AER-RPL</a:t>
            </a:r>
            <a:r>
              <a:rPr lang="fr-FR" dirty="0"/>
              <a:t>,</a:t>
            </a:r>
            <a:br>
              <a:rPr lang="fr-FR" dirty="0"/>
            </a:br>
            <a:r>
              <a:rPr lang="fr-FR" dirty="0"/>
              <a:t>qui se concentre sur la </a:t>
            </a:r>
            <a:r>
              <a:rPr lang="fr-FR" b="1" dirty="0"/>
              <a:t>sécurité</a:t>
            </a:r>
            <a:r>
              <a:rPr lang="fr-FR" dirty="0"/>
              <a:t> et sur l’</a:t>
            </a:r>
            <a:r>
              <a:rPr lang="fr-FR" b="1" dirty="0"/>
              <a:t>efficacité énergétique</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11</a:t>
            </a:fld>
            <a:endParaRPr lang="fr-FR"/>
          </a:p>
        </p:txBody>
      </p:sp>
    </p:spTree>
    <p:extLst>
      <p:ext uri="{BB962C8B-B14F-4D97-AF65-F5344CB8AC3E}">
        <p14:creationId xmlns:p14="http://schemas.microsoft.com/office/powerpoint/2010/main" val="832950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effectLst/>
              </a:rPr>
              <a:t>Le </a:t>
            </a:r>
            <a:r>
              <a:rPr lang="fr-FR" b="1" dirty="0" err="1">
                <a:effectLst/>
              </a:rPr>
              <a:t>jitter</a:t>
            </a:r>
            <a:r>
              <a:rPr lang="fr-FR" dirty="0">
                <a:effectLst/>
              </a:rPr>
              <a:t>, c’est la </a:t>
            </a:r>
            <a:r>
              <a:rPr lang="fr-FR" b="1" dirty="0">
                <a:effectLst/>
              </a:rPr>
              <a:t>variation de la latence</a:t>
            </a:r>
            <a:r>
              <a:rPr lang="fr-FR" dirty="0">
                <a:effectLst/>
              </a:rPr>
              <a:t> entre les paquets. Même si la latence moyenne est acceptable, le </a:t>
            </a:r>
            <a:r>
              <a:rPr lang="fr-FR" dirty="0" err="1">
                <a:effectLst/>
              </a:rPr>
              <a:t>jitter</a:t>
            </a:r>
            <a:r>
              <a:rPr lang="fr-FR" dirty="0">
                <a:effectLst/>
              </a:rPr>
              <a:t> mesure à quel point le temps d’arrivée des paquets est irrégulier.</a:t>
            </a:r>
          </a:p>
          <a:p>
            <a:r>
              <a:rPr lang="fr-FR" dirty="0">
                <a:effectLst/>
              </a:rPr>
              <a:t>Un </a:t>
            </a:r>
            <a:r>
              <a:rPr lang="fr-FR" dirty="0" err="1">
                <a:effectLst/>
              </a:rPr>
              <a:t>jitter</a:t>
            </a:r>
            <a:r>
              <a:rPr lang="fr-FR" dirty="0">
                <a:effectLst/>
              </a:rPr>
              <a:t> élevé provoque des “sauts” dans le délai (un paquet arrive très vite, le suivant très tard), ce qui est très gênant pour les applications temps réel comme la santé connectée ou le contrôle industriel.</a:t>
            </a:r>
          </a:p>
          <a:p>
            <a:r>
              <a:rPr lang="fr-FR" dirty="0">
                <a:effectLst/>
              </a:rPr>
              <a:t>Dans nos résultats, </a:t>
            </a:r>
            <a:r>
              <a:rPr lang="fr-FR" dirty="0" err="1">
                <a:effectLst/>
              </a:rPr>
              <a:t>RPLMQoS</a:t>
            </a:r>
            <a:r>
              <a:rPr lang="fr-FR" dirty="0">
                <a:effectLst/>
              </a:rPr>
              <a:t> réduit le </a:t>
            </a:r>
            <a:r>
              <a:rPr lang="fr-FR" dirty="0" err="1">
                <a:effectLst/>
              </a:rPr>
              <a:t>jitter</a:t>
            </a:r>
            <a:r>
              <a:rPr lang="fr-FR" dirty="0">
                <a:effectLst/>
              </a:rPr>
              <a:t> de </a:t>
            </a:r>
            <a:r>
              <a:rPr lang="fr-FR" b="1" dirty="0">
                <a:effectLst/>
              </a:rPr>
              <a:t>35,7 %</a:t>
            </a:r>
            <a:r>
              <a:rPr lang="fr-FR" dirty="0">
                <a:effectLst/>
              </a:rPr>
              <a:t> par rapport à RPL standard grâce à la priorisation des files et à la métrique composite. »</a:t>
            </a:r>
          </a:p>
          <a:p>
            <a:r>
              <a:rPr lang="fr-FR" dirty="0">
                <a:effectLst/>
              </a:rPr>
              <a:t>Tu peux l’utiliser tel quel, c’est simple, précis et adapté au jury.</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12</a:t>
            </a:fld>
            <a:endParaRPr lang="fr-FR"/>
          </a:p>
        </p:txBody>
      </p:sp>
    </p:spTree>
    <p:extLst>
      <p:ext uri="{BB962C8B-B14F-4D97-AF65-F5344CB8AC3E}">
        <p14:creationId xmlns:p14="http://schemas.microsoft.com/office/powerpoint/2010/main" val="2483451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AER-RPL est la </a:t>
            </a:r>
            <a:r>
              <a:rPr lang="fr-FR" b="1" dirty="0"/>
              <a:t>deuxième contribution principale</a:t>
            </a:r>
            <a:r>
              <a:rPr lang="fr-FR" dirty="0"/>
              <a:t> de cette thèse.</a:t>
            </a:r>
          </a:p>
          <a:p>
            <a:r>
              <a:rPr lang="fr-FR" dirty="0"/>
              <a:t>L’objectif ici est clair :</a:t>
            </a:r>
            <a:br>
              <a:rPr lang="fr-FR" dirty="0"/>
            </a:br>
            <a:r>
              <a:rPr lang="fr-FR" b="1" dirty="0"/>
              <a:t>intégrer la sécurité et l’efficacité énergétique dans un seul protocole</a:t>
            </a:r>
            <a:r>
              <a:rPr lang="fr-FR" dirty="0"/>
              <a:t>,</a:t>
            </a:r>
            <a:br>
              <a:rPr lang="fr-FR" dirty="0"/>
            </a:br>
            <a:r>
              <a:rPr lang="fr-FR" dirty="0"/>
              <a:t>tout en respectant les </a:t>
            </a:r>
            <a:r>
              <a:rPr lang="fr-FR" b="1" dirty="0"/>
              <a:t>fortes contraintes des nœuds IoT</a:t>
            </a:r>
            <a:r>
              <a:rPr lang="fr-FR" dirty="0"/>
              <a:t>.</a:t>
            </a:r>
          </a:p>
          <a:p>
            <a:r>
              <a:rPr lang="fr-FR" dirty="0"/>
              <a:t>L’architecture d’AER-RPL repose sur </a:t>
            </a:r>
            <a:r>
              <a:rPr lang="fr-FR" b="1" dirty="0"/>
              <a:t>trois composants principaux</a:t>
            </a:r>
            <a:r>
              <a:rPr lang="fr-FR" dirty="0"/>
              <a:t>,</a:t>
            </a:r>
            <a:br>
              <a:rPr lang="fr-FR" dirty="0"/>
            </a:br>
            <a:r>
              <a:rPr lang="fr-FR" dirty="0"/>
              <a:t>qui fonctionnent ensemble.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Voici un schéma clair des 3 briques (confiance + LSTM 8 bits + récupération énergie</a:t>
            </a:r>
          </a:p>
          <a:p>
            <a:endParaRPr lang="fr-FR" dirty="0"/>
          </a:p>
          <a:p>
            <a:r>
              <a:rPr lang="fr-FR" dirty="0"/>
              <a:t>👉 </a:t>
            </a:r>
            <a:r>
              <a:rPr lang="fr-FR" b="1" dirty="0"/>
              <a:t>Premier composant : le modèle de confiance distribué.</a:t>
            </a:r>
            <a:endParaRPr lang="fr-FR" dirty="0"/>
          </a:p>
          <a:p>
            <a:r>
              <a:rPr lang="fr-FR" dirty="0"/>
              <a:t>Chaque nœud observe le comportement de ses voisins.</a:t>
            </a:r>
            <a:br>
              <a:rPr lang="fr-FR" dirty="0"/>
            </a:br>
            <a:r>
              <a:rPr lang="fr-FR" dirty="0"/>
              <a:t>Par exemple :</a:t>
            </a:r>
            <a:br>
              <a:rPr lang="fr-FR" dirty="0"/>
            </a:br>
            <a:r>
              <a:rPr lang="fr-FR" dirty="0"/>
              <a:t>– est-ce qu’un voisin relaie correctement les paquets ?</a:t>
            </a:r>
            <a:br>
              <a:rPr lang="fr-FR" dirty="0"/>
            </a:br>
            <a:r>
              <a:rPr lang="fr-FR" dirty="0"/>
              <a:t>– est-ce qu’il se comporte de manière cohérente dans le routage ?</a:t>
            </a:r>
          </a:p>
          <a:p>
            <a:r>
              <a:rPr lang="fr-FR" dirty="0"/>
              <a:t>À partir de ces observations, chaque nœud calcule un </a:t>
            </a:r>
            <a:r>
              <a:rPr lang="fr-FR" b="1" dirty="0"/>
              <a:t>score de confiance</a:t>
            </a:r>
            <a:r>
              <a:rPr lang="fr-FR" dirty="0"/>
              <a:t> pour ses voisins.</a:t>
            </a:r>
          </a:p>
          <a:p>
            <a:r>
              <a:rPr lang="fr-FR" dirty="0"/>
              <a:t>Les nœuds ayant un </a:t>
            </a:r>
            <a:r>
              <a:rPr lang="fr-FR" b="1" dirty="0"/>
              <a:t>score élevé</a:t>
            </a:r>
            <a:r>
              <a:rPr lang="fr-FR" dirty="0"/>
              <a:t> sont privilégiés comme </a:t>
            </a:r>
            <a:r>
              <a:rPr lang="fr-FR" b="1" dirty="0"/>
              <a:t>parents</a:t>
            </a:r>
            <a:r>
              <a:rPr lang="fr-FR" dirty="0"/>
              <a:t> dans l’arbre RPL.</a:t>
            </a:r>
            <a:br>
              <a:rPr lang="fr-FR" dirty="0"/>
            </a:br>
            <a:r>
              <a:rPr lang="fr-FR" dirty="0"/>
              <a:t>À l’inverse, les nœuds dont le comportement devient suspect sont </a:t>
            </a:r>
            <a:r>
              <a:rPr lang="fr-FR" b="1" dirty="0"/>
              <a:t>progressivement écartés</a:t>
            </a:r>
            <a:r>
              <a:rPr lang="fr-FR" dirty="0"/>
              <a:t>.</a:t>
            </a:r>
          </a:p>
          <a:p>
            <a:r>
              <a:rPr lang="fr-FR" dirty="0"/>
              <a:t>Cela permet de </a:t>
            </a:r>
            <a:r>
              <a:rPr lang="fr-FR" b="1" dirty="0"/>
              <a:t>limiter l’impact des nœuds malveillants</a:t>
            </a:r>
            <a:r>
              <a:rPr lang="fr-FR" dirty="0"/>
              <a:t>, sans réaction brutale.</a:t>
            </a:r>
          </a:p>
          <a:p>
            <a:r>
              <a:rPr lang="fr-FR" dirty="0"/>
              <a:t>👉 </a:t>
            </a:r>
            <a:r>
              <a:rPr lang="fr-FR" b="1" dirty="0"/>
              <a:t>Deuxième composant : la détection d’anomalies par IA légère.</a:t>
            </a:r>
            <a:endParaRPr lang="fr-FR" dirty="0"/>
          </a:p>
          <a:p>
            <a:r>
              <a:rPr lang="fr-FR" dirty="0"/>
              <a:t>Nous utilisons un modèle </a:t>
            </a:r>
            <a:r>
              <a:rPr lang="fr-FR" b="1" dirty="0"/>
              <a:t>LSTM</a:t>
            </a:r>
            <a:r>
              <a:rPr lang="fr-FR" dirty="0"/>
              <a:t>, mais </a:t>
            </a:r>
            <a:r>
              <a:rPr lang="fr-FR" b="1" dirty="0"/>
              <a:t>quantifié sur 8 bits</a:t>
            </a:r>
            <a:r>
              <a:rPr lang="fr-FR" dirty="0"/>
              <a:t>, afin qu’il puisse fonctionner sur des microcontrôleurs IoT.</a:t>
            </a:r>
          </a:p>
          <a:p>
            <a:r>
              <a:rPr lang="fr-FR" dirty="0"/>
              <a:t>L’empreinte mémoire est d’environ </a:t>
            </a:r>
            <a:r>
              <a:rPr lang="fr-FR" b="1" dirty="0"/>
              <a:t>2,5 kilo-octets</a:t>
            </a:r>
            <a:r>
              <a:rPr lang="fr-FR" dirty="0"/>
              <a:t>,</a:t>
            </a:r>
            <a:br>
              <a:rPr lang="fr-FR" dirty="0"/>
            </a:br>
            <a:r>
              <a:rPr lang="fr-FR" dirty="0"/>
              <a:t>ce qui reste compatible avec les plateformes contraintes.</a:t>
            </a:r>
          </a:p>
          <a:p>
            <a:r>
              <a:rPr lang="fr-FR" dirty="0"/>
              <a:t>Ce LSTM analyse les </a:t>
            </a:r>
            <a:r>
              <a:rPr lang="fr-FR" b="1" dirty="0"/>
              <a:t>motifs temporels du trafic </a:t>
            </a:r>
            <a:r>
              <a:rPr lang="fr-FR" dirty="0"/>
              <a:t>et permet de détecter rapidement des comportements anormaux, typiques des attaques de routage :</a:t>
            </a:r>
            <a:br>
              <a:rPr lang="fr-FR" dirty="0"/>
            </a:br>
            <a:r>
              <a:rPr lang="fr-FR" dirty="0"/>
              <a:t>– un nœud qui attire anormalement le trafic,</a:t>
            </a:r>
            <a:br>
              <a:rPr lang="fr-FR" dirty="0"/>
            </a:br>
            <a:r>
              <a:rPr lang="fr-FR" dirty="0"/>
              <a:t>– ou un nœud qui commence à jeter des paquets de façon sélective.</a:t>
            </a:r>
          </a:p>
          <a:p>
            <a:r>
              <a:rPr lang="fr-FR" dirty="0"/>
              <a:t>Grâce à cette IA légère, AER-RPL améliore la détection des attaques</a:t>
            </a:r>
            <a:br>
              <a:rPr lang="fr-FR" dirty="0"/>
            </a:br>
            <a:r>
              <a:rPr lang="fr-FR" b="1" dirty="0"/>
              <a:t>sans alourdir le réseau</a:t>
            </a:r>
            <a:r>
              <a:rPr lang="fr-FR" dirty="0"/>
              <a:t>.</a:t>
            </a:r>
          </a:p>
          <a:p>
            <a:r>
              <a:rPr lang="fr-FR" dirty="0"/>
              <a:t>👉 </a:t>
            </a:r>
            <a:r>
              <a:rPr lang="fr-FR" b="1" dirty="0"/>
              <a:t>Troisième composant : la gestion intelligente de l’énergie.</a:t>
            </a:r>
            <a:endParaRPr lang="fr-FR" dirty="0"/>
          </a:p>
          <a:p>
            <a:r>
              <a:rPr lang="fr-FR" dirty="0"/>
              <a:t>Dans de nombreux scénarios IoT, notamment en agriculture ou en environnement,</a:t>
            </a:r>
            <a:br>
              <a:rPr lang="fr-FR" dirty="0"/>
            </a:br>
            <a:r>
              <a:rPr lang="fr-FR" dirty="0"/>
              <a:t>les nœuds disposent de </a:t>
            </a:r>
            <a:r>
              <a:rPr lang="fr-FR" b="1" dirty="0"/>
              <a:t>sources d’énergie renouvelable</a:t>
            </a:r>
            <a:r>
              <a:rPr lang="fr-FR" dirty="0"/>
              <a:t>, comme le solaire.</a:t>
            </a:r>
          </a:p>
          <a:p>
            <a:r>
              <a:rPr lang="fr-FR" dirty="0"/>
              <a:t>AER-RPL intègre un module qui </a:t>
            </a:r>
            <a:r>
              <a:rPr lang="fr-FR" b="1" dirty="0"/>
              <a:t>prévoit les conditions d’éclairage</a:t>
            </a:r>
            <a:br>
              <a:rPr lang="fr-FR" dirty="0"/>
            </a:br>
            <a:r>
              <a:rPr lang="fr-FR" dirty="0"/>
              <a:t>et adapte dynamiquement le comportement du nœud :</a:t>
            </a:r>
            <a:br>
              <a:rPr lang="fr-FR" dirty="0"/>
            </a:br>
            <a:r>
              <a:rPr lang="fr-FR" dirty="0"/>
              <a:t>– augmenter l’activité quand l’énergie est disponible,</a:t>
            </a:r>
            <a:br>
              <a:rPr lang="fr-FR" dirty="0"/>
            </a:br>
            <a:r>
              <a:rPr lang="fr-FR" dirty="0"/>
              <a:t>– réduire le duty cycle quand l’énergie devient rare.</a:t>
            </a:r>
          </a:p>
          <a:p>
            <a:r>
              <a:rPr lang="fr-FR" dirty="0"/>
              <a:t>Le routage est donc aussi optimisé en fonction de </a:t>
            </a:r>
            <a:r>
              <a:rPr lang="fr-FR" b="1" dirty="0"/>
              <a:t>l’énergie réellement disponible</a:t>
            </a:r>
            <a:r>
              <a:rPr lang="fr-FR" dirty="0"/>
              <a:t>.</a:t>
            </a:r>
          </a:p>
          <a:p>
            <a:r>
              <a:rPr lang="fr-FR" dirty="0"/>
              <a:t>👉 </a:t>
            </a:r>
            <a:r>
              <a:rPr lang="fr-FR" b="1" dirty="0"/>
              <a:t>Message clé.</a:t>
            </a:r>
            <a:endParaRPr lang="fr-FR" dirty="0"/>
          </a:p>
          <a:p>
            <a:r>
              <a:rPr lang="fr-FR" dirty="0"/>
              <a:t>En résumé, </a:t>
            </a:r>
            <a:r>
              <a:rPr lang="fr-FR" b="1" dirty="0"/>
              <a:t>AER-RPL combine une sécurité adaptative et une gestion intelligente de l’énergie</a:t>
            </a:r>
            <a:r>
              <a:rPr lang="fr-FR" dirty="0"/>
              <a:t>, tout en restant </a:t>
            </a:r>
            <a:r>
              <a:rPr lang="fr-FR" b="1" dirty="0"/>
              <a:t>compatible avec les contraintes fortes des nœuds IoT</a:t>
            </a:r>
            <a:r>
              <a:rPr lang="fr-FR" dirty="0"/>
              <a:t>.</a:t>
            </a:r>
          </a:p>
          <a:p>
            <a:r>
              <a:rPr lang="fr-FR" dirty="0"/>
              <a:t>➡️ Sur la diapositive suivante, je vais maintenant vous présenter les </a:t>
            </a:r>
            <a:r>
              <a:rPr lang="fr-FR" b="1" dirty="0"/>
              <a:t>résultats de sécurité obtenus avec AER-RPL</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15</a:t>
            </a:fld>
            <a:endParaRPr lang="fr-FR"/>
          </a:p>
        </p:txBody>
      </p:sp>
    </p:spTree>
    <p:extLst>
      <p:ext uri="{BB962C8B-B14F-4D97-AF65-F5344CB8AC3E}">
        <p14:creationId xmlns:p14="http://schemas.microsoft.com/office/powerpoint/2010/main" val="3689698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Je vais maintenant vous présenter les </a:t>
            </a:r>
            <a:r>
              <a:rPr lang="fr-FR" b="1" dirty="0"/>
              <a:t>résultats de sécurité obtenus avec AER-RPL</a:t>
            </a:r>
            <a:r>
              <a:rPr lang="fr-FR" dirty="0"/>
              <a:t>.</a:t>
            </a:r>
          </a:p>
          <a:p>
            <a:r>
              <a:rPr lang="fr-FR" dirty="0"/>
              <a:t>👉 </a:t>
            </a:r>
            <a:r>
              <a:rPr lang="fr-FR" b="1" dirty="0"/>
              <a:t>Premier indicateur : le taux de détection des attaques.</a:t>
            </a:r>
            <a:endParaRPr lang="fr-FR" dirty="0"/>
          </a:p>
          <a:p>
            <a:r>
              <a:rPr lang="fr-FR" dirty="0"/>
              <a:t>Avec AER-RPL, nous atteignons en moyenne </a:t>
            </a:r>
            <a:r>
              <a:rPr lang="fr-FR" b="1" dirty="0"/>
              <a:t>95,1 % de détection</a:t>
            </a:r>
            <a:r>
              <a:rPr lang="fr-FR" dirty="0"/>
              <a:t>.</a:t>
            </a:r>
          </a:p>
          <a:p>
            <a:r>
              <a:rPr lang="fr-FR" dirty="0"/>
              <a:t>Ces résultats ont été obtenus sur plusieurs types d’attaques de routage,</a:t>
            </a:r>
            <a:br>
              <a:rPr lang="fr-FR" dirty="0"/>
            </a:br>
            <a:r>
              <a:rPr lang="fr-FR" dirty="0"/>
              <a:t>notamment :</a:t>
            </a:r>
            <a:br>
              <a:rPr lang="fr-FR" dirty="0"/>
            </a:br>
            <a:r>
              <a:rPr lang="fr-FR" dirty="0"/>
              <a:t>– les attaques </a:t>
            </a:r>
            <a:r>
              <a:rPr lang="fr-FR" b="1" dirty="0"/>
              <a:t>sinkhole</a:t>
            </a:r>
            <a:r>
              <a:rPr lang="fr-FR" dirty="0"/>
              <a:t>,</a:t>
            </a:r>
            <a:br>
              <a:rPr lang="fr-FR" dirty="0"/>
            </a:br>
            <a:r>
              <a:rPr lang="fr-FR" dirty="0"/>
              <a:t>– le </a:t>
            </a:r>
            <a:r>
              <a:rPr lang="fr-FR" b="1" dirty="0"/>
              <a:t>selective forwarding</a:t>
            </a:r>
            <a:r>
              <a:rPr lang="fr-FR" dirty="0"/>
              <a:t>,</a:t>
            </a:r>
            <a:br>
              <a:rPr lang="fr-FR" dirty="0"/>
            </a:br>
            <a:r>
              <a:rPr lang="fr-FR" dirty="0"/>
              <a:t>– et le </a:t>
            </a:r>
            <a:r>
              <a:rPr lang="fr-FR" b="1" dirty="0"/>
              <a:t>hello flood</a:t>
            </a:r>
            <a:r>
              <a:rPr lang="fr-FR" dirty="0"/>
              <a:t>.</a:t>
            </a:r>
          </a:p>
          <a:p>
            <a:r>
              <a:rPr lang="fr-FR" dirty="0"/>
              <a:t>Cela montre que le protocole est capable de détecter efficacement</a:t>
            </a:r>
            <a:br>
              <a:rPr lang="fr-FR" dirty="0"/>
            </a:br>
            <a:r>
              <a:rPr lang="fr-FR" dirty="0"/>
              <a:t>des attaques de nature différente.</a:t>
            </a:r>
          </a:p>
          <a:p>
            <a:r>
              <a:rPr lang="fr-FR" dirty="0"/>
              <a:t>👉 </a:t>
            </a:r>
            <a:r>
              <a:rPr lang="fr-FR" b="1" dirty="0"/>
              <a:t>Deuxième indicateur : les faux positifs.</a:t>
            </a:r>
            <a:endParaRPr lang="fr-FR" dirty="0"/>
          </a:p>
          <a:p>
            <a:r>
              <a:rPr lang="fr-FR" dirty="0"/>
              <a:t>Le taux de fausses alertes reste très faible, autour de </a:t>
            </a:r>
            <a:r>
              <a:rPr lang="fr-FR" b="1" dirty="0"/>
              <a:t>3,1 % seulement</a:t>
            </a:r>
            <a:r>
              <a:rPr lang="fr-FR" dirty="0"/>
              <a:t>.</a:t>
            </a:r>
          </a:p>
          <a:p>
            <a:r>
              <a:rPr lang="fr-FR" dirty="0"/>
              <a:t>C’est un point essentiel, car en IoT,</a:t>
            </a:r>
            <a:br>
              <a:rPr lang="fr-FR" dirty="0"/>
            </a:br>
            <a:r>
              <a:rPr lang="fr-FR" dirty="0"/>
              <a:t>accuser à tort un nœud honnête peut dégrader le routage</a:t>
            </a:r>
            <a:br>
              <a:rPr lang="fr-FR" dirty="0"/>
            </a:br>
            <a:r>
              <a:rPr lang="fr-FR" dirty="0"/>
              <a:t>et réduire inutilement les performances du réseau.</a:t>
            </a:r>
          </a:p>
          <a:p>
            <a:r>
              <a:rPr lang="fr-FR" dirty="0"/>
              <a:t>Avec AER-RPL, on arrive donc à </a:t>
            </a:r>
            <a:r>
              <a:rPr lang="fr-FR" b="1" dirty="0"/>
              <a:t>protéger le réseau sans pénaliser les nœuds honnêtes</a:t>
            </a:r>
            <a:r>
              <a:rPr lang="fr-FR" dirty="0"/>
              <a:t>.</a:t>
            </a:r>
          </a:p>
          <a:p>
            <a:r>
              <a:rPr lang="fr-FR" dirty="0"/>
              <a:t>👉 </a:t>
            </a:r>
            <a:r>
              <a:rPr lang="fr-FR" b="1" dirty="0"/>
              <a:t>Troisième indicateur : le temps de réaction.</a:t>
            </a:r>
            <a:endParaRPr lang="fr-FR" dirty="0"/>
          </a:p>
          <a:p>
            <a:r>
              <a:rPr lang="fr-FR" dirty="0"/>
              <a:t>En moyenne, il faut environ </a:t>
            </a:r>
            <a:r>
              <a:rPr lang="fr-FR" b="1" dirty="0"/>
              <a:t>28,7 secondes</a:t>
            </a:r>
            <a:br>
              <a:rPr lang="fr-FR" dirty="0"/>
            </a:br>
            <a:r>
              <a:rPr lang="fr-FR" dirty="0"/>
              <a:t>pour détecter un nœud malveillant et l’isoler du routage.</a:t>
            </a:r>
          </a:p>
          <a:p>
            <a:r>
              <a:rPr lang="fr-FR" dirty="0"/>
              <a:t>Cette réaction relativement rapide permet de</a:t>
            </a:r>
            <a:br>
              <a:rPr lang="fr-FR" dirty="0"/>
            </a:br>
            <a:r>
              <a:rPr lang="fr-FR" b="1" dirty="0"/>
              <a:t>réduire fortement la fenêtre d’attaque</a:t>
            </a:r>
            <a:r>
              <a:rPr lang="fr-FR" dirty="0"/>
              <a:t>,</a:t>
            </a:r>
            <a:br>
              <a:rPr lang="fr-FR" dirty="0"/>
            </a:br>
            <a:r>
              <a:rPr lang="fr-FR" dirty="0"/>
              <a:t>et donc de limiter l’impact sur le réseau.</a:t>
            </a:r>
          </a:p>
          <a:p>
            <a:r>
              <a:rPr lang="fr-FR" dirty="0"/>
              <a:t>👉 </a:t>
            </a:r>
            <a:r>
              <a:rPr lang="fr-FR" b="1" dirty="0"/>
              <a:t>Comparaison avec Trust-RPL.</a:t>
            </a:r>
            <a:endParaRPr lang="fr-FR" dirty="0"/>
          </a:p>
          <a:p>
            <a:r>
              <a:rPr lang="fr-FR" dirty="0"/>
              <a:t>Si l’on regarde le tableau de comparaison avec </a:t>
            </a:r>
            <a:r>
              <a:rPr lang="fr-FR" b="1" dirty="0"/>
              <a:t>Trust-RPL</a:t>
            </a:r>
            <a:r>
              <a:rPr lang="fr-FR" dirty="0"/>
              <a:t> :</a:t>
            </a:r>
            <a:br>
              <a:rPr lang="fr-FR" dirty="0"/>
            </a:br>
            <a:r>
              <a:rPr lang="fr-FR" dirty="0"/>
              <a:t>– Trust-RPL détecte environ </a:t>
            </a:r>
            <a:r>
              <a:rPr lang="fr-FR" b="1" dirty="0"/>
              <a:t>75 % des attaques</a:t>
            </a:r>
            <a:r>
              <a:rPr lang="fr-FR" dirty="0"/>
              <a:t>,</a:t>
            </a:r>
            <a:br>
              <a:rPr lang="fr-FR" dirty="0"/>
            </a:br>
            <a:r>
              <a:rPr lang="fr-FR" dirty="0"/>
              <a:t>– avec un temps de réaction plus lent,</a:t>
            </a:r>
            <a:br>
              <a:rPr lang="fr-FR" dirty="0"/>
            </a:br>
            <a:r>
              <a:rPr lang="fr-FR" dirty="0"/>
              <a:t>– et un taux de faux positifs plus élevé.</a:t>
            </a:r>
          </a:p>
          <a:p>
            <a:r>
              <a:rPr lang="fr-FR" dirty="0"/>
              <a:t>À l’inverse, </a:t>
            </a:r>
            <a:r>
              <a:rPr lang="fr-FR" b="1" dirty="0"/>
              <a:t>AER-RPL</a:t>
            </a:r>
            <a:r>
              <a:rPr lang="fr-FR" dirty="0"/>
              <a:t> offre :</a:t>
            </a:r>
            <a:br>
              <a:rPr lang="fr-FR" dirty="0"/>
            </a:br>
            <a:r>
              <a:rPr lang="fr-FR" dirty="0"/>
              <a:t>– un </a:t>
            </a:r>
            <a:r>
              <a:rPr lang="fr-FR" b="1" dirty="0"/>
              <a:t>meilleur taux de détection</a:t>
            </a:r>
            <a:r>
              <a:rPr lang="fr-FR" dirty="0"/>
              <a:t>,</a:t>
            </a:r>
            <a:br>
              <a:rPr lang="fr-FR" dirty="0"/>
            </a:br>
            <a:r>
              <a:rPr lang="fr-FR" dirty="0"/>
              <a:t>– </a:t>
            </a:r>
            <a:r>
              <a:rPr lang="fr-FR" b="1" dirty="0"/>
              <a:t>moins de fausses alertes</a:t>
            </a:r>
            <a:r>
              <a:rPr lang="fr-FR" dirty="0"/>
              <a:t>,</a:t>
            </a:r>
            <a:br>
              <a:rPr lang="fr-FR" dirty="0"/>
            </a:br>
            <a:r>
              <a:rPr lang="fr-FR" dirty="0"/>
              <a:t>– et une </a:t>
            </a:r>
            <a:r>
              <a:rPr lang="fr-FR" b="1" dirty="0"/>
              <a:t>réaction plus rapide</a:t>
            </a:r>
            <a:r>
              <a:rPr lang="fr-FR" dirty="0"/>
              <a:t>,</a:t>
            </a:r>
            <a:br>
              <a:rPr lang="fr-FR" dirty="0"/>
            </a:br>
            <a:r>
              <a:rPr lang="fr-FR" dirty="0"/>
              <a:t>tout en restant compatible avec les contraintes mémoire</a:t>
            </a:r>
            <a:br>
              <a:rPr lang="fr-FR" dirty="0"/>
            </a:br>
            <a:r>
              <a:rPr lang="fr-FR" dirty="0"/>
              <a:t>et énergétiques des nœuds IoT.</a:t>
            </a:r>
          </a:p>
          <a:p>
            <a:r>
              <a:rPr lang="fr-FR" dirty="0"/>
              <a:t>👉 </a:t>
            </a:r>
            <a:r>
              <a:rPr lang="fr-FR" b="1" dirty="0"/>
              <a:t>Message clé.</a:t>
            </a:r>
            <a:endParaRPr lang="fr-FR" dirty="0"/>
          </a:p>
          <a:p>
            <a:r>
              <a:rPr lang="fr-FR" dirty="0"/>
              <a:t>En résumé, </a:t>
            </a:r>
            <a:r>
              <a:rPr lang="fr-FR" b="1" dirty="0"/>
              <a:t>AER-RPL offre un compromis optimal</a:t>
            </a:r>
            <a:br>
              <a:rPr lang="fr-FR" dirty="0"/>
            </a:br>
            <a:r>
              <a:rPr lang="fr-FR" dirty="0"/>
              <a:t>entre </a:t>
            </a:r>
            <a:r>
              <a:rPr lang="fr-FR" b="1" dirty="0"/>
              <a:t>précision</a:t>
            </a:r>
            <a:r>
              <a:rPr lang="fr-FR" dirty="0"/>
              <a:t>, </a:t>
            </a:r>
            <a:r>
              <a:rPr lang="fr-FR" b="1" dirty="0"/>
              <a:t>rapidité de réaction</a:t>
            </a:r>
            <a:br>
              <a:rPr lang="fr-FR" dirty="0"/>
            </a:br>
            <a:r>
              <a:rPr lang="fr-FR" dirty="0"/>
              <a:t>et </a:t>
            </a:r>
            <a:r>
              <a:rPr lang="fr-FR" b="1" dirty="0"/>
              <a:t>faible impact sur le réseau IoT</a:t>
            </a:r>
            <a:r>
              <a:rPr lang="fr-FR" dirty="0"/>
              <a:t>.</a:t>
            </a:r>
          </a:p>
          <a:p>
            <a:r>
              <a:rPr lang="fr-FR" dirty="0"/>
              <a:t>➡️ Dans la diapositive suivante, je vais montrer que</a:t>
            </a:r>
            <a:br>
              <a:rPr lang="fr-FR" dirty="0"/>
            </a:br>
            <a:r>
              <a:rPr lang="fr-FR" dirty="0"/>
              <a:t>cette architecture sécurisée permet aussi</a:t>
            </a:r>
            <a:br>
              <a:rPr lang="fr-FR" dirty="0"/>
            </a:br>
            <a:r>
              <a:rPr lang="fr-FR" dirty="0"/>
              <a:t>d’obtenir des </a:t>
            </a:r>
            <a:r>
              <a:rPr lang="fr-FR" b="1" dirty="0"/>
              <a:t>gains énergétiques significatifs</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17</a:t>
            </a:fld>
            <a:endParaRPr lang="fr-FR"/>
          </a:p>
        </p:txBody>
      </p:sp>
    </p:spTree>
    <p:extLst>
      <p:ext uri="{BB962C8B-B14F-4D97-AF65-F5344CB8AC3E}">
        <p14:creationId xmlns:p14="http://schemas.microsoft.com/office/powerpoint/2010/main" val="3703974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Au-delà de la sécurité, AER-RPL apporte aussi des </a:t>
            </a:r>
            <a:r>
              <a:rPr lang="fr-FR" b="1" dirty="0"/>
              <a:t>gains importants en énergie</a:t>
            </a:r>
            <a:r>
              <a:rPr lang="fr-FR" dirty="0"/>
              <a:t>.</a:t>
            </a:r>
          </a:p>
          <a:p>
            <a:r>
              <a:rPr lang="fr-FR" dirty="0"/>
              <a:t>D’abord, sur la consommation par paquet. Avec RPL standard, dans les scénarios denses et perturbés, on peut monter jusqu’à environ </a:t>
            </a:r>
            <a:r>
              <a:rPr lang="fr-FR" b="1" dirty="0"/>
              <a:t>1200 millijoules par paquet</a:t>
            </a:r>
            <a:r>
              <a:rPr lang="fr-FR" dirty="0"/>
              <a:t>.</a:t>
            </a:r>
          </a:p>
          <a:p>
            <a:r>
              <a:rPr lang="fr-FR" dirty="0"/>
              <a:t>Avec AER-RPL, en optimisant les routes, en limitant les retransmissions</a:t>
            </a:r>
          </a:p>
          <a:p>
            <a:r>
              <a:rPr lang="fr-FR" dirty="0"/>
              <a:t>et en adaptant l’activité radio, nous réduisons cette consommation à environ </a:t>
            </a:r>
            <a:r>
              <a:rPr lang="fr-FR" b="1" dirty="0"/>
              <a:t>780 millijoules par paquet</a:t>
            </a:r>
            <a:r>
              <a:rPr lang="fr-FR" dirty="0"/>
              <a:t>. Cela représente une </a:t>
            </a:r>
            <a:r>
              <a:rPr lang="fr-FR" b="1" dirty="0"/>
              <a:t>réduction d’environ 35 %</a:t>
            </a:r>
            <a:r>
              <a:rPr lang="fr-FR" dirty="0"/>
              <a:t> de l’énergie consommée par paquet.</a:t>
            </a:r>
          </a:p>
          <a:p>
            <a:r>
              <a:rPr lang="fr-FR" dirty="0"/>
              <a:t>Ensuite, si l’on regarde la </a:t>
            </a:r>
            <a:r>
              <a:rPr lang="fr-FR" b="1" dirty="0"/>
              <a:t>durée de vie des nœuds</a:t>
            </a:r>
            <a:r>
              <a:rPr lang="fr-FR" dirty="0"/>
              <a:t>, cette optimisation, combinée à la récupération d’énergie, permet de prolonger la durée de vie moyenne d’environ </a:t>
            </a:r>
            <a:r>
              <a:rPr lang="fr-FR" b="1" dirty="0"/>
              <a:t>40 %</a:t>
            </a:r>
            <a:r>
              <a:rPr lang="fr-FR" dirty="0"/>
              <a:t>.</a:t>
            </a:r>
          </a:p>
          <a:p>
            <a:r>
              <a:rPr lang="fr-FR" dirty="0"/>
              <a:t>Concrètement, un réseau qui aurait tenu 1 an dans une configuration classique peut, avec AER-RPL, fonctionner environ </a:t>
            </a:r>
            <a:r>
              <a:rPr lang="fr-FR" b="1" dirty="0"/>
              <a:t>1,4 an</a:t>
            </a:r>
            <a:r>
              <a:rPr lang="fr-FR" dirty="0"/>
              <a:t> dans les mêmes conditions simulées.</a:t>
            </a:r>
          </a:p>
          <a:p>
            <a:r>
              <a:rPr lang="fr-FR" dirty="0"/>
              <a:t>AER-RPL exploite aussi </a:t>
            </a:r>
            <a:r>
              <a:rPr lang="fr-FR" b="1" dirty="0"/>
              <a:t>l’énergie solaire disponible</a:t>
            </a:r>
            <a:r>
              <a:rPr lang="fr-FR" dirty="0"/>
              <a:t>.</a:t>
            </a:r>
          </a:p>
          <a:p>
            <a:r>
              <a:rPr lang="fr-FR" dirty="0"/>
              <a:t>Grâce au module de prédiction, le protocole utilise intelligemment les périodes d’ensoleillement pour recharger et augmenter l’activité,</a:t>
            </a:r>
          </a:p>
          <a:p>
            <a:r>
              <a:rPr lang="fr-FR" dirty="0"/>
              <a:t>et il réduit l’activité lorsqu’il prévoit une baisse d’énergie.</a:t>
            </a:r>
          </a:p>
          <a:p>
            <a:r>
              <a:rPr lang="fr-FR" dirty="0"/>
              <a:t>Globalement, on arrive à exploiter environ </a:t>
            </a:r>
            <a:r>
              <a:rPr lang="fr-FR" b="1" dirty="0"/>
              <a:t>70 % de l’énergie solaire disponible</a:t>
            </a:r>
            <a:r>
              <a:rPr lang="fr-FR" dirty="0"/>
              <a:t>, ce qui est très intéressant pour des scénarios comme</a:t>
            </a:r>
          </a:p>
          <a:p>
            <a:r>
              <a:rPr lang="fr-FR" dirty="0"/>
              <a:t>l’</a:t>
            </a:r>
            <a:r>
              <a:rPr lang="fr-FR" b="1" dirty="0"/>
              <a:t>agriculture de précision</a:t>
            </a:r>
            <a:r>
              <a:rPr lang="fr-FR" dirty="0"/>
              <a:t> ou la </a:t>
            </a:r>
            <a:r>
              <a:rPr lang="fr-FR" b="1" dirty="0"/>
              <a:t>surveillance environnementale </a:t>
            </a:r>
            <a:r>
              <a:rPr lang="fr-FR" dirty="0"/>
              <a:t>dans des zones isolées, où changer une batterie est coûteux, voire impossible.</a:t>
            </a:r>
          </a:p>
          <a:p>
            <a:r>
              <a:rPr lang="fr-FR" dirty="0"/>
              <a:t>[Transition]</a:t>
            </a:r>
          </a:p>
          <a:p>
            <a:r>
              <a:rPr lang="fr-FR" dirty="0"/>
              <a:t>Après avoir présenté séparément RPLMQoS et AER-RPL, je vais maintenant décrire la </a:t>
            </a:r>
            <a:r>
              <a:rPr lang="fr-FR" b="1" dirty="0"/>
              <a:t>méthodologie de validation </a:t>
            </a:r>
            <a:r>
              <a:rPr lang="fr-FR" dirty="0"/>
              <a:t>et les </a:t>
            </a:r>
            <a:r>
              <a:rPr lang="fr-FR" b="1" dirty="0"/>
              <a:t>scénarios de simulation</a:t>
            </a:r>
            <a:r>
              <a:rPr lang="fr-FR" dirty="0"/>
              <a:t> que nous avons utilisés.</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19</a:t>
            </a:fld>
            <a:endParaRPr lang="fr-FR"/>
          </a:p>
        </p:txBody>
      </p:sp>
    </p:spTree>
    <p:extLst>
      <p:ext uri="{BB962C8B-B14F-4D97-AF65-F5344CB8AC3E}">
        <p14:creationId xmlns:p14="http://schemas.microsoft.com/office/powerpoint/2010/main" val="1005203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baseline="0" dirty="0">
                <a:solidFill>
                  <a:srgbClr val="000000"/>
                </a:solidFill>
                <a:latin typeface="Inter"/>
              </a:rPr>
              <a:t>Maintenant, je vais présenter brièvement la </a:t>
            </a:r>
            <a:r>
              <a:rPr lang="fr-FR" sz="1200" b="1" i="0" u="none" strike="noStrike" baseline="0" dirty="0">
                <a:solidFill>
                  <a:srgbClr val="000000"/>
                </a:solidFill>
                <a:latin typeface="Inter"/>
              </a:rPr>
              <a:t>méthodologie </a:t>
            </a:r>
            <a:r>
              <a:rPr lang="fr-FR" sz="1200" b="0" i="0" u="none" strike="noStrike" baseline="0" dirty="0">
                <a:solidFill>
                  <a:srgbClr val="000000"/>
                </a:solidFill>
                <a:latin typeface="Inter"/>
              </a:rPr>
              <a:t>utilisée pour valider nos deux protocoles.</a:t>
            </a:r>
          </a:p>
          <a:p>
            <a:r>
              <a:rPr lang="fr-FR" sz="1200" b="0" i="0" u="none" strike="noStrike" baseline="0" dirty="0">
                <a:solidFill>
                  <a:srgbClr val="000000"/>
                </a:solidFill>
                <a:latin typeface="Inter"/>
              </a:rPr>
              <a:t>Nous avons réalisé au total </a:t>
            </a:r>
            <a:r>
              <a:rPr lang="fr-FR" sz="1200" b="1" i="0" u="none" strike="noStrike" baseline="0" dirty="0">
                <a:solidFill>
                  <a:srgbClr val="000000"/>
                </a:solidFill>
                <a:latin typeface="Inter"/>
              </a:rPr>
              <a:t>1200 simulations représentatives</a:t>
            </a:r>
            <a:r>
              <a:rPr lang="fr-FR" sz="1200" b="0" i="0" u="none" strike="noStrike" baseline="0" dirty="0">
                <a:solidFill>
                  <a:srgbClr val="000000"/>
                </a:solidFill>
                <a:latin typeface="Inter"/>
              </a:rPr>
              <a:t>. Ces 1200 cas ne sont pas choisis au hasard : ils sont sélectionnés parmi </a:t>
            </a:r>
            <a:r>
              <a:rPr lang="fr-FR" sz="1200" b="1" i="0" u="none" strike="noStrike" baseline="0" dirty="0">
                <a:solidFill>
                  <a:srgbClr val="000000"/>
                </a:solidFill>
                <a:latin typeface="Inter"/>
              </a:rPr>
              <a:t>32 400 combinaisons possibles</a:t>
            </a:r>
            <a:r>
              <a:rPr lang="fr-FR" sz="1200" b="0" i="0" u="none" strike="noStrike" baseline="0" dirty="0">
                <a:solidFill>
                  <a:srgbClr val="000000"/>
                </a:solidFill>
                <a:latin typeface="Inter"/>
              </a:rPr>
              <a:t>, en privilégiant les </a:t>
            </a:r>
            <a:r>
              <a:rPr lang="fr-FR" sz="1200" b="1" i="0" u="none" strike="noStrike" baseline="0" dirty="0">
                <a:solidFill>
                  <a:srgbClr val="000000"/>
                </a:solidFill>
                <a:latin typeface="Inter"/>
              </a:rPr>
              <a:t>scénarios critiques </a:t>
            </a:r>
            <a:r>
              <a:rPr lang="fr-FR" sz="1200" b="0" i="0" u="none" strike="noStrike" baseline="0" dirty="0">
                <a:solidFill>
                  <a:srgbClr val="000000"/>
                </a:solidFill>
                <a:latin typeface="Inter"/>
              </a:rPr>
              <a:t>: topologies denses, trafic hétérogène, interférences élevées.</a:t>
            </a:r>
          </a:p>
          <a:p>
            <a:r>
              <a:rPr lang="fr-FR" sz="1200" b="0" i="0" u="none" strike="noStrike" baseline="0" dirty="0">
                <a:solidFill>
                  <a:srgbClr val="000000"/>
                </a:solidFill>
                <a:latin typeface="Inter"/>
              </a:rPr>
              <a:t>Toutes les simulations ont été effectuées dans l'environnement </a:t>
            </a:r>
            <a:r>
              <a:rPr lang="fr-FR" sz="1200" b="1" i="0" u="none" strike="noStrike" baseline="0" dirty="0">
                <a:solidFill>
                  <a:srgbClr val="000000"/>
                </a:solidFill>
                <a:latin typeface="Inter"/>
              </a:rPr>
              <a:t>Contiki-NG version 4.8</a:t>
            </a:r>
            <a:r>
              <a:rPr lang="fr-FR" sz="1200" b="0" i="0" u="none" strike="noStrike" baseline="0" dirty="0">
                <a:solidFill>
                  <a:srgbClr val="000000"/>
                </a:solidFill>
                <a:latin typeface="Inter"/>
              </a:rPr>
              <a:t>, avec le simulateur réseau </a:t>
            </a:r>
            <a:r>
              <a:rPr lang="fr-FR" sz="1200" b="1" i="0" u="none" strike="noStrike" baseline="0" dirty="0">
                <a:solidFill>
                  <a:srgbClr val="000000"/>
                </a:solidFill>
                <a:latin typeface="Inter"/>
              </a:rPr>
              <a:t>Cooja 3.0</a:t>
            </a:r>
            <a:r>
              <a:rPr lang="fr-FR" sz="1200" b="0" i="0" u="none" strike="noStrike" baseline="0" dirty="0">
                <a:solidFill>
                  <a:srgbClr val="000000"/>
                </a:solidFill>
                <a:latin typeface="Inter"/>
              </a:rPr>
              <a:t>, qui est une plateforme de référence pour l'évaluation des protocoles IoT.</a:t>
            </a:r>
          </a:p>
          <a:p>
            <a:r>
              <a:rPr lang="fr-FR" sz="1200" b="0" i="0" u="none" strike="noStrike" baseline="0" dirty="0">
                <a:solidFill>
                  <a:srgbClr val="000000"/>
                </a:solidFill>
                <a:latin typeface="Inter"/>
              </a:rPr>
              <a:t>Nous avons utilisé deux types de </a:t>
            </a:r>
            <a:r>
              <a:rPr lang="fr-FR" sz="1200" b="1" i="0" u="none" strike="noStrike" baseline="0" dirty="0" err="1">
                <a:solidFill>
                  <a:srgbClr val="000000"/>
                </a:solidFill>
                <a:latin typeface="Inter"/>
              </a:rPr>
              <a:t>noeuds</a:t>
            </a:r>
            <a:r>
              <a:rPr lang="fr-FR" sz="1200" b="1" i="0" u="none" strike="noStrike" baseline="0" dirty="0">
                <a:solidFill>
                  <a:srgbClr val="000000"/>
                </a:solidFill>
                <a:latin typeface="Inter"/>
              </a:rPr>
              <a:t> contraints </a:t>
            </a:r>
            <a:r>
              <a:rPr lang="fr-FR" sz="1200" b="0" i="0" u="none" strike="noStrike" baseline="0" dirty="0">
                <a:solidFill>
                  <a:srgbClr val="000000"/>
                </a:solidFill>
                <a:latin typeface="Inter"/>
              </a:rPr>
              <a:t>: les </a:t>
            </a:r>
            <a:r>
              <a:rPr lang="fr-FR" sz="1200" b="1" i="0" u="none" strike="noStrike" baseline="0" dirty="0" err="1">
                <a:solidFill>
                  <a:srgbClr val="000000"/>
                </a:solidFill>
                <a:latin typeface="Inter"/>
              </a:rPr>
              <a:t>Zolertia</a:t>
            </a:r>
            <a:r>
              <a:rPr lang="fr-FR" sz="1200" b="1" i="0" u="none" strike="noStrike" baseline="0" dirty="0">
                <a:solidFill>
                  <a:srgbClr val="000000"/>
                </a:solidFill>
                <a:latin typeface="Inter"/>
              </a:rPr>
              <a:t> </a:t>
            </a:r>
            <a:r>
              <a:rPr lang="fr-FR" sz="1200" b="1" i="0" u="none" strike="noStrike" baseline="0" dirty="0" err="1">
                <a:solidFill>
                  <a:srgbClr val="000000"/>
                </a:solidFill>
                <a:latin typeface="Inter"/>
              </a:rPr>
              <a:t>Firefly</a:t>
            </a:r>
            <a:r>
              <a:rPr lang="fr-FR" sz="1200" b="0" i="0" u="none" strike="noStrike" baseline="0" dirty="0">
                <a:solidFill>
                  <a:srgbClr val="000000"/>
                </a:solidFill>
                <a:latin typeface="Inter"/>
              </a:rPr>
              <a:t>, qui ont 32 KB de RAM, et les </a:t>
            </a:r>
            <a:r>
              <a:rPr lang="fr-FR" sz="1200" b="1" i="0" u="none" strike="noStrike" baseline="0" dirty="0">
                <a:solidFill>
                  <a:srgbClr val="000000"/>
                </a:solidFill>
                <a:latin typeface="Inter"/>
              </a:rPr>
              <a:t>Sky </a:t>
            </a:r>
            <a:r>
              <a:rPr lang="fr-FR" sz="1200" b="1" i="0" u="none" strike="noStrike" baseline="0" dirty="0" err="1">
                <a:solidFill>
                  <a:srgbClr val="000000"/>
                </a:solidFill>
                <a:latin typeface="Inter"/>
              </a:rPr>
              <a:t>motes</a:t>
            </a:r>
            <a:r>
              <a:rPr lang="fr-FR" sz="1200" b="0" i="0" u="none" strike="noStrike" baseline="0" dirty="0">
                <a:solidFill>
                  <a:srgbClr val="000000"/>
                </a:solidFill>
                <a:latin typeface="Inter"/>
              </a:rPr>
              <a:t>, plus limités, avec seulement 8 KB de RAM.</a:t>
            </a:r>
          </a:p>
          <a:p>
            <a:r>
              <a:rPr lang="fr-FR" sz="1200" b="0" i="0" u="none" strike="noStrike" baseline="0" dirty="0">
                <a:solidFill>
                  <a:srgbClr val="000000"/>
                </a:solidFill>
                <a:latin typeface="Inter"/>
              </a:rPr>
              <a:t>Ces plateformes représentent bien les </a:t>
            </a:r>
            <a:r>
              <a:rPr lang="fr-FR" sz="1200" b="1" i="0" u="none" strike="noStrike" baseline="0" dirty="0">
                <a:solidFill>
                  <a:srgbClr val="000000"/>
                </a:solidFill>
                <a:latin typeface="Inter"/>
              </a:rPr>
              <a:t>microcontrôleurs réels </a:t>
            </a:r>
            <a:r>
              <a:rPr lang="fr-FR" sz="1200" b="0" i="0" u="none" strike="noStrike" baseline="0" dirty="0">
                <a:solidFill>
                  <a:srgbClr val="000000"/>
                </a:solidFill>
                <a:latin typeface="Inter"/>
              </a:rPr>
              <a:t>utilisés dans les réseaux IoT à faibles ressources. Cela nous permet de vérifier non seulement les performances de RPLMQoS et AER-RPL, mais aussi leur </a:t>
            </a:r>
            <a:r>
              <a:rPr lang="fr-FR" sz="1200" b="1" i="0" u="none" strike="noStrike" baseline="0" dirty="0">
                <a:solidFill>
                  <a:srgbClr val="000000"/>
                </a:solidFill>
                <a:latin typeface="Inter"/>
              </a:rPr>
              <a:t>faisabilité pratique </a:t>
            </a:r>
            <a:r>
              <a:rPr lang="fr-FR" sz="1200" b="0" i="0" u="none" strike="noStrike" baseline="0" dirty="0">
                <a:solidFill>
                  <a:srgbClr val="000000"/>
                </a:solidFill>
                <a:latin typeface="Inter"/>
              </a:rPr>
              <a:t>sur des </a:t>
            </a:r>
            <a:r>
              <a:rPr lang="fr-FR" sz="1200" b="0" i="0" u="none" strike="noStrike" baseline="0" dirty="0" err="1">
                <a:solidFill>
                  <a:srgbClr val="000000"/>
                </a:solidFill>
                <a:latin typeface="Inter"/>
              </a:rPr>
              <a:t>noeuds</a:t>
            </a:r>
            <a:r>
              <a:rPr lang="fr-FR" sz="1200" b="0" i="0" u="none" strike="noStrike" baseline="0" dirty="0">
                <a:solidFill>
                  <a:srgbClr val="000000"/>
                </a:solidFill>
                <a:latin typeface="Inter"/>
              </a:rPr>
              <a:t> vraiment contraints.</a:t>
            </a:r>
          </a:p>
          <a:p>
            <a:r>
              <a:rPr lang="fr-FR" sz="1200" b="0" i="1" u="none" strike="noStrike" baseline="0" dirty="0">
                <a:solidFill>
                  <a:srgbClr val="000000"/>
                </a:solidFill>
                <a:latin typeface="Inter"/>
              </a:rPr>
              <a:t>[Transition]</a:t>
            </a:r>
            <a:endParaRPr lang="fr-FR" sz="1200" b="0" i="0" u="none" strike="noStrike" baseline="0" dirty="0">
              <a:solidFill>
                <a:srgbClr val="000000"/>
              </a:solidFill>
              <a:latin typeface="Inter"/>
            </a:endParaRPr>
          </a:p>
          <a:p>
            <a:r>
              <a:rPr lang="fr-FR" sz="1200" b="0" i="0" u="none" strike="noStrike" baseline="0" dirty="0">
                <a:solidFill>
                  <a:srgbClr val="000000"/>
                </a:solidFill>
                <a:latin typeface="Inter"/>
              </a:rPr>
              <a:t>À partir de cette méthodologie, je vais maintenant présenter les </a:t>
            </a:r>
            <a:r>
              <a:rPr lang="fr-FR" sz="1200" b="1" i="0" u="none" strike="noStrike" baseline="0" dirty="0">
                <a:solidFill>
                  <a:srgbClr val="000000"/>
                </a:solidFill>
                <a:latin typeface="Inter"/>
              </a:rPr>
              <a:t>scénarios d'évaluation </a:t>
            </a:r>
            <a:r>
              <a:rPr lang="fr-FR" sz="1200" b="0" i="0" u="none" strike="noStrike" baseline="0" dirty="0">
                <a:solidFill>
                  <a:srgbClr val="000000"/>
                </a:solidFill>
                <a:latin typeface="Inter"/>
              </a:rPr>
              <a:t>plus en détail.</a:t>
            </a:r>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22</a:t>
            </a:fld>
            <a:endParaRPr lang="fr-FR"/>
          </a:p>
        </p:txBody>
      </p:sp>
    </p:spTree>
    <p:extLst>
      <p:ext uri="{BB962C8B-B14F-4D97-AF65-F5344CB8AC3E}">
        <p14:creationId xmlns:p14="http://schemas.microsoft.com/office/powerpoint/2010/main" val="2172079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Ces courbes montrent les 1200 simulations (votre méthodologie rigoureuse)</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23</a:t>
            </a:fld>
            <a:endParaRPr lang="fr-FR"/>
          </a:p>
        </p:txBody>
      </p:sp>
    </p:spTree>
    <p:extLst>
      <p:ext uri="{BB962C8B-B14F-4D97-AF65-F5344CB8AC3E}">
        <p14:creationId xmlns:p14="http://schemas.microsoft.com/office/powerpoint/2010/main" val="86767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effectLst/>
              </a:rPr>
              <a:t>Tableau/courbe récapitulative : PDR, énergie, sécurité, latence → slide de conclusion forte</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24</a:t>
            </a:fld>
            <a:endParaRPr lang="fr-FR"/>
          </a:p>
        </p:txBody>
      </p:sp>
    </p:spTree>
    <p:extLst>
      <p:ext uri="{BB962C8B-B14F-4D97-AF65-F5344CB8AC3E}">
        <p14:creationId xmlns:p14="http://schemas.microsoft.com/office/powerpoint/2010/main" val="902516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Pour évaluer nos protocoles, nous avons varié les </a:t>
            </a:r>
            <a:r>
              <a:rPr lang="fr-FR" b="1" i="0" dirty="0">
                <a:solidFill>
                  <a:srgbClr val="2C2C2B"/>
                </a:solidFill>
                <a:effectLst/>
                <a:latin typeface="ui-sans-serif"/>
              </a:rPr>
              <a:t>scénarios de simulation</a:t>
            </a:r>
            <a:r>
              <a:rPr lang="fr-FR" b="0" i="0" dirty="0">
                <a:solidFill>
                  <a:srgbClr val="2C2C2B"/>
                </a:solidFill>
                <a:effectLst/>
                <a:latin typeface="ui-sans-serif"/>
              </a:rPr>
              <a:t> pour couvrir un maximum de cas réalistes.</a:t>
            </a:r>
          </a:p>
          <a:p>
            <a:pPr algn="l"/>
            <a:r>
              <a:rPr lang="fr-FR" b="0" i="0" dirty="0">
                <a:solidFill>
                  <a:srgbClr val="2C2C2B"/>
                </a:solidFill>
                <a:effectLst/>
                <a:latin typeface="ui-sans-serif"/>
              </a:rPr>
              <a:t>D’abord, au niveau </a:t>
            </a:r>
            <a:r>
              <a:rPr lang="fr-FR" b="1" i="0" dirty="0">
                <a:solidFill>
                  <a:srgbClr val="2C2C2B"/>
                </a:solidFill>
                <a:effectLst/>
                <a:latin typeface="ui-sans-serif"/>
              </a:rPr>
              <a:t>topologie</a:t>
            </a:r>
            <a:r>
              <a:rPr lang="fr-FR" b="0" i="0" dirty="0">
                <a:solidFill>
                  <a:srgbClr val="2C2C2B"/>
                </a:solidFill>
                <a:effectLst/>
                <a:latin typeface="ui-sans-serif"/>
              </a:rPr>
              <a:t>, nous avons utilisé : </a:t>
            </a:r>
          </a:p>
          <a:p>
            <a:pPr algn="l"/>
            <a:r>
              <a:rPr lang="fr-FR" b="0" i="0" dirty="0">
                <a:solidFill>
                  <a:srgbClr val="2C2C2B"/>
                </a:solidFill>
                <a:effectLst/>
                <a:latin typeface="ui-sans-serif"/>
              </a:rPr>
              <a:t>– des </a:t>
            </a:r>
            <a:r>
              <a:rPr lang="fr-FR" b="1" i="0" dirty="0">
                <a:solidFill>
                  <a:srgbClr val="2C2C2B"/>
                </a:solidFill>
                <a:effectLst/>
                <a:latin typeface="ui-sans-serif"/>
              </a:rPr>
              <a:t>grilles régulières</a:t>
            </a:r>
            <a:r>
              <a:rPr lang="fr-FR" b="0" i="0" dirty="0">
                <a:solidFill>
                  <a:srgbClr val="2C2C2B"/>
                </a:solidFill>
                <a:effectLst/>
                <a:latin typeface="ui-sans-serif"/>
              </a:rPr>
              <a:t>, de 25 jusqu’à 100 nœuds,</a:t>
            </a:r>
          </a:p>
          <a:p>
            <a:pPr algn="l"/>
            <a:r>
              <a:rPr lang="fr-FR" b="0" i="0" dirty="0">
                <a:solidFill>
                  <a:srgbClr val="2C2C2B"/>
                </a:solidFill>
                <a:effectLst/>
                <a:latin typeface="ui-sans-serif"/>
              </a:rPr>
              <a:t>– mais aussi des </a:t>
            </a:r>
            <a:r>
              <a:rPr lang="fr-FR" b="1" i="0" dirty="0">
                <a:solidFill>
                  <a:srgbClr val="2C2C2B"/>
                </a:solidFill>
                <a:effectLst/>
                <a:latin typeface="ui-sans-serif"/>
              </a:rPr>
              <a:t>topologies aléatoires</a:t>
            </a:r>
            <a:r>
              <a:rPr lang="fr-FR" b="0" i="0" dirty="0">
                <a:solidFill>
                  <a:srgbClr val="2C2C2B"/>
                </a:solidFill>
                <a:effectLst/>
                <a:latin typeface="ui-sans-serif"/>
              </a:rPr>
              <a:t>, dans des zones allant de 50 m × 30 m à 500 m × 500 m.</a:t>
            </a:r>
          </a:p>
          <a:p>
            <a:pPr algn="l"/>
            <a:r>
              <a:rPr lang="fr-FR" b="0" i="0" dirty="0">
                <a:solidFill>
                  <a:srgbClr val="2C2C2B"/>
                </a:solidFill>
                <a:effectLst/>
                <a:latin typeface="ui-sans-serif"/>
              </a:rPr>
              <a:t>Cela permet de tester le protocole aussi bien dans des réseaux structurés que dans des réseaux plus “chaotiques”, proches du terrain.</a:t>
            </a:r>
          </a:p>
          <a:p>
            <a:pPr algn="l"/>
            <a:r>
              <a:rPr lang="fr-FR" b="0" i="0" dirty="0">
                <a:solidFill>
                  <a:srgbClr val="2C2C2B"/>
                </a:solidFill>
                <a:effectLst/>
                <a:latin typeface="ui-sans-serif"/>
              </a:rPr>
              <a:t>Ensuite, au niveau </a:t>
            </a:r>
            <a:r>
              <a:rPr lang="fr-FR" b="1" i="0" dirty="0">
                <a:solidFill>
                  <a:srgbClr val="2C2C2B"/>
                </a:solidFill>
                <a:effectLst/>
                <a:latin typeface="ui-sans-serif"/>
              </a:rPr>
              <a:t>trafic</a:t>
            </a:r>
            <a:r>
              <a:rPr lang="fr-FR" b="0" i="0" dirty="0">
                <a:solidFill>
                  <a:srgbClr val="2C2C2B"/>
                </a:solidFill>
                <a:effectLst/>
                <a:latin typeface="ui-sans-serif"/>
              </a:rPr>
              <a:t>, nous avons considéré : – du trafic </a:t>
            </a:r>
            <a:r>
              <a:rPr lang="fr-FR" b="1" i="0" dirty="0">
                <a:solidFill>
                  <a:srgbClr val="2C2C2B"/>
                </a:solidFill>
                <a:effectLst/>
                <a:latin typeface="ui-sans-serif"/>
              </a:rPr>
              <a:t>CBR</a:t>
            </a:r>
            <a:r>
              <a:rPr lang="fr-FR" b="0" i="0" dirty="0">
                <a:solidFill>
                  <a:srgbClr val="2C2C2B"/>
                </a:solidFill>
                <a:effectLst/>
                <a:latin typeface="ui-sans-serif"/>
              </a:rPr>
              <a:t> (Constant Bit Rate), – des arrivées selon une </a:t>
            </a:r>
            <a:r>
              <a:rPr lang="fr-FR" b="1" i="0" dirty="0">
                <a:solidFill>
                  <a:srgbClr val="2C2C2B"/>
                </a:solidFill>
                <a:effectLst/>
                <a:latin typeface="ui-sans-serif"/>
              </a:rPr>
              <a:t>loi de Poisson</a:t>
            </a:r>
            <a:r>
              <a:rPr lang="fr-FR" b="0" i="0" dirty="0">
                <a:solidFill>
                  <a:srgbClr val="2C2C2B"/>
                </a:solidFill>
                <a:effectLst/>
                <a:latin typeface="ui-sans-serif"/>
              </a:rPr>
              <a:t>,</a:t>
            </a:r>
          </a:p>
          <a:p>
            <a:pPr algn="l"/>
            <a:r>
              <a:rPr lang="fr-FR" b="0" i="0" dirty="0">
                <a:solidFill>
                  <a:srgbClr val="2C2C2B"/>
                </a:solidFill>
                <a:effectLst/>
                <a:latin typeface="ui-sans-serif"/>
              </a:rPr>
              <a:t>– et surtout du </a:t>
            </a:r>
            <a:r>
              <a:rPr lang="fr-FR" b="1" i="0" dirty="0">
                <a:solidFill>
                  <a:srgbClr val="2C2C2B"/>
                </a:solidFill>
                <a:effectLst/>
                <a:latin typeface="ui-sans-serif"/>
              </a:rPr>
              <a:t>trafic prioritaire</a:t>
            </a:r>
            <a:r>
              <a:rPr lang="fr-FR" b="0" i="0" dirty="0">
                <a:solidFill>
                  <a:srgbClr val="2C2C2B"/>
                </a:solidFill>
                <a:effectLst/>
                <a:latin typeface="ui-sans-serif"/>
              </a:rPr>
              <a:t>, en utilisant nos quatre classes C0 à C3.</a:t>
            </a:r>
          </a:p>
          <a:p>
            <a:pPr algn="l"/>
            <a:r>
              <a:rPr lang="fr-FR" b="0" i="0" dirty="0">
                <a:solidFill>
                  <a:srgbClr val="2C2C2B"/>
                </a:solidFill>
                <a:effectLst/>
                <a:latin typeface="ui-sans-serif"/>
              </a:rPr>
              <a:t>Enfin, nous avons injecté différentes </a:t>
            </a:r>
            <a:r>
              <a:rPr lang="fr-FR" b="1" i="0" dirty="0">
                <a:solidFill>
                  <a:srgbClr val="2C2C2B"/>
                </a:solidFill>
                <a:effectLst/>
                <a:latin typeface="ui-sans-serif"/>
              </a:rPr>
              <a:t>sources d’interférences radio</a:t>
            </a:r>
            <a:r>
              <a:rPr lang="fr-FR" b="0" i="0" dirty="0">
                <a:solidFill>
                  <a:srgbClr val="2C2C2B"/>
                </a:solidFill>
                <a:effectLst/>
                <a:latin typeface="ui-sans-serif"/>
              </a:rPr>
              <a:t> : – du WiFi, – du Bluetooth, – et du bruit gaussien, pour simuler des environnements radio bruyants, comme dans un hôpital ou une usine.</a:t>
            </a:r>
          </a:p>
          <a:p>
            <a:pPr algn="l"/>
            <a:r>
              <a:rPr lang="fr-FR" b="0" i="0" dirty="0">
                <a:solidFill>
                  <a:srgbClr val="2C2C2B"/>
                </a:solidFill>
                <a:effectLst/>
                <a:latin typeface="ui-sans-serif"/>
              </a:rPr>
              <a:t>L’idée est de vérifier que RPLMQoS et AER-RPL restent performants, non seulement dans des conditions idéales, mais aussi dans des </a:t>
            </a:r>
            <a:r>
              <a:rPr lang="fr-FR" b="1" i="0" dirty="0">
                <a:solidFill>
                  <a:srgbClr val="2C2C2B"/>
                </a:solidFill>
                <a:effectLst/>
                <a:latin typeface="ui-sans-serif"/>
              </a:rPr>
              <a:t>conditions difficiles</a:t>
            </a:r>
            <a:r>
              <a:rPr lang="fr-FR" b="0" i="0" dirty="0">
                <a:solidFill>
                  <a:srgbClr val="2C2C2B"/>
                </a:solidFill>
                <a:effectLst/>
                <a:latin typeface="ui-sans-serif"/>
              </a:rPr>
              <a:t>, proches des scénarios réels.</a:t>
            </a:r>
          </a:p>
          <a:p>
            <a:pPr algn="l"/>
            <a:r>
              <a:rPr lang="fr-FR" b="0" i="0" dirty="0">
                <a:solidFill>
                  <a:srgbClr val="2C2C2B"/>
                </a:solidFill>
                <a:effectLst/>
                <a:latin typeface="ui-sans-serif"/>
              </a:rPr>
              <a:t>[Transition]</a:t>
            </a:r>
          </a:p>
          <a:p>
            <a:pPr algn="l"/>
            <a:r>
              <a:rPr lang="fr-FR" b="0" i="0" dirty="0">
                <a:solidFill>
                  <a:srgbClr val="2C2C2B"/>
                </a:solidFill>
                <a:effectLst/>
                <a:latin typeface="ui-sans-serif"/>
              </a:rPr>
              <a:t>À partir de ces scénarios, je vais maintenant détailler les principaux </a:t>
            </a:r>
            <a:r>
              <a:rPr lang="fr-FR" b="1" i="0" dirty="0">
                <a:solidFill>
                  <a:srgbClr val="2C2C2B"/>
                </a:solidFill>
                <a:effectLst/>
                <a:latin typeface="ui-sans-serif"/>
              </a:rPr>
              <a:t>résultats de performance</a:t>
            </a:r>
            <a:r>
              <a:rPr lang="fr-FR" b="0" i="0" dirty="0">
                <a:solidFill>
                  <a:srgbClr val="2C2C2B"/>
                </a:solidFill>
                <a:effectLst/>
                <a:latin typeface="ui-sans-serif"/>
              </a:rPr>
              <a:t>, en commençant par le taux de livraison des paquets hors attaque.</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25</a:t>
            </a:fld>
            <a:endParaRPr lang="fr-FR"/>
          </a:p>
        </p:txBody>
      </p:sp>
    </p:spTree>
    <p:extLst>
      <p:ext uri="{BB962C8B-B14F-4D97-AF65-F5344CB8AC3E}">
        <p14:creationId xmlns:p14="http://schemas.microsoft.com/office/powerpoint/2010/main" val="3962799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Nous avons ensuite comparé RPLMQoS et AER-RPL avec plusieurs </a:t>
            </a:r>
            <a:r>
              <a:rPr lang="fr-FR" b="1" i="0" dirty="0">
                <a:solidFill>
                  <a:srgbClr val="2C2C2B"/>
                </a:solidFill>
                <a:effectLst/>
                <a:latin typeface="ui-sans-serif"/>
              </a:rPr>
              <a:t>protocoles de l’état de l’art</a:t>
            </a:r>
            <a:r>
              <a:rPr lang="fr-FR" b="0" i="0" dirty="0">
                <a:solidFill>
                  <a:srgbClr val="2C2C2B"/>
                </a:solidFill>
                <a:effectLst/>
                <a:latin typeface="ui-sans-serif"/>
              </a:rPr>
              <a:t>.</a:t>
            </a:r>
          </a:p>
          <a:p>
            <a:pPr algn="l"/>
            <a:r>
              <a:rPr lang="fr-FR" b="0" i="0" dirty="0">
                <a:solidFill>
                  <a:srgbClr val="2C2C2B"/>
                </a:solidFill>
                <a:effectLst/>
                <a:latin typeface="ui-sans-serif"/>
              </a:rPr>
              <a:t>Pour la </a:t>
            </a:r>
            <a:r>
              <a:rPr lang="fr-FR" b="1" i="0" dirty="0">
                <a:solidFill>
                  <a:srgbClr val="2C2C2B"/>
                </a:solidFill>
                <a:effectLst/>
                <a:latin typeface="ui-sans-serif"/>
              </a:rPr>
              <a:t>qualité de service</a:t>
            </a:r>
            <a:r>
              <a:rPr lang="fr-FR" b="0" i="0" dirty="0">
                <a:solidFill>
                  <a:srgbClr val="2C2C2B"/>
                </a:solidFill>
                <a:effectLst/>
                <a:latin typeface="ui-sans-serif"/>
              </a:rPr>
              <a:t>, RPLMQoS obtient en général le </a:t>
            </a:r>
            <a:r>
              <a:rPr lang="fr-FR" b="1" i="0" dirty="0">
                <a:solidFill>
                  <a:srgbClr val="2C2C2B"/>
                </a:solidFill>
                <a:effectLst/>
                <a:latin typeface="ui-sans-serif"/>
              </a:rPr>
              <a:t>meilleur PDR </a:t>
            </a:r>
            <a:r>
              <a:rPr lang="fr-FR" b="0" i="0" dirty="0">
                <a:solidFill>
                  <a:srgbClr val="2C2C2B"/>
                </a:solidFill>
                <a:effectLst/>
                <a:latin typeface="ui-sans-serif"/>
              </a:rPr>
              <a:t>et la </a:t>
            </a:r>
            <a:r>
              <a:rPr lang="fr-FR" b="1" i="0" dirty="0">
                <a:solidFill>
                  <a:srgbClr val="2C2C2B"/>
                </a:solidFill>
                <a:effectLst/>
                <a:latin typeface="ui-sans-serif"/>
              </a:rPr>
              <a:t>meilleure latence</a:t>
            </a:r>
            <a:r>
              <a:rPr lang="fr-FR" b="0" i="0" dirty="0">
                <a:solidFill>
                  <a:srgbClr val="2C2C2B"/>
                </a:solidFill>
                <a:effectLst/>
                <a:latin typeface="ui-sans-serif"/>
              </a:rPr>
              <a:t>,</a:t>
            </a:r>
          </a:p>
          <a:p>
            <a:pPr algn="l"/>
            <a:r>
              <a:rPr lang="fr-FR" b="0" i="0" dirty="0">
                <a:solidFill>
                  <a:srgbClr val="2C2C2B"/>
                </a:solidFill>
                <a:effectLst/>
                <a:latin typeface="ui-sans-serif"/>
              </a:rPr>
              <a:t>en particulier pour les flux critiques, par rapport à RPL standard, MQ-RPL ou EQ-RPL.</a:t>
            </a:r>
          </a:p>
          <a:p>
            <a:pPr algn="l"/>
            <a:r>
              <a:rPr lang="fr-FR" b="0" i="0" dirty="0">
                <a:solidFill>
                  <a:srgbClr val="2C2C2B"/>
                </a:solidFill>
                <a:effectLst/>
                <a:latin typeface="ui-sans-serif"/>
              </a:rPr>
              <a:t>Pour la </a:t>
            </a:r>
            <a:r>
              <a:rPr lang="fr-FR" b="1" i="0" dirty="0">
                <a:solidFill>
                  <a:srgbClr val="2C2C2B"/>
                </a:solidFill>
                <a:effectLst/>
                <a:latin typeface="ui-sans-serif"/>
              </a:rPr>
              <a:t>sécurité et l’énergie</a:t>
            </a:r>
            <a:r>
              <a:rPr lang="fr-FR" b="0" i="0" dirty="0">
                <a:solidFill>
                  <a:srgbClr val="2C2C2B"/>
                </a:solidFill>
                <a:effectLst/>
                <a:latin typeface="ui-sans-serif"/>
              </a:rPr>
              <a:t>, AER-RPL offre un </a:t>
            </a:r>
            <a:r>
              <a:rPr lang="fr-FR" b="1" i="0" dirty="0">
                <a:solidFill>
                  <a:srgbClr val="2C2C2B"/>
                </a:solidFill>
                <a:effectLst/>
                <a:latin typeface="ui-sans-serif"/>
              </a:rPr>
              <a:t>meilleur compromis</a:t>
            </a:r>
            <a:r>
              <a:rPr lang="fr-FR" b="0" i="0" dirty="0">
                <a:solidFill>
                  <a:srgbClr val="2C2C2B"/>
                </a:solidFill>
                <a:effectLst/>
                <a:latin typeface="ui-sans-serif"/>
              </a:rPr>
              <a:t> : un taux de détection plus élevé, moins de faux positifs, et une consommation énergétique plus faible que des approches comme Trust-RPL ou des solutions purement cryptographiques.</a:t>
            </a:r>
          </a:p>
          <a:p>
            <a:pPr algn="l"/>
            <a:r>
              <a:rPr lang="fr-FR" b="0" i="0" dirty="0">
                <a:solidFill>
                  <a:srgbClr val="2C2C2B"/>
                </a:solidFill>
                <a:effectLst/>
                <a:latin typeface="ui-sans-serif"/>
              </a:rPr>
              <a:t>Face à des protocoles comme </a:t>
            </a:r>
            <a:r>
              <a:rPr lang="fr-FR" b="1" i="0" dirty="0">
                <a:solidFill>
                  <a:srgbClr val="2C2C2B"/>
                </a:solidFill>
                <a:effectLst/>
                <a:latin typeface="ui-sans-serif"/>
              </a:rPr>
              <a:t>LOADng</a:t>
            </a:r>
            <a:r>
              <a:rPr lang="fr-FR" b="0" i="0" dirty="0">
                <a:solidFill>
                  <a:srgbClr val="2C2C2B"/>
                </a:solidFill>
                <a:effectLst/>
                <a:latin typeface="ui-sans-serif"/>
              </a:rPr>
              <a:t> ou </a:t>
            </a:r>
            <a:r>
              <a:rPr lang="fr-FR" b="1" i="0" dirty="0">
                <a:solidFill>
                  <a:srgbClr val="2C2C2B"/>
                </a:solidFill>
                <a:effectLst/>
                <a:latin typeface="ui-sans-serif"/>
              </a:rPr>
              <a:t>CORPL</a:t>
            </a:r>
            <a:r>
              <a:rPr lang="fr-FR" b="0" i="0" dirty="0">
                <a:solidFill>
                  <a:srgbClr val="2C2C2B"/>
                </a:solidFill>
                <a:effectLst/>
                <a:latin typeface="ui-sans-serif"/>
              </a:rPr>
              <a:t>, nos protocoles restent plus performants sur la combinaison </a:t>
            </a:r>
            <a:r>
              <a:rPr lang="fr-FR" b="1" i="0" dirty="0">
                <a:solidFill>
                  <a:srgbClr val="2C2C2B"/>
                </a:solidFill>
                <a:effectLst/>
                <a:latin typeface="ui-sans-serif"/>
              </a:rPr>
              <a:t>PDR + latence + énergie + sécurité</a:t>
            </a:r>
            <a:r>
              <a:rPr lang="fr-FR" b="0" i="0" dirty="0">
                <a:solidFill>
                  <a:srgbClr val="2C2C2B"/>
                </a:solidFill>
                <a:effectLst/>
                <a:latin typeface="ui-sans-serif"/>
              </a:rPr>
              <a:t>.</a:t>
            </a:r>
          </a:p>
          <a:p>
            <a:pPr algn="l"/>
            <a:r>
              <a:rPr lang="fr-FR" b="0" i="0" dirty="0">
                <a:solidFill>
                  <a:srgbClr val="2C2C2B"/>
                </a:solidFill>
                <a:effectLst/>
                <a:latin typeface="ui-sans-serif"/>
              </a:rPr>
              <a:t>Toutes ces comparaisons ont été validées par des </a:t>
            </a:r>
            <a:r>
              <a:rPr lang="fr-FR" b="1" i="0" dirty="0">
                <a:solidFill>
                  <a:srgbClr val="2C2C2B"/>
                </a:solidFill>
                <a:effectLst/>
                <a:latin typeface="ui-sans-serif"/>
              </a:rPr>
              <a:t>tests statistiques</a:t>
            </a:r>
            <a:r>
              <a:rPr lang="fr-FR" b="0" i="0" dirty="0">
                <a:solidFill>
                  <a:srgbClr val="2C2C2B"/>
                </a:solidFill>
                <a:effectLst/>
                <a:latin typeface="ui-sans-serif"/>
              </a:rPr>
              <a:t>, avec des valeurs de p </a:t>
            </a:r>
            <a:r>
              <a:rPr lang="fr-FR" b="1" i="0" dirty="0">
                <a:solidFill>
                  <a:srgbClr val="2C2C2B"/>
                </a:solidFill>
                <a:effectLst/>
                <a:latin typeface="ui-sans-serif"/>
              </a:rPr>
              <a:t>inférieures à 0,001</a:t>
            </a:r>
            <a:r>
              <a:rPr lang="fr-FR" b="0" i="0" dirty="0">
                <a:solidFill>
                  <a:srgbClr val="2C2C2B"/>
                </a:solidFill>
                <a:effectLst/>
                <a:latin typeface="ui-sans-serif"/>
              </a:rPr>
              <a:t>, ce qui montre que les gains observés</a:t>
            </a:r>
          </a:p>
          <a:p>
            <a:pPr algn="l"/>
            <a:r>
              <a:rPr lang="fr-FR" b="0" i="0" dirty="0">
                <a:solidFill>
                  <a:srgbClr val="2C2C2B"/>
                </a:solidFill>
                <a:effectLst/>
                <a:latin typeface="ui-sans-serif"/>
              </a:rPr>
              <a:t>ne sont pas dus au hasard.</a:t>
            </a:r>
          </a:p>
          <a:p>
            <a:pPr algn="l"/>
            <a:r>
              <a:rPr lang="fr-FR" b="0" i="0" dirty="0">
                <a:solidFill>
                  <a:srgbClr val="2C2C2B"/>
                </a:solidFill>
                <a:effectLst/>
                <a:latin typeface="ui-sans-serif"/>
              </a:rPr>
              <a:t>[Transition]</a:t>
            </a:r>
          </a:p>
          <a:p>
            <a:pPr algn="l"/>
            <a:r>
              <a:rPr lang="fr-FR" b="0" i="0" dirty="0">
                <a:solidFill>
                  <a:srgbClr val="2C2C2B"/>
                </a:solidFill>
                <a:effectLst/>
                <a:latin typeface="ui-sans-serif"/>
              </a:rPr>
              <a:t>Pour renforcer cette conclusion, nous avons mis en place une </a:t>
            </a:r>
            <a:r>
              <a:rPr lang="fr-FR" b="1" i="0" dirty="0">
                <a:solidFill>
                  <a:srgbClr val="2C2C2B"/>
                </a:solidFill>
                <a:effectLst/>
                <a:latin typeface="ui-sans-serif"/>
              </a:rPr>
              <a:t>validation statistique rigoureuse</a:t>
            </a:r>
            <a:r>
              <a:rPr lang="fr-FR" b="0" i="0" dirty="0">
                <a:solidFill>
                  <a:srgbClr val="2C2C2B"/>
                </a:solidFill>
                <a:effectLst/>
                <a:latin typeface="ui-sans-serif"/>
              </a:rPr>
              <a:t>, que je présente maintenant.</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26</a:t>
            </a:fld>
            <a:endParaRPr lang="fr-FR"/>
          </a:p>
        </p:txBody>
      </p:sp>
    </p:spTree>
    <p:extLst>
      <p:ext uri="{BB962C8B-B14F-4D97-AF65-F5344CB8AC3E}">
        <p14:creationId xmlns:p14="http://schemas.microsoft.com/office/powerpoint/2010/main" val="763903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Pour garantir la </a:t>
            </a:r>
            <a:r>
              <a:rPr lang="fr-FR" b="1" i="0" dirty="0">
                <a:solidFill>
                  <a:srgbClr val="2C2C2B"/>
                </a:solidFill>
                <a:effectLst/>
                <a:latin typeface="ui-sans-serif"/>
              </a:rPr>
              <a:t>crédibilité scientifique</a:t>
            </a:r>
            <a:r>
              <a:rPr lang="fr-FR" b="0" i="0" dirty="0">
                <a:solidFill>
                  <a:srgbClr val="2C2C2B"/>
                </a:solidFill>
                <a:effectLst/>
                <a:latin typeface="ui-sans-serif"/>
              </a:rPr>
              <a:t> des résultats, nous avons appliqué une </a:t>
            </a:r>
            <a:r>
              <a:rPr lang="fr-FR" b="1" i="0" dirty="0">
                <a:solidFill>
                  <a:srgbClr val="2C2C2B"/>
                </a:solidFill>
                <a:effectLst/>
                <a:latin typeface="ui-sans-serif"/>
              </a:rPr>
              <a:t>validation statistique complète</a:t>
            </a:r>
            <a:r>
              <a:rPr lang="fr-FR" b="0" i="0" dirty="0">
                <a:solidFill>
                  <a:srgbClr val="2C2C2B"/>
                </a:solidFill>
                <a:effectLst/>
                <a:latin typeface="ui-sans-serif"/>
              </a:rPr>
              <a:t>.</a:t>
            </a:r>
          </a:p>
          <a:p>
            <a:pPr algn="l"/>
            <a:r>
              <a:rPr lang="fr-FR" b="0" i="0" dirty="0">
                <a:solidFill>
                  <a:srgbClr val="2C2C2B"/>
                </a:solidFill>
                <a:effectLst/>
                <a:latin typeface="ui-sans-serif"/>
              </a:rPr>
              <a:t>D’abord, nous avons vérifié les </a:t>
            </a:r>
            <a:r>
              <a:rPr lang="fr-FR" b="1" i="0" dirty="0">
                <a:solidFill>
                  <a:srgbClr val="2C2C2B"/>
                </a:solidFill>
                <a:effectLst/>
                <a:latin typeface="ui-sans-serif"/>
              </a:rPr>
              <a:t>hypothèses de base </a:t>
            </a:r>
            <a:r>
              <a:rPr lang="fr-FR" b="0" i="0" dirty="0">
                <a:solidFill>
                  <a:srgbClr val="2C2C2B"/>
                </a:solidFill>
                <a:effectLst/>
                <a:latin typeface="ui-sans-serif"/>
              </a:rPr>
              <a:t>avec des tests de normalité et d’homogénéité des variances,</a:t>
            </a:r>
          </a:p>
          <a:p>
            <a:pPr algn="l"/>
            <a:r>
              <a:rPr lang="fr-FR" b="0" i="0" dirty="0">
                <a:solidFill>
                  <a:srgbClr val="2C2C2B"/>
                </a:solidFill>
                <a:effectLst/>
                <a:latin typeface="ui-sans-serif"/>
              </a:rPr>
              <a:t>afin de pouvoir utiliser des tests paramétriques de manière correcte.</a:t>
            </a:r>
          </a:p>
          <a:p>
            <a:pPr algn="l"/>
            <a:r>
              <a:rPr lang="fr-FR" b="1" i="0" dirty="0">
                <a:solidFill>
                  <a:srgbClr val="2C2C2B"/>
                </a:solidFill>
                <a:effectLst/>
                <a:latin typeface="ui-sans-serif"/>
              </a:rPr>
              <a:t>Ensuite</a:t>
            </a:r>
            <a:r>
              <a:rPr lang="fr-FR" b="0" i="0" dirty="0">
                <a:solidFill>
                  <a:srgbClr val="2C2C2B"/>
                </a:solidFill>
                <a:effectLst/>
                <a:latin typeface="ui-sans-serif"/>
              </a:rPr>
              <a:t>, nous avons utilisé des </a:t>
            </a:r>
            <a:r>
              <a:rPr lang="fr-FR" b="1" i="0" dirty="0">
                <a:solidFill>
                  <a:srgbClr val="2C2C2B"/>
                </a:solidFill>
                <a:effectLst/>
                <a:latin typeface="ui-sans-serif"/>
              </a:rPr>
              <a:t>tests t de </a:t>
            </a:r>
            <a:r>
              <a:rPr lang="fr-FR" b="1" i="0" dirty="0" err="1">
                <a:solidFill>
                  <a:srgbClr val="2C2C2B"/>
                </a:solidFill>
                <a:effectLst/>
                <a:latin typeface="ui-sans-serif"/>
              </a:rPr>
              <a:t>Student</a:t>
            </a:r>
            <a:r>
              <a:rPr lang="fr-FR" b="1" i="0" dirty="0">
                <a:solidFill>
                  <a:srgbClr val="2C2C2B"/>
                </a:solidFill>
                <a:effectLst/>
                <a:latin typeface="ui-sans-serif"/>
              </a:rPr>
              <a:t> </a:t>
            </a:r>
            <a:r>
              <a:rPr lang="fr-FR" b="0" i="0" dirty="0">
                <a:solidFill>
                  <a:srgbClr val="2C2C2B"/>
                </a:solidFill>
                <a:effectLst/>
                <a:latin typeface="ui-sans-serif"/>
              </a:rPr>
              <a:t>pour les comparaisons deux à deux,</a:t>
            </a:r>
          </a:p>
          <a:p>
            <a:pPr algn="l"/>
            <a:r>
              <a:rPr lang="fr-FR" b="0" i="0" dirty="0">
                <a:solidFill>
                  <a:srgbClr val="2C2C2B"/>
                </a:solidFill>
                <a:effectLst/>
                <a:latin typeface="ui-sans-serif"/>
              </a:rPr>
              <a:t>et des </a:t>
            </a:r>
            <a:r>
              <a:rPr lang="fr-FR" b="1" i="0" dirty="0">
                <a:solidFill>
                  <a:srgbClr val="2C2C2B"/>
                </a:solidFill>
                <a:effectLst/>
                <a:latin typeface="ui-sans-serif"/>
              </a:rPr>
              <a:t>tests ANOVA</a:t>
            </a:r>
            <a:r>
              <a:rPr lang="fr-FR" b="0" i="0" dirty="0">
                <a:solidFill>
                  <a:srgbClr val="2C2C2B"/>
                </a:solidFill>
                <a:effectLst/>
                <a:latin typeface="ui-sans-serif"/>
              </a:rPr>
              <a:t> lorsque plusieurs protocoles ou plusieurs facteurs entraient en jeu.</a:t>
            </a:r>
          </a:p>
          <a:p>
            <a:pPr algn="l"/>
            <a:r>
              <a:rPr lang="fr-FR" b="0" i="0" dirty="0">
                <a:solidFill>
                  <a:srgbClr val="2C2C2B"/>
                </a:solidFill>
                <a:effectLst/>
                <a:latin typeface="ui-sans-serif"/>
              </a:rPr>
              <a:t>Nous avons également calculé la </a:t>
            </a:r>
            <a:r>
              <a:rPr lang="fr-FR" b="1" i="0" dirty="0">
                <a:solidFill>
                  <a:srgbClr val="2C2C2B"/>
                </a:solidFill>
                <a:effectLst/>
                <a:latin typeface="ui-sans-serif"/>
              </a:rPr>
              <a:t>taille d’effet</a:t>
            </a:r>
            <a:r>
              <a:rPr lang="fr-FR" b="0" i="0" dirty="0">
                <a:solidFill>
                  <a:srgbClr val="2C2C2B"/>
                </a:solidFill>
                <a:effectLst/>
                <a:latin typeface="ui-sans-serif"/>
              </a:rPr>
              <a:t>, par exemple avec </a:t>
            </a:r>
            <a:r>
              <a:rPr lang="fr-FR" b="1" i="0" dirty="0" err="1">
                <a:solidFill>
                  <a:srgbClr val="2C2C2B"/>
                </a:solidFill>
                <a:effectLst/>
                <a:latin typeface="ui-sans-serif"/>
              </a:rPr>
              <a:t>Cohen’s</a:t>
            </a:r>
            <a:r>
              <a:rPr lang="fr-FR" b="1" i="0" dirty="0">
                <a:solidFill>
                  <a:srgbClr val="2C2C2B"/>
                </a:solidFill>
                <a:effectLst/>
                <a:latin typeface="ui-sans-serif"/>
              </a:rPr>
              <a:t> d</a:t>
            </a:r>
            <a:r>
              <a:rPr lang="fr-FR" b="0" i="0" dirty="0">
                <a:solidFill>
                  <a:srgbClr val="2C2C2B"/>
                </a:solidFill>
                <a:effectLst/>
                <a:latin typeface="ui-sans-serif"/>
              </a:rPr>
              <a:t>, et nous obtenons généralement des valeurs </a:t>
            </a:r>
            <a:r>
              <a:rPr lang="fr-FR" b="1" i="0" dirty="0">
                <a:solidFill>
                  <a:srgbClr val="2C2C2B"/>
                </a:solidFill>
                <a:effectLst/>
                <a:latin typeface="ui-sans-serif"/>
              </a:rPr>
              <a:t>supérieures à 0,8</a:t>
            </a:r>
            <a:r>
              <a:rPr lang="fr-FR" b="0" i="0" dirty="0">
                <a:solidFill>
                  <a:srgbClr val="2C2C2B"/>
                </a:solidFill>
                <a:effectLst/>
                <a:latin typeface="ui-sans-serif"/>
              </a:rPr>
              <a:t>,</a:t>
            </a:r>
          </a:p>
          <a:p>
            <a:pPr algn="l"/>
            <a:r>
              <a:rPr lang="fr-FR" b="0" i="0" dirty="0">
                <a:solidFill>
                  <a:srgbClr val="2C2C2B"/>
                </a:solidFill>
                <a:effectLst/>
                <a:latin typeface="ui-sans-serif"/>
              </a:rPr>
              <a:t>ce qui correspond à un </a:t>
            </a:r>
            <a:r>
              <a:rPr lang="fr-FR" b="1" i="0" dirty="0">
                <a:solidFill>
                  <a:srgbClr val="2C2C2B"/>
                </a:solidFill>
                <a:effectLst/>
                <a:latin typeface="ui-sans-serif"/>
              </a:rPr>
              <a:t>effet fort</a:t>
            </a:r>
            <a:r>
              <a:rPr lang="fr-FR" b="0" i="0" dirty="0">
                <a:solidFill>
                  <a:srgbClr val="2C2C2B"/>
                </a:solidFill>
                <a:effectLst/>
                <a:latin typeface="ui-sans-serif"/>
              </a:rPr>
              <a:t>.</a:t>
            </a:r>
          </a:p>
          <a:p>
            <a:pPr algn="l"/>
            <a:r>
              <a:rPr lang="fr-FR" b="0" i="0" dirty="0">
                <a:solidFill>
                  <a:srgbClr val="2C2C2B"/>
                </a:solidFill>
                <a:effectLst/>
                <a:latin typeface="ui-sans-serif"/>
              </a:rPr>
              <a:t>Enfin, grâce au nombre de simulations (1200 cas représentatifs), la </a:t>
            </a:r>
            <a:r>
              <a:rPr lang="fr-FR" b="1" i="0" dirty="0">
                <a:solidFill>
                  <a:srgbClr val="2C2C2B"/>
                </a:solidFill>
                <a:effectLst/>
                <a:latin typeface="ui-sans-serif"/>
              </a:rPr>
              <a:t>puissance statistique</a:t>
            </a:r>
            <a:r>
              <a:rPr lang="fr-FR" b="0" i="0" dirty="0">
                <a:solidFill>
                  <a:srgbClr val="2C2C2B"/>
                </a:solidFill>
                <a:effectLst/>
                <a:latin typeface="ui-sans-serif"/>
              </a:rPr>
              <a:t> de nos tests est supérieure à </a:t>
            </a:r>
            <a:r>
              <a:rPr lang="fr-FR" b="1" i="0" dirty="0">
                <a:solidFill>
                  <a:srgbClr val="2C2C2B"/>
                </a:solidFill>
                <a:effectLst/>
                <a:latin typeface="ui-sans-serif"/>
              </a:rPr>
              <a:t>0,9</a:t>
            </a:r>
            <a:r>
              <a:rPr lang="fr-FR" b="0" i="0" dirty="0">
                <a:solidFill>
                  <a:srgbClr val="2C2C2B"/>
                </a:solidFill>
                <a:effectLst/>
                <a:latin typeface="ui-sans-serif"/>
              </a:rPr>
              <a:t>, ce qui renforce la confiance dans les conclusions.</a:t>
            </a:r>
          </a:p>
          <a:p>
            <a:pPr algn="l"/>
            <a:r>
              <a:rPr lang="fr-FR" b="0" i="0" dirty="0">
                <a:solidFill>
                  <a:srgbClr val="2C2C2B"/>
                </a:solidFill>
                <a:effectLst/>
                <a:latin typeface="ui-sans-serif"/>
              </a:rPr>
              <a:t>[Transition]</a:t>
            </a:r>
          </a:p>
          <a:p>
            <a:pPr algn="l"/>
            <a:r>
              <a:rPr lang="fr-FR" b="0" i="0" dirty="0">
                <a:solidFill>
                  <a:srgbClr val="2C2C2B"/>
                </a:solidFill>
                <a:effectLst/>
                <a:latin typeface="ui-sans-serif"/>
              </a:rPr>
              <a:t>Malgré ces bons résultats, nos protocoles ont aussi des </a:t>
            </a:r>
            <a:r>
              <a:rPr lang="fr-FR" b="1" i="0" dirty="0">
                <a:solidFill>
                  <a:srgbClr val="2C2C2B"/>
                </a:solidFill>
                <a:effectLst/>
                <a:latin typeface="ui-sans-serif"/>
              </a:rPr>
              <a:t>limitations</a:t>
            </a:r>
            <a:r>
              <a:rPr lang="fr-FR" b="0" i="0" dirty="0">
                <a:solidFill>
                  <a:srgbClr val="2C2C2B"/>
                </a:solidFill>
                <a:effectLst/>
                <a:latin typeface="ui-sans-serif"/>
              </a:rPr>
              <a:t> que je vais mentionner de manière transparente.</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27</a:t>
            </a:fld>
            <a:endParaRPr lang="fr-FR"/>
          </a:p>
        </p:txBody>
      </p:sp>
    </p:spTree>
    <p:extLst>
      <p:ext uri="{BB962C8B-B14F-4D97-AF65-F5344CB8AC3E}">
        <p14:creationId xmlns:p14="http://schemas.microsoft.com/office/powerpoint/2010/main" val="3148419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Comme tout travail de recherche, nos contributions présentent aussi des </a:t>
            </a:r>
            <a:r>
              <a:rPr lang="fr-FR" b="1" i="0" dirty="0">
                <a:solidFill>
                  <a:srgbClr val="2C2C2B"/>
                </a:solidFill>
                <a:effectLst/>
                <a:latin typeface="ui-sans-serif"/>
              </a:rPr>
              <a:t>limitations</a:t>
            </a:r>
            <a:r>
              <a:rPr lang="fr-FR" b="0" i="0" dirty="0">
                <a:solidFill>
                  <a:srgbClr val="2C2C2B"/>
                </a:solidFill>
                <a:effectLst/>
                <a:latin typeface="ui-sans-serif"/>
              </a:rPr>
              <a:t>.</a:t>
            </a:r>
          </a:p>
          <a:p>
            <a:pPr algn="l"/>
            <a:r>
              <a:rPr lang="fr-FR" b="0" i="0" dirty="0">
                <a:solidFill>
                  <a:srgbClr val="2C2C2B"/>
                </a:solidFill>
                <a:effectLst/>
                <a:latin typeface="ui-sans-serif"/>
              </a:rPr>
              <a:t>La première concerne l’</a:t>
            </a:r>
            <a:r>
              <a:rPr lang="fr-FR" b="1" i="0" dirty="0">
                <a:solidFill>
                  <a:srgbClr val="2C2C2B"/>
                </a:solidFill>
                <a:effectLst/>
                <a:latin typeface="ui-sans-serif"/>
              </a:rPr>
              <a:t>overhead mémoire</a:t>
            </a:r>
            <a:r>
              <a:rPr lang="fr-FR" b="0" i="0" dirty="0">
                <a:solidFill>
                  <a:srgbClr val="2C2C2B"/>
                </a:solidFill>
                <a:effectLst/>
                <a:latin typeface="ui-sans-serif"/>
              </a:rPr>
              <a:t>. RPLMQoS ajoute environ </a:t>
            </a:r>
            <a:r>
              <a:rPr lang="fr-FR" b="1" i="0" dirty="0">
                <a:solidFill>
                  <a:srgbClr val="2C2C2B"/>
                </a:solidFill>
                <a:effectLst/>
                <a:latin typeface="ui-sans-serif"/>
              </a:rPr>
              <a:t>4,2 kilo-octets</a:t>
            </a:r>
            <a:r>
              <a:rPr lang="fr-FR" b="0" i="0" dirty="0">
                <a:solidFill>
                  <a:srgbClr val="2C2C2B"/>
                </a:solidFill>
                <a:effectLst/>
                <a:latin typeface="ui-sans-serif"/>
              </a:rPr>
              <a:t>, et AER-RPL environ </a:t>
            </a:r>
            <a:r>
              <a:rPr lang="fr-FR" b="1" i="0" dirty="0">
                <a:solidFill>
                  <a:srgbClr val="2C2C2B"/>
                </a:solidFill>
                <a:effectLst/>
                <a:latin typeface="ui-sans-serif"/>
              </a:rPr>
              <a:t>5,1 kilo-octets</a:t>
            </a:r>
            <a:r>
              <a:rPr lang="fr-FR" b="0" i="0" dirty="0">
                <a:solidFill>
                  <a:srgbClr val="2C2C2B"/>
                </a:solidFill>
                <a:effectLst/>
                <a:latin typeface="ui-sans-serif"/>
              </a:rPr>
              <a:t>.</a:t>
            </a:r>
          </a:p>
          <a:p>
            <a:pPr algn="l"/>
            <a:r>
              <a:rPr lang="fr-FR" b="0" i="0" dirty="0">
                <a:solidFill>
                  <a:srgbClr val="2C2C2B"/>
                </a:solidFill>
                <a:effectLst/>
                <a:latin typeface="ui-sans-serif"/>
              </a:rPr>
              <a:t>Pour des nœuds avec </a:t>
            </a:r>
            <a:r>
              <a:rPr lang="fr-FR" b="1" i="0" dirty="0">
                <a:solidFill>
                  <a:srgbClr val="2C2C2B"/>
                </a:solidFill>
                <a:effectLst/>
                <a:latin typeface="ui-sans-serif"/>
              </a:rPr>
              <a:t>32 KB de RAM</a:t>
            </a:r>
            <a:r>
              <a:rPr lang="fr-FR" b="0" i="0" dirty="0">
                <a:solidFill>
                  <a:srgbClr val="2C2C2B"/>
                </a:solidFill>
                <a:effectLst/>
                <a:latin typeface="ui-sans-serif"/>
              </a:rPr>
              <a:t>, cela reste acceptable,</a:t>
            </a:r>
          </a:p>
          <a:p>
            <a:pPr algn="l"/>
            <a:r>
              <a:rPr lang="fr-FR" b="0" i="0" dirty="0">
                <a:solidFill>
                  <a:srgbClr val="2C2C2B"/>
                </a:solidFill>
                <a:effectLst/>
                <a:latin typeface="ui-sans-serif"/>
              </a:rPr>
              <a:t>mais pour des plateformes très contraintes avec seulement </a:t>
            </a:r>
            <a:r>
              <a:rPr lang="fr-FR" b="1" i="0" dirty="0">
                <a:solidFill>
                  <a:srgbClr val="2C2C2B"/>
                </a:solidFill>
                <a:effectLst/>
                <a:latin typeface="ui-sans-serif"/>
              </a:rPr>
              <a:t>8 KB de RAM</a:t>
            </a:r>
            <a:r>
              <a:rPr lang="fr-FR" b="0" i="0" dirty="0">
                <a:solidFill>
                  <a:srgbClr val="2C2C2B"/>
                </a:solidFill>
                <a:effectLst/>
                <a:latin typeface="ui-sans-serif"/>
              </a:rPr>
              <a:t>, l’intégration devient plus difficile et demande une optimisation supplémentaire.</a:t>
            </a:r>
          </a:p>
          <a:p>
            <a:pPr algn="l"/>
            <a:r>
              <a:rPr lang="fr-FR" b="0" i="0" dirty="0">
                <a:solidFill>
                  <a:srgbClr val="2C2C2B"/>
                </a:solidFill>
                <a:effectLst/>
                <a:latin typeface="ui-sans-serif"/>
              </a:rPr>
              <a:t>Deuxième point : la </a:t>
            </a:r>
            <a:r>
              <a:rPr lang="fr-FR" b="1" i="0" dirty="0">
                <a:solidFill>
                  <a:srgbClr val="2C2C2B"/>
                </a:solidFill>
                <a:effectLst/>
                <a:latin typeface="ui-sans-serif"/>
              </a:rPr>
              <a:t>récupération d’énergie</a:t>
            </a:r>
            <a:r>
              <a:rPr lang="fr-FR" b="0" i="0" dirty="0">
                <a:solidFill>
                  <a:srgbClr val="2C2C2B"/>
                </a:solidFill>
                <a:effectLst/>
                <a:latin typeface="ui-sans-serif"/>
              </a:rPr>
              <a:t>.</a:t>
            </a:r>
          </a:p>
          <a:p>
            <a:pPr algn="l"/>
            <a:r>
              <a:rPr lang="fr-FR" b="0" i="0" dirty="0">
                <a:solidFill>
                  <a:srgbClr val="2C2C2B"/>
                </a:solidFill>
                <a:effectLst/>
                <a:latin typeface="ui-sans-serif"/>
              </a:rPr>
              <a:t>Les gains dépendent naturellement des </a:t>
            </a:r>
            <a:r>
              <a:rPr lang="fr-FR" b="1" i="0" dirty="0">
                <a:solidFill>
                  <a:srgbClr val="2C2C2B"/>
                </a:solidFill>
                <a:effectLst/>
                <a:latin typeface="ui-sans-serif"/>
              </a:rPr>
              <a:t>conditions d’éclairage</a:t>
            </a:r>
            <a:r>
              <a:rPr lang="fr-FR" b="0" i="0" dirty="0">
                <a:solidFill>
                  <a:srgbClr val="2C2C2B"/>
                </a:solidFill>
                <a:effectLst/>
                <a:latin typeface="ui-sans-serif"/>
              </a:rPr>
              <a:t>.</a:t>
            </a:r>
          </a:p>
          <a:p>
            <a:pPr algn="l"/>
            <a:r>
              <a:rPr lang="fr-FR" b="0" i="0" dirty="0">
                <a:solidFill>
                  <a:srgbClr val="2C2C2B"/>
                </a:solidFill>
                <a:effectLst/>
                <a:latin typeface="ui-sans-serif"/>
              </a:rPr>
              <a:t>Dans des environnements très ombragés ou fermés, l’apport du solaire est plus limité.</a:t>
            </a:r>
          </a:p>
          <a:p>
            <a:pPr algn="l"/>
            <a:r>
              <a:rPr lang="fr-FR" b="0" i="0" dirty="0">
                <a:solidFill>
                  <a:srgbClr val="2C2C2B"/>
                </a:solidFill>
                <a:effectLst/>
                <a:latin typeface="ui-sans-serif"/>
              </a:rPr>
              <a:t>Troisième point : la </a:t>
            </a:r>
            <a:r>
              <a:rPr lang="fr-FR" b="1" i="0" dirty="0">
                <a:solidFill>
                  <a:srgbClr val="2C2C2B"/>
                </a:solidFill>
                <a:effectLst/>
                <a:latin typeface="ui-sans-serif"/>
              </a:rPr>
              <a:t>validation</a:t>
            </a:r>
            <a:r>
              <a:rPr lang="fr-FR" b="0" i="0" dirty="0">
                <a:solidFill>
                  <a:srgbClr val="2C2C2B"/>
                </a:solidFill>
                <a:effectLst/>
                <a:latin typeface="ui-sans-serif"/>
              </a:rPr>
              <a:t>. Nos résultats sont basés sur une campagne de </a:t>
            </a:r>
            <a:r>
              <a:rPr lang="fr-FR" b="1" i="0" dirty="0">
                <a:solidFill>
                  <a:srgbClr val="2C2C2B"/>
                </a:solidFill>
                <a:effectLst/>
                <a:latin typeface="ui-sans-serif"/>
              </a:rPr>
              <a:t>simulation très poussée</a:t>
            </a:r>
            <a:r>
              <a:rPr lang="fr-FR" b="0" i="0" dirty="0">
                <a:solidFill>
                  <a:srgbClr val="2C2C2B"/>
                </a:solidFill>
                <a:effectLst/>
                <a:latin typeface="ui-sans-serif"/>
              </a:rPr>
              <a:t>, mais principalement en environnement simulé.</a:t>
            </a:r>
          </a:p>
          <a:p>
            <a:pPr algn="l"/>
            <a:r>
              <a:rPr lang="fr-FR" b="0" i="0" dirty="0">
                <a:solidFill>
                  <a:srgbClr val="2C2C2B"/>
                </a:solidFill>
                <a:effectLst/>
                <a:latin typeface="ui-sans-serif"/>
              </a:rPr>
              <a:t>Une étape logique suivante serait de compléter ce travail par des </a:t>
            </a:r>
            <a:r>
              <a:rPr lang="fr-FR" b="1" i="0" dirty="0">
                <a:solidFill>
                  <a:srgbClr val="2C2C2B"/>
                </a:solidFill>
                <a:effectLst/>
                <a:latin typeface="ui-sans-serif"/>
              </a:rPr>
              <a:t>expériences sur banc réel</a:t>
            </a:r>
            <a:r>
              <a:rPr lang="fr-FR" b="0" i="0" dirty="0">
                <a:solidFill>
                  <a:srgbClr val="2C2C2B"/>
                </a:solidFill>
                <a:effectLst/>
                <a:latin typeface="ui-sans-serif"/>
              </a:rPr>
              <a:t>, pour confirmer ces résultats sur du matériel physique.</a:t>
            </a:r>
          </a:p>
          <a:p>
            <a:pPr algn="l"/>
            <a:r>
              <a:rPr lang="fr-FR" b="0" i="0" dirty="0">
                <a:solidFill>
                  <a:srgbClr val="2C2C2B"/>
                </a:solidFill>
                <a:effectLst/>
                <a:latin typeface="ui-sans-serif"/>
              </a:rPr>
              <a:t>[Transition]</a:t>
            </a:r>
          </a:p>
          <a:p>
            <a:pPr algn="l"/>
            <a:r>
              <a:rPr lang="fr-FR" b="1" i="0" dirty="0">
                <a:solidFill>
                  <a:srgbClr val="2C2C2B"/>
                </a:solidFill>
                <a:effectLst/>
                <a:latin typeface="ui-sans-serif"/>
              </a:rPr>
              <a:t>Malgré ces limites</a:t>
            </a:r>
            <a:r>
              <a:rPr lang="fr-FR" b="0" i="0" dirty="0">
                <a:solidFill>
                  <a:srgbClr val="2C2C2B"/>
                </a:solidFill>
                <a:effectLst/>
                <a:latin typeface="ui-sans-serif"/>
              </a:rPr>
              <a:t>, les contributions de cette thèse restent significatives. Je vais les résumer dans la conclusion.</a:t>
            </a:r>
          </a:p>
          <a:p>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28</a:t>
            </a:fld>
            <a:endParaRPr lang="fr-FR"/>
          </a:p>
        </p:txBody>
      </p:sp>
    </p:spTree>
    <p:extLst>
      <p:ext uri="{BB962C8B-B14F-4D97-AF65-F5344CB8AC3E}">
        <p14:creationId xmlns:p14="http://schemas.microsoft.com/office/powerpoint/2010/main" val="5333803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1" i="0" dirty="0">
                <a:solidFill>
                  <a:srgbClr val="2C2C2B"/>
                </a:solidFill>
                <a:effectLst/>
                <a:latin typeface="ui-sans-serif"/>
              </a:rPr>
              <a:t>Pour conclure</a:t>
            </a:r>
            <a:r>
              <a:rPr lang="fr-FR" b="0" i="0" dirty="0">
                <a:solidFill>
                  <a:srgbClr val="2C2C2B"/>
                </a:solidFill>
                <a:effectLst/>
                <a:latin typeface="ui-sans-serif"/>
              </a:rPr>
              <a:t>, cette thèse apporte </a:t>
            </a:r>
            <a:r>
              <a:rPr lang="fr-FR" b="1" i="0" dirty="0">
                <a:solidFill>
                  <a:srgbClr val="2C2C2B"/>
                </a:solidFill>
                <a:effectLst/>
                <a:latin typeface="ui-sans-serif"/>
              </a:rPr>
              <a:t>trois messages principaux</a:t>
            </a:r>
            <a:r>
              <a:rPr lang="fr-FR" b="0" i="0" dirty="0">
                <a:solidFill>
                  <a:srgbClr val="2C2C2B"/>
                </a:solidFill>
                <a:effectLst/>
                <a:latin typeface="ui-sans-serif"/>
              </a:rPr>
              <a:t>.</a:t>
            </a:r>
          </a:p>
          <a:p>
            <a:pPr algn="l"/>
            <a:r>
              <a:rPr lang="fr-FR" b="0" i="0" dirty="0">
                <a:solidFill>
                  <a:srgbClr val="2C2C2B"/>
                </a:solidFill>
                <a:effectLst/>
                <a:latin typeface="ui-sans-serif"/>
              </a:rPr>
              <a:t>Premièrement, avec </a:t>
            </a:r>
            <a:r>
              <a:rPr lang="fr-FR" b="1" i="0" dirty="0">
                <a:solidFill>
                  <a:srgbClr val="2C2C2B"/>
                </a:solidFill>
                <a:effectLst/>
                <a:latin typeface="ui-sans-serif"/>
              </a:rPr>
              <a:t>RPLMQoS</a:t>
            </a:r>
            <a:r>
              <a:rPr lang="fr-FR" b="0" i="0" dirty="0">
                <a:solidFill>
                  <a:srgbClr val="2C2C2B"/>
                </a:solidFill>
                <a:effectLst/>
                <a:latin typeface="ui-sans-serif"/>
              </a:rPr>
              <a:t>, nous proposons un </a:t>
            </a:r>
            <a:r>
              <a:rPr lang="fr-FR" b="1" i="0" dirty="0">
                <a:solidFill>
                  <a:srgbClr val="2C2C2B"/>
                </a:solidFill>
                <a:effectLst/>
                <a:latin typeface="ui-sans-serif"/>
              </a:rPr>
              <a:t>nouveau paradigme de QoS différenciée </a:t>
            </a:r>
            <a:r>
              <a:rPr lang="fr-FR" b="0" i="0" dirty="0">
                <a:solidFill>
                  <a:srgbClr val="2C2C2B"/>
                </a:solidFill>
                <a:effectLst/>
                <a:latin typeface="ui-sans-serif"/>
              </a:rPr>
              <a:t>pour les réseaux IoT basés sur RPL, en combinant des files multi-priorités</a:t>
            </a:r>
          </a:p>
          <a:p>
            <a:pPr algn="l"/>
            <a:r>
              <a:rPr lang="fr-FR" b="0" i="0" dirty="0">
                <a:solidFill>
                  <a:srgbClr val="2C2C2B"/>
                </a:solidFill>
                <a:effectLst/>
                <a:latin typeface="ui-sans-serif"/>
              </a:rPr>
              <a:t>et une métrique composite adaptative.</a:t>
            </a:r>
          </a:p>
          <a:p>
            <a:pPr algn="l"/>
            <a:r>
              <a:rPr lang="fr-FR" b="0" i="0" dirty="0">
                <a:solidFill>
                  <a:srgbClr val="2C2C2B"/>
                </a:solidFill>
                <a:effectLst/>
                <a:latin typeface="ui-sans-serif"/>
              </a:rPr>
              <a:t>Deuxièmement, avec </a:t>
            </a:r>
            <a:r>
              <a:rPr lang="fr-FR" b="1" i="0" dirty="0">
                <a:solidFill>
                  <a:srgbClr val="2C2C2B"/>
                </a:solidFill>
                <a:effectLst/>
                <a:latin typeface="ui-sans-serif"/>
              </a:rPr>
              <a:t>AER-RPL</a:t>
            </a:r>
            <a:r>
              <a:rPr lang="fr-FR" b="0" i="0" dirty="0">
                <a:solidFill>
                  <a:srgbClr val="2C2C2B"/>
                </a:solidFill>
                <a:effectLst/>
                <a:latin typeface="ui-sans-serif"/>
              </a:rPr>
              <a:t>, nous montrons qu’il est possible d’</a:t>
            </a:r>
            <a:r>
              <a:rPr lang="fr-FR" b="1" i="0" dirty="0">
                <a:solidFill>
                  <a:srgbClr val="2C2C2B"/>
                </a:solidFill>
                <a:effectLst/>
                <a:latin typeface="ui-sans-serif"/>
              </a:rPr>
              <a:t>intégrer </a:t>
            </a:r>
            <a:r>
              <a:rPr lang="fr-FR" b="0" i="0" dirty="0">
                <a:solidFill>
                  <a:srgbClr val="2C2C2B"/>
                </a:solidFill>
                <a:effectLst/>
                <a:latin typeface="ui-sans-serif"/>
              </a:rPr>
              <a:t>à la fois la </a:t>
            </a:r>
            <a:r>
              <a:rPr lang="fr-FR" b="1" i="0" dirty="0">
                <a:solidFill>
                  <a:srgbClr val="2C2C2B"/>
                </a:solidFill>
                <a:effectLst/>
                <a:latin typeface="ui-sans-serif"/>
              </a:rPr>
              <a:t>sécurité</a:t>
            </a:r>
            <a:r>
              <a:rPr lang="fr-FR" b="0" i="0" dirty="0">
                <a:solidFill>
                  <a:srgbClr val="2C2C2B"/>
                </a:solidFill>
                <a:effectLst/>
                <a:latin typeface="ui-sans-serif"/>
              </a:rPr>
              <a:t> et l’</a:t>
            </a:r>
            <a:r>
              <a:rPr lang="fr-FR" b="1" i="0" dirty="0">
                <a:solidFill>
                  <a:srgbClr val="2C2C2B"/>
                </a:solidFill>
                <a:effectLst/>
                <a:latin typeface="ui-sans-serif"/>
              </a:rPr>
              <a:t>efficacité énergétique </a:t>
            </a:r>
            <a:r>
              <a:rPr lang="fr-FR" b="0" i="0" dirty="0">
                <a:solidFill>
                  <a:srgbClr val="2C2C2B"/>
                </a:solidFill>
                <a:effectLst/>
                <a:latin typeface="ui-sans-serif"/>
              </a:rPr>
              <a:t>dans un protocole léger, compatible avec les contraintes des microcontrôleurs IoT.</a:t>
            </a:r>
          </a:p>
          <a:p>
            <a:pPr algn="l"/>
            <a:r>
              <a:rPr lang="fr-FR" b="0" i="0" dirty="0">
                <a:solidFill>
                  <a:srgbClr val="2C2C2B"/>
                </a:solidFill>
                <a:effectLst/>
                <a:latin typeface="ui-sans-serif"/>
              </a:rPr>
              <a:t>Troisièmement, la </a:t>
            </a:r>
            <a:r>
              <a:rPr lang="fr-FR" b="1" i="0" dirty="0">
                <a:solidFill>
                  <a:srgbClr val="2C2C2B"/>
                </a:solidFill>
                <a:effectLst/>
                <a:latin typeface="ui-sans-serif"/>
              </a:rPr>
              <a:t>validation expérimentale</a:t>
            </a:r>
            <a:r>
              <a:rPr lang="fr-FR" b="0" i="0" dirty="0">
                <a:solidFill>
                  <a:srgbClr val="2C2C2B"/>
                </a:solidFill>
                <a:effectLst/>
                <a:latin typeface="ui-sans-serif"/>
              </a:rPr>
              <a:t>, basée sur </a:t>
            </a:r>
            <a:r>
              <a:rPr lang="fr-FR" b="1" i="0" dirty="0">
                <a:solidFill>
                  <a:srgbClr val="2C2C2B"/>
                </a:solidFill>
                <a:effectLst/>
                <a:latin typeface="ui-sans-serif"/>
              </a:rPr>
              <a:t>1200 simulations représentatives</a:t>
            </a:r>
            <a:r>
              <a:rPr lang="fr-FR" b="0" i="0" dirty="0">
                <a:solidFill>
                  <a:srgbClr val="2C2C2B"/>
                </a:solidFill>
                <a:effectLst/>
                <a:latin typeface="ui-sans-serif"/>
              </a:rPr>
              <a:t>, et la </a:t>
            </a:r>
            <a:r>
              <a:rPr lang="fr-FR" b="1" i="0" dirty="0">
                <a:solidFill>
                  <a:srgbClr val="2C2C2B"/>
                </a:solidFill>
                <a:effectLst/>
                <a:latin typeface="ui-sans-serif"/>
              </a:rPr>
              <a:t>validation statistique rigoureuse </a:t>
            </a:r>
            <a:r>
              <a:rPr lang="fr-FR" b="0" i="0" dirty="0">
                <a:solidFill>
                  <a:srgbClr val="2C2C2B"/>
                </a:solidFill>
                <a:effectLst/>
                <a:latin typeface="ui-sans-serif"/>
              </a:rPr>
              <a:t>donnent une base solide aux conclusions.</a:t>
            </a:r>
          </a:p>
          <a:p>
            <a:pPr algn="l"/>
            <a:r>
              <a:rPr lang="fr-FR" b="0" i="0" dirty="0">
                <a:solidFill>
                  <a:srgbClr val="2C2C2B"/>
                </a:solidFill>
                <a:effectLst/>
                <a:latin typeface="ui-sans-serif"/>
              </a:rPr>
              <a:t>Ensemble, RPLMQoS et AER-RPL constituent une </a:t>
            </a:r>
            <a:r>
              <a:rPr lang="fr-FR" b="1" i="0" dirty="0">
                <a:solidFill>
                  <a:srgbClr val="2C2C2B"/>
                </a:solidFill>
                <a:effectLst/>
                <a:latin typeface="ui-sans-serif"/>
              </a:rPr>
              <a:t>brique logicielle complète </a:t>
            </a:r>
            <a:r>
              <a:rPr lang="fr-FR" b="0" i="0" dirty="0">
                <a:solidFill>
                  <a:srgbClr val="2C2C2B"/>
                </a:solidFill>
                <a:effectLst/>
                <a:latin typeface="ui-sans-serif"/>
              </a:rPr>
              <a:t>pour des réseaux IoT </a:t>
            </a:r>
            <a:r>
              <a:rPr lang="fr-FR" b="1" i="0" dirty="0">
                <a:solidFill>
                  <a:srgbClr val="2C2C2B"/>
                </a:solidFill>
                <a:effectLst/>
                <a:latin typeface="ui-sans-serif"/>
              </a:rPr>
              <a:t>critiques</a:t>
            </a:r>
            <a:r>
              <a:rPr lang="fr-FR" b="0" i="0" dirty="0">
                <a:solidFill>
                  <a:srgbClr val="2C2C2B"/>
                </a:solidFill>
                <a:effectLst/>
                <a:latin typeface="ui-sans-serif"/>
              </a:rPr>
              <a:t>, à la fois performants, sûrs et durables.</a:t>
            </a:r>
          </a:p>
          <a:p>
            <a:pPr algn="l"/>
            <a:r>
              <a:rPr lang="fr-FR" b="0" i="0" dirty="0">
                <a:solidFill>
                  <a:srgbClr val="2C2C2B"/>
                </a:solidFill>
                <a:effectLst/>
                <a:latin typeface="ui-sans-serif"/>
              </a:rPr>
              <a:t>[Transition]</a:t>
            </a:r>
          </a:p>
          <a:p>
            <a:pPr algn="l"/>
            <a:r>
              <a:rPr lang="fr-FR" b="0" i="0" dirty="0">
                <a:solidFill>
                  <a:srgbClr val="2C2C2B"/>
                </a:solidFill>
                <a:effectLst/>
                <a:latin typeface="ui-sans-serif"/>
              </a:rPr>
              <a:t>Je termine en ouvrant sur quelques </a:t>
            </a:r>
            <a:r>
              <a:rPr lang="fr-FR" b="1" i="0" dirty="0">
                <a:solidFill>
                  <a:srgbClr val="2C2C2B"/>
                </a:solidFill>
                <a:effectLst/>
                <a:latin typeface="ui-sans-serif"/>
              </a:rPr>
              <a:t>perspectives </a:t>
            </a:r>
            <a:r>
              <a:rPr lang="fr-FR" b="0" i="0" dirty="0">
                <a:solidFill>
                  <a:srgbClr val="2C2C2B"/>
                </a:solidFill>
                <a:effectLst/>
                <a:latin typeface="ui-sans-serif"/>
              </a:rPr>
              <a:t>pour la suite de ces travaux.</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29</a:t>
            </a:fld>
            <a:endParaRPr lang="fr-FR"/>
          </a:p>
        </p:txBody>
      </p:sp>
    </p:spTree>
    <p:extLst>
      <p:ext uri="{BB962C8B-B14F-4D97-AF65-F5344CB8AC3E}">
        <p14:creationId xmlns:p14="http://schemas.microsoft.com/office/powerpoint/2010/main" val="33041701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Les </a:t>
            </a:r>
            <a:r>
              <a:rPr lang="fr-FR" b="1" i="0" dirty="0">
                <a:solidFill>
                  <a:srgbClr val="2C2C2B"/>
                </a:solidFill>
                <a:effectLst/>
                <a:latin typeface="ui-sans-serif"/>
              </a:rPr>
              <a:t>perspectives</a:t>
            </a:r>
            <a:r>
              <a:rPr lang="fr-FR" b="0" i="0" dirty="0">
                <a:solidFill>
                  <a:srgbClr val="2C2C2B"/>
                </a:solidFill>
                <a:effectLst/>
                <a:latin typeface="ui-sans-serif"/>
              </a:rPr>
              <a:t> de ce travail se situent à plusieurs niveaux.</a:t>
            </a:r>
          </a:p>
          <a:p>
            <a:pPr algn="l"/>
            <a:r>
              <a:rPr lang="fr-FR" b="0" i="0" dirty="0">
                <a:solidFill>
                  <a:srgbClr val="2C2C2B"/>
                </a:solidFill>
                <a:effectLst/>
                <a:latin typeface="ui-sans-serif"/>
              </a:rPr>
              <a:t>D’abord, au niveau </a:t>
            </a:r>
            <a:r>
              <a:rPr lang="fr-FR" b="1" i="0" dirty="0">
                <a:solidFill>
                  <a:srgbClr val="2C2C2B"/>
                </a:solidFill>
                <a:effectLst/>
                <a:latin typeface="ui-sans-serif"/>
              </a:rPr>
              <a:t>technologique</a:t>
            </a:r>
            <a:r>
              <a:rPr lang="fr-FR" b="0" i="0" dirty="0">
                <a:solidFill>
                  <a:srgbClr val="2C2C2B"/>
                </a:solidFill>
                <a:effectLst/>
                <a:latin typeface="ui-sans-serif"/>
              </a:rPr>
              <a:t>,</a:t>
            </a:r>
          </a:p>
          <a:p>
            <a:r>
              <a:rPr lang="fr-FR" b="1" i="0" dirty="0">
                <a:solidFill>
                  <a:srgbClr val="2C2C2B"/>
                </a:solidFill>
                <a:effectLst/>
                <a:latin typeface="ui-sans-serif"/>
              </a:rPr>
              <a:t>une intégration </a:t>
            </a:r>
            <a:r>
              <a:rPr lang="fr-FR" b="0" i="0" dirty="0">
                <a:solidFill>
                  <a:srgbClr val="2C2C2B"/>
                </a:solidFill>
                <a:effectLst/>
                <a:latin typeface="ui-sans-serif"/>
              </a:rPr>
              <a:t>plus poussée avec des mécanismes de la nouvelle technologie comme </a:t>
            </a:r>
            <a:r>
              <a:rPr lang="fr-FR" b="1" i="0" dirty="0">
                <a:solidFill>
                  <a:srgbClr val="2C2C2B"/>
                </a:solidFill>
                <a:effectLst/>
                <a:latin typeface="ui-sans-serif"/>
              </a:rPr>
              <a:t>5G</a:t>
            </a:r>
            <a:r>
              <a:rPr lang="fr-FR" b="0" i="0" dirty="0">
                <a:solidFill>
                  <a:srgbClr val="2C2C2B"/>
                </a:solidFill>
                <a:effectLst/>
                <a:latin typeface="ui-sans-serif"/>
              </a:rPr>
              <a:t>,</a:t>
            </a:r>
            <a:r>
              <a:rPr lang="fr-FR" dirty="0">
                <a:solidFill>
                  <a:srgbClr val="2C2C2B"/>
                </a:solidFill>
                <a:latin typeface="ui-sans-serif"/>
              </a:rPr>
              <a:t> ou des schémas temporels de type </a:t>
            </a:r>
            <a:r>
              <a:rPr lang="fr-FR" b="1" dirty="0">
                <a:solidFill>
                  <a:srgbClr val="2C2C2B"/>
                </a:solidFill>
                <a:latin typeface="ui-sans-serif"/>
              </a:rPr>
              <a:t>TDMA</a:t>
            </a:r>
            <a:r>
              <a:rPr lang="fr-FR" dirty="0">
                <a:solidFill>
                  <a:srgbClr val="2C2C2B"/>
                </a:solidFill>
                <a:latin typeface="ui-sans-serif"/>
              </a:rPr>
              <a:t>, permettrait de renforcer résultats obtenus.</a:t>
            </a:r>
          </a:p>
          <a:p>
            <a:pPr algn="l"/>
            <a:r>
              <a:rPr lang="fr-FR" b="0" i="0" dirty="0">
                <a:solidFill>
                  <a:srgbClr val="2C2C2B"/>
                </a:solidFill>
                <a:effectLst/>
                <a:latin typeface="ui-sans-serif"/>
              </a:rPr>
              <a:t>Ensuite, au niveau </a:t>
            </a:r>
            <a:r>
              <a:rPr lang="fr-FR" b="1" i="0" dirty="0">
                <a:solidFill>
                  <a:srgbClr val="2C2C2B"/>
                </a:solidFill>
                <a:effectLst/>
                <a:latin typeface="ui-sans-serif"/>
              </a:rPr>
              <a:t>expérimental</a:t>
            </a:r>
            <a:r>
              <a:rPr lang="fr-FR" b="0" i="0" dirty="0">
                <a:solidFill>
                  <a:srgbClr val="2C2C2B"/>
                </a:solidFill>
                <a:effectLst/>
                <a:latin typeface="ui-sans-serif"/>
              </a:rPr>
              <a:t>, une étape importante sera de porter RPLMQoS et AER-RPL sur des </a:t>
            </a:r>
            <a:r>
              <a:rPr lang="fr-FR" b="1" i="0" dirty="0">
                <a:solidFill>
                  <a:srgbClr val="2C2C2B"/>
                </a:solidFill>
                <a:effectLst/>
                <a:latin typeface="ui-sans-serif"/>
              </a:rPr>
              <a:t>bancs de test réels</a:t>
            </a:r>
            <a:r>
              <a:rPr lang="fr-FR" b="0" i="0" dirty="0">
                <a:solidFill>
                  <a:srgbClr val="2C2C2B"/>
                </a:solidFill>
                <a:effectLst/>
                <a:latin typeface="ui-sans-serif"/>
              </a:rPr>
              <a:t>, par exemple sur des plateformes IoT académiques, pour compléter les résultats de simulation.</a:t>
            </a:r>
          </a:p>
          <a:p>
            <a:pPr algn="l"/>
            <a:r>
              <a:rPr lang="fr-FR" b="0" i="0" dirty="0">
                <a:solidFill>
                  <a:srgbClr val="2C2C2B"/>
                </a:solidFill>
                <a:effectLst/>
                <a:latin typeface="ui-sans-serif"/>
              </a:rPr>
              <a:t>Enfin, au niveau </a:t>
            </a:r>
            <a:r>
              <a:rPr lang="fr-FR" b="1" i="0" dirty="0">
                <a:solidFill>
                  <a:srgbClr val="2C2C2B"/>
                </a:solidFill>
                <a:effectLst/>
                <a:latin typeface="ui-sans-serif"/>
              </a:rPr>
              <a:t>standardisation</a:t>
            </a:r>
            <a:r>
              <a:rPr lang="fr-FR" b="0" i="0" dirty="0">
                <a:solidFill>
                  <a:srgbClr val="2C2C2B"/>
                </a:solidFill>
                <a:effectLst/>
                <a:latin typeface="ui-sans-serif"/>
              </a:rPr>
              <a:t>, ces contributions pourraient alimenter à terme des propositions d’extensions de RPL autour de la QoS, de la sécurité et de l’énergie,</a:t>
            </a:r>
          </a:p>
          <a:p>
            <a:pPr algn="l"/>
            <a:r>
              <a:rPr lang="fr-FR" b="0" i="0" dirty="0">
                <a:solidFill>
                  <a:srgbClr val="2C2C2B"/>
                </a:solidFill>
                <a:effectLst/>
                <a:latin typeface="ui-sans-serif"/>
              </a:rPr>
              <a:t>en vue d’une </a:t>
            </a:r>
            <a:r>
              <a:rPr lang="fr-FR" b="1" i="0" dirty="0">
                <a:solidFill>
                  <a:srgbClr val="2C2C2B"/>
                </a:solidFill>
                <a:effectLst/>
                <a:latin typeface="ui-sans-serif"/>
              </a:rPr>
              <a:t>adoption plus large </a:t>
            </a:r>
            <a:r>
              <a:rPr lang="fr-FR" b="0" i="0" dirty="0">
                <a:solidFill>
                  <a:srgbClr val="2C2C2B"/>
                </a:solidFill>
                <a:effectLst/>
                <a:latin typeface="ui-sans-serif"/>
              </a:rPr>
              <a:t>dans la communauté académique et industrielle.</a:t>
            </a:r>
          </a:p>
          <a:p>
            <a:pPr algn="l"/>
            <a:r>
              <a:rPr lang="fr-FR" b="0" i="0" dirty="0">
                <a:solidFill>
                  <a:srgbClr val="2C2C2B"/>
                </a:solidFill>
                <a:effectLst/>
                <a:latin typeface="ui-sans-serif"/>
              </a:rPr>
              <a:t>[Transition]</a:t>
            </a:r>
          </a:p>
          <a:p>
            <a:pPr algn="l"/>
            <a:r>
              <a:rPr lang="fr-FR" b="0" i="0" dirty="0">
                <a:solidFill>
                  <a:srgbClr val="2C2C2B"/>
                </a:solidFill>
                <a:effectLst/>
                <a:latin typeface="ui-sans-serif"/>
              </a:rPr>
              <a:t>Avant de passer aux questions, je vais d’abord remercier les personnes qui ont accompagné ce travail.</a:t>
            </a:r>
          </a:p>
          <a:p>
            <a:pPr algn="l"/>
            <a:r>
              <a:rPr lang="fr-FR" b="0" i="0" dirty="0">
                <a:solidFill>
                  <a:srgbClr val="2C2C2B"/>
                </a:solidFill>
                <a:effectLst/>
                <a:latin typeface="ui-sans-serif"/>
              </a:rPr>
              <a:t>Tout d’abord, je remercie très sincèrement mes directeurs de thèse,</a:t>
            </a:r>
          </a:p>
          <a:p>
            <a:pPr algn="l"/>
            <a:r>
              <a:rPr lang="fr-FR" b="0" i="0" dirty="0">
                <a:solidFill>
                  <a:srgbClr val="2C2C2B"/>
                </a:solidFill>
                <a:effectLst/>
                <a:latin typeface="ui-sans-serif"/>
              </a:rPr>
              <a:t>le Professeur </a:t>
            </a:r>
            <a:r>
              <a:rPr lang="fr-FR" b="1" i="0" dirty="0">
                <a:solidFill>
                  <a:srgbClr val="2C2C2B"/>
                </a:solidFill>
                <a:effectLst/>
                <a:latin typeface="ui-sans-serif"/>
              </a:rPr>
              <a:t>BELKHEIR </a:t>
            </a:r>
            <a:r>
              <a:rPr lang="fr-FR" b="0" i="0" dirty="0">
                <a:solidFill>
                  <a:srgbClr val="2C2C2B"/>
                </a:solidFill>
                <a:effectLst/>
                <a:latin typeface="ui-sans-serif"/>
              </a:rPr>
              <a:t>et le Professeur </a:t>
            </a:r>
            <a:r>
              <a:rPr lang="fr-FR" b="1" i="0" dirty="0">
                <a:solidFill>
                  <a:srgbClr val="2C2C2B"/>
                </a:solidFill>
                <a:effectLst/>
                <a:latin typeface="ui-sans-serif"/>
              </a:rPr>
              <a:t>BOUKLI</a:t>
            </a:r>
            <a:r>
              <a:rPr lang="fr-FR" b="0" i="0" dirty="0">
                <a:solidFill>
                  <a:srgbClr val="2C2C2B"/>
                </a:solidFill>
                <a:effectLst/>
                <a:latin typeface="ui-sans-serif"/>
              </a:rPr>
              <a:t>,</a:t>
            </a:r>
          </a:p>
          <a:p>
            <a:pPr algn="l"/>
            <a:r>
              <a:rPr lang="fr-FR" b="0" i="0" dirty="0">
                <a:solidFill>
                  <a:srgbClr val="2C2C2B"/>
                </a:solidFill>
                <a:effectLst/>
                <a:latin typeface="ui-sans-serif"/>
              </a:rPr>
              <a:t>pour leur encadrement, leurs conseils et leur confiance tout au long de ce travail.</a:t>
            </a:r>
          </a:p>
          <a:p>
            <a:pPr algn="l"/>
            <a:r>
              <a:rPr lang="fr-FR" b="0" i="0" dirty="0">
                <a:solidFill>
                  <a:srgbClr val="2C2C2B"/>
                </a:solidFill>
                <a:effectLst/>
                <a:latin typeface="ui-sans-serif"/>
              </a:rPr>
              <a:t>Je remercie également </a:t>
            </a:r>
            <a:r>
              <a:rPr lang="fr-FR" b="1" i="0" dirty="0">
                <a:solidFill>
                  <a:srgbClr val="2C2C2B"/>
                </a:solidFill>
                <a:effectLst/>
                <a:latin typeface="ui-sans-serif"/>
              </a:rPr>
              <a:t>l’ensemble des membres du jury </a:t>
            </a:r>
            <a:r>
              <a:rPr lang="fr-FR" b="0" i="0" dirty="0">
                <a:solidFill>
                  <a:srgbClr val="2C2C2B"/>
                </a:solidFill>
                <a:effectLst/>
                <a:latin typeface="ui-sans-serif"/>
              </a:rPr>
              <a:t>pour le temps consacré à l’évaluation de cette thèse et pour leurs remarques constructives.</a:t>
            </a:r>
          </a:p>
          <a:p>
            <a:br>
              <a:rPr lang="fr-FR" b="0" i="0" dirty="0">
                <a:solidFill>
                  <a:srgbClr val="2C2C2B"/>
                </a:solidFill>
                <a:effectLst/>
                <a:latin typeface="ui-sans-serif"/>
              </a:rPr>
            </a:br>
            <a:endParaRPr lang="fr-FR" dirty="0"/>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34</a:t>
            </a:fld>
            <a:endParaRPr lang="fr-FR"/>
          </a:p>
        </p:txBody>
      </p:sp>
    </p:spTree>
    <p:extLst>
      <p:ext uri="{BB962C8B-B14F-4D97-AF65-F5344CB8AC3E}">
        <p14:creationId xmlns:p14="http://schemas.microsoft.com/office/powerpoint/2010/main" val="25056219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dirty="0">
                <a:solidFill>
                  <a:srgbClr val="2C2C2B"/>
                </a:solidFill>
                <a:effectLst/>
                <a:latin typeface="ui-sans-serif"/>
              </a:rPr>
              <a:t>Je vous remercie pour votre attention.</a:t>
            </a:r>
          </a:p>
          <a:p>
            <a:pPr algn="l"/>
            <a:r>
              <a:rPr lang="fr-FR" b="0" i="0" dirty="0">
                <a:solidFill>
                  <a:srgbClr val="2C2C2B"/>
                </a:solidFill>
                <a:effectLst/>
                <a:latin typeface="ui-sans-serif"/>
              </a:rPr>
              <a:t>Je suis maintenant à votre disposition pour répondre à vos questions,</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35</a:t>
            </a:fld>
            <a:endParaRPr lang="fr-FR"/>
          </a:p>
        </p:txBody>
      </p:sp>
    </p:spTree>
    <p:extLst>
      <p:ext uri="{BB962C8B-B14F-4D97-AF65-F5344CB8AC3E}">
        <p14:creationId xmlns:p14="http://schemas.microsoft.com/office/powerpoint/2010/main" val="37492801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Afin de valider nos propositions au-delà des simulations, nous avons réalisé un prototype réel sur carte ESP32. Il intègre le module </a:t>
            </a:r>
            <a:r>
              <a:rPr lang="fr-FR" dirty="0" err="1">
                <a:effectLst/>
              </a:rPr>
              <a:t>WiFi</a:t>
            </a:r>
            <a:r>
              <a:rPr lang="fr-FR" dirty="0">
                <a:effectLst/>
              </a:rPr>
              <a:t>, les capteurs DHT11 et un capteur de sol, ainsi qu’un panneau solaire pour la récupération d’énergie. Le </a:t>
            </a:r>
            <a:r>
              <a:rPr lang="fr-FR" dirty="0" err="1">
                <a:effectLst/>
              </a:rPr>
              <a:t>firmware</a:t>
            </a:r>
            <a:r>
              <a:rPr lang="fr-FR" dirty="0">
                <a:effectLst/>
              </a:rPr>
              <a:t> est développé sous </a:t>
            </a:r>
            <a:r>
              <a:rPr lang="fr-FR" dirty="0" err="1">
                <a:effectLst/>
              </a:rPr>
              <a:t>Contiki</a:t>
            </a:r>
            <a:r>
              <a:rPr lang="fr-FR" dirty="0">
                <a:effectLst/>
              </a:rPr>
              <a:t>-NG et implémente à la fois </a:t>
            </a:r>
            <a:r>
              <a:rPr lang="fr-FR" dirty="0" err="1">
                <a:effectLst/>
              </a:rPr>
              <a:t>RPLMQoS</a:t>
            </a:r>
            <a:r>
              <a:rPr lang="fr-FR" dirty="0">
                <a:effectLst/>
              </a:rPr>
              <a:t> et AER-RPL. Ce prototype permet de démontrer concrètement le fonctionnement des deux protocoles dans un scénario proche des applications réelles, comme l’agriculture intelligente ou la santé connectée.</a:t>
            </a:r>
          </a:p>
        </p:txBody>
      </p:sp>
      <p:sp>
        <p:nvSpPr>
          <p:cNvPr id="4" name="Espace réservé du numéro de diapositive 3"/>
          <p:cNvSpPr>
            <a:spLocks noGrp="1"/>
          </p:cNvSpPr>
          <p:nvPr>
            <p:ph type="sldNum" sz="quarter" idx="5"/>
          </p:nvPr>
        </p:nvSpPr>
        <p:spPr/>
        <p:txBody>
          <a:bodyPr/>
          <a:lstStyle/>
          <a:p>
            <a:fld id="{EDB5666F-E79B-4A29-9A64-FA4855FAABBD}" type="slidenum">
              <a:rPr lang="fr-FR" smtClean="0"/>
              <a:t>36</a:t>
            </a:fld>
            <a:endParaRPr lang="fr-FR"/>
          </a:p>
        </p:txBody>
      </p:sp>
    </p:spTree>
    <p:extLst>
      <p:ext uri="{BB962C8B-B14F-4D97-AF65-F5344CB8AC3E}">
        <p14:creationId xmlns:p14="http://schemas.microsoft.com/office/powerpoint/2010/main" val="920261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file:///C:\Users\madan\OneDrive\Bureau\r&#233;vision\Flux%20de%20traitement%20d'un%20paquet%20dans%20RPLMQOS.docx" TargetMode="External"/><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jpg"/><Relationship Id="rId5" Type="http://schemas.openxmlformats.org/officeDocument/2006/relationships/image" Target="../media/image8.png"/><Relationship Id="rId4" Type="http://schemas.openxmlformats.org/officeDocument/2006/relationships/hyperlink" Target="file:///C:\Users\madan\OneDrive\Bureau\r&#233;vision\Flux%20de%20traitement%20d'un%20paquet%20dans%20RPLMQoS%20avec%20toutes%20les%20&#233;quations.docx"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file:///C:\Users\madan\OneDrive\Bureau\r&#233;vision\Flux%20de%20traitement%20d'un%20paquet%20dans%20AER-RPL.docx"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13" name="Group 7584"><a:extLst><a:ext uri="{FF2B5EF4-FFF2-40B4-BE49-F238E27FC236}"><a16:creationId xmlns:a16="http://schemas.microsoft.com/office/drawing/2014/main" id="{17E86522-BD28-C5A2-F395-D513508EFEB4}"/></a:ext></a:extLst></p:cNvPr><p:cNvGrpSpPr/><p:nvPr/></p:nvGrpSpPr><p:grpSpPr><a:xfrm><a:off x="-1" y="6616929"/><a:ext cx="9288000" cy="241071"/><a:chOff x="0" y="95085"/><a:chExt cx="5792348" cy="112882"/></a:xfrm></p:grpSpPr><p:sp><p:nvSpPr><p:cNvPr id="14" name="Shape 7931"><a:extLst><a:ext uri="{FF2B5EF4-FFF2-40B4-BE49-F238E27FC236}"><a16:creationId xmlns:a16="http://schemas.microsoft.com/office/drawing/2014/main" id="{F37CFC37-B2FD-5D30-B157-30A95AD8E4A2}"/></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15" name="Rectangle 14"><a:extLst><a:ext uri="{FF2B5EF4-FFF2-40B4-BE49-F238E27FC236}"><a16:creationId xmlns:a16="http://schemas.microsoft.com/office/drawing/2014/main" id="{14C6FF5C-C339-5C8D-7DBC-3E65CEA60F43}"/></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6" name="Shape 7944"><a:extLst><a:ext uri="{FF2B5EF4-FFF2-40B4-BE49-F238E27FC236}"><a16:creationId xmlns:a16="http://schemas.microsoft.com/office/drawing/2014/main" id="{38EBDACA-13B9-F5CE-A1D6-9EE609EEE15A}"/></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7" name="Rectangle 16"><a:extLst><a:ext uri="{FF2B5EF4-FFF2-40B4-BE49-F238E27FC236}"><a16:creationId xmlns:a16="http://schemas.microsoft.com/office/drawing/2014/main" id="{F74D2B46-5B5E-F707-2979-9C3704658143}"/></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8" name="Shape 7963"><a:extLst><a:ext uri="{FF2B5EF4-FFF2-40B4-BE49-F238E27FC236}"><a16:creationId xmlns:a16="http://schemas.microsoft.com/office/drawing/2014/main" id="{D79ED590-1293-C263-6E32-6E84F26D8062}"/></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9" name="Rectangle 18"><a:extLst><a:ext uri="{FF2B5EF4-FFF2-40B4-BE49-F238E27FC236}"><a16:creationId xmlns:a16="http://schemas.microsoft.com/office/drawing/2014/main" id="{39564035-9AF2-2E25-A2AC-B5FADADE28B4}"/></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2/19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21" name="Groupe 20"><a:extLst><a:ext uri="{FF2B5EF4-FFF2-40B4-BE49-F238E27FC236}"><a16:creationId xmlns:a16="http://schemas.microsoft.com/office/drawing/2014/main" id="{79A3253E-BE88-D37F-9620-A3896031F46B}"/></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22" name="Picture 4" descr="logo.jpg"><a:extLst><a:ext uri="{FF2B5EF4-FFF2-40B4-BE49-F238E27FC236}"><a16:creationId xmlns:a16="http://schemas.microsoft.com/office/drawing/2014/main" id="{E47BD370-9725-455D-7C89-6EBEABFC24FD}"/></a:ext></a:extLst></p:cNvPr><p:cNvPicPr><a:picLocks noChangeAspect="1"/></p:cNvPicPr><p:nvPr/></p:nvPicPr><p:blipFill><a:blip r:embed="rId3"/><a:stretch><a:fillRect/></a:stretch></p:blipFill><p:spPr><a:xfrm><a:off x="7950314" y="1873025"/><a:ext cx="1440000" cy="664615"/></a:xfrm><a:prstGeom prst="rect"><a:avLst/></a:prstGeom><a:grpFill/></p:spPr></p:pic><p:sp><p:nvSpPr><p:cNvPr id="23" name="Rectangle 22"><a:extLst><a:ext uri="{FF2B5EF4-FFF2-40B4-BE49-F238E27FC236}"><a16:creationId xmlns:a16="http://schemas.microsoft.com/office/drawing/2014/main" id="{4737723E-3A14-C2B8-69AE-E70AFF2947F8}"/></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endParaRPr lang="fr-FR" sz="2400" b="1" dirty="0"><a:solidFill>val="FFFFFF"/></a:solidFill><a:latin typeface="Poppins"/></a:endParaRPr></a:p></p:txBody></p:sp></p:grpSp><p:sp><p:nvSpPr><p:cNvPr id="3" name="TextBox 2"/><p:cNvSpPr txBox="1"/><p:nvPr/></p:nvSpPr><p:spPr><a:xfrm><a:off x="2254323" y="141294"/><a:ext cx="4903907" cy="646331"/></a:xfrm><a:prstGeom prst="rect"><a:avLst/></a:prstGeom><a:noFill/></p:spPr><p:txBody><a:bodyPr wrap="none"><a:spAutoFit/></a:bodyPr><a:lstStyle/><a:p><a:pPr algn="ctr"><a:defRPr sz="3600" b="1"><a:solidFill>val="177BBE"/></a:solidFill><a:latin typeface="Poppins"/></a:defRPr></a:pPr><a:r><a:rPr dirty="0"><a:solidFill><a:schemeClr val="bg1"/></a:solidFill></a:rPr><a:t>DOCTORATE THESIS</a:t></a:r></a:p></p:txBody></p:sp><p:sp><p:nvSpPr><p:cNvPr id="4" name="TextBox 3"/><p:cNvSpPr txBox="1"/><p:nvPr/></p:nvSpPr><p:spPr><a:xfrm><a:off x="1048676" y="887530"/><a:ext cx="7315200" cy="640080"/></a:xfrm><a:prstGeom prst="rect"><a:avLst/></a:prstGeom><a:noFill/></p:spPr><p:txBody><a:bodyPr wrap="none"><a:spAutoFit/></a:bodyPr><a:lstStyle/><a:p><a:pPr algn="ctr"><a:defRPr sz="2800" b="1"><a:solidFill>val="177BBE"/></a:solidFill><a:latin typeface="Poppins"/></a:defRPr></a:pPr><a:r><a:rPr dirty="0"/><a:t>DOCTORAT EN SCIENCES</a:t></a:r></a:p></p:txBody></p:sp><p:sp><p:nvSpPr><p:cNvPr id="8" name="TextBox 7"/><p:cNvSpPr txBox="1"/><p:nvPr/></p:nvSpPr><p:spPr><a:xfrm><a:off x="3439520" y="6217920"/><a:ext cx="2803332" cy="338554"/></a:xfrm><a:prstGeom prst="rect"><a:avLst/></a:prstGeom><a:noFill/></p:spPr><p:txBody><a:bodyPr wrap="none"><a:spAutoFit/></a:bodyPr><a:lstStyle/><a:p><a:pPr algn="ctr"><a:defRPr sz="1600" b="1"><a:latin typeface="Poppins"/></a:defRPr></a:pPr><a:r><a:rPr dirty="0"/><a:t>Academic Year : 2025-2026</a:t></a:r></a:p></p:txBody></p:sp><p:sp><p:nvSpPr><p:cNvPr id="11" name="Flèche : droite 10"><a:hlinkClick r:id="" action="ppaction://hlinkshowjump?jump=nextslide"/><a:extLst><a:ext uri="{FF2B5EF4-FFF2-40B4-BE49-F238E27FC236}"><a16:creationId xmlns:a16="http://schemas.microsoft.com/office/drawing/2014/main" id="{D97CA9BA-3A68-722A-9339-508FDBB4AF5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12" name="Flèche : droite 11"><a:hlinkClick r:id="" action="ppaction://hlinkshowjump?jump=previousslide"/><a:extLst><a:ext uri="{FF2B5EF4-FFF2-40B4-BE49-F238E27FC236}"><a16:creationId xmlns:a16="http://schemas.microsoft.com/office/drawing/2014/main" id="{D200FA1A-B6F2-CD63-C481-3E78B4296F62}"/></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grpSp><p:nvGrpSpPr><p:cNvPr id="34" name="Groupe 33"><a:extLst><a:ext uri="{FF2B5EF4-FFF2-40B4-BE49-F238E27FC236}"><a16:creationId xmlns:a16="http://schemas.microsoft.com/office/drawing/2014/main" id="{FFCDBF80-D8CB-B198-9904-5630E381FCBB}"/></a:ext></a:extLst></p:cNvPr><p:cNvGrpSpPr/><p:nvPr/></p:nvGrpSpPr><p:grpSpPr><a:xfrm><a:off x="899911" y="4135597"/><a:ext cx="7882551" cy="369332"/><a:chOff x="408213" y="4009251"/><a:chExt cx="7882551" cy="369332"/></a:xfrm></p:grpSpPr><p:sp><p:nvSpPr><p:cNvPr id="2" name="ZoneTexte 1"><a:extLst><a:ext uri="{FF2B5EF4-FFF2-40B4-BE49-F238E27FC236}"><a16:creationId xmlns:a16="http://schemas.microsoft.com/office/drawing/2014/main" id="{BA8EAE42-252A-74A6-0F61-B450A27DE00D}"/></a:ext></a:extLst></p:cNvPr><p:cNvSpPr txBox="1"/><p:nvPr/></p:nvSpPr><p:spPr><a:xfrm><a:off x="408213" y="4009251"/><a:ext cx="2310998" cy="369332"/></a:xfrm><a:prstGeom prst="rect"><a:avLst/></a:prstGeom><a:noFill/></p:spPr><p:txBody><a:bodyPr wrap="square" rtlCol="0"><a:spAutoFit/></a:bodyPr><a:lstStyle/><a:p><a:r><a:rPr lang="fr-FR" i="1" u="sng" dirty="0" err="1"><a:solidFill>val="177BBE"/></a:solidFill></a:rPr><a:t>Presented</a:t></a:r><a:r><a:rPr lang="fr-FR" i="1" u="sng" dirty="0"><a:solidFill>val="177BBE"/></a:solidFill></a:rPr><a:t> by :</a:t></a:r></a:p></p:txBody></p:sp><p:sp><p:nvSpPr><p:cNvPr id="10" name="ZoneTexte 9"><a:extLst><a:ext uri="{FF2B5EF4-FFF2-40B4-BE49-F238E27FC236}"><a16:creationId xmlns:a16="http://schemas.microsoft.com/office/drawing/2014/main" id="{C3992C28-3FA6-2C88-8FFD-28432C1E87AE}"/></a:ext></a:extLst></p:cNvPr><p:cNvSpPr txBox="1"/><p:nvPr/></p:nvSpPr><p:spPr><a:xfrm><a:off x="2649954" y="4009251"/><a:ext cx="2357454" cy="369332"/></a:xfrm><a:prstGeom prst="rect"><a:avLst/></a:prstGeom><a:noFill/></p:spPr><p:txBody><a:bodyPr wrap="square" rtlCol="0"><a:spAutoFit/></a:bodyPr><a:lstStyle/><a:p><a:r><a:rPr lang="fr-FR" i="1" u="sng" dirty="0" err="1"><a:solidFill>val="177BBE"/></a:solidFill></a:rPr><a:t>Thesis</a:t></a:r><a:r><a:rPr lang="fr-FR" i="1" u="sng" dirty="0"><a:solidFill>val="177BBE"/></a:solidFill></a:rPr><a:t> </a:t></a:r><a:r><a:rPr lang="fr-FR" i="1" u="sng" dirty="0" err="1"><a:solidFill>val="177BBE"/></a:solidFill></a:rPr><a:t>supervisor</a:t></a:r><a:r><a:rPr lang="fr-FR" i="1" u="sng" dirty="0"><a:solidFill>val="177BBE"/></a:solidFill></a:rPr><a:t> :</a:t></a:r></a:p></p:txBody></p:sp><p:sp><p:nvSpPr><p:cNvPr id="20" name="ZoneTexte 19"><a:extLst><a:ext uri="{FF2B5EF4-FFF2-40B4-BE49-F238E27FC236}"><a16:creationId xmlns:a16="http://schemas.microsoft.com/office/drawing/2014/main" id="{26F3F808-1C9F-8B4B-B3A2-2725DFA16014}"/></a:ext></a:extLst></p:cNvPr><p:cNvSpPr txBox="1"/><p:nvPr/></p:nvSpPr><p:spPr><a:xfrm><a:off x="5933310" y="4009251"/><a:ext cx="2357454" cy="369332"/></a:xfrm><a:prstGeom prst="rect"><a:avLst/></a:prstGeom><a:noFill/></p:spPr><p:txBody><a:bodyPr wrap="square" rtlCol="0"><a:spAutoFit/></a:bodyPr><a:lstStyle/><a:p><a:r><a:rPr lang="fr-FR" i="1" u="sng" dirty="0" err="1"><a:solidFill>val="177BBE"/></a:solidFill></a:rPr><a:t>Thesis</a:t></a:r><a:r><a:rPr lang="fr-FR" i="1" u="sng" dirty="0"><a:solidFill>val="177BBE"/></a:solidFill></a:rPr><a:t> </a:t></a:r><a:r><a:rPr lang="fr-FR" i="1" u="sng" dirty="0" err="1"><a:solidFill>val="177BBE"/></a:solidFill></a:rPr><a:t>co-supervisor</a:t></a:r><a:r><a:rPr lang="fr-FR" i="1" u="sng" dirty="0"><a:solidFill>val="177BBE"/></a:solidFill></a:rPr><a:t> :</a:t></a:r></a:p></p:txBody></p:sp></p:grpSp><p:grpSp><p:nvGrpSpPr><p:cNvPr id="35" name="Groupe 34"><a:extLst><a:ext uri="{FF2B5EF4-FFF2-40B4-BE49-F238E27FC236}"><a16:creationId xmlns:a16="http://schemas.microsoft.com/office/drawing/2014/main" id="{337C6418-4D23-7893-B99E-BB2D30B6E5BE}"/></a:ext></a:extLst></p:cNvPr><p:cNvGrpSpPr/><p:nvPr/></p:nvGrpSpPr><p:grpSpPr><a:xfrm><a:off x="372653" y="4604834"/><a:ext cx="8937066" cy="338554"/><a:chOff x="372653" y="4391278"/><a:chExt cx="8937066" cy="338554"/></a:xfrm></p:grpSpPr><p:sp><p:nvSpPr><p:cNvPr id="7" name="ZoneTexte 6"><a:extLst><a:ext uri="{FF2B5EF4-FFF2-40B4-BE49-F238E27FC236}"><a16:creationId xmlns:a16="http://schemas.microsoft.com/office/drawing/2014/main" id="{F5C89BF1-E82F-4464-7204-BC74EF966D36}"/></a:ext></a:extLst></p:cNvPr><p:cNvSpPr txBox="1"/><p:nvPr/></p:nvSpPr><p:spPr><a:xfrm><a:off x="372653" y="4391278"/><a:ext cx="2942306" cy="338554"/></a:xfrm><a:prstGeom prst="rect"><a:avLst/></a:prstGeom><a:noFill/></p:spPr><p:txBody><a:bodyPr wrap="square" rtlCol="0"><a:spAutoFit/></a:bodyPr><a:lstStyle/><a:p><a:r><a:rPr lang="fr-FR" sz="1600" dirty="0"><a:latin typeface="Century" pitchFamily="18" charset="0"/></a:rPr><a:t>BELACEL Madani</a:t></a:r></a:p></p:txBody></p:sp><p:sp><p:nvSpPr><p:cNvPr id="9" name="ZoneTexte 8"><a:extLst><a:ext uri="{FF2B5EF4-FFF2-40B4-BE49-F238E27FC236}"><a16:creationId xmlns:a16="http://schemas.microsoft.com/office/drawing/2014/main" id="{78FC1AAF-64CC-4685-CB41-ACE237C13BE7}"/></a:ext></a:extLst></p:cNvPr><p:cNvSpPr txBox="1"/><p:nvPr/></p:nvSpPr><p:spPr><a:xfrm><a:off x="2649953" y="4391278"/><a:ext cx="3508208" cy="338554"/></a:xfrm><a:prstGeom prst="rect"><a:avLst/></a:prstGeom><a:noFill/></p:spPr><p:txBody><a:bodyPr wrap="square" rtlCol="0"><a:spAutoFit/></a:bodyPr><a:lstStyle/><a:p><a:r><a:rPr lang="fr-FR" sz="1600" dirty="0"><a:latin typeface="Century" pitchFamily="18" charset="0"/></a:rPr><a:t>Pr. BELKHEIR Mohammed</a:t></a:r></a:p></p:txBody></p:sp><p:sp><p:nvSpPr><p:cNvPr id="26" name="ZoneTexte 25"><a:extLst><a:ext uri="{FF2B5EF4-FFF2-40B4-BE49-F238E27FC236}"><a16:creationId xmlns:a16="http://schemas.microsoft.com/office/drawing/2014/main" id="{4888350A-5618-390D-9DFF-7B4118E83051}"/></a:ext></a:extLst></p:cNvPr><p:cNvSpPr txBox="1"/><p:nvPr/></p:nvSpPr><p:spPr><a:xfrm><a:off x="5801511" y="4391278"/><a:ext cx="3508208" cy="338554"/></a:xfrm><a:prstGeom prst="rect"><a:avLst/></a:prstGeom><a:noFill/></p:spPr><p:txBody><a:bodyPr wrap="square" rtlCol="0"><a:spAutoFit/></a:bodyPr><a:lstStyle/><a:p><a:r><a:rPr lang="fr-FR" sz="1600" dirty="0"><a:latin typeface="Century" pitchFamily="18" charset="0"/></a:rPr><a:t>Pr. BOUKLI HACENE Sofiane</a:t></a:r></a:p></p:txBody></p:sp></p:grpSp><p:graphicFrame><p:nvGraphicFramePr><p:cNvPr id="28" name="Tableau 27"><a:extLst><a:ext uri="{FF2B5EF4-FFF2-40B4-BE49-F238E27FC236}"><a16:creationId xmlns:a16="http://schemas.microsoft.com/office/drawing/2014/main" id="{D9574334-1F4B-B7CA-9EBD-04A56AD9DB41}"/></a:ext></a:extLst></p:cNvPr><p:cNvGraphicFramePr><a:graphicFrameLocks noGrp="1"/></p:cNvGraphicFramePr><p:nvPr><p:extLst><p:ext uri="{D42A27DB-BD31-4B8C-83A1-F6EECF244321}"><p14:modId xmlns:p14="http://schemas.microsoft.com/office/powerpoint/2010/main" val="2779612904"/></p:ext></p:extLst></p:nvPr></p:nvGraphicFramePr><p:xfrm><a:off x="475776" y="5043293"/><a:ext cx="8730821" cy="1074725"/></p:xfrm><a:graphic><a:graphicData uri="http://schemas.openxmlformats.org/drawingml/2006/table"><a:tbl><a:tblPr firstRow="1" firstCol="1" lastRow="1" lastCol="1" bandRow="1" bandCol="1"><a:tableStyleId>{2D5ABB26-0587-4C30-8999-92F81FD0307C}</a:tableStyleId></a:tblPr><a:tblGrid><a:gridCol w="446335"><a:extLst><a:ext uri="{9D8B030D-6E8A-4147-A177-3AD203B41FA5}"><a16:colId xmlns:a16="http://schemas.microsoft.com/office/drawing/2014/main" val="2382567562"/></a:ext></a:extLst></a:gridCol><a:gridCol w="3432640"><a:extLst><a:ext uri="{9D8B030D-6E8A-4147-A177-3AD203B41FA5}"><a16:colId xmlns:a16="http://schemas.microsoft.com/office/drawing/2014/main" val="4110526928"/></a:ext></a:extLst></a:gridCol><a:gridCol w="3222885"><a:extLst><a:ext uri="{9D8B030D-6E8A-4147-A177-3AD203B41FA5}"><a16:colId xmlns:a16="http://schemas.microsoft.com/office/drawing/2014/main" val="2104548799"/></a:ext></a:extLst></a:gridCol><a:gridCol w="1628961"><a:extLst><a:ext uri="{9D8B030D-6E8A-4147-A177-3AD203B41FA5}"><a16:colId xmlns:a16="http://schemas.microsoft.com/office/drawing/2014/main" val="3961420401"/></a:ext></a:extLst></a:gridCol></a:tblGrid><a:tr h="225464"><a:tc><a:txBody><a:bodyPr/><a:lstStyle/><a:p><a:pPr marL="31750"><a:lnSpc><a:spcPts val="1275"/></a:lnSpc><a:spcBef><a:spcPts val="75"/></a:spcBef><a:spcAft><a:spcPts val="0"/></a:spcAft></a:pPr><a:r><a:rPr lang="fr-FR" sz="1800" b="0" spc="-25" dirty="0"><a:solidFill><a:schemeClr val="tx1"/></a:solidFill><a:effectLst/><a:latin typeface="Poppins"/></a:rPr><a:t>Dr.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BELFEDHAL ALAE EDDINE</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6200" algn="just"><a:lnSpc><a:spcPts val="1275"/></a:lnSpc><a:spcBef><a:spcPts val="75"/></a:spcBef><a:spcAft><a:spcPts val="0"/></a:spcAft></a:pPr><a:r><a:rPr lang="en-US" sz="1800" b="0" dirty="0"><a:solidFill><a:schemeClr val="tx1"/></a:solidFill><a:effectLst/><a:latin typeface="Poppins"/></a:rPr><a:t>University of Sidi Bel </a:t></a:r><a:r><a:rPr lang="en-US" sz="1800" b="0" dirty="0" err="1"><a:solidFill><a:schemeClr val="tx1"/></a:solidFill><a:effectLst/><a:latin typeface="Poppins"/></a:rPr><a:t>Abbès</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5565" algn="just"><a:lnSpc><a:spcPts val="1275"/></a:lnSpc><a:spcBef><a:spcPts val="75"/></a:spcBef><a:spcAft><a:spcPts val="0"/></a:spcAft></a:pPr><a:r><a:rPr lang="fr-FR" sz="1800" dirty="0" err="1"><a:latin typeface="Poppins"/></a:rPr><a:t>President</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extLst><a:ext uri="{0D108BD9-81ED-4DB2-BD59-A6C34878D82A}"><a16:rowId xmlns:a16="http://schemas.microsoft.com/office/drawing/2014/main" val="1085568174"/></a:ext></a:extLst></a:tr><a:tr h="309261"><a:tc><a:txBody><a:bodyPr/><a:lstStyle/><a:p><a:pPr marL="31750"><a:lnSpc><a:spcPts val="1275"/></a:lnSpc></a:pPr><a:r><a:rPr lang="fr-FR" sz="1800" b="0" spc="-25"><a:solidFill><a:schemeClr val="tx1"/></a:solidFill><a:effectLst/><a:latin typeface="Poppins"/></a:rPr><a:t>Dr.</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KHOBZAOUI ABDELKADER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6200" algn="just"><a:lnSpc><a:spcPts val="1275"/></a:lnSpc></a:pPr><a:r><a:rPr lang="en-US" sz="1800" b="0"><a:solidFill><a:schemeClr val="tx1"/></a:solidFill><a:effectLst/><a:latin typeface="Poppins"/></a:rPr><a:t>University of Sidi Bel Abbès</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5565" algn="just"><a:lnSpc><a:spcPts val="1275"/></a:lnSpc></a:pPr><a:r><a:rPr kumimoji="0" lang="fr-FR" sz="1800" b="0" i="0" u="none" strike="noStrike" kern="1200" cap="none" spc="0" normalizeH="0" baseline="0" noProof="0" dirty="0"><a:ln><a:noFill/></a:ln><a:solidFill><a:prstClr val="black"/></a:solidFill><a:effectLst/><a:uLnTx/><a:uFillTx/><a:latin typeface="Poppins"/><a:ea typeface="+mn-ea"/><a:cs typeface="+mn-cs"/></a:rPr><a:t>Examiner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extLst><a:ext uri="{0D108BD9-81ED-4DB2-BD59-A6C34878D82A}"><a16:rowId xmlns:a16="http://schemas.microsoft.com/office/drawing/2014/main" val="2228932521"/></a:ext></a:extLst></a:tr><a:tr h="230739"><a:tc><a:txBody><a:bodyPr/><a:lstStyle/><a:p><a:pPr marL="31750"><a:lnSpc><a:spcPts val="1275"/></a:lnSpc></a:pPr><a:r><a:rPr lang="fr-FR" sz="1800" b="0" spc="-25" dirty="0"><a:solidFill><a:schemeClr val="tx1"/></a:solidFill><a:effectLst/><a:latin typeface="Poppins"/></a:rPr><a:t>Dr.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BELKHIRA HICHEME SID AHMED</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6200" algn="just"><a:lnSpc><a:spcPts val="1275"/></a:lnSpc></a:pPr><a:r><a:rPr lang="en-US" sz="1800" b="0" spc="-20" dirty="0"><a:solidFill><a:schemeClr val="tx1"/></a:solidFill><a:effectLst/><a:latin typeface="Poppins"/></a:rPr><a:t>Higher Normal School of </a:t></a:r><a:r><a:rPr lang="en-US" sz="1800" b="0" spc="-20" dirty="0" err="1"><a:solidFill><a:schemeClr val="tx1"/></a:solidFill><a:effectLst/><a:latin typeface="Poppins"/></a:rPr><a:t>Saïda</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5565" algn="just"><a:lnSpc><a:spcPts val="1275"/></a:lnSpc></a:pPr><a:r><a:rPr kumimoji="0" lang="fr-FR" sz="1800" b="0" i="0" u="none" strike="noStrike" kern="1200" cap="none" spc="0" normalizeH="0" baseline="0" noProof="0"><a:ln><a:noFill/></a:ln><a:solidFill><a:prstClr val="black"/></a:solidFill><a:effectLst/><a:uLnTx/><a:uFillTx/><a:latin typeface="Poppins"/><a:ea typeface="+mn-ea"/><a:cs typeface="+mn-cs"/></a:rPr><a:t>Examiner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extLst><a:ext uri="{0D108BD9-81ED-4DB2-BD59-A6C34878D82A}"><a16:rowId xmlns:a16="http://schemas.microsoft.com/office/drawing/2014/main" val="3768334905"/></a:ext></a:extLst></a:tr><a:tr h="309261"><a:tc><a:txBody><a:bodyPr/><a:lstStyle/><a:p><a:pPr marL="31750"><a:lnSpc><a:spcPts val="1255"/></a:lnSpc></a:pPr><a:r><a:rPr lang="fr-FR" sz="1800" b="0" spc="-25"><a:solidFill><a:schemeClr val="tx1"/></a:solidFill><a:effectLst/><a:latin typeface="Poppins"/></a:rPr><a:t>Pr.</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a:solidFill><a:schemeClr val="tx1"/></a:solidFill><a:effectLst/><a:latin typeface="Poppins"/></a:rPr><a:t>DEBBAL MOHAMED</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6200" algn="just"><a:lnSpc><a:spcPts val="1255"/></a:lnSpc></a:pPr><a:r><a:rPr lang="en-US" sz="1800" b="0" spc="-20" dirty="0"><a:solidFill><a:schemeClr val="tx1"/></a:solidFill><a:effectLst/><a:latin typeface="Poppins"/></a:rPr><a:t>University of Aïn </a:t></a:r><a:r><a:rPr lang="en-US" sz="1800" b="0" spc="-20" dirty="0" err="1"><a:solidFill><a:schemeClr val="tx1"/></a:solidFill><a:effectLst/><a:latin typeface="Poppins"/></a:rPr><a:t>Témouchent</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75565" algn="just"><a:lnSpc><a:spcPts val="1255"/></a:lnSpc></a:pPr><a:r><a:rPr kumimoji="0" lang="fr-FR" sz="1800" b="0" i="0" u="none" strike="noStrike" kern="1200" cap="none" spc="0" normalizeH="0" baseline="0" noProof="0" dirty="0"><a:ln><a:noFill/></a:ln><a:solidFill><a:prstClr val="black"/></a:solidFill><a:effectLst/><a:uLnTx/><a:uFillTx/><a:latin typeface="Poppins"/><a:ea typeface="+mn-ea"/><a:cs typeface="+mn-cs"/></a:rPr><a:t>Examiner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extLst><a:ext uri="{0D108BD9-81ED-4DB2-BD59-A6C34878D82A}"><a16:rowId xmlns:a16="http://schemas.microsoft.com/office/drawing/2014/main" val="2432425558"/></a:ext></a:extLst></a:tr></a:tbl></a:graphicData></a:graphic></p:graphicFrame><p:sp><p:nvSpPr><p:cNvPr id="31" name="ZoneTexte 30"><a:extLst><a:ext uri="{FF2B5EF4-FFF2-40B4-BE49-F238E27FC236}"><a16:creationId xmlns:a16="http://schemas.microsoft.com/office/drawing/2014/main" id="{4D712E68-12DC-25A1-3625-75EB94F3080C}"/></a:ext></a:extLst></p:cNvPr><p:cNvSpPr txBox="1"/><p:nvPr/></p:nvSpPr><p:spPr><a:xfrm><a:off x="2254323" y="1445503"/><a:ext cx="5166882" cy="1015663"/></a:xfrm><a:prstGeom prst="rect"><a:avLst/></a:prstGeom><a:noFill/></p:spPr><p:txBody><a:bodyPr wrap="square"><a:spAutoFit/></a:bodyPr><a:lstStyle/><a:p><a:r><a:rPr lang="en-US" sz="2000" b="1" dirty="0"/><a:t>Domain</a:t></a:r><a:r><a:rPr lang="en-US" sz="2000" dirty="0"/><a:t>: Mathematics and Computer Science</a:t></a:r></a:p><a:p><a:r><a:rPr lang="en-US" sz="2000" b="1" dirty="0"/><a:t>Field</a:t></a:r><a:r><a:rPr lang="en-US" sz="2000" dirty="0"/><a:t>: Computer Science</a:t></a:r></a:p><a:p><a:r><a:rPr lang="en-US" sz="2000" b="1" dirty="0"/><a:t>Specialty</a:t></a:r><a:r><a:rPr lang="en-US" sz="2000" dirty="0"/><a:t>: Computer Systems Networks</a:t></a:r></a:p></p:txBody></p:sp><p:grpSp><p:nvGrpSpPr><p:cNvPr id="36" name="Groupe 35"><a:extLst><a:ext uri="{FF2B5EF4-FFF2-40B4-BE49-F238E27FC236}"><a16:creationId xmlns:a16="http://schemas.microsoft.com/office/drawing/2014/main" id="{B56640AA-9405-EDF2-0A0C-7D98D2680EC5}"/></a:ext></a:extLst></p:cNvPr><p:cNvGrpSpPr/><p:nvPr/></p:nvGrpSpPr><p:grpSpPr><a:xfrm><a:off x="726386" y="2743083"/><a:ext cx="8229600" cy="1292609"/><a:chOff x="726386" y="2590613"/><a:chExt cx="8229600" cy="1292609"/></a:xfrm></p:grpSpPr><p:pic><p:nvPicPr><p:cNvPr id="37" name="Image 36" descr="Une image contenant étoile, espace, constellation, Univers&#xA;&#xA;Le contenu généré par l’IA peut être incorrect."><a:extLst><a:ext uri="{FF2B5EF4-FFF2-40B4-BE49-F238E27FC236}"><a16:creationId xmlns:a16="http://schemas.microsoft.com/office/drawing/2014/main" id="{002D9849-7DEB-5F03-52A3-A54641A8A463}"/></a:ext></a:extLst></p:cNvPr><p:cNvPicPr><a:picLocks noChangeAspect="1"/></p:cNvPicPr><p:nvPr/></p:nvPicPr><p:blipFill><a:blip r:embed="rId4"/><a:stretch><a:fillRect/></a:stretch></p:blipFill><p:spPr><a:xfrm><a:off x="823963" y="2590613"/><a:ext cx="7928808" cy="1292609"/></a:xfrm><a:prstGeom prst="rect"><a:avLst/></a:prstGeom></p:spPr></p:pic><p:sp><p:nvSpPr><p:cNvPr id="38" name="TextBox 5"><a:extLst><a:ext uri="{FF2B5EF4-FFF2-40B4-BE49-F238E27FC236}"><a16:creationId xmlns:a16="http://schemas.microsoft.com/office/drawing/2014/main" id="{16D32644-BE3E-1910-A641-EEC01E9E7B92}"/></a:ext></a:extLst></p:cNvPr><p:cNvSpPr txBox="1"/><p:nvPr/></p:nvSpPr><p:spPr><a:xfrm><a:off x="726386" y="2729000"/><a:ext cx="8229600" cy="1077218"/></a:xfrm><a:prstGeom prst="rect"><a:avLst/></a:prstGeom><a:noFill/></p:spPr><p:txBody><a:bodyPr wrap="square"><a:spAutoFit/></a:bodyPr><a:lstStyle/><a:p><a:pPr algn="ctr"><a:defRPr sz="2200"><a:solidFill>val="177BBE"/></a:solidFill><a:latin typeface="Poppins"/></a:defRPr></a:pPr><a:r><a:rPr sz="3200" dirty="0"><a:solidFill><a:schemeClr val="bg1"/></a:solidFill></a:rPr><a:t>La </a:t></a:r><a:r><a:rPr lang="fr-FR" sz="3200" dirty="0"><a:solidFill><a:schemeClr val="bg1"/></a:solidFill></a:rPr><a:t>Qualité</a:t></a:r><a:r><a:rPr sz="3200" dirty="0"><a:solidFill><a:schemeClr val="bg1"/></a:solidFill></a:rPr><a:t> de Service dans les Réseaux </a:t></a:r><a:endParaRPr lang="fr-FR" sz="3200" dirty="0"><a:solidFill><a:schemeClr val="bg1"/></a:solidFill></a:endParaRPr></a:p><a:p><a:pPr algn="ctr"><a:defRPr sz="2200"><a:solidFill>val="177BBE"/></a:solidFill><a:latin typeface="Poppins"/></a:defRPr></a:pPr><a:r><a:rPr sz="3200" dirty="0"><a:solidFill><a:schemeClr val="bg1"/></a:solidFill></a:rPr><a:t>IoT </a:t></a:r><a:r><a:rPr lang="fr-FR" sz="3200" dirty="0"><a:solidFill><a:schemeClr val="bg1"/></a:solidFill></a:rPr><a:t>Basés</a:t></a:r><a:r><a:rPr sz="3200" dirty="0"><a:solidFill><a:schemeClr val="bg1"/></a:solidFill></a:rPr><a:t> sur RPL</a:t></a:r></a:p></p:txBody></p:sp></p:gr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13" name="Group 7584"><a:extLst><a:ext uri="{FF2B5EF4-FFF2-40B4-BE49-F238E27FC236}"><a16:creationId xmlns:a16="http://schemas.microsoft.com/office/drawing/2014/main" id="{17E86522-BD28-C5A2-F395-D513508EFEB4}"/></a:ext></a:extLst></p:cNvPr><p:cNvGrpSpPr/><p:nvPr/></p:nvGrpSpPr><p:grpSpPr><a:xfrm><a:off x="-1" y="6616929"/><a:ext cx="9288000" cy="241071"/><a:chOff x="0" y="95085"/><a:chExt cx="5792348" cy="112882"/></a:xfrm></p:grpSpPr><p:sp><p:nvSpPr><p:cNvPr id="14" name="Shape 7931"><a:extLst><a:ext uri="{FF2B5EF4-FFF2-40B4-BE49-F238E27FC236}"><a16:creationId xmlns:a16="http://schemas.microsoft.com/office/drawing/2014/main" id="{F37CFC37-B2FD-5D30-B157-30A95AD8E4A2}"/></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15" name="Rectangle 14"><a:extLst><a:ext uri="{FF2B5EF4-FFF2-40B4-BE49-F238E27FC236}"><a16:creationId xmlns:a16="http://schemas.microsoft.com/office/drawing/2014/main" id="{14C6FF5C-C339-5C8D-7DBC-3E65CEA60F43}"/></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6" name="Shape 7944"><a:extLst><a:ext uri="{FF2B5EF4-FFF2-40B4-BE49-F238E27FC236}"><a16:creationId xmlns:a16="http://schemas.microsoft.com/office/drawing/2014/main" id="{38EBDACA-13B9-F5CE-A1D6-9EE609EEE15A}"/></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7" name="Rectangle 16"><a:extLst><a:ext uri="{FF2B5EF4-FFF2-40B4-BE49-F238E27FC236}"><a16:creationId xmlns:a16="http://schemas.microsoft.com/office/drawing/2014/main" id="{F74D2B46-5B5E-F707-2979-9C3704658143}"/></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8" name="Shape 7963"><a:extLst><a:ext uri="{FF2B5EF4-FFF2-40B4-BE49-F238E27FC236}"><a16:creationId xmlns:a16="http://schemas.microsoft.com/office/drawing/2014/main" id="{D79ED590-1293-C263-6E32-6E84F26D8062}"/></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9" name="Rectangle 18"><a:extLst><a:ext uri="{FF2B5EF4-FFF2-40B4-BE49-F238E27FC236}"><a16:creationId xmlns:a16="http://schemas.microsoft.com/office/drawing/2014/main" id="{39564035-9AF2-2E25-A2AC-B5FADADE28B4}"/></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2/19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21" name="Groupe 20"><a:extLst><a:ext uri="{FF2B5EF4-FFF2-40B4-BE49-F238E27FC236}"><a16:creationId xmlns:a16="http://schemas.microsoft.com/office/drawing/2014/main" id="{79A3253E-BE88-D37F-9620-A3896031F46B}"/></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22" name="Picture 4" descr="logo.jpg"><a:extLst><a:ext uri="{FF2B5EF4-FFF2-40B4-BE49-F238E27FC236}"><a16:creationId xmlns:a16="http://schemas.microsoft.com/office/drawing/2014/main" id="{E47BD370-9725-455D-7C89-6EBEABFC24FD}"/></a:ext></a:extLst></p:cNvPr><p:cNvPicPr><a:picLocks noChangeAspect="1"/></p:cNvPicPr><p:nvPr/></p:nvPicPr><p:blipFill><a:blip r:embed="rId3"/><a:stretch><a:fillRect/></a:stretch></p:blipFill><p:spPr><a:xfrm><a:off x="7950314" y="1873025"/><a:ext cx="1440000" cy="664615"/></a:xfrm><a:prstGeom prst="rect"><a:avLst/></a:prstGeom><a:grpFill/></p:spPr></p:pic><p:sp><p:nvSpPr><p:cNvPr id="23" name="Rectangle 22"><a:extLst><a:ext uri="{FF2B5EF4-FFF2-40B4-BE49-F238E27FC236}"><a16:creationId xmlns:a16="http://schemas.microsoft.com/office/drawing/2014/main" id="{4737723E-3A14-C2B8-69AE-E70AFF2947F8}"/></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endParaRPr lang="fr-FR" sz="2400" b="1" dirty="0"><a:solidFill>val="FFFFFF"/></a:solidFill><a:latin typeface="Poppins"/></a:endParaRPr></a:p></p:txBody></p:sp></p:grpSp><p:sp><p:nvSpPr><p:cNvPr id="3" name="TextBox 2"/><p:cNvSpPr txBox="1"/><p:nvPr/></p:nvSpPr><p:spPr><a:xfrm><a:off x="1756090" y="141294"/><a:ext cx="5720493" cy="646331"/></a:xfrm><a:prstGeom prst="rect"><a:avLst/></a:prstGeom><a:noFill/></p:spPr><p:txBody><a:bodyPr wrap="square"><a:spAutoFit/></a:bodyPr><a:lstStyle/><a:p><a:pPr algn="ctr"><a:defRPr sz="3600" b="1"><a:solidFill>val="177BBE"/></a:solidFill><a:latin typeface="Poppins"/></a:defRPr></a:pPr><a:r><a:rPr lang="fr-FR" sz="3600" b="1" dirty="0"><a:solidFill><a:schemeClr val="bg1"/></a:solidFill><a:latin typeface="Poppins"/></a:rPr><a:t>THÈSE DE DOCTORAT</a:t></a:r><a:endParaRPr dirty="0"><a:solidFill><a:schemeClr val="bg1"/></a:solidFill></a:endParaRPr></a:p></p:txBody></p:sp><p:sp><p:nvSpPr><p:cNvPr id="4" name="TextBox 3"/><p:cNvSpPr txBox="1"/><p:nvPr/></p:nvSpPr><p:spPr><a:xfrm><a:off x="2257101" y="921789"/><a:ext cx="4718471" cy="523220"/></a:xfrm><a:prstGeom prst="rect"><a:avLst/></a:prstGeom><a:noFill/></p:spPr><p:txBody><a:bodyPr wrap="none"><a:spAutoFit/></a:bodyPr><a:lstStyle/><a:p><a:pPr algn="ctr"><a:defRPr sz="2800" b="1"><a:solidFill>val="177BBE"/></a:solidFill><a:latin typeface="Poppins"/></a:defRPr></a:pPr><a:r><a:rPr dirty="0"/><a:t>DOCTORAT EN SCIENCES</a:t></a:r></a:p></p:txBody></p:sp><p:grpSp><p:nvGrpSpPr><p:cNvPr id="25" name="Groupe 24"><a:extLst><a:ext uri="{FF2B5EF4-FFF2-40B4-BE49-F238E27FC236}"><a16:creationId xmlns:a16="http://schemas.microsoft.com/office/drawing/2014/main" id="{089D1E30-CED3-9446-7E9E-2B25E305F681}"/></a:ext></a:extLst></p:cNvPr><p:cNvGrpSpPr/><p:nvPr/></p:nvGrpSpPr><p:grpSpPr><a:xfrm><a:off x="726386" y="2590613"/><a:ext cx="8229600" cy="1292609"/><a:chOff x="726386" y="2590613"/><a:chExt cx="8229600" cy="1292609"/></a:xfrm></p:grpSpPr><p:pic><p:nvPicPr><p:cNvPr id="33" name="Image 32" descr="Une image contenant étoile, espace, constellation, Univers&#xA;&#xA;Le contenu généré par l’IA peut être incorrect."><a:extLst><a:ext uri="{FF2B5EF4-FFF2-40B4-BE49-F238E27FC236}"><a16:creationId xmlns:a16="http://schemas.microsoft.com/office/drawing/2014/main" id="{2F1A116F-F971-F2ED-B660-1FED24FE0E82}"/></a:ext></a:extLst></p:cNvPr><p:cNvPicPr><a:picLocks noChangeAspect="1"/></p:cNvPicPr><p:nvPr/></p:nvPicPr><p:blipFill><a:blip r:embed="rId4"/><a:stretch><a:fillRect/></a:stretch></p:blipFill><p:spPr><a:xfrm><a:off x="823963" y="2590613"/><a:ext cx="7928808" cy="1292609"/></a:xfrm><a:prstGeom prst="rect"><a:avLst/></a:prstGeom></p:spPr></p:pic><p:sp><p:nvSpPr><p:cNvPr id="6" name="TextBox 5"/><p:cNvSpPr txBox="1"/><p:nvPr/></p:nvSpPr><p:spPr><a:xfrm><a:off x="726386" y="2729000"/><a:ext cx="8229600" cy="1077218"/></a:xfrm><a:prstGeom prst="rect"><a:avLst/></a:prstGeom><a:noFill/></p:spPr><p:txBody><a:bodyPr wrap="square"><a:spAutoFit/></a:bodyPr><a:lstStyle/><a:p><a:pPr algn="ctr"><a:defRPr sz="2200"><a:solidFill>val="177BBE"/></a:solidFill><a:latin typeface="Poppins"/></a:defRPr></a:pPr><a:r><a:rPr sz="3200" dirty="0"><a:solidFill><a:schemeClr val="bg1"/></a:solidFill></a:rPr><a:t>La </a:t></a:r><a:r><a:rPr lang="fr-FR" sz="3200" dirty="0"><a:solidFill><a:schemeClr val="bg1"/></a:solidFill></a:rPr><a:t>Qualité</a:t></a:r><a:r><a:rPr sz="3200" dirty="0"><a:solidFill><a:schemeClr val="bg1"/></a:solidFill></a:rPr><a:t> de Service dans les Réseaux </a:t></a:r><a:endParaRPr lang="fr-FR" sz="3200" dirty="0"><a:solidFill><a:schemeClr val="bg1"/></a:solidFill></a:endParaRPr></a:p><a:p><a:pPr algn="ctr"><a:defRPr sz="2200"><a:solidFill>val="177BBE"/></a:solidFill><a:latin typeface="Poppins"/></a:defRPr></a:pPr><a:r><a:rPr sz="3200" dirty="0"><a:solidFill><a:schemeClr val="bg1"/></a:solidFill></a:rPr><a:t>IoT </a:t></a:r><a:r><a:rPr lang="fr-FR" sz="3200" dirty="0"><a:solidFill><a:schemeClr val="bg1"/></a:solidFill></a:rPr><a:t>Basés</a:t></a:r><a:r><a:rPr sz="3200" dirty="0"><a:solidFill><a:schemeClr val="bg1"/></a:solidFill></a:rPr><a:t> sur RPL</a:t></a:r></a:p></p:txBody></p:sp></p:grpSp><p:sp><p:nvSpPr><p:cNvPr id="8" name="TextBox 7"/><p:cNvSpPr txBox="1"/><p:nvPr/></p:nvSpPr><p:spPr><a:xfrm><a:off x="3228469" y="6217920"/><a:ext cx="3225435" cy="369332"/></a:xfrm><a:prstGeom prst="rect"><a:avLst/></a:prstGeom><a:noFill/></p:spPr><p:txBody><a:bodyPr wrap="none"><a:spAutoFit/></a:bodyPr><a:lstStyle/><a:p><a:r><a:rPr lang="fr-FR" b="1" dirty="0"><a:effectLst/></a:rPr><a:t>Année universitaire : 2025-2026</a:t></a:r><a:endParaRPr lang="fr-FR" dirty="0"><a:effectLst/></a:endParaRPr></a:p></p:txBody></p:sp><p:sp><p:nvSpPr><p:cNvPr id="11" name="Flèche : droite 10"><a:hlinkClick r:id="" action="ppaction://hlinkshowjump?jump=nextslide"/><a:extLst><a:ext uri="{FF2B5EF4-FFF2-40B4-BE49-F238E27FC236}"><a16:creationId xmlns:a16="http://schemas.microsoft.com/office/drawing/2014/main" id="{D97CA9BA-3A68-722A-9339-508FDBB4AF5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12" name="Flèche : droite 11"><a:hlinkClick r:id="" action="ppaction://hlinkshowjump?jump=previousslide"/><a:extLst><a:ext uri="{FF2B5EF4-FFF2-40B4-BE49-F238E27FC236}"><a16:creationId xmlns:a16="http://schemas.microsoft.com/office/drawing/2014/main" id="{D200FA1A-B6F2-CD63-C481-3E78B4296F62}"/></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grpSp><p:nvGrpSpPr><p:cNvPr id="24" name="Groupe 23"><a:extLst><a:ext uri="{FF2B5EF4-FFF2-40B4-BE49-F238E27FC236}"><a16:creationId xmlns:a16="http://schemas.microsoft.com/office/drawing/2014/main" id="{7C444B45-CA6F-0EC9-99AC-2270254B0312}"/></a:ext></a:extLst></p:cNvPr><p:cNvGrpSpPr/><p:nvPr/></p:nvGrpSpPr><p:grpSpPr><a:xfrm><a:off x="899911" y="3940382"/><a:ext cx="7882551" cy="369332"/><a:chOff x="408213" y="4009251"/><a:chExt cx="7882551" cy="369332"/></a:xfrm></p:grpSpPr><p:sp><p:nvSpPr><p:cNvPr id="2" name="ZoneTexte 1"><a:extLst><a:ext uri="{FF2B5EF4-FFF2-40B4-BE49-F238E27FC236}"><a16:creationId xmlns:a16="http://schemas.microsoft.com/office/drawing/2014/main" id="{BA8EAE42-252A-74A6-0F61-B450A27DE00D}"/></a:ext></a:extLst></p:cNvPr><p:cNvSpPr txBox="1"/><p:nvPr/></p:nvSpPr><p:spPr><a:xfrm><a:off x="408213" y="4009251"/><a:ext cx="2310998" cy="369332"/></a:xfrm><a:prstGeom prst="rect"><a:avLst/></a:prstGeom><a:noFill/></p:spPr><p:txBody><a:bodyPr wrap="square" rtlCol="0"><a:spAutoFit/></a:bodyPr><a:lstStyle/><a:p><a:r><a:rPr lang="fr-FR" b="1" i="1" u="sng" dirty="0"><a:solidFill>val="177BBE"/></a:solidFill></a:rPr><a:t>Présentée par :</a:t></a:r></a:p></p:txBody></p:sp><p:sp><p:nvSpPr><p:cNvPr id="10" name="ZoneTexte 9"><a:extLst><a:ext uri="{FF2B5EF4-FFF2-40B4-BE49-F238E27FC236}"><a16:creationId xmlns:a16="http://schemas.microsoft.com/office/drawing/2014/main" id="{C3992C28-3FA6-2C88-8FFD-28432C1E87AE}"/></a:ext></a:extLst></p:cNvPr><p:cNvSpPr txBox="1"/><p:nvPr/></p:nvSpPr><p:spPr><a:xfrm><a:off x="2649954" y="4009251"/><a:ext cx="2357454" cy="369332"/></a:xfrm><a:prstGeom prst="rect"><a:avLst/></a:prstGeom><a:noFill/></p:spPr><p:txBody><a:bodyPr wrap="square" rtlCol="0"><a:spAutoFit/></a:bodyPr><a:lstStyle/><a:p><a:r><a:rPr lang="fr-FR" b="1" i="1" u="sng" dirty="0"><a:solidFill>val="177BBE"/></a:solidFill></a:rPr><a:t>Directeur de thèse :</a:t></a:r></a:p></p:txBody></p:sp><p:sp><p:nvSpPr><p:cNvPr id="20" name="ZoneTexte 19"><a:extLst><a:ext uri="{FF2B5EF4-FFF2-40B4-BE49-F238E27FC236}"><a16:creationId xmlns:a16="http://schemas.microsoft.com/office/drawing/2014/main" id="{26F3F808-1C9F-8B4B-B3A2-2725DFA16014}"/></a:ext></a:extLst></p:cNvPr><p:cNvSpPr txBox="1"/><p:nvPr/></p:nvSpPr><p:spPr><a:xfrm><a:off x="5933310" y="4009251"/><a:ext cx="2357454" cy="369332"/></a:xfrm><a:prstGeom prst="rect"><a:avLst/></a:prstGeom><a:noFill/></p:spPr><p:txBody><a:bodyPr wrap="square" rtlCol="0"><a:spAutoFit/></a:bodyPr><a:lstStyle/><a:p><a:r><a:rPr lang="fr-FR" b="1" i="1" u="sng" dirty="0"><a:solidFill>val="177BBE"/></a:solidFill></a:rPr><a:t>Co-directeur de thèse :</a:t></a:r></a:p></p:txBody></p:sp></p:grpSp><p:graphicFrame><p:nvGraphicFramePr><p:cNvPr id="28" name="Tableau 27"><a:extLst><a:ext uri="{FF2B5EF4-FFF2-40B4-BE49-F238E27FC236}"><a16:creationId xmlns:a16="http://schemas.microsoft.com/office/drawing/2014/main" id="{D9574334-1F4B-B7CA-9EBD-04A56AD9DB41}"/></a:ext></a:extLst></p:cNvPr><p:cNvGraphicFramePr><a:graphicFrameLocks noGrp="1"/></p:cNvGraphicFramePr><p:nvPr><p:extLst><p:ext uri="{D42A27DB-BD31-4B8C-83A1-F6EECF244321}"><p14:modId xmlns:p14="http://schemas.microsoft.com/office/powerpoint/2010/main" val="1246497700"/></p:ext></p:extLst></p:nvPr></p:nvGraphicFramePr><p:xfrm><a:off x="475776" y="4916596"/><a:ext cx="8730821" cy="1167162"/></p:xfrm><a:graphic><a:graphicData uri="http://schemas.openxmlformats.org/drawingml/2006/table"><a:tbl><a:tblPr firstRow="1" firstCol="1" lastRow="1" lastCol="1" bandRow="1" bandCol="1"><a:tableStyleId>{2D5ABB26-0587-4C30-8999-92F81FD0307C}</a:tableStyleId></a:tblPr><a:tblGrid><a:gridCol w="446335"><a:extLst><a:ext uri="{9D8B030D-6E8A-4147-A177-3AD203B41FA5}"><a16:colId xmlns:a16="http://schemas.microsoft.com/office/drawing/2014/main" val="2382567562"/></a:ext></a:extLst></a:gridCol><a:gridCol w="3432640"><a:extLst><a:ext uri="{9D8B030D-6E8A-4147-A177-3AD203B41FA5}"><a16:colId xmlns:a16="http://schemas.microsoft.com/office/drawing/2014/main" val="4110526928"/></a:ext></a:extLst></a:gridCol><a:gridCol w="3492708"><a:extLst><a:ext uri="{9D8B030D-6E8A-4147-A177-3AD203B41FA5}"><a16:colId xmlns:a16="http://schemas.microsoft.com/office/drawing/2014/main" val="2104548799"/></a:ext></a:extLst></a:gridCol><a:gridCol w="1359138"><a:extLst><a:ext uri="{9D8B030D-6E8A-4147-A177-3AD203B41FA5}"><a16:colId xmlns:a16="http://schemas.microsoft.com/office/drawing/2014/main" val="3961420401"/></a:ext></a:extLst></a:gridCol></a:tblGrid><a:tr h="225464"><a:tc><a:txBody><a:bodyPr/><a:lstStyle/><a:p><a:pPr marL="31750"><a:lnSpc><a:spcPts val="1275"/></a:lnSpc><a:spcBef><a:spcPts val="75"/></a:spcBef><a:spcAft><a:spcPts val="0"/></a:spcAft></a:pPr><a:r><a:rPr lang="fr-FR" sz="1800" b="0" spc="-25" dirty="0"><a:solidFill><a:schemeClr val="tx1"/></a:solidFill><a:effectLst/><a:latin typeface="Poppins"/></a:rPr><a:t>Dr.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BELFEDHAL ALAE EDDINE</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r><a:rPr lang="fr-FR" dirty="0"><a:effectLst/></a:rPr><a:t>Université de Sidi Bel </a:t></a:r><a:r><a:rPr lang="fr-FR" dirty="0" err="1"><a:effectLst/></a:rPr><a:t>Abbès</a:t></a:r><a:endParaRPr lang="fr-FR" dirty="0"><a:effectLst/></a:endParaRPr></a:p></a:txBody><a:tcPr marL="0" marR="0" marT="0" marB="0" anchor="ctr"/></a:tc><a:tc><a:txBody><a:bodyPr/><a:lstStyle/><a:p><a:pPr marL="75565" marR="0" lvl="0" indent="0" algn="just" defTabSz="457200" rtl="0" eaLnBrk="1" fontAlgn="auto" latinLnBrk="0" hangingPunct="1"><a:lnSpc><a:spcPts val="1275"/></a:lnSpc><a:spcBef><a:spcPts val="75"/></a:spcBef><a:spcAft><a:spcPts val="0"/></a:spcAft><a:buClrTx/><a:buSzTx/><a:buFontTx/><a:buNone/><a:tabLst/><a:defRPr/></a:pPr><a:r><a:rPr lang="fr-FR" dirty="0"><a:effectLst/></a:rPr><a:t>Président</a:t></a:r></a:p></a:txBody><a:tcPr marL="0" marR="0" marT="0" marB="0" anchor="ctr"/></a:tc><a:extLst><a:ext uri="{0D108BD9-81ED-4DB2-BD59-A6C34878D82A}"><a16:rowId xmlns:a16="http://schemas.microsoft.com/office/drawing/2014/main" val="1085568174"/></a:ext></a:extLst></a:tr><a:tr h="309261"><a:tc><a:txBody><a:bodyPr/><a:lstStyle/><a:p><a:pPr marL="31750"><a:lnSpc><a:spcPts val="1275"/></a:lnSpc></a:pPr><a:r><a:rPr lang="fr-FR" sz="1800" b="0" spc="-25"><a:solidFill><a:schemeClr val="tx1"/></a:solidFill><a:effectLst/><a:latin typeface="Poppins"/></a:rPr><a:t>Dr.</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KHOBZAOUI ABDELKADER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r><a:rPr lang="fr-FR" dirty="0"><a:effectLst/></a:rPr><a:t>Université de Sidi Bel </a:t></a:r><a:r><a:rPr lang="fr-FR" dirty="0" err="1"><a:effectLst/></a:rPr><a:t>Abbès</a:t></a:r><a:endParaRPr lang="fr-FR" dirty="0"><a:effectLst/></a:endParaRPr></a:p></a:txBody><a:tcPr marL="0" marR="0" marT="0" marB="0" anchor="ctr"/></a:tc><a:tc><a:txBody><a:bodyPr/><a:lstStyle/><a:p><a:pPr marL="75565" marR="0" lvl="0" indent="0" algn="just" defTabSz="457200" rtl="0" eaLnBrk="1" fontAlgn="auto" latinLnBrk="0" hangingPunct="1"><a:lnSpc><a:spcPts val="1275"/></a:lnSpc><a:spcBef><a:spcPts val="0"/></a:spcBef><a:spcAft><a:spcPts val="0"/></a:spcAft><a:buClrTx/><a:buSzTx/><a:buFontTx/><a:buNone/><a:tabLst/><a:defRPr/></a:pPr><a:r><a:rPr lang="fr-FR" dirty="0"><a:effectLst/></a:rPr><a:t>Examinateur</a:t></a:r></a:p></a:txBody><a:tcPr marL="0" marR="0" marT="0" marB="0" anchor="ctr"/></a:tc><a:extLst><a:ext uri="{0D108BD9-81ED-4DB2-BD59-A6C34878D82A}"><a16:rowId xmlns:a16="http://schemas.microsoft.com/office/drawing/2014/main" val="2228932521"/></a:ext></a:extLst></a:tr><a:tr h="230739"><a:tc><a:txBody><a:bodyPr/><a:lstStyle/><a:p><a:pPr marL="31750"><a:lnSpc><a:spcPts val="1275"/></a:lnSpc></a:pPr><a:r><a:rPr lang="fr-FR" sz="1800" b="0" spc="-25" dirty="0"><a:solidFill><a:schemeClr val="tx1"/></a:solidFill><a:effectLst/><a:latin typeface="Poppins"/></a:rPr><a:t>Dr.</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 dirty="0"><a:solidFill><a:schemeClr val="tx1"/></a:solidFill><a:effectLst/><a:latin typeface="Poppins"/></a:rPr><a:t>BELKHIRA HICHEME SID AHMED</a:t></a:r><a:endParaRPr lang="fr-FR" sz="1800" b="0" dirty="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r><a:rPr lang="fr-FR" dirty="0"><a:effectLst/></a:rPr><a:t>École Normale Supérieure de Saïda</a:t></a:r></a:p></a:txBody><a:tcPr marL="0" marR="0" marT="0" marB="0" anchor="ctr"/></a:tc><a:tc><a:txBody><a:bodyPr/><a:lstStyle/><a:p><a:pPr marL="75565" marR="0" lvl="0" indent="0" algn="just" defTabSz="457200" rtl="0" eaLnBrk="1" fontAlgn="auto" latinLnBrk="0" hangingPunct="1"><a:lnSpc><a:spcPts val="1275"/></a:lnSpc><a:spcBef><a:spcPts val="0"/></a:spcBef><a:spcAft><a:spcPts val="0"/></a:spcAft><a:buClrTx/><a:buSzTx/><a:buFontTx/><a:buNone/><a:tabLst/><a:defRPr/></a:pPr><a:r><a:rPr lang="fr-FR" dirty="0"><a:effectLst/></a:rPr><a:t>Examinateur</a:t></a:r></a:p></a:txBody><a:tcPr marL="0" marR="0" marT="0" marB="0" anchor="ctr"/></a:tc><a:extLst><a:ext uri="{0D108BD9-81ED-4DB2-BD59-A6C34878D82A}"><a16:rowId xmlns:a16="http://schemas.microsoft.com/office/drawing/2014/main" val="3768334905"/></a:ext></a:extLst></a:tr><a:tr h="309261"><a:tc><a:txBody><a:bodyPr/><a:lstStyle/><a:p><a:pPr marL="31750"><a:lnSpc><a:spcPts val="1255"/></a:lnSpc></a:pPr><a:r><a:rPr lang="fr-FR" sz="1800" b="0" spc="-25"><a:solidFill><a:schemeClr val="tx1"/></a:solidFill><a:effectLst/><a:latin typeface="Poppins"/></a:rPr><a:t>Pr.</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pPr marL="8890" algn="just"><a:lnSpc><a:spcPts val="1275"/></a:lnSpc></a:pPr><a:r><a:rPr lang="fr-FR" sz="1800" b="0"><a:solidFill><a:schemeClr val="tx1"/></a:solidFill><a:effectLst/><a:latin typeface="Poppins"/></a:rPr><a:t>DEBBAL MOHAMED</a:t></a:r><a:endParaRPr lang="fr-FR" sz="1800" b="0"><a:solidFill><a:schemeClr val="tx1"/></a:solidFill><a:effectLst/><a:latin typeface="Poppins"/><a:ea typeface="Palatino Linotype" panose="02040502050505030304" pitchFamily="18" charset="0"/><a:cs typeface="Palatino Linotype" panose="02040502050505030304" pitchFamily="18" charset="0"/></a:endParaRPr></a:p></a:txBody><a:tcPr marL="0" marR="0" marT="0" marB="0" anchor="ctr"/></a:tc><a:tc><a:txBody><a:bodyPr/><a:lstStyle/><a:p><a:r><a:rPr lang="fr-FR" b="0" dirty="0"><a:effectLst/></a:rPr><a:t>Université de Aïn </a:t></a:r><a:r><a:rPr lang="fr-FR" b="0" dirty="0" err="1"><a:effectLst/></a:rPr><a:t>Témouchent</a:t></a:r><a:endParaRPr lang="fr-FR" b="0" dirty="0"><a:effectLst/></a:endParaRPr></a:p></a:txBody><a:tcPr marL="0" marR="0" marT="0" marB="0" anchor="ctr"/></a:tc><a:tc><a:txBody><a:bodyPr/><a:lstStyle/><a:p><a:pPr marL="75565" marR="0" lvl="0" indent="0" algn="just" defTabSz="457200" rtl="0" eaLnBrk="1" fontAlgn="auto" latinLnBrk="0" hangingPunct="1"><a:lnSpc><a:spcPts val="1275"/></a:lnSpc><a:spcBef><a:spcPts val="0"/></a:spcBef><a:spcAft><a:spcPts val="0"/></a:spcAft><a:buClrTx/><a:buSzTx/><a:buFontTx/><a:buNone/><a:tabLst/><a:defRPr/></a:pPr><a:r><a:rPr lang="fr-FR" dirty="0"><a:effectLst/></a:rPr><a:t>Examinateur</a:t></a:r></a:p></a:txBody><a:tcPr marL="0" marR="0" marT="0" marB="0" anchor="ctr"/></a:tc><a:extLst><a:ext uri="{0D108BD9-81ED-4DB2-BD59-A6C34878D82A}"><a16:rowId xmlns:a16="http://schemas.microsoft.com/office/drawing/2014/main" val="2432425558"/></a:ext></a:extLst></a:tr></a:tbl></a:graphicData></a:graphic></p:graphicFrame><p:grpSp><p:nvGrpSpPr><p:cNvPr id="5" name="Groupe 4"><a:extLst><a:ext uri="{FF2B5EF4-FFF2-40B4-BE49-F238E27FC236}"><a16:creationId xmlns:a16="http://schemas.microsoft.com/office/drawing/2014/main" id="{19813AC9-8DBA-C588-EE5B-71D06CA7DFBD}"/></a:ext></a:extLst></p:cNvPr><p:cNvGrpSpPr/><p:nvPr/></p:nvGrpSpPr><p:grpSpPr><a:xfrm><a:off x="372653" y="4443878"/><a:ext cx="8937066" cy="338554"/><a:chOff x="372653" y="4391278"/><a:chExt cx="8937066" cy="338554"/></a:xfrm></p:grpSpPr><p:sp><p:nvSpPr><p:cNvPr id="7" name="ZoneTexte 6"><a:extLst><a:ext uri="{FF2B5EF4-FFF2-40B4-BE49-F238E27FC236}"><a16:creationId xmlns:a16="http://schemas.microsoft.com/office/drawing/2014/main" id="{F5C89BF1-E82F-4464-7204-BC74EF966D36}"/></a:ext></a:extLst></p:cNvPr><p:cNvSpPr txBox="1"/><p:nvPr/></p:nvSpPr><p:spPr><a:xfrm><a:off x="372653" y="4391278"/><a:ext cx="2942306" cy="338554"/></a:xfrm><a:prstGeom prst="rect"><a:avLst/></a:prstGeom><a:noFill/></p:spPr><p:txBody><a:bodyPr wrap="square" rtlCol="0"><a:spAutoFit/></a:bodyPr><a:lstStyle/><a:p><a:r><a:rPr lang="fr-FR" sz="1600" dirty="0"><a:latin typeface="Century" pitchFamily="18" charset="0"/></a:rPr><a:t>BELACEL Madani</a:t></a:r></a:p></p:txBody></p:sp><p:sp><p:nvSpPr><p:cNvPr id="9" name="ZoneTexte 8"><a:extLst><a:ext uri="{FF2B5EF4-FFF2-40B4-BE49-F238E27FC236}"><a16:creationId xmlns:a16="http://schemas.microsoft.com/office/drawing/2014/main" id="{78FC1AAF-64CC-4685-CB41-ACE237C13BE7}"/></a:ext></a:extLst></p:cNvPr><p:cNvSpPr txBox="1"/><p:nvPr/></p:nvSpPr><p:spPr><a:xfrm><a:off x="2649953" y="4391278"/><a:ext cx="3508208" cy="338554"/></a:xfrm><a:prstGeom prst="rect"><a:avLst/></a:prstGeom><a:noFill/></p:spPr><p:txBody><a:bodyPr wrap="square" rtlCol="0"><a:spAutoFit/></a:bodyPr><a:lstStyle/><a:p><a:r><a:rPr lang="fr-FR" sz="1600" dirty="0"><a:latin typeface="Century" pitchFamily="18" charset="0"/></a:rPr><a:t>Pr. BELKHEIR Mohammed</a:t></a:r></a:p></p:txBody></p:sp><p:sp><p:nvSpPr><p:cNvPr id="26" name="ZoneTexte 25"><a:extLst><a:ext uri="{FF2B5EF4-FFF2-40B4-BE49-F238E27FC236}"><a16:creationId xmlns:a16="http://schemas.microsoft.com/office/drawing/2014/main" id="{4888350A-5618-390D-9DFF-7B4118E83051}"/></a:ext></a:extLst></p:cNvPr><p:cNvSpPr txBox="1"/><p:nvPr/></p:nvSpPr><p:spPr><a:xfrm><a:off x="5801511" y="4391278"/><a:ext cx="3508208" cy="338554"/></a:xfrm><a:prstGeom prst="rect"><a:avLst/></a:prstGeom><a:noFill/></p:spPr><p:txBody><a:bodyPr wrap="square" rtlCol="0"><a:spAutoFit/></a:bodyPr><a:lstStyle/><a:p><a:r><a:rPr lang="fr-FR" sz="1600" dirty="0"><a:latin typeface="Century" pitchFamily="18" charset="0"/></a:rPr><a:t>Pr. BOUKLI HACENE Sofiane</a:t></a:r></a:p></p:txBody></p:sp></p:grpSp><p:sp><p:nvSpPr><p:cNvPr id="31" name="ZoneTexte 30"><a:extLst><a:ext uri="{FF2B5EF4-FFF2-40B4-BE49-F238E27FC236}"><a16:creationId xmlns:a16="http://schemas.microsoft.com/office/drawing/2014/main" id="{4D712E68-12DC-25A1-3625-75EB94F3080C}"/></a:ext></a:extLst></p:cNvPr><p:cNvSpPr txBox="1"/><p:nvPr/></p:nvSpPr><p:spPr><a:xfrm><a:off x="2032895" y="1579173"/><a:ext cx="5166882" cy="1015663"/></a:xfrm><a:prstGeom prst="rect"><a:avLst/></a:prstGeom><a:noFill/></p:spPr><p:txBody><a:bodyPr wrap="square"><a:spAutoFit/></a:bodyPr><a:lstStyle/><a:p><a:pPr algn="ctr"/><a:r><a:rPr lang="fr-FR" sz="2000" b="1" dirty="0"><a:effectLst/></a:rPr><a:t>Domaine</a:t></a:r><a:r><a:rPr lang="fr-FR" sz="2000" dirty="0"><a:effectLst/></a:rPr><a:t> : Mathématiques et Informatique </a:t></a:r><a:r><a:rPr lang="fr-FR" sz="2000" b="1" dirty="0"><a:effectLst/></a:rPr><a:t>Filière</a:t></a:r><a:r><a:rPr lang="fr-FR" sz="2000" dirty="0"><a:effectLst/></a:rPr><a:t> : Informatique </a:t></a:r></a:p><a:p><a:pPr algn="ctr"/><a:r><a:rPr lang="fr-FR" sz="2000" b="1" dirty="0"><a:effectLst/></a:rPr><a:t>Spécialité</a:t></a:r><a:r><a:rPr lang="fr-FR" sz="2000" dirty="0"><a:effectLst/></a:rPr><a:t> : Réseaux et Systèmes Informatique</a:t></a: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696003696"/></p:ext></p:extLst></p:cSld><p:clrMapOvr><a:masterClrMapping/></p:clrMapOvr></p:sld>
</file>

<file path=ppt/slides/slide3.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7" name="Group 7584"><a:extLst><a:ext uri="{FF2B5EF4-FFF2-40B4-BE49-F238E27FC236}"><a16:creationId xmlns:a16="http://schemas.microsoft.com/office/drawing/2014/main" id="{3D0BD649-519E-5027-A54E-BC735C16E54D}"/></a:ext></a:extLst></p:cNvPr><p:cNvGrpSpPr/><p:nvPr/></p:nvGrpSpPr><p:grpSpPr><a:xfrm><a:off x="-1" y="6616929"/><a:ext cx="9288000" cy="241071"/><a:chOff x="0" y="95085"/><a:chExt cx="5792348" cy="112882"/></a:xfrm></p:grpSpPr><p:sp><p:nvSpPr><p:cNvPr id="41" name="Shape 7931"><a:extLst><a:ext uri="{FF2B5EF4-FFF2-40B4-BE49-F238E27FC236}"><a16:creationId xmlns:a16="http://schemas.microsoft.com/office/drawing/2014/main" id="{9C96FCD7-25C9-419F-74DE-599DE800B3CF}"/></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42" name="Rectangle 41"><a:extLst><a:ext uri="{FF2B5EF4-FFF2-40B4-BE49-F238E27FC236}"><a16:creationId xmlns:a16="http://schemas.microsoft.com/office/drawing/2014/main" id="{AC7FBC99-AA1A-ED6D-7896-723BB85768E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43" name="Shape 7944"><a:extLst><a:ext uri="{FF2B5EF4-FFF2-40B4-BE49-F238E27FC236}"><a16:creationId xmlns:a16="http://schemas.microsoft.com/office/drawing/2014/main" id="{1841A2C7-D4B0-A82A-80D9-9D6586D42A55}"/></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44" name="Rectangle 43"><a:extLst><a:ext uri="{FF2B5EF4-FFF2-40B4-BE49-F238E27FC236}"><a16:creationId xmlns:a16="http://schemas.microsoft.com/office/drawing/2014/main" id="{DB2303D6-3051-D5BA-A51C-E185D57F37A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45" name="Shape 7963"><a:extLst><a:ext uri="{FF2B5EF4-FFF2-40B4-BE49-F238E27FC236}"><a16:creationId xmlns:a16="http://schemas.microsoft.com/office/drawing/2014/main" id="{C3FADBD3-3333-434F-A9E6-99D4A10E5D3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46" name="Rectangle 45"><a:extLst><a:ext uri="{FF2B5EF4-FFF2-40B4-BE49-F238E27FC236}"><a16:creationId xmlns:a16="http://schemas.microsoft.com/office/drawing/2014/main" id="{D09CAB62-8071-D5E9-16F1-E1E94D29B422}"/></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2/19</a:t></a:r><a:endParaRPr lang="fr-FR" sz="1200" kern="100" dirty="0"><a:solidFill>val="162B40"/></a:solidFill><a:effectLst/><a:latin typeface="Poppins" panose="020F0502020204030204" pitchFamily="34" charset="0"/><a:ea typeface="Poppins" panose="020F0502020204030204" pitchFamily="34" charset="0"/></a:endParaRPr></a:p></p:txBody></p:sp></p:grpSp><p:sp><p:nvSpPr><p:cNvPr id="62" name="TextBox 3"><a:extLst><a:ext uri="{FF2B5EF4-FFF2-40B4-BE49-F238E27FC236}"><a16:creationId xmlns:a16="http://schemas.microsoft.com/office/drawing/2014/main" id="{E67B9367-744C-B159-E843-711277184B68}"/></a:ext></a:extLst></p:cNvPr><p:cNvSpPr txBox="1"/><p:nvPr/></p:nvSpPr><p:spPr><a:xfrm><a:off x="909434" y="695613"/><a:ext cx="8229600" cy="5482719"/></a:xfrm><a:prstGeom prst="rect"><a:avLst/></a:prstGeom><a:noFill/></p:spPr><p:txBody><a:bodyPr wrap="square" anchor="t"><a:spAutoFit/></a:bodyPr><a:lstStyle/><a:p><a:pPr><a:lnSpc><a:spcPct val="250000"/></a:lnSpc><a:tabLst><a:tab pos="180975" algn="l"/></a:tabLst></a:pPr><a:r><a:rPr lang="fr-FR" sz="2400" b="1" i="0" u="none" strike="noStrike" baseline="0" dirty="0"><a:solidFill>val="162B40"/></a:solidFill><a:latin typeface="Poppins"/></a:rPr><a:t>Contexte </a:t></a:r><a:r><a:rPr lang="fr-FR" sz="2400" b="1" dirty="0"><a:solidFill>val="162B40"/></a:solidFill><a:latin typeface="Poppins"/></a:rPr><a:t> IOT, Architecture et </a:t></a:r><a:r><a:rPr lang="fr-FR" sz="2400" b="1" i="0" u="none" strike="noStrike" baseline="0" dirty="0"><a:solidFill>val="162B40"/></a:solidFill><a:latin typeface="Poppins"/></a:rPr><a:t> Problématique RPL</a:t></a:r><a:endParaRPr lang="fr-FR" sz="2400" b="0" i="0" u="none" strike="noStrike" baseline="0" dirty="0"><a:solidFill>val="162B40"/></a:solidFill><a:latin typeface="Poppins"/></a:endParaRPr></a:p><a:p><a:pPr><a:lnSpc><a:spcPct val="250000"/></a:lnSpc><a:tabLst><a:tab pos="95250" algn="l"/><a:tab pos="723900" algn="l"/></a:tabLst></a:pPr><a:r><a:rPr lang="fr-FR" sz="2400" b="1" dirty="0"><a:solidFill>val="162B40"/></a:solidFill><a:latin typeface="Poppins"/></a:rPr><a:t>État</a:t></a:r><a:r><a:rPr lang="fr-FR" sz="2400" b="1" i="0" u="none" strike="noStrike" baseline="0" dirty="0"><a:solidFill>val="162B40"/></a:solidFill><a:latin typeface="Poppins"/></a:rPr><a:t> de l'art </a:t></a:r><a:r><a:rPr lang="fr-FR" sz="2400" b="0" i="0" u="none" strike="noStrike" baseline="0" dirty="0"><a:solidFill>val="162B40"/></a:solidFill><a:latin typeface="Poppins"/></a:rPr><a:t>–Solutions existantes en QoS, sécurité et énergie</a:t></a:r></a:p><a:p><a:pPr><a:lnSpc><a:spcPct val="250000"/></a:lnSpc><a:tabLst><a:tab pos="95250" algn="l"/><a:tab pos="450850" algn="l"/></a:tabLst></a:pPr><a:r><a:rPr lang="fr-FR" sz="2400" b="1" i="0" u="none" strike="noStrike" baseline="0" dirty="0"><a:solidFill>val="162B40"/></a:solidFill><a:latin typeface="Poppins"/></a:rPr><a:t>	Contributions </a:t></a:r><a:r><a:rPr lang="fr-FR" sz="2400" b="0" i="0" u="none" strike="noStrike" baseline="0" dirty="0"><a:solidFill>val="162B40"/></a:solidFill><a:latin typeface="Poppins"/></a:rPr><a:t>–RPLMQoS et AER-RPL</a:t></a:r></a:p><a:p><a:pPr><a:lnSpc><a:spcPct val="250000"/></a:lnSpc><a:tabLst><a:tab pos="177800" algn="l"/></a:tabLst></a:pPr><a:r><a:rPr lang="fr-FR" sz="2400" b="1" i="0" u="none" strike="noStrike" baseline="0" dirty="0"><a:solidFill>val="162B40"/></a:solidFill><a:latin typeface="Poppins"/></a:rPr><a:t>Résultats expérimentaux </a:t></a:r><a:r><a:rPr lang="fr-FR" sz="2400" b="0" i="0" u="none" strike="noStrike" baseline="0" dirty="0"><a:solidFill>val="162B40"/></a:solidFill><a:latin typeface="Poppins"/></a:rPr><a:t>–1200 simulations représentatives</a:t></a:r></a:p><a:p><a:pPr><a:lnSpc><a:spcPct val="250000"/></a:lnSpc><a:tabLst><a:tab pos="177800" algn="l"/></a:tabLst></a:pPr><a:r><a:rPr lang="fr-FR" sz="2400" b="1" dirty="0"><a:solidFill>val="162B40"/></a:solidFill><a:latin typeface="Poppins"/></a:rPr><a:t>Comparaison, validation des résultats, limitations </a:t></a:r></a:p><a:p><a:pPr><a:lnSpc><a:spcPct val="250000"/></a:lnSpc><a:tabLst><a:tab pos="177800" algn="l"/></a:tabLst></a:pPr><a:r><a:rPr lang="fr-FR" sz="2400" b="1" i="0" u="none" strike="noStrike" baseline="0" dirty="0"><a:solidFill>val="162B40"/></a:solidFill><a:latin typeface="Poppins"/></a:rPr><a:t>Conclusion générale et perspectives </a:t></a:r><a:endParaRPr lang="fr-FR" sz="2400" b="0" i="0" u="none" strike="noStrike" baseline="0" dirty="0"><a:solidFill>val="162B40"/></a:solidFill><a:latin typeface="Poppins"/></a:endParaRPr></a:p></p:txBody></p:sp><p:grpSp><p:nvGrpSpPr><p:cNvPr id="63" name="Groupe 62"><a:extLst><a:ext uri="{FF2B5EF4-FFF2-40B4-BE49-F238E27FC236}"><a16:creationId xmlns:a16="http://schemas.microsoft.com/office/drawing/2014/main" id="{D8B6E861-AB1C-8E59-35A8-0BC14891C029}"/></a:ext></a:extLst></p:cNvPr><p:cNvGrpSpPr/><p:nvPr/></p:nvGrpSpPr><p:grpSpPr><a:xfrm><a:off x="-150" y="-31067"/><a:ext cx="9506457" cy="684000"/><a:chOff x="1278079" y="1873024"/><a:chExt cx="8112235" cy="664616"/></a:xfrm><a:gradFill><a:gsLst><a:gs pos="0">val="162B40"/></a:gs><a:gs pos="48000">val="34495E"/></a:gs><a:gs pos="100000">val="177BBE"/></a:gs></a:gsLst><a:lin ang="0" scaled="1"/></a:gradFill></p:grpSpPr><p:pic><p:nvPicPr><p:cNvPr id="64" name="Picture 4" descr="logo.jpg"><a:extLst><a:ext uri="{FF2B5EF4-FFF2-40B4-BE49-F238E27FC236}"><a16:creationId xmlns:a16="http://schemas.microsoft.com/office/drawing/2014/main" id="{E0D4C9A2-2ED8-621E-6ED4-74279431D20E}"/></a:ext></a:extLst></p:cNvPr><p:cNvPicPr><a:picLocks noChangeAspect="1"/></p:cNvPicPr><p:nvPr/></p:nvPicPr><p:blipFill><a:blip r:embed="rId3"/><a:stretch><a:fillRect/></a:stretch></p:blipFill><p:spPr><a:xfrm><a:off x="7950314" y="1873025"/><a:ext cx="1440000" cy="664615"/></a:xfrm><a:prstGeom prst="rect"><a:avLst/></a:prstGeom><a:grpFill/></p:spPr></p:pic><p:sp><p:nvSpPr><p:cNvPr id="65" name="Rectangle 64"><a:extLst><a:ext uri="{FF2B5EF4-FFF2-40B4-BE49-F238E27FC236}"><a16:creationId xmlns:a16="http://schemas.microsoft.com/office/drawing/2014/main" id="{36988165-530B-E5A7-3954-F0A0C37448F3}"/></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i="0" u="none" strike="noStrike" baseline="0" dirty="0"><a:solidFill>val="FFFFFF"/></a:solidFill><a:latin typeface="Poppins"/></a:rPr><a:t>Plan</a:t></a:r><a:endParaRPr lang="fr-FR" sz="2400" b="1" dirty="0"><a:solidFill>val="FFFFFF"/></a:solidFill><a:latin typeface="Poppins"/></a:endParaRPr></a:p></p:txBody></p:sp></p:grpSp><p:sp><p:nvSpPr><p:cNvPr id="11" name="Flèche : droite 10"><a:hlinkClick r:id="" action="ppaction://hlinkshowjump?jump=nextslide"/><a:extLst><a:ext uri="{FF2B5EF4-FFF2-40B4-BE49-F238E27FC236}"><a16:creationId xmlns:a16="http://schemas.microsoft.com/office/drawing/2014/main" id="{6D8FB18F-A20F-D699-C43C-C0CB8C640438}"/></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12" name="Flèche : droite 11"><a:hlinkClick r:id="" action="ppaction://hlinkshowjump?jump=previousslide"/><a:extLst><a:ext uri="{FF2B5EF4-FFF2-40B4-BE49-F238E27FC236}"><a16:creationId xmlns:a16="http://schemas.microsoft.com/office/drawing/2014/main" id="{CA0409D6-F7AF-06D0-0B65-10010AA74826}"/></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grpSp><p:nvGrpSpPr><p:cNvPr id="32" name="Groupe 31"><a:extLst><a:ext uri="{FF2B5EF4-FFF2-40B4-BE49-F238E27FC236}"><a16:creationId xmlns:a16="http://schemas.microsoft.com/office/drawing/2014/main" id="{43BBFEC0-E94C-68D8-A236-2A8AA476241D}"/></a:ext></a:extLst></p:cNvPr><p:cNvGrpSpPr/><p:nvPr/></p:nvGrpSpPr><p:grpSpPr><a:xfrm><a:off x="259942" y="1090501"/><a:ext cx="360000" cy="360000"/><a:chOff x="159488" y="1114565"/><a:chExt cx="360000" cy="360000"/></a:xfrm></p:grpSpPr><p:pic><p:nvPicPr><p:cNvPr id="30" name="Picture 7531"><a:extLst><a:ext uri="{FF2B5EF4-FFF2-40B4-BE49-F238E27FC236}"><a16:creationId xmlns:a16="http://schemas.microsoft.com/office/drawing/2014/main" id="{0C317D43-27DA-41D5-8227-0AC32215C59E}"/></a:ext></a:extLst></p:cNvPr><p:cNvPicPr/><p:nvPr/></p:nvPicPr><p:blipFill><a:blip r:embed="rId4"/><a:stretch><a:fillRect/></a:stretch></p:blipFill><p:spPr><a:xfrm><a:off x="159488" y="1114565"/><a:ext cx="360000" cy="360000"/></a:xfrm><a:prstGeom prst="rect"><a:avLst/></a:prstGeom></p:spPr></p:pic><p:sp><p:nvSpPr><p:cNvPr id="31" name="Rectangle 30"><a:extLst><a:ext uri="{FF2B5EF4-FFF2-40B4-BE49-F238E27FC236}"><a16:creationId xmlns:a16="http://schemas.microsoft.com/office/drawing/2014/main" id="{3DACC4E1-566D-569C-C527-4D3554161EA2}"/></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kern="100" dirty="0"><a:solidFill><a:schemeClr val="bg1"/></a:solidFill><a:effectLst/><a:latin typeface="Poppins" panose="020F0502020204030204" pitchFamily="34" charset="0"/><a:ea typeface="Poppins" panose="020F0502020204030204" pitchFamily="34" charset="0"/></a:rPr><a:t>1</a:t></a:r><a:endParaRPr lang="fr-FR" sz="3200" kern="100" dirty="0"><a:solidFill><a:schemeClr val="bg1"/></a:solidFill><a:effectLst/><a:latin typeface="Poppins" panose="020F0502020204030204" pitchFamily="34" charset="0"/><a:ea typeface="Poppins" panose="020F0502020204030204" pitchFamily="34" charset="0"/></a:endParaRPr></a:p></p:txBody></p:sp></p:grpSp><p:grpSp><p:nvGrpSpPr><p:cNvPr id="33" name="Groupe 32"><a:extLst><a:ext uri="{FF2B5EF4-FFF2-40B4-BE49-F238E27FC236}"><a16:creationId xmlns:a16="http://schemas.microsoft.com/office/drawing/2014/main" id="{94D1D168-2391-4B73-9489-2CD9080212AE}"/></a:ext></a:extLst></p:cNvPr><p:cNvGrpSpPr/><p:nvPr/></p:nvGrpSpPr><p:grpSpPr><a:xfrm><a:off x="259942" y="2020420"/><a:ext cx="360000" cy="360000"/><a:chOff x="159488" y="1114565"/><a:chExt cx="360000" cy="360000"/></a:xfrm></p:grpSpPr><p:pic><p:nvPicPr><p:cNvPr id="34" name="Picture 7531"><a:extLst><a:ext uri="{FF2B5EF4-FFF2-40B4-BE49-F238E27FC236}"><a16:creationId xmlns:a16="http://schemas.microsoft.com/office/drawing/2014/main" id="{8912F47C-7A11-9497-7BB1-52066478ACBA}"/></a:ext></a:extLst></p:cNvPr><p:cNvPicPr/><p:nvPr/></p:nvPicPr><p:blipFill><a:blip r:embed="rId4"/><a:stretch><a:fillRect/></a:stretch></p:blipFill><p:spPr><a:xfrm><a:off x="159488" y="1114565"/><a:ext cx="360000" cy="360000"/></a:xfrm><a:prstGeom prst="rect"><a:avLst/></a:prstGeom></p:spPr></p:pic><p:sp><p:nvSpPr><p:cNvPr id="35" name="Rectangle 34"><a:extLst><a:ext uri="{FF2B5EF4-FFF2-40B4-BE49-F238E27FC236}"><a16:creationId xmlns:a16="http://schemas.microsoft.com/office/drawing/2014/main" id="{9890FBAC-A5FC-6194-8FFF-B203325BB999}"/></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sz="2000" kern="100" dirty="0"><a:solidFill><a:schemeClr val="bg1"/></a:solidFill><a:latin typeface="Poppins" panose="020F0502020204030204" pitchFamily="34" charset="0"/><a:ea typeface="Poppins" panose="020F0502020204030204" pitchFamily="34" charset="0"/></a:rPr><a:t>2</a:t></a:r><a:endParaRPr lang="fr-FR" sz="2000" kern="100" dirty="0"><a:solidFill><a:schemeClr val="bg1"/></a:solidFill><a:effectLst/><a:latin typeface="Poppins" panose="020F0502020204030204" pitchFamily="34" charset="0"/><a:ea typeface="Poppins" panose="020F0502020204030204" pitchFamily="34" charset="0"/></a:endParaRPr></a:p></p:txBody></p:sp></p:grpSp><p:grpSp><p:nvGrpSpPr><p:cNvPr id="36" name="Groupe 35"><a:extLst><a:ext uri="{FF2B5EF4-FFF2-40B4-BE49-F238E27FC236}"><a16:creationId xmlns:a16="http://schemas.microsoft.com/office/drawing/2014/main" id="{BCAA3035-A1BB-F1EA-B01C-45A98CF58B1F}"/></a:ext></a:extLst></p:cNvPr><p:cNvGrpSpPr/><p:nvPr/></p:nvGrpSpPr><p:grpSpPr><a:xfrm><a:off x="259942" y="2950339"/><a:ext cx="360000" cy="360000"/><a:chOff x="159488" y="1114565"/><a:chExt cx="360000" cy="360000"/></a:xfrm></p:grpSpPr><p:pic><p:nvPicPr><p:cNvPr id="37" name="Picture 7531"><a:extLst><a:ext uri="{FF2B5EF4-FFF2-40B4-BE49-F238E27FC236}"><a16:creationId xmlns:a16="http://schemas.microsoft.com/office/drawing/2014/main" id="{F4CE97E4-A6B9-6D9D-3C4E-81772F3A6669}"/></a:ext></a:extLst></p:cNvPr><p:cNvPicPr/><p:nvPr/></p:nvPicPr><p:blipFill><a:blip r:embed="rId4"/><a:stretch><a:fillRect/></a:stretch></p:blipFill><p:spPr><a:xfrm><a:off x="159488" y="1114565"/><a:ext cx="360000" cy="360000"/></a:xfrm><a:prstGeom prst="rect"><a:avLst/></a:prstGeom></p:spPr></p:pic><p:sp><p:nvSpPr><p:cNvPr id="38" name="Rectangle 37"><a:extLst><a:ext uri="{FF2B5EF4-FFF2-40B4-BE49-F238E27FC236}"><a16:creationId xmlns:a16="http://schemas.microsoft.com/office/drawing/2014/main" id="{589DA97B-D4ED-5255-7E26-CC483A441A11}"/></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sz="2000" kern="100" dirty="0"><a:solidFill><a:schemeClr val="bg1"/></a:solidFill><a:latin typeface="Poppins" panose="020F0502020204030204" pitchFamily="34" charset="0"/><a:ea typeface="Poppins" panose="020F0502020204030204" pitchFamily="34" charset="0"/></a:rPr><a:t>3</a:t></a:r><a:endParaRPr lang="fr-FR" sz="2000" kern="100" dirty="0"><a:solidFill><a:schemeClr val="bg1"/></a:solidFill><a:effectLst/><a:latin typeface="Poppins" panose="020F0502020204030204" pitchFamily="34" charset="0"/><a:ea typeface="Poppins" panose="020F0502020204030204" pitchFamily="34" charset="0"/></a:endParaRPr></a:p></p:txBody></p:sp></p:grpSp><p:grpSp><p:nvGrpSpPr><p:cNvPr id="39" name="Groupe 38"><a:extLst><a:ext uri="{FF2B5EF4-FFF2-40B4-BE49-F238E27FC236}"><a16:creationId xmlns:a16="http://schemas.microsoft.com/office/drawing/2014/main" id="{8B4F38B2-CC79-1E5D-7275-4E1A83EA5B7C}"/></a:ext></a:extLst></p:cNvPr><p:cNvGrpSpPr/><p:nvPr/></p:nvGrpSpPr><p:grpSpPr><a:xfrm><a:off x="259942" y="3880258"/><a:ext cx="360000" cy="360000"/><a:chOff x="159488" y="1114565"/><a:chExt cx="360000" cy="360000"/></a:xfrm></p:grpSpPr><p:pic><p:nvPicPr><p:cNvPr id="40" name="Picture 7531"><a:extLst><a:ext uri="{FF2B5EF4-FFF2-40B4-BE49-F238E27FC236}"><a16:creationId xmlns:a16="http://schemas.microsoft.com/office/drawing/2014/main" id="{E5A787B1-8142-9C09-371C-808ED99347DA}"/></a:ext></a:extLst></p:cNvPr><p:cNvPicPr/><p:nvPr/></p:nvPicPr><p:blipFill><a:blip r:embed="rId4"/><a:stretch><a:fillRect/></a:stretch></p:blipFill><p:spPr><a:xfrm><a:off x="159488" y="1114565"/><a:ext cx="360000" cy="360000"/></a:xfrm><a:prstGeom prst="rect"><a:avLst/></a:prstGeom></p:spPr></p:pic><p:sp><p:nvSpPr><p:cNvPr id="47" name="Rectangle 46"><a:extLst><a:ext uri="{FF2B5EF4-FFF2-40B4-BE49-F238E27FC236}"><a16:creationId xmlns:a16="http://schemas.microsoft.com/office/drawing/2014/main" id="{57485FAE-909C-09C2-E463-5C79F5FFE5EB}"/></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sz="2000" kern="100" dirty="0"><a:solidFill><a:schemeClr val="bg1"/></a:solidFill><a:latin typeface="Poppins" panose="020F0502020204030204" pitchFamily="34" charset="0"/><a:ea typeface="Poppins" panose="020F0502020204030204" pitchFamily="34" charset="0"/></a:rPr><a:t>4</a:t></a:r><a:endParaRPr lang="fr-FR" sz="2800" kern="100" dirty="0"><a:solidFill><a:schemeClr val="bg1"/></a:solidFill><a:effectLst/><a:latin typeface="Poppins" panose="020F0502020204030204" pitchFamily="34" charset="0"/><a:ea typeface="Poppins" panose="020F0502020204030204" pitchFamily="34" charset="0"/></a:endParaRPr></a:p></p:txBody></p:sp></p:grpSp><p:grpSp><p:nvGrpSpPr><p:cNvPr id="48" name="Groupe 47"><a:extLst><a:ext uri="{FF2B5EF4-FFF2-40B4-BE49-F238E27FC236}"><a16:creationId xmlns:a16="http://schemas.microsoft.com/office/drawing/2014/main" id="{F430DF56-2C5E-1C1C-79DB-664CA90A6344}"/></a:ext></a:extLst></p:cNvPr><p:cNvGrpSpPr/><p:nvPr/></p:nvGrpSpPr><p:grpSpPr><a:xfrm><a:off x="259942" y="4774081"/><a:ext cx="360000" cy="360000"/><a:chOff x="159488" y="1114565"/><a:chExt cx="360000" cy="360000"/></a:xfrm></p:grpSpPr><p:pic><p:nvPicPr><p:cNvPr id="49" name="Picture 7531"><a:extLst><a:ext uri="{FF2B5EF4-FFF2-40B4-BE49-F238E27FC236}"><a16:creationId xmlns:a16="http://schemas.microsoft.com/office/drawing/2014/main" id="{1178B05B-CEE3-8B5D-D9DF-8A3C43EDBBB7}"/></a:ext></a:extLst></p:cNvPr><p:cNvPicPr/><p:nvPr/></p:nvPicPr><p:blipFill><a:blip r:embed="rId4"/><a:stretch><a:fillRect/></a:stretch></p:blipFill><p:spPr><a:xfrm><a:off x="159488" y="1114565"/><a:ext cx="360000" cy="360000"/></a:xfrm><a:prstGeom prst="rect"><a:avLst/></a:prstGeom></p:spPr></p:pic><p:sp><p:nvSpPr><p:cNvPr id="50" name="Rectangle 49"><a:extLst><a:ext uri="{FF2B5EF4-FFF2-40B4-BE49-F238E27FC236}"><a16:creationId xmlns:a16="http://schemas.microsoft.com/office/drawing/2014/main" id="{0A5DD523-3EB1-650F-8997-B7E122DDB6A0}"/></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kern="100" dirty="0"><a:solidFill><a:schemeClr val="bg1"/></a:solidFill><a:effectLst/><a:latin typeface="Poppins" panose="020F0502020204030204" pitchFamily="34" charset="0"/><a:ea typeface="Poppins" panose="020F0502020204030204" pitchFamily="34" charset="0"/></a:rPr><a:t>5</a:t></a:r><a:endParaRPr lang="fr-FR" sz="3200" kern="100" dirty="0"><a:solidFill><a:schemeClr val="bg1"/></a:solidFill><a:effectLst/><a:latin typeface="Poppins" panose="020F0502020204030204" pitchFamily="34" charset="0"/><a:ea typeface="Poppins" panose="020F0502020204030204" pitchFamily="34" charset="0"/></a:endParaRPr></a:p></p:txBody></p:sp></p:grpSp><p:grpSp><p:nvGrpSpPr><p:cNvPr id="51" name="Groupe 50"><a:extLst><a:ext uri="{FF2B5EF4-FFF2-40B4-BE49-F238E27FC236}"><a16:creationId xmlns:a16="http://schemas.microsoft.com/office/drawing/2014/main" id="{D204F86B-C51F-45D3-6694-4D7323CB8D35}"/></a:ext></a:extLst></p:cNvPr><p:cNvGrpSpPr/><p:nvPr/></p:nvGrpSpPr><p:grpSpPr><a:xfrm><a:off x="259942" y="5691970"/><a:ext cx="360000" cy="360000"/><a:chOff x="159488" y="1114565"/><a:chExt cx="360000" cy="360000"/></a:xfrm></p:grpSpPr><p:pic><p:nvPicPr><p:cNvPr id="52" name="Picture 7531"><a:extLst><a:ext uri="{FF2B5EF4-FFF2-40B4-BE49-F238E27FC236}"><a16:creationId xmlns:a16="http://schemas.microsoft.com/office/drawing/2014/main" id="{1E9C8DC2-4994-BAA9-4854-B57BC1BAC038}"/></a:ext></a:extLst></p:cNvPr><p:cNvPicPr/><p:nvPr/></p:nvPicPr><p:blipFill><a:blip r:embed="rId4"/><a:stretch><a:fillRect/></a:stretch></p:blipFill><p:spPr><a:xfrm><a:off x="159488" y="1114565"/><a:ext cx="360000" cy="360000"/></a:xfrm><a:prstGeom prst="rect"><a:avLst/></a:prstGeom></p:spPr></p:pic><p:sp><p:nvSpPr><p:cNvPr id="53" name="Rectangle 52"><a:extLst><a:ext uri="{FF2B5EF4-FFF2-40B4-BE49-F238E27FC236}"><a16:creationId xmlns:a16="http://schemas.microsoft.com/office/drawing/2014/main" id="{A2CB9F55-A356-9E99-0610-6D15FE346289}"/></a:ext></a:extLst></p:cNvPr><p:cNvSpPr/><p:nvPr/></p:nvSpPr><p:spPr><a:xfrm><a:off x="281320" y="1146676"/><a:ext cx="221856" cy="173756"/></a:xfrm><a:prstGeom prst="rect"><a:avLst/></a:prstGeom><a:ln><a:noFill/></a:ln></p:spPr><p:txBody><a:bodyPr vert="horz" lIns="0" tIns="0" rIns="0" bIns="0" rtlCol="0"><a:noAutofit/></a:bodyPr><a:lstStyle/><a:p><a:pPr><a:lnSpc><a:spcPct val="107000"/></a:lnSpc><a:spcAft><a:spcPts val="800"/></a:spcAft></a:pPr><a:r><a:rPr lang="fr-FR" kern="100" dirty="0"><a:solidFill><a:schemeClr val="bg1"/></a:solidFill><a:effectLst/><a:latin typeface="Poppins" panose="020F0502020204030204" pitchFamily="34" charset="0"/><a:ea typeface="Poppins" panose="020F0502020204030204" pitchFamily="34" charset="0"/></a:rPr><a:t>6</a:t></a:r><a:endParaRPr lang="fr-FR" sz="3200" kern="100" dirty="0"><a:solidFill><a:schemeClr val="bg1"/></a:solidFill><a:effectLst/><a:latin typeface="Poppins" panose="020F0502020204030204" pitchFamily="34" charset="0"/><a:ea typeface="Poppins" panose="020F0502020204030204" pitchFamily="34" charset="0"/></a:endParaRPr></a:p></p:txBody></p:sp></p:gr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2891102080"/></p:ext></p:extLst></p:cSld><p:clrMapOvr><a:masterClrMapping/></p:clrMapOvr></p:sld>
</file>

<file path=ppt/slides/slide4.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7" name="Group 7584"><a:extLst><a:ext uri="{FF2B5EF4-FFF2-40B4-BE49-F238E27FC236}"><a16:creationId xmlns:a16="http://schemas.microsoft.com/office/drawing/2014/main" id="{3D0BD649-519E-5027-A54E-BC735C16E54D}"/></a:ext></a:extLst></p:cNvPr><p:cNvGrpSpPr/><p:nvPr/></p:nvGrpSpPr><p:grpSpPr><a:xfrm><a:off x="-1" y="6616929"/><a:ext cx="9288000" cy="241071"/><a:chOff x="0" y="95085"/><a:chExt cx="5792348" cy="112882"/></a:xfrm></p:grpSpPr><p:sp><p:nvSpPr><p:cNvPr id="41" name="Shape 7931"><a:extLst><a:ext uri="{FF2B5EF4-FFF2-40B4-BE49-F238E27FC236}"><a16:creationId xmlns:a16="http://schemas.microsoft.com/office/drawing/2014/main" id="{9C96FCD7-25C9-419F-74DE-599DE800B3CF}"/></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42" name="Rectangle 41"><a:extLst><a:ext uri="{FF2B5EF4-FFF2-40B4-BE49-F238E27FC236}"><a16:creationId xmlns:a16="http://schemas.microsoft.com/office/drawing/2014/main" id="{AC7FBC99-AA1A-ED6D-7896-723BB85768E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43" name="Shape 7944"><a:extLst><a:ext uri="{FF2B5EF4-FFF2-40B4-BE49-F238E27FC236}"><a16:creationId xmlns:a16="http://schemas.microsoft.com/office/drawing/2014/main" id="{1841A2C7-D4B0-A82A-80D9-9D6586D42A55}"/></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44" name="Rectangle 43"><a:extLst><a:ext uri="{FF2B5EF4-FFF2-40B4-BE49-F238E27FC236}"><a16:creationId xmlns:a16="http://schemas.microsoft.com/office/drawing/2014/main" id="{DB2303D6-3051-D5BA-A51C-E185D57F37A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45" name="Shape 7963"><a:extLst><a:ext uri="{FF2B5EF4-FFF2-40B4-BE49-F238E27FC236}"><a16:creationId xmlns:a16="http://schemas.microsoft.com/office/drawing/2014/main" id="{C3FADBD3-3333-434F-A9E6-99D4A10E5D3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46" name="Rectangle 45"><a:extLst><a:ext uri="{FF2B5EF4-FFF2-40B4-BE49-F238E27FC236}"><a16:creationId xmlns:a16="http://schemas.microsoft.com/office/drawing/2014/main" id="{D09CAB62-8071-D5E9-16F1-E1E94D29B422}"/></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3/19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63" name="Groupe 62"><a:extLst><a:ext uri="{FF2B5EF4-FFF2-40B4-BE49-F238E27FC236}"><a16:creationId xmlns:a16="http://schemas.microsoft.com/office/drawing/2014/main" id="{D8B6E861-AB1C-8E59-35A8-0BC14891C029}"/></a:ext></a:extLst></p:cNvPr><p:cNvGrpSpPr/><p:nvPr/></p:nvGrpSpPr><p:grpSpPr><a:xfrm><a:off x="-7919" y="-3790"/><a:ext cx="9490749" cy="687788"/><a:chOff x="1467136" y="2102226"/><a:chExt cx="8098831" cy="668297"/></a:xfrm><a:gradFill><a:gsLst><a:gs pos="0">val="162B40"/></a:gs><a:gs pos="48000">val="34495E"/></a:gs><a:gs pos="100000">val="177BBE"/></a:gs></a:gsLst><a:lin ang="0" scaled="1"/></a:gradFill></p:grpSpPr><p:pic><p:nvPicPr><p:cNvPr id="64" name="Picture 4" descr="logo.jpg"><a:extLst><a:ext uri="{FF2B5EF4-FFF2-40B4-BE49-F238E27FC236}"><a16:creationId xmlns:a16="http://schemas.microsoft.com/office/drawing/2014/main" id="{E0D4C9A2-2ED8-621E-6ED4-74279431D20E}"/></a:ext></a:extLst></p:cNvPr><p:cNvPicPr><a:picLocks noChangeAspect="1"/></p:cNvPicPr><p:nvPr/></p:nvPicPr><p:blipFill><a:blip r:embed="rId3"/><a:stretch><a:fillRect/></a:stretch></p:blipFill><p:spPr><a:xfrm><a:off x="8125967" y="2105908"/><a:ext cx="1440000" cy="664615"/></a:xfrm><a:prstGeom prst="rect"><a:avLst/></a:prstGeom><a:grpFill/></p:spPr></p:pic><p:sp><p:nvSpPr><p:cNvPr id="65" name="Rectangle 64"><a:extLst><a:ext uri="{FF2B5EF4-FFF2-40B4-BE49-F238E27FC236}"><a16:creationId xmlns:a16="http://schemas.microsoft.com/office/drawing/2014/main" id="{36988165-530B-E5A7-3954-F0A0C37448F3}"/></a:ext></a:extLst></p:cNvPr><p:cNvSpPr/><p:nvPr/></p:nvSpPr><p:spPr><a:xfrm><a:off x="1467136" y="2102226"/><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a:schemeClr val="bg1"/></a:solidFill></a:rPr><a:t>🌍 </a:t></a:r><a:r><a:rPr lang="fr-FR" sz="2400" b="1" dirty="0"><a:solidFill>val="FFFFFF"/></a:solidFill><a:latin typeface="Poppins"/></a:rPr><a:t>Contexte :L'Internet des Objets (IoT)</a:t></a:r></a:p></p:txBody></p:sp></p:grpSp><p:sp><p:nvSpPr><p:cNvPr id="18" name="ZoneTexte 17"><a:extLst><a:ext uri="{FF2B5EF4-FFF2-40B4-BE49-F238E27FC236}"><a16:creationId xmlns:a16="http://schemas.microsoft.com/office/drawing/2014/main" id="{697E8B5B-E9BD-5FB4-3642-BAD9F56BE094}"/></a:ext></a:extLst></p:cNvPr><p:cNvSpPr txBox="1"/><p:nvPr/></p:nvSpPr><p:spPr><a:xfrm><a:off x="478365" y="892801"/><a:ext cx="7721601" cy="1140633"/></a:xfrm><a:prstGeom prst="rect"><a:avLst/></a:prstGeom><a:noFill/></p:spPr><p:txBody><a:bodyPr wrap="square"><a:spAutoFit/></a:bodyPr><a:lstStyle/><a:p><a:pPr><a:lnSpc><a:spcPct val="150000"/></a:lnSpc></a:pPr><a:r><a:rPr lang="fr-FR" sz="2400" dirty="0"/><a:t>📊 </a:t></a:r><a:r><a:rPr lang="fr-FR" sz="2400" b="1" dirty="0"/><a:t>Chiffre clé : </a:t></a:r><a:r><a:rPr lang="fr-FR" sz="2400" dirty="0"/><a:t>50 milliards d’objets connectés d’ici 2030</a:t></a:r></a:p><a:p><a:pPr><a:lnSpc><a:spcPct val="150000"/></a:lnSpc></a:pPr><a:r><a:rPr lang="fr-FR" sz="2400" dirty="0"/><a:t>🌐 </a:t></a:r><a:r><a:rPr lang="fr-FR" sz="2400" b="1" dirty="0"/><a:t>Types de réseaux: </a:t></a:r><a:r><a:rPr lang="fr-FR" sz="2400" dirty="0"/><a:t>Low-Power and Lossy Networks (LLN)</a:t></a:r></a:p></p:txBody></p:sp><p:sp><p:nvSpPr><p:cNvPr id="20" name="ZoneTexte 19"><a:extLst><a:ext uri="{FF2B5EF4-FFF2-40B4-BE49-F238E27FC236}"><a16:creationId xmlns:a16="http://schemas.microsoft.com/office/drawing/2014/main" id="{81D17BE9-9CBD-956C-1A4F-771201FBB88F}"/></a:ext></a:extLst></p:cNvPr><p:cNvSpPr txBox="1"/><p:nvPr/></p:nvSpPr><p:spPr><a:xfrm><a:off x="478365" y="2056052"/><a:ext cx="7078134" cy="2248629"/></a:xfrm><a:prstGeom prst="rect"><a:avLst/></a:prstGeom><a:noFill/></p:spPr><p:txBody><a:bodyPr wrap="square"><a:spAutoFit/></a:bodyPr><a:lstStyle/><a:p><a:pPr><a:lnSpc><a:spcPct val="150000"/></a:lnSpc></a:pPr><a:r><a:rPr lang="fr-FR" sz="2400" b="1" dirty="0"><a:solidFill>val="0000FF"/></a:solidFill></a:rPr><a:t>🏥⚙️🏙️ Domaines d’application</a:t></a:r></a:p><a:p><a:pPr lvl="2"><a:lnSpc><a:spcPct val="150000"/></a:lnSpc></a:pPr><a:r><a:rPr lang="fr-FR" sz="2400" dirty="0"/><a:t>🏥 Santé connectée </a:t></a:r><a:r><a:rPr lang="fr-FR" sz="2400" dirty="0"><a:effectLst/></a:rPr><a:t>(capteurs cardiaques)</a:t></a:r></a:p><a:p><a:pPr lvl="2"><a:lnSpc><a:spcPct val="150000"/></a:lnSpc></a:pPr><a:r><a:rPr lang="fr-FR" sz="2400" dirty="0"/><a:t>⚙️ Industrie 4.0</a:t></a:r></a:p><a:p><a:pPr lvl="2"><a:lnSpc><a:spcPct val="150000"/></a:lnSpc></a:pPr><a:r><a:rPr lang="fr-FR" sz="2400" dirty="0"/><a:t>🏙️ Villes intelligentes</a:t></a:r></a:p></p:txBody></p:sp><p:sp><p:nvSpPr><p:cNvPr id="22" name="ZoneTexte 21"><a:extLst><a:ext uri="{FF2B5EF4-FFF2-40B4-BE49-F238E27FC236}"><a16:creationId xmlns:a16="http://schemas.microsoft.com/office/drawing/2014/main" id="{4F69BD7B-5D96-03EE-F80A-62D99ED42DDD}"/></a:ext></a:extLst></p:cNvPr><p:cNvSpPr txBox="1"/><p:nvPr/></p:nvSpPr><p:spPr><a:xfrm><a:off x="478365" y="4327299"/><a:ext cx="8559802" cy="2248629"/></a:xfrm><a:prstGeom prst="rect"><a:avLst/></a:prstGeom><a:noFill/></p:spPr><p:txBody><a:bodyPr wrap="square"><a:spAutoFit/></a:bodyPr><a:lstStyle/><a:p><a:pPr><a:lnSpc><a:spcPct val="150000"/></a:lnSpc></a:pPr><a:r><a:rPr lang="fr-FR" sz="2400" b="1" dirty="0"><a:solidFill>val="0000FF"/></a:solidFill></a:rPr><a:t>🚀 Trois défis majeurs</a:t></a:r></a:p><a:p><a:pPr><a:lnSpc><a:spcPct val="150000"/></a:lnSpc></a:pPr><a:r><a:rPr lang="fr-FR" sz="2400" dirty="0"/><a:t>⚡ </a:t></a:r><a:r><a:rPr lang="fr-FR" sz="2400" b="1" dirty="0"/><a:t>Qualité de Service (QoS): </a:t></a:r><a:r><a:rPr lang="fr-FR" sz="2400" dirty="0"/><a:t>Garantir la livraison des flux critiques</a:t></a:r></a:p><a:p><a:pPr><a:lnSpc><a:spcPct val="150000"/></a:lnSpc></a:pPr><a:r><a:rPr lang="fr-FR" sz="2400" dirty="0"/><a:t>🔒 </a:t></a:r><a:r><a:rPr lang="fr-FR" sz="2400" b="1" dirty="0"/><a:t>Sécurité: </a:t></a:r><a:r><a:rPr lang="fr-FR" sz="2400" dirty="0"/><a:t>Protection face aux attaques de routage</a:t></a:r></a:p><a:p><a:pPr><a:lnSpc><a:spcPct val="150000"/></a:lnSpc></a:pPr><a:r><a:rPr lang="fr-FR" sz="2400" dirty="0"/><a:t>🔋 </a:t></a:r><a:r><a:rPr lang="fr-FR" sz="2400" b="1" dirty="0"/><a:t>Efficacité énergétique : </a:t></a:r><a:r><a:rPr lang="fr-FR" sz="2400" dirty="0"/><a:t>Prolonger la durée de vie des capteurs</a:t></a:r></a:p></p:txBody></p:sp><p:sp><p:nvSpPr><p:cNvPr id="5" name="Flèche : droite 4"><a:hlinkClick r:id="" action="ppaction://hlinkshowjump?jump=nextslide"/><a:extLst><a:ext uri="{FF2B5EF4-FFF2-40B4-BE49-F238E27FC236}"><a16:creationId xmlns:a16="http://schemas.microsoft.com/office/drawing/2014/main" id="{E3F7EB65-0591-BE52-06C1-635F04A5582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6" name="Flèche : droite 5"><a:hlinkClick r:id="" action="ppaction://hlinkshowjump?jump=previousslide"/><a:extLst><a:ext uri="{FF2B5EF4-FFF2-40B4-BE49-F238E27FC236}"><a16:creationId xmlns:a16="http://schemas.microsoft.com/office/drawing/2014/main" id="{07B74157-4EF5-75F8-E209-A1439927982A}"/></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2855135058"/></p:ext></p:extLst></p:cSld><p:clrMapOvr><a:masterClrMapping/></p:clrMapOvr></p:sld>
</file>

<file path=ppt/slides/slide5.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7" name="Group 7584"><a:extLst><a:ext uri="{FF2B5EF4-FFF2-40B4-BE49-F238E27FC236}"><a16:creationId xmlns:a16="http://schemas.microsoft.com/office/drawing/2014/main" id="{3D0BD649-519E-5027-A54E-BC735C16E54D}"/></a:ext></a:extLst></p:cNvPr><p:cNvGrpSpPr/><p:nvPr/></p:nvGrpSpPr><p:grpSpPr><a:xfrm><a:off x="-1" y="6616929"/><a:ext cx="9288000" cy="241071"/><a:chOff x="0" y="95085"/><a:chExt cx="5792348" cy="112882"/></a:xfrm></p:grpSpPr><p:sp><p:nvSpPr><p:cNvPr id="41" name="Shape 7931"><a:extLst><a:ext uri="{FF2B5EF4-FFF2-40B4-BE49-F238E27FC236}"><a16:creationId xmlns:a16="http://schemas.microsoft.com/office/drawing/2014/main" id="{9C96FCD7-25C9-419F-74DE-599DE800B3CF}"/></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42" name="Rectangle 41"><a:extLst><a:ext uri="{FF2B5EF4-FFF2-40B4-BE49-F238E27FC236}"><a16:creationId xmlns:a16="http://schemas.microsoft.com/office/drawing/2014/main" id="{AC7FBC99-AA1A-ED6D-7896-723BB85768E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43" name="Shape 7944"><a:extLst><a:ext uri="{FF2B5EF4-FFF2-40B4-BE49-F238E27FC236}"><a16:creationId xmlns:a16="http://schemas.microsoft.com/office/drawing/2014/main" id="{1841A2C7-D4B0-A82A-80D9-9D6586D42A55}"/></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44" name="Rectangle 43"><a:extLst><a:ext uri="{FF2B5EF4-FFF2-40B4-BE49-F238E27FC236}"><a16:creationId xmlns:a16="http://schemas.microsoft.com/office/drawing/2014/main" id="{DB2303D6-3051-D5BA-A51C-E185D57F37A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45" name="Shape 7963"><a:extLst><a:ext uri="{FF2B5EF4-FFF2-40B4-BE49-F238E27FC236}"><a16:creationId xmlns:a16="http://schemas.microsoft.com/office/drawing/2014/main" id="{C3FADBD3-3333-434F-A9E6-99D4A10E5D3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46" name="Rectangle 45"><a:extLst><a:ext uri="{FF2B5EF4-FFF2-40B4-BE49-F238E27FC236}"><a16:creationId xmlns:a16="http://schemas.microsoft.com/office/drawing/2014/main" id="{D09CAB62-8071-D5E9-16F1-E1E94D29B422}"/></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4/19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63" name="Groupe 62"><a:extLst><a:ext uri="{FF2B5EF4-FFF2-40B4-BE49-F238E27FC236}"><a16:creationId xmlns:a16="http://schemas.microsoft.com/office/drawing/2014/main" id="{D8B6E861-AB1C-8E59-35A8-0BC14891C029}"/></a:ext></a:extLst></p:cNvPr><p:cNvGrpSpPr/><p:nvPr/></p:nvGrpSpPr><p:grpSpPr><a:xfrm><a:off x="614" y="17333"/><a:ext cx="9506457" cy="684001"/><a:chOff x="1278079" y="1873023"/><a:chExt cx="8112235" cy="664617"/></a:xfrm><a:gradFill><a:gsLst><a:gs pos="0">val="162B40"/></a:gs><a:gs pos="48000">val="34495E"/></a:gs><a:gs pos="100000">val="177BBE"/></a:gs></a:gsLst><a:lin ang="0" scaled="1"/></a:gradFill></p:grpSpPr><p:pic><p:nvPicPr><p:cNvPr id="64" name="Picture 4" descr="logo.jpg"><a:extLst><a:ext uri="{FF2B5EF4-FFF2-40B4-BE49-F238E27FC236}"><a16:creationId xmlns:a16="http://schemas.microsoft.com/office/drawing/2014/main" id="{E0D4C9A2-2ED8-621E-6ED4-74279431D20E}"/></a:ext></a:extLst></p:cNvPr><p:cNvPicPr><a:picLocks noChangeAspect="1"/></p:cNvPicPr><p:nvPr/></p:nvPicPr><p:blipFill><a:blip r:embed="rId3"/><a:stretch><a:fillRect/></a:stretch></p:blipFill><p:spPr><a:xfrm><a:off x="7950314" y="1873025"/><a:ext cx="1440000" cy="664615"/></a:xfrm><a:prstGeom prst="rect"><a:avLst/></a:prstGeom><a:grpFill/></p:spPr></p:pic><p:sp><p:nvSpPr><p:cNvPr id="65" name="Rectangle 64"><a:extLst><a:ext uri="{FF2B5EF4-FFF2-40B4-BE49-F238E27FC236}"><a16:creationId xmlns:a16="http://schemas.microsoft.com/office/drawing/2014/main" id="{36988165-530B-E5A7-3954-F0A0C37448F3}"/></a:ext></a:extLst></p:cNvPr><p:cNvSpPr/><p:nvPr/></p:nvSpPr><p:spPr><a:xfrm><a:off x="1278079" y="1873023"/><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val="FFFFFF"/></a:solidFill><a:latin typeface="Poppins"/></a:rPr><a:t>Architecture RPL – DODAG</a:t></a:r></a:p></p:txBody></p:sp></p:grpSp><p:pic><p:nvPicPr><p:cNvPr id="2" name="Image 1"><a:extLst><a:ext uri="{FF2B5EF4-FFF2-40B4-BE49-F238E27FC236}"><a16:creationId xmlns:a16="http://schemas.microsoft.com/office/drawing/2014/main" id="{277DB3C4-0583-0345-EAA7-FCCFB36AC390}"/></a:ext></a:extLst></p:cNvPr><p:cNvPicPr><a:picLocks noChangeAspect="1"/></p:cNvPicPr><p:nvPr/></p:nvPicPr><p:blipFill><a:blip r:embed="rId4"/><a:stretch><a:fillRect/></a:stretch></p:blipFill><p:spPr><a:xfrm><a:off x="488621" y="1027733"/><a:ext cx="285790" cy="257211"/></a:xfrm><a:prstGeom prst="rect"><a:avLst/></a:prstGeom></p:spPr></p:pic><p:sp><p:nvSpPr><p:cNvPr id="3" name="ZoneTexte 2"><a:extLst><a:ext uri="{FF2B5EF4-FFF2-40B4-BE49-F238E27FC236}"><a16:creationId xmlns:a16="http://schemas.microsoft.com/office/drawing/2014/main" id="{FB435044-A9C2-0C2A-D077-8F1A74EFC9DB}"/></a:ext></a:extLst></p:cNvPr><p:cNvSpPr txBox="1"/><p:nvPr/></p:nvSpPr><p:spPr><a:xfrm><a:off x="304800" y="884535"/><a:ext cx="5537200" cy="646331"/></a:xfrm><a:prstGeom prst="rect"><a:avLst/></a:prstGeom><a:noFill/></p:spPr><p:txBody><a:bodyPr wrap="square"><a:spAutoFit/></a:bodyPr><a:lstStyle/><a:p><a:r><a:rPr lang="fr-FR" b="1" dirty="0"/><a:t>🔷 RPL : Standard de routage pour l’IoT contraint</a:t></a:r></a:p><a:p><a:r><a:rPr lang="fr-FR" i="1" dirty="0"/><a:t>(IETF, 2012)</a:t></a:r><a:endParaRPr lang="fr-FR" dirty="0"/></a:p></p:txBody></p:sp><p:sp><p:nvSpPr><p:cNvPr id="10" name="Flèche : droite 9"><a:hlinkClick r:id="" action="ppaction://hlinkshowjump?jump=nextslide"/><a:extLst><a:ext uri="{FF2B5EF4-FFF2-40B4-BE49-F238E27FC236}"><a16:creationId xmlns:a16="http://schemas.microsoft.com/office/drawing/2014/main" id="{21FD5968-50AB-BDEA-D802-6EC78E17D5F1}"/></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11" name="Flèche : droite 10"><a:hlinkClick r:id="" action="ppaction://hlinkshowjump?jump=previousslide"/><a:extLst><a:ext uri="{FF2B5EF4-FFF2-40B4-BE49-F238E27FC236}"><a16:creationId xmlns:a16="http://schemas.microsoft.com/office/drawing/2014/main" id="{DF290082-512F-5E2E-AAE2-F6C40492BDC6}"/></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pic><p:nvPicPr><p:cNvPr id="15" name="Image 14"><a:extLst><a:ext uri="{FF2B5EF4-FFF2-40B4-BE49-F238E27FC236}"><a16:creationId xmlns:a16="http://schemas.microsoft.com/office/drawing/2014/main" id="{B1CE45F9-4CFD-ADFB-97DD-02787CF239D9}"/></a:ext></a:extLst></p:cNvPr><p:cNvPicPr><a:picLocks noChangeAspect="1"/></p:cNvPicPr><p:nvPr/></p:nvPicPr><p:blipFill><a:blip r:embed="rId5"/><a:stretch><a:fillRect/></a:stretch></p:blipFill><p:spPr><a:xfrm><a:off x="1499753" y="1731167"/><a:ext cx="6044047" cy="3916231"/></a:xfrm><a:prstGeom prst="rect"><a:avLst/></a:prstGeom></p:spPr></p:pic><p:sp><p:nvSpPr><p:cNvPr id="13" name="ZoneTexte 12"><a:extLst><a:ext uri="{FF2B5EF4-FFF2-40B4-BE49-F238E27FC236}"><a16:creationId xmlns:a16="http://schemas.microsoft.com/office/drawing/2014/main" id="{AB026A14-1A50-15DE-5BC0-08CF5545C171}"/></a:ext></a:extLst></p:cNvPr><p:cNvSpPr txBox="1"/><p:nvPr/></p:nvSpPr><p:spPr><a:xfrm><a:off x="631516" y="5770295"/><a:ext cx="8321326" cy="646331"/></a:xfrm><a:prstGeom prst="rect"><a:avLst/></a:prstGeom><a:noFill/></p:spPr><p:txBody><a:bodyPr wrap="square"><a:spAutoFit/></a:bodyPr><a:lstStyle/><a:p><a:pPr algn="ctr"/><a:r><a:rPr lang="fr-FR" dirty="0"><a:effectLst/></a:rPr><a:t>Architecture du protocole RPL standard – Organisation en DODAG et utilisation de la métrique ETX (RFC 6550) </a:t></a:r><a:endParaRPr lang="fr-FR" dirty="0"/></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4088863142"/></p:ext></p:extLst></p:cSld><p:clrMapOvr><a:masterClrMapping/></p:clrMapOvr><p:timing><p:tnLst><p:par><p:cTn id="1" dur="indefinite" restart="never" nodeType="tmRoot"><p:childTnLst><p:seq concurrent="1" nextAc="seek"><p:cTn id="2" dur="indefinite" nodeType="mainSeq"><p:childTnLst><p:par><p:cTn id="3" fill="hold"><p:stCondLst><p:cond delay="indefinite"/></p:stCondLst><p:childTnLst><p:par><p:cTn id="4" fill="hold"><p:stCondLst><p:cond delay="0"/></p:stCondLst><p:childTnLst><p:par><p:cTn id="5" presetID="37" presetClass="path" presetSubtype="0" accel="50000" decel="50000" fill="hold" nodeType="clickEffect"><p:stCondLst><p:cond delay="0"/></p:stCondLst><p:childTnLst><p:animMotion origin="layout" path="M 0.075 1.48148E-6 L 0.19028 -0.00741 C 0.21441 -0.00926 0.25052 -0.01019 0.28837 -0.01019 C 0.33159 -0.01019 0.36614 -0.00926 0.39028 -0.00741 L 0.5059 1.48148E-6 " pathEditMode="relative" rAng="0" ptsTypes="AAAAA"><p:cBhvr><p:cTn id="6" dur="3000" fill="hold"/><p:tgtEl><p:spTgt spid="2"/></p:tgtEl><p:attrNameLst><p:attrName>ppt_x</p:attrName><p:attrName>ppt_y</p:attrName></p:attrNameLst></p:cBhvr><p:rCtr x="21545" y="-509"/></p:animMotion></p:childTnLst></p:cTn></p:par></p:childTnLst></p:cTn></p:par></p:childTnLst></p:cTn></p:par><p:par><p:cTn id="7" fill="hold"><p:stCondLst><p:cond delay="indefinite"/></p:stCondLst><p:childTnLst><p:par><p:cTn id="8" fill="hold"><p:stCondLst><p:cond delay="0"/></p:stCondLst><p:childTnLst><p:par><p:cTn id="9" presetID="37" presetClass="path" presetSubtype="0" accel="50000" decel="50000" fill="hold" nodeType="clickEffect"><p:stCondLst><p:cond delay="0"/></p:stCondLst><p:childTnLst><p:animMotion origin="layout" path="M 0.03889 0.11944 L 0.18559 0.13171 C 0.21614 0.13495 0.26198 0.13634 0.31024 0.13634 C 0.36528 0.13634 0.40937 0.13495 0.43993 0.13171 L 0.5875 0.11944 " pathEditMode="relative" rAng="0" ptsTypes="AAAAA"><p:cBhvr><p:cTn id="10" dur="3000" fill="hold"/><p:tgtEl><p:spTgt spid="2"/></p:tgtEl><p:attrNameLst><p:attrName>ppt_x</p:attrName><p:attrName>ppt_y</p:attrName></p:attrNameLst></p:cBhvr><p:rCtr x="27431" y="833"/></p:animMotion></p:childTnLst></p:cTn></p:par></p:childTnLst></p:cTn></p:par></p:childTnLst></p:cTn></p:par><p:par><p:cTn id="11" fill="hold"><p:stCondLst><p:cond delay="indefinite"/></p:stCondLst><p:childTnLst><p:par><p:cTn id="12" fill="hold"><p:stCondLst><p:cond delay="0"/></p:stCondLst><p:childTnLst><p:par><p:cTn id="13" presetID="37" presetClass="path" presetSubtype="0" accel="50000" decel="50000" fill="hold" nodeType="clickEffect"><p:stCondLst><p:cond delay="0"/></p:stCondLst><p:childTnLst><p:animMotion origin="layout" path="M -0.00261 0.18889 L 0.0776 0.18356 C 0.09427 0.18241 0.11927 0.18217 0.14566 0.18217 C 0.17569 0.18217 0.19965 0.18241 0.21632 0.18356 L 0.29687 0.18889 " pathEditMode="relative" rAng="0" ptsTypes="AAAAA"><p:cBhvr><p:cTn id="14" dur="3000" fill="hold"/><p:tgtEl><p:spTgt spid="2"/></p:tgtEl><p:attrNameLst><p:attrName>ppt_x</p:attrName><p:attrName>ppt_y</p:attrName></p:attrNameLst></p:cBhvr><p:rCtr x="14965" y="-347"/></p:animMotion></p:childTnLst></p:cTn></p:par></p:childTnLst></p:cTn></p:par></p:childTnLst></p:cTn></p:par><p:par><p:cTn id="15" fill="hold"><p:stCondLst><p:cond delay="indefinite"/></p:stCondLst><p:childTnLst><p:par><p:cTn id="16" fill="hold"><p:stCondLst><p:cond delay="0"/></p:stCondLst><p:childTnLst><p:par><p:cTn id="17" presetID="37" presetClass="path" presetSubtype="0" accel="50000" decel="50000" fill="hold" nodeType="clickEffect"><p:stCondLst><p:cond delay="0"/></p:stCondLst><p:childTnLst><p:animMotion origin="layout" path="M 0.01562 0.33148 L 0.10885 0.34375 C 0.12812 0.34653 0.15746 0.34884 0.18802 0.34884 C 0.22326 0.34884 0.25104 0.34653 0.27083 0.34375 L 0.36475 0.33148 " pathEditMode="relative" rAng="0" ptsTypes="AAAAA"><p:cBhvr><p:cTn id="18" dur="3000" fill="hold"/><p:tgtEl><p:spTgt spid="2"/></p:tgtEl><p:attrNameLst><p:attrName>ppt_x</p:attrName><p:attrName>ppt_y</p:attrName></p:attrNameLst></p:cBhvr><p:rCtr x="17448" y="856"/></p:animMotion></p:childTnLst></p:cTn></p:par></p:childTnLst></p:cTn></p:par></p:childTnLst></p:cTn></p:par><p:par><p:cTn id="19" fill="hold"><p:stCondLst><p:cond delay="indefinite"/></p:stCondLst><p:childTnLst><p:par><p:cTn id="20" fill="hold"><p:stCondLst><p:cond delay="0"/></p:stCondLst><p:childTnLst><p:par><p:cTn id="21" presetID="37" presetClass="path" presetSubtype="0" accel="50000" decel="50000" fill="hold" nodeType="clickEffect"><p:stCondLst><p:cond delay="0"/></p:stCondLst><p:childTnLst><p:animMotion origin="layout" path="M -0.0007 0.52778 L 0.07934 0.52176 C 0.096 0.5206 0.12118 0.52014 0.14739 0.52014 C 0.17725 0.52014 0.20121 0.5206 0.21805 0.52176 L 0.29826 0.52778 " pathEditMode="relative" rAng="0" ptsTypes="AAAAA"><p:cBhvr><p:cTn id="22" dur="3000" fill="hold"/><p:tgtEl><p:spTgt spid="2"/></p:tgtEl><p:attrNameLst><p:attrName>ppt_x</p:attrName><p:attrName>ppt_y</p:attrName></p:attrNameLst></p:cBhvr><p:rCtr x="14948" y="-394"/></p:animMotion></p:childTnLst></p:cTn></p:par></p:childTnLst></p:cTn></p:par></p:childTnLst></p:cTn></p:par><p:par><p:cTn id="23" fill="hold"><p:stCondLst><p:cond delay="indefinite"/></p:stCondLst><p:childTnLst><p:par><p:cTn id="24" fill="hold"><p:stCondLst><p:cond delay="0"/></p:stCondLst><p:childTnLst><p:par><p:cTn id="25" presetID="37" presetClass="path" presetSubtype="0" accel="50000" decel="50000" fill="hold" nodeType="clickEffect"><p:stCondLst><p:cond delay="0"/></p:stCondLst><p:childTnLst><p:animMotion origin="layout" path="M -0.01146 0.74722 L 0.17291 0.75741 C 0.21163 0.75972 0.26944 0.76111 0.32968 0.76111 C 0.39843 0.76111 0.45347 0.75972 0.49218 0.75741 L 0.67673 0.74722 " pathEditMode="relative" rAng="0" ptsTypes="AAAAA"><p:cBhvr><p:cTn id="26" dur="5000" fill="hold"/><p:tgtEl><p:spTgt spid="2"/></p:tgtEl><p:attrNameLst><p:attrName>ppt_x</p:attrName><p:attrName>ppt_y</p:attrName></p:attrNameLst></p:cBhvr><p:rCtr x="34410" y="694"/></p:animMotion></p:childTnLst></p:cTn></p:par></p:childTnLst></p:cTn></p:par></p:childTnLst></p:cTn></p:par></p:childTnLst></p:cTn><p:prevCondLst><p:cond evt="onPrev" delay="0"><p:tgtEl><p:sldTgt/></p:tgtEl></p:cond></p:prevCondLst><p:nextCondLst><p:cond evt="onNext" delay="0"><p:tgtEl><p:sldTgt/></p:tgtEl></p:cond></p:nextCondLst></p:seq></p:childTnLst></p:cTn></p:par></p:tnLst></p:timing></p:sld>
</file>

<file path=ppt/slides/slide6.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7" name="Group 7584"><a:extLst><a:ext uri="{FF2B5EF4-FFF2-40B4-BE49-F238E27FC236}"><a16:creationId xmlns:a16="http://schemas.microsoft.com/office/drawing/2014/main" id="{3D0BD649-519E-5027-A54E-BC735C16E54D}"/></a:ext></a:extLst></p:cNvPr><p:cNvGrpSpPr/><p:nvPr/></p:nvGrpSpPr><p:grpSpPr><a:xfrm><a:off x="-1" y="6616929"/><a:ext cx="9288000" cy="241071"/><a:chOff x="0" y="95085"/><a:chExt cx="5792348" cy="112882"/></a:xfrm></p:grpSpPr><p:sp><p:nvSpPr><p:cNvPr id="41" name="Shape 7931"><a:extLst><a:ext uri="{FF2B5EF4-FFF2-40B4-BE49-F238E27FC236}"><a16:creationId xmlns:a16="http://schemas.microsoft.com/office/drawing/2014/main" id="{9C96FCD7-25C9-419F-74DE-599DE800B3CF}"/></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42" name="Rectangle 41"><a:extLst><a:ext uri="{FF2B5EF4-FFF2-40B4-BE49-F238E27FC236}"><a16:creationId xmlns:a16="http://schemas.microsoft.com/office/drawing/2014/main" id="{AC7FBC99-AA1A-ED6D-7896-723BB85768E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43" name="Shape 7944"><a:extLst><a:ext uri="{FF2B5EF4-FFF2-40B4-BE49-F238E27FC236}"><a16:creationId xmlns:a16="http://schemas.microsoft.com/office/drawing/2014/main" id="{1841A2C7-D4B0-A82A-80D9-9D6586D42A55}"/></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44" name="Rectangle 43"><a:extLst><a:ext uri="{FF2B5EF4-FFF2-40B4-BE49-F238E27FC236}"><a16:creationId xmlns:a16="http://schemas.microsoft.com/office/drawing/2014/main" id="{DB2303D6-3051-D5BA-A51C-E185D57F37A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45" name="Shape 7963"><a:extLst><a:ext uri="{FF2B5EF4-FFF2-40B4-BE49-F238E27FC236}"><a16:creationId xmlns:a16="http://schemas.microsoft.com/office/drawing/2014/main" id="{C3FADBD3-3333-434F-A9E6-99D4A10E5D3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46" name="Rectangle 45"><a:extLst><a:ext uri="{FF2B5EF4-FFF2-40B4-BE49-F238E27FC236}"><a16:creationId xmlns:a16="http://schemas.microsoft.com/office/drawing/2014/main" id="{D09CAB62-8071-D5E9-16F1-E1E94D29B422}"/></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4/19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63" name="Groupe 62"><a:extLst><a:ext uri="{FF2B5EF4-FFF2-40B4-BE49-F238E27FC236}"><a16:creationId xmlns:a16="http://schemas.microsoft.com/office/drawing/2014/main" id="{D8B6E861-AB1C-8E59-35A8-0BC14891C029}"/></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64" name="Picture 4" descr="logo.jpg"><a:extLst><a:ext uri="{FF2B5EF4-FFF2-40B4-BE49-F238E27FC236}"><a16:creationId xmlns:a16="http://schemas.microsoft.com/office/drawing/2014/main" id="{E0D4C9A2-2ED8-621E-6ED4-74279431D20E}"/></a:ext></a:extLst></p:cNvPr><p:cNvPicPr><a:picLocks noChangeAspect="1"/></p:cNvPicPr><p:nvPr/></p:nvPicPr><p:blipFill><a:blip r:embed="rId3"/><a:stretch><a:fillRect/></a:stretch></p:blipFill><p:spPr><a:xfrm><a:off x="7950314" y="1873025"/><a:ext cx="1440000" cy="664615"/></a:xfrm><a:prstGeom prst="rect"><a:avLst/></a:prstGeom><a:grpFill/></p:spPr></p:pic><p:sp><p:nvSpPr><p:cNvPr id="65" name="Rectangle 64"><a:extLst><a:ext uri="{FF2B5EF4-FFF2-40B4-BE49-F238E27FC236}"><a16:creationId xmlns:a16="http://schemas.microsoft.com/office/drawing/2014/main" id="{36988165-530B-E5A7-3954-F0A0C37448F3}"/></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val="FFFFFF"/></a:solidFill><a:latin typeface="Poppins"/></a:rPr><a:t>Problématique : Limites du protocole RPL</a:t></a:r></a:p></p:txBody></p:sp></p:grpSp><p:sp><p:nvSpPr><p:cNvPr id="4" name="ZoneTexte 3"><a:extLst><a:ext uri="{FF2B5EF4-FFF2-40B4-BE49-F238E27FC236}"><a16:creationId xmlns:a16="http://schemas.microsoft.com/office/drawing/2014/main" id="{625C585D-34B2-D07F-223D-587F5EA336DD}"/></a:ext></a:extLst></p:cNvPr><p:cNvSpPr txBox="1"/><p:nvPr/></p:nvSpPr><p:spPr><a:xfrm><a:off x="161850" y="860534"/><a:ext cx="6654800" cy="369332"/></a:xfrm><a:prstGeom prst="rect"><a:avLst/></a:prstGeom><a:noFill/></p:spPr><p:txBody><a:bodyPr wrap="square"><a:spAutoFit/></a:bodyPr><a:lstStyle/><a:p><a:r><a:rPr lang="fr-FR" b="1" dirty="0"/><a:t>⚠️ Trois limites majeures pour les applications critiques</a:t></a:r></a:p></p:txBody></p:sp><p:sp><p:nvSpPr><p:cNvPr id="5" name="ZoneTexte 4"><a:extLst><a:ext uri="{FF2B5EF4-FFF2-40B4-BE49-F238E27FC236}"><a16:creationId xmlns:a16="http://schemas.microsoft.com/office/drawing/2014/main" id="{B3A549B2-655F-26A5-1926-36AC509EBAB1}"/></a:ext></a:extLst></p:cNvPr><p:cNvSpPr txBox="1"/><p:nvPr/></p:nvSpPr><p:spPr><a:xfrm><a:off x="161850" y="1423973"/><a:ext cx="6976533" cy="1200329"/></a:xfrm><a:prstGeom prst="rect"><a:avLst/></a:prstGeom><a:noFill/></p:spPr><p:txBody><a:bodyPr wrap="square"><a:spAutoFit/></a:bodyPr><a:lstStyle/><a:p><a:r><a:rPr lang="fr-FR" b="1" dirty="0"/><a:t>❌ </a:t></a:r><a:r><a:rPr lang="fr-FR" dirty="0"/><a:t>⚡</a:t></a:r><a:r><a:rPr lang="fr-FR" b="1" dirty="0"/><a:t> Qualité de Service (QoS)</a:t></a:r></a:p><a:p><a:pPr marL="285750" indent="-285750"><a:buBlip><a:blip r:embed="rId4"/></a:buBlip></a:pPr><a:r><a:rPr lang="fr-FR" dirty="0"/><a:t>Aucune différenciation</a:t></a:r></a:p><a:p><a:pPr marL="285750" indent="-285750"><a:buBlip><a:blip r:embed="rId4"/></a:buBlip></a:pPr><a:r><a:rPr lang="fr-FR" dirty="0"/><a:t>on </a:t></a:r><a:r><a:rPr lang="fr-FR" b="1" dirty="0"/><a:t>entre</a:t></a:r><a:r><a:rPr lang="fr-FR" dirty="0"/><a:t> flux critiques et non critiques</a:t></a:r></a:p><a:p><a:pPr marL="285750" indent="-285750"><a:buBlip><a:blip r:embed="rId4"/></a:buBlip></a:pPr><a:r><a:rPr lang="fr-FR" b="1" dirty="0"/><a:t>Retards inacceptables</a:t></a:r><a:r><a:rPr lang="fr-FR" dirty="0"/><a:t> en cas de congestion</a:t></a:r></a:p></p:txBody></p:sp><p:sp><p:nvSpPr><p:cNvPr id="6" name="ZoneTexte 5"><a:extLst><a:ext uri="{FF2B5EF4-FFF2-40B4-BE49-F238E27FC236}"><a16:creationId xmlns:a16="http://schemas.microsoft.com/office/drawing/2014/main" id="{9EC78168-8509-1561-5D79-CC04293F2202}"/></a:ext></a:extLst></p:cNvPr><p:cNvSpPr txBox="1"/><p:nvPr/></p:nvSpPr><p:spPr><a:xfrm><a:off x="161850" y="2818409"/><a:ext cx="5401733" cy="1200329"/></a:xfrm><a:prstGeom prst="rect"><a:avLst/></a:prstGeom><a:noFill/></p:spPr><p:txBody><a:bodyPr wrap="square"><a:spAutoFit/></a:bodyPr><a:lstStyle/><a:p><a:r><a:rPr lang="fr-FR" b="1" dirty="0"/><a:t>❌ </a:t></a:r><a:r><a:rPr lang="fr-FR" dirty="0"/><a:t>🔋</a:t></a:r><a:r><a:rPr lang="fr-FR" b="1" dirty="0"/><a:t> Consommation énergétique</a:t></a:r></a:p><a:p><a:pPr marL="285750" indent="-285750"><a:buBlip><a:blip r:embed="rId4"/></a:buBlip></a:pPr><a:r><a:rPr lang="fr-FR" dirty="0"/><a:t>Jusqu’à </a:t></a:r><a:r><a:rPr lang="fr-FR" b="1" dirty="0"/><a:t>1200 </a:t></a:r><a:r><a:rPr lang="fr-FR" b="1" dirty="0" err="1"/><a:t>mJ</a:t></a:r><a:r><a:rPr lang="fr-FR" b="1" dirty="0"/><a:t> / paquet</a:t></a:r><a:endParaRPr lang="fr-FR" dirty="0"/></a:p><a:p><a:pPr marL="285750" indent="-285750"><a:buBlip><a:blip r:embed="rId4"/></a:buBlip></a:pPr><a:r><a:rPr lang="fr-FR" b="1" dirty="0"/><a:t>Durée de vie réduite</a:t></a:r><a:r><a:rPr lang="fr-FR" dirty="0"/><a:t> des capteurs</a:t></a:r><a:br><a:rPr lang="fr-FR" dirty="0"/></a:br><a:r><a:rPr lang="fr-FR" i="1" dirty="0"/><a:t>(réseaux denses)</a:t></a:r><a:endParaRPr lang="fr-FR" dirty="0"/></a:p></p:txBody></p:sp><p:sp><p:nvSpPr><p:cNvPr id="8" name="ZoneTexte 7"><a:extLst><a:ext uri="{FF2B5EF4-FFF2-40B4-BE49-F238E27FC236}"><a16:creationId xmlns:a16="http://schemas.microsoft.com/office/drawing/2014/main" id="{74652F0C-3224-AA71-C4F0-7227C8E003F3}"/></a:ext></a:extLst></p:cNvPr><p:cNvSpPr txBox="1"/><p:nvPr/></p:nvSpPr><p:spPr><a:xfrm><a:off x="161850" y="4212845"/><a:ext cx="6017942" cy="1200329"/></a:xfrm><a:prstGeom prst="rect"><a:avLst/></a:prstGeom><a:noFill/></p:spPr><p:txBody><a:bodyPr wrap="square"><a:spAutoFit/></a:bodyPr><a:lstStyle/><a:p><a:r><a:rPr lang="fr-FR" b="1" dirty="0"/><a:t>❌ </a:t></a:r><a:r><a:rPr lang="fr-FR" dirty="0"/><a:t>🔒</a:t></a:r><a:r><a:rPr lang="fr-FR" b="1" dirty="0"/><a:t>Sécurité</a:t></a:r></a:p><a:p><a:pPr marL="285750" indent="-285750"><a:buBlip><a:blip r:embed="rId4"/></a:buBlip></a:pPr><a:r><a:rPr lang="fr-FR" dirty="0"/><a:t>Attaques : </a:t></a:r><a:r><a:rPr lang="fr-FR" i="1" dirty="0"/><a:t>sinkhole, selective forwarding</a:t></a:r><a:endParaRPr lang="fr-FR" dirty="0"/></a:p><a:p><a:pPr marL="285750" indent="-285750"><a:buBlip><a:blip r:embed="rId4"/></a:buBlip></a:pPr><a:r><a:rPr lang="fr-FR" dirty="0"/><a:t>Taux de détection &lt; 90 % avec les mécanismes classiques </a:t></a:r></a:p><a:p><a:pPr marL="285750" indent="-285750"><a:buBlip><a:blip r:embed="rId4"/></a:buBlip></a:pPr><a:r><a:rPr lang="fr-FR" b="1" dirty="0"/><a:t>Fausses alertes élevées</a:t></a:r><a:endParaRPr lang="fr-FR" dirty="0"/></a:p></p:txBody></p:sp><p:sp><p:nvSpPr><p:cNvPr id="9" name="ZoneTexte 8"><a:extLst><a:ext uri="{FF2B5EF4-FFF2-40B4-BE49-F238E27FC236}"><a16:creationId xmlns:a16="http://schemas.microsoft.com/office/drawing/2014/main" id="{C241937E-D0AD-1C76-B097-D650727A147E}"/></a:ext></a:extLst></p:cNvPr><p:cNvSpPr txBox="1"/><p:nvPr/></p:nvSpPr><p:spPr><a:xfrm><a:off x="161850" y="5607279"/><a:ext cx="8834235" cy="923330"/></a:xfrm><a:prstGeom prst="rect"><a:avLst/></a:prstGeom><a:noFill/></p:spPr><p:txBody><a:bodyPr wrap="square"><a:spAutoFit/></a:bodyPr><a:lstStyle/><a:p><a:r><a:rPr lang="fr-FR" b="1" dirty="0"/><a:t>▶️ Message clé</a:t></a:r></a:p><a:p><a:r><a:rPr lang="fr-FR" b="1" dirty="0"/><a:t>Ces limites motivent le développement de solutions RPL améliorées :</a:t></a:r><a:br><a:rPr lang="fr-FR" b="1" dirty="0"/></a:br><a:r><a:rPr lang="fr-FR" b="1" i="1" dirty="0"/><a:t>RPLMQoS</a:t></a:r><a:r><a:rPr lang="fr-FR" b="1" dirty="0"/><a:t> et </a:t></a:r><a:r><a:rPr lang="fr-FR" b="1" i="1" dirty="0"/><a:t>AER-RPL</a:t></a:r><a:r><a:rPr lang="fr-FR" b="1" dirty="0"/><a:t>.</a:t></a:r><a:endParaRPr lang="fr-FR" dirty="0"/></a:p></p:txBody></p:sp><p:sp><p:nvSpPr><p:cNvPr id="10" name="Flèche : droite 9"><a:hlinkClick r:id="" action="ppaction://hlinkshowjump?jump=nextslide"/><a:extLst><a:ext uri="{FF2B5EF4-FFF2-40B4-BE49-F238E27FC236}"><a16:creationId xmlns:a16="http://schemas.microsoft.com/office/drawing/2014/main" id="{21FD5968-50AB-BDEA-D802-6EC78E17D5F1}"/></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11" name="Flèche : droite 10"><a:hlinkClick r:id="" action="ppaction://hlinkshowjump?jump=previousslide"/><a:extLst><a:ext uri="{FF2B5EF4-FFF2-40B4-BE49-F238E27FC236}"><a16:creationId xmlns:a16="http://schemas.microsoft.com/office/drawing/2014/main" id="{DF290082-512F-5E2E-AAE2-F6C40492BDC6}"/></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1605529271"/></p:ext></p:extLst></p:cSld><p:clrMapOvr><a:masterClrMapping/></p:clrMapOvr></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46B2C3C-BB7E-9AA4-1648-7ABE79ED8AB6}"/>
              </a:ext>
            </a:extLst>
          </p:cNvPr>
          <p:cNvPicPr>
            <a:picLocks noChangeAspect="1"/>
          </p:cNvPicPr>
          <p:nvPr/>
        </p:nvPicPr>
        <p:blipFill>
          <a:blip r:embed="rId3"/>
          <a:stretch>
            <a:fillRect/>
          </a:stretch>
        </p:blipFill>
        <p:spPr>
          <a:xfrm>
            <a:off x="0" y="143892"/>
            <a:ext cx="9144000" cy="5988326"/>
          </a:xfrm>
          <a:prstGeom prst="rect">
            <a:avLst/>
          </a:prstGeom>
        </p:spPr>
      </p:pic>
      <p:sp>
        <p:nvSpPr>
          <p:cNvPr id="5" name="ZoneTexte 4">
            <a:extLst>
              <a:ext uri="{FF2B5EF4-FFF2-40B4-BE49-F238E27FC236}">
                <a16:creationId xmlns:a16="http://schemas.microsoft.com/office/drawing/2014/main" id="{C0D845B9-E8FD-A378-1AEB-F5124154BE8B}"/>
              </a:ext>
            </a:extLst>
          </p:cNvPr>
          <p:cNvSpPr txBox="1"/>
          <p:nvPr/>
        </p:nvSpPr>
        <p:spPr>
          <a:xfrm>
            <a:off x="96982" y="6255649"/>
            <a:ext cx="9047018"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 Impact des limitations de RPL sur les métriques QoS dans différents scénarios réseau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050225677"/>
      </p:ext>
    </p:extLst>
  </p:cSld>
  <p:clrMapOvr>
    <a:masterClrMapping/>
  </p:clrMapOvr>
</p:sld>
</file>

<file path=ppt/slides/slide8.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extLst><a:ext uri="{FF2B5EF4-FFF2-40B4-BE49-F238E27FC236}"><a16:creationId xmlns:a16="http://schemas.microsoft.com/office/drawing/2014/main" id="{25E29762-4FA9-9804-C45E-75216C64AD3D}"/></a:ext></a:extLst></p:cNvPr><p:cNvSpPr txBox="1"/><p:nvPr/></p:nvSpPr><p:spPr><a:xfrm><a:off x="189571" y="794294"/><a:ext cx="4638906" cy="400110"/></a:xfrm><a:prstGeom prst="rect"><a:avLst/></a:prstGeom><a:noFill/></p:spPr><p:txBody><a:bodyPr wrap="square"><a:spAutoFit/></a:bodyPr><a:lstStyle/><a:p><a:r><a:rPr lang="fr-FR" sz="2000" b="1" dirty="0"><a:latin typeface="Poppins"/></a:rPr><a:t>🎯 Trois objectifs principaux</a:t></a:r></a:p></p:txBody></p:sp><p:sp><p:nvSpPr><p:cNvPr id="9" name="ZoneTexte 8"><a:extLst><a:ext uri="{FF2B5EF4-FFF2-40B4-BE49-F238E27FC236}"><a16:creationId xmlns:a16="http://schemas.microsoft.com/office/drawing/2014/main" id="{2F9B465A-49D1-4511-86C1-06B658BF7F56}"/></a:ext></a:extLst></p:cNvPr><p:cNvSpPr txBox="1"/><p:nvPr/></p:nvSpPr><p:spPr><a:xfrm><a:off x="425979" y="1246135"/><a:ext cx="6414179" cy="1323439"/></a:xfrm><a:prstGeom prst="rect"><a:avLst/></a:prstGeom><a:noFill/></p:spPr><p:txBody><a:bodyPr wrap="square"><a:spAutoFit/></a:bodyPr><a:lstStyle/><a:p><a:r><a:rPr lang="fr-FR" sz="2000" b="1" dirty="0"><a:latin typeface="Poppins"/></a:rPr><a:t>🎯 1. Qualité de Service (QoS)</a:t></a:r></a:p><a:p><a:pPr marL="342900" indent="-342900"><a:buBlip><a:blip r:embed="rId3"/></a:buBlip></a:pPr><a:r><a:rPr lang="fr-FR" sz="2000" b="1" dirty="0"><a:latin typeface="Poppins"/></a:rPr><a:t>Différenciation multi-niveaux</a:t></a:r><a:r><a:rPr lang="fr-FR" sz="2000" dirty="0"><a:latin typeface="Poppins"/></a:rPr><a:t> des flux</a:t></a:r></a:p><a:p><a:pPr marL="342900" indent="-342900"><a:buBlip><a:blip r:embed="rId3"/></a:buBlip></a:pPr><a:r><a:rPr lang="fr-FR" sz="2000" b="1" dirty="0"><a:latin typeface="Poppins"/></a:rPr><a:t>PDR ≥ 95 %</a:t></a:r><a:r><a:rPr lang="fr-FR" sz="2000" dirty="0"><a:latin typeface="Poppins"/></a:rPr><a:t> pour les flux critiques</a:t></a:r></a:p><a:p><a:pPr marL="342900" indent="-342900"><a:buBlip><a:blip r:embed="rId3"/></a:buBlip></a:pPr><a:r><a:rPr lang="fr-FR" sz="2000" b="1" dirty="0"><a:latin typeface="Poppins"/></a:rPr><a:t>Latence ≤ 100 ms</a:t></a:r><a:r><a:rPr lang="fr-FR" sz="2000" dirty="0"><a:latin typeface="Poppins"/></a:rPr><a:t> (applications médicales)</a:t></a:r></a:p></p:txBody></p:sp><p:sp><p:nvSpPr><p:cNvPr id="11" name="ZoneTexte 10"><a:extLst><a:ext uri="{FF2B5EF4-FFF2-40B4-BE49-F238E27FC236}"><a16:creationId xmlns:a16="http://schemas.microsoft.com/office/drawing/2014/main" id="{A607FFD1-EDF0-2196-21A9-4BDB9352FD5B}"/></a:ext></a:extLst></p:cNvPr><p:cNvSpPr txBox="1"/><p:nvPr/></p:nvSpPr><p:spPr><a:xfrm><a:off x="425979" y="2568165"/><a:ext cx="6382958" cy="1323439"/></a:xfrm><a:prstGeom prst="rect"><a:avLst/></a:prstGeom><a:noFill/></p:spPr><p:txBody><a:bodyPr wrap="square"><a:spAutoFit/></a:bodyPr><a:lstStyle/><a:p><a:r><a:rPr lang="fr-FR" sz="2000" b="1" dirty="0"><a:latin typeface="Poppins"/></a:rPr><a:t>🎯 2. Sécurité</a:t></a:r></a:p><a:p><a:pPr marL="285750" indent="-285750"><a:buFont typeface="Arial" panose="020B0604020202020204" pitchFamily="34" charset="0"/><a:buChar char="•"/></a:pPr><a:r><a:rPr lang="fr-FR" sz="2000" b="1" dirty="0"><a:latin typeface="Poppins"/></a:rPr><a:t>Détection des attaques ≥ 95 %</a:t></a:r><a:endParaRPr lang="fr-FR" sz="2000" dirty="0"><a:latin typeface="Poppins"/></a:endParaRPr></a:p><a:p><a:pPr marL="285750" indent="-285750"><a:buFont typeface="Arial" panose="020B0604020202020204" pitchFamily="34" charset="0"/><a:buChar char="•"/></a:pPr><a:r><a:rPr lang="fr-FR" sz="2000" b="1" dirty="0"><a:latin typeface="Poppins"/></a:rPr><a:t>Faux positifs ≤ 5 %</a:t></a:r><a:endParaRPr lang="fr-FR" sz="2000" dirty="0"><a:latin typeface="Poppins"/></a:endParaRPr></a:p><a:p><a:pPr marL="285750" indent="-285750"><a:buFont typeface="Arial" panose="020B0604020202020204" pitchFamily="34" charset="0"/><a:buChar char="•"/></a:pPr><a:r><a:rPr lang="fr-FR" sz="2000" b="1" dirty="0"><a:latin typeface="Poppins"/></a:rPr><a:t>Protection efficace sans surcharge</a:t></a:r><a:r><a:rPr lang="fr-FR" sz="2000" dirty="0"><a:latin typeface="Poppins"/></a:rPr><a:t> du réseau</a:t></a:r></a:p></p:txBody></p:sp><p:sp><p:nvSpPr><p:cNvPr id="13" name="ZoneTexte 12"><a:extLst><a:ext uri="{FF2B5EF4-FFF2-40B4-BE49-F238E27FC236}"><a16:creationId xmlns:a16="http://schemas.microsoft.com/office/drawing/2014/main" id="{6BF7CDA6-8448-FA4D-5E4E-6C7FA9749A14}"/></a:ext></a:extLst></p:cNvPr><p:cNvSpPr txBox="1"/><p:nvPr/></p:nvSpPr><p:spPr><a:xfrm><a:off x="425979" y="4004495"/><a:ext cx="6991815" cy="1323439"/></a:xfrm><a:prstGeom prst="rect"><a:avLst/></a:prstGeom><a:noFill/></p:spPr><p:txBody><a:bodyPr wrap="square"><a:spAutoFit/></a:bodyPr><a:lstStyle/><a:p><a:r><a:rPr lang="fr-FR" sz="2000" b="1" dirty="0"><a:latin typeface="Poppins"/></a:rPr><a:t>🎯 3. Efficacité énergétique</a:t></a:r></a:p><a:p><a:pPr marL="285750" indent="-285750"><a:buFont typeface="Arial" panose="020B0604020202020204" pitchFamily="34" charset="0"/><a:buChar char="•"/></a:pPr><a:r><a:rPr lang="fr-FR" sz="2000" b="1"><a:latin typeface="Poppins"/></a:rPr><a:t>Réduction ≤ 30 </a:t></a:r><a:r><a:rPr lang="fr-FR" sz="2000" b="1" dirty="0"><a:latin typeface="Poppins"/></a:rPr><a:t>%</a:t></a:r><a:r><a:rPr lang="fr-FR" sz="2000" dirty="0"><a:latin typeface="Poppins"/></a:rPr><a:t> de la consommation énergétique</a:t></a:r></a:p><a:p><a:pPr marL="285750" indent="-285750"><a:buFont typeface="Arial" panose="020B0604020202020204" pitchFamily="34" charset="0"/><a:buChar char="•"/></a:pPr><a:r><a:rPr lang="fr-FR" sz="2000" b="1" dirty="0"><a:latin typeface="Poppins"/></a:rPr><a:t>Prolongation de la durée de vie</a:t></a:r><a:r><a:rPr lang="fr-FR" sz="2000" dirty="0"><a:latin typeface="Poppins"/></a:rPr><a:t> des capteurs</a:t></a:r></a:p><a:p><a:pPr marL="285750" indent="-285750"><a:buFont typeface="Arial" panose="020B0604020202020204" pitchFamily="34" charset="0"/><a:buChar char="•"/></a:pPr><a:r><a:rPr lang="fr-FR" sz="2000" b="1" dirty="0"><a:latin typeface="Poppins"/></a:rPr><a:t>Support de la récupération d’énergie</a:t></a:r><a:endParaRPr lang="fr-FR" sz="2000" dirty="0"><a:latin typeface="Poppins"/></a:endParaRPr></a:p></p:txBody></p:sp><p:sp><p:nvSpPr><p:cNvPr id="15" name="ZoneTexte 14"><a:extLst><a:ext uri="{FF2B5EF4-FFF2-40B4-BE49-F238E27FC236}"><a16:creationId xmlns:a16="http://schemas.microsoft.com/office/drawing/2014/main" id="{61D3D1BC-CE0A-25F3-A005-93BAFF51B380}"/></a:ext></a:extLst></p:cNvPr><p:cNvSpPr txBox="1"/><p:nvPr/></p:nvSpPr><p:spPr><a:xfrm><a:off x="457199" y="5521037"/><a:ext cx="8609967" cy="1015663"/></a:xfrm><a:prstGeom prst="rect"><a:avLst/></a:prstGeom><a:noFill/></p:spPr><p:txBody><a:bodyPr wrap="square"><a:spAutoFit/></a:bodyPr><a:lstStyle/><a:p><a:r><a:rPr lang="fr-FR" sz="2000" b="1" dirty="0"><a:latin typeface="Poppins"/></a:rPr><a:t>▶️ Message clé</a:t></a:r></a:p><a:p><a:r><a:rPr lang="fr-FR" sz="2000" b="1" dirty="0"><a:latin typeface="Poppins"/></a:rPr><a:t>Ces objectifs guident la conception de nos solutions :</a:t></a:r><a:br><a:rPr lang="fr-FR" sz="2000" b="1" dirty="0"><a:latin typeface="Poppins"/></a:rPr></a:br><a:r><a:rPr lang="fr-FR" sz="2000" b="1" i="1" dirty="0"><a:latin typeface="Poppins"/></a:rPr><a:t>RPLMQoS</a:t></a:r><a:r><a:rPr lang="fr-FR" sz="2000" b="1" dirty="0"><a:latin typeface="Poppins"/></a:rPr><a:t> pour la QoS, et </a:t></a:r><a:r><a:rPr lang="fr-FR" sz="2000" b="1" i="1" dirty="0"><a:latin typeface="Poppins"/></a:rPr><a:t>AER-RPL</a:t></a:r><a:r><a:rPr lang="fr-FR" sz="2000" b="1" dirty="0"><a:latin typeface="Poppins"/></a:rPr><a:t> pour la sécurité et l’efficacité énergétique.</a:t></a:r><a:endParaRPr lang="fr-FR" sz="2000" dirty="0"><a:latin typeface="Poppins"/></a:endParaRPr></a:p></p:txBody></p:sp><p:grpSp><p:nvGrpSpPr><p:cNvPr id="4" name="Group 7584"><a:extLst><a:ext uri="{FF2B5EF4-FFF2-40B4-BE49-F238E27FC236}"><a16:creationId xmlns:a16="http://schemas.microsoft.com/office/drawing/2014/main" id="{30FBCED7-F8F9-CF5A-8F5F-036F7FA6C46A}"/></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1EF3EA22-D4A7-8A61-1DAE-2E8F98E5A11E}"/></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EEE27E38-FB4C-5873-81E0-4FFE8129FB5D}"/></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57DF683E-825A-53A8-F11A-6262A601D451}"/></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0783B913-FF3C-5D94-46CD-06B0A353F6AD}"/></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4" name="Shape 7963"><a:extLst><a:ext uri="{FF2B5EF4-FFF2-40B4-BE49-F238E27FC236}"><a16:creationId xmlns:a16="http://schemas.microsoft.com/office/drawing/2014/main" id="{1A8FAFC4-EBBF-DAB2-7269-A007743C64D6}"/></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6" name="Rectangle 15"><a:extLst><a:ext uri="{FF2B5EF4-FFF2-40B4-BE49-F238E27FC236}"><a16:creationId xmlns:a16="http://schemas.microsoft.com/office/drawing/2014/main" id="{3DB36C71-0239-8AE8-8C66-4826B3FD1C95}"/></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5/19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7" name="Groupe 16"><a:extLst><a:ext uri="{FF2B5EF4-FFF2-40B4-BE49-F238E27FC236}"><a16:creationId xmlns:a16="http://schemas.microsoft.com/office/drawing/2014/main" id="{50F803E1-06E0-6C5C-428B-9A4014E6D11E}"/></a:ext></a:extLst></p:cNvPr><p:cNvGrpSpPr/><p:nvPr/></p:nvGrpSpPr><p:grpSpPr><a:xfrm><a:off x="614" y="36384"/><a:ext cx="9506457" cy="684000"/><a:chOff x="1278079" y="1873024"/><a:chExt cx="8112235" cy="664616"/></a:xfrm><a:gradFill><a:gsLst><a:gs pos="0">val="162B40"/></a:gs><a:gs pos="48000">val="34495E"/></a:gs><a:gs pos="100000">val="177BBE"/></a:gs></a:gsLst><a:lin ang="0" scaled="1"/></a:gradFill></p:grpSpPr><p:pic><p:nvPicPr><p:cNvPr id="18" name="Picture 4" descr="logo.jpg"><a:extLst><a:ext uri="{FF2B5EF4-FFF2-40B4-BE49-F238E27FC236}"><a16:creationId xmlns:a16="http://schemas.microsoft.com/office/drawing/2014/main" id="{F5DF7FF8-7A5E-8EF1-3426-8578B95D35B8}"/></a:ext></a:extLst></p:cNvPr><p:cNvPicPr><a:picLocks noChangeAspect="1"/></p:cNvPicPr><p:nvPr/></p:nvPicPr><p:blipFill><a:blip r:embed="rId4"/><a:stretch><a:fillRect/></a:stretch></p:blipFill><p:spPr><a:xfrm><a:off x="7950314" y="1873025"/><a:ext cx="1440000" cy="664615"/></a:xfrm><a:prstGeom prst="rect"><a:avLst/></a:prstGeom><a:grpFill/></p:spPr></p:pic><p:sp><p:nvSpPr><p:cNvPr id="19" name="Rectangle 18"><a:extLst><a:ext uri="{FF2B5EF4-FFF2-40B4-BE49-F238E27FC236}"><a16:creationId xmlns:a16="http://schemas.microsoft.com/office/drawing/2014/main" id="{39541D66-33E4-E6AD-947C-6859C34D2AEE}"/></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val="FFFFFF"/></a:solidFill><a:latin typeface="Poppins"/></a:rPr><a:t>Objectifs de la thèse</a:t></a:r></a:p></p:txBody></p:sp></p:grpSp><p:sp><p:nvSpPr><p:cNvPr id="2" name="Flèche : droite 1"><a:hlinkClick r:id="" action="ppaction://hlinkshowjump?jump=nextslide"/><a:extLst><a:ext uri="{FF2B5EF4-FFF2-40B4-BE49-F238E27FC236}"><a16:creationId xmlns:a16="http://schemas.microsoft.com/office/drawing/2014/main" id="{8685FE99-8E7F-0A01-7FE3-C6792763686E}"/></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5F596E83-A685-F632-4EB1-C99F9E6985D4}"/></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9.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extLst><a:ext uri="{FF2B5EF4-FFF2-40B4-BE49-F238E27FC236}"><a16:creationId xmlns:a16="http://schemas.microsoft.com/office/drawing/2014/main" id="{76752343-C14D-E693-6034-5AAB7A1E1A9E}"/></a:ext></a:extLst></p:cNvPr><p:cNvSpPr txBox="1"/><p:nvPr/></p:nvSpPr><p:spPr><a:xfrm><a:off x="457200" y="758032"/><a:ext cx="6858000" cy="1631216"/></a:xfrm><a:prstGeom prst="rect"><a:avLst/></a:prstGeom><a:noFill/></p:spPr><p:txBody><a:bodyPr wrap="square"><a:spAutoFit/></a:bodyPr><a:lstStyle/><a:p><a:r><a:rPr lang="fr-FR" sz="2000" b="1" dirty="0"><a:latin typeface="Poppins"/></a:rPr><a:t>📌 RPL Standard</a:t></a:r></a:p><a:p><a:r><a:rPr lang="fr-FR" sz="2000" i="1" dirty="0"><a:latin typeface="Poppins"/></a:rPr><a:t>(IETF RFC 6550, 2012)</a:t></a:r><a:endParaRPr lang="fr-FR" sz="2000" dirty="0"><a:latin typeface="Poppins"/></a:endParaRPr></a:p><a:p><a:pPr><a:buFont typeface="Arial" panose="020B0604020202020204" pitchFamily="34" charset="0"/><a:buChar char="•"/></a:pPr><a:r><a:rPr lang="fr-FR" sz="2000" dirty="0"><a:latin typeface="Poppins"/></a:rPr><a:t>Référence pour les réseaux IoT contraints</a:t></a:r></a:p><a:p><a:pPr><a:buFont typeface="Arial" panose="020B0604020202020204" pitchFamily="34" charset="0"/><a:buChar char="•"/></a:pPr><a:r><a:rPr lang="fr-FR" sz="2000" dirty="0"><a:latin typeface="Poppins"/></a:rPr><a:t>Robuste pour la construction de la topologie</a:t></a:r></a:p><a:p><a:pPr><a:buFont typeface="Arial" panose="020B0604020202020204" pitchFamily="34" charset="0"/><a:buChar char="•"/></a:pPr><a:r><a:rPr lang="fr-FR" sz="2000" dirty="0"><a:latin typeface="Poppins"/></a:rPr><a:t>❌ Limité en </a:t></a:r><a:r><a:rPr lang="fr-FR" sz="2000" b="1" dirty="0"><a:latin typeface="Poppins"/></a:rPr><a:t>QoS</a:t></a:r><a:r><a:rPr lang="fr-FR" sz="2000" dirty="0"><a:latin typeface="Poppins"/></a:rPr><a:t>, </a:t></a:r><a:r><a:rPr lang="fr-FR" sz="2000" b="1" dirty="0"><a:latin typeface="Poppins"/></a:rPr><a:t>sécurité</a:t></a:r><a:r><a:rPr lang="fr-FR" sz="2000" dirty="0"><a:latin typeface="Poppins"/></a:rPr><a:t> et </a:t></a:r><a:r><a:rPr lang="fr-FR" sz="2000" b="1" dirty="0"><a:latin typeface="Poppins"/></a:rPr><a:t>énergie</a:t></a:r><a:endParaRPr lang="fr-FR" sz="2000" dirty="0"><a:latin typeface="Poppins"/></a:endParaRPr></a:p></p:txBody></p:sp><p:sp><p:nvSpPr><p:cNvPr id="9" name="ZoneTexte 8"><a:extLst><a:ext uri="{FF2B5EF4-FFF2-40B4-BE49-F238E27FC236}"><a16:creationId xmlns:a16="http://schemas.microsoft.com/office/drawing/2014/main" id="{D1FFE486-A242-7235-1DD6-43C67B14E15F}"/></a:ext></a:extLst></p:cNvPr><p:cNvSpPr txBox="1"/><p:nvPr/></p:nvSpPr><p:spPr><a:xfrm><a:off x="457200" y="2466770"/><a:ext cx="6345044" cy="1631216"/></a:xfrm><a:prstGeom prst="rect"><a:avLst/></a:prstGeom><a:noFill/></p:spPr><p:txBody><a:bodyPr wrap="square"><a:spAutoFit/></a:bodyPr><a:lstStyle/><a:p><a:r><a:rPr lang="fr-FR" sz="2000" b="1" dirty="0"><a:latin typeface="Poppins"/></a:rPr><a:t>📌 Protocoles alternatifs</a:t></a:r></a:p><a:p><a:r><a:rPr lang="fr-FR" sz="2000" i="1" dirty="0"><a:latin typeface="Poppins"/></a:rPr><a:t>LOADng, CORPL, </a:t></a:r><a:r><a:rPr lang="fr-FR" sz="2000" i="1" dirty="0" err="1"><a:latin typeface="Poppins"/></a:rPr><a:t>Zigbee</a:t></a:r><a:endParaRPr lang="fr-FR" sz="2000" dirty="0"><a:latin typeface="Poppins"/></a:endParaRPr></a:p><a:p><a:pPr><a:buFont typeface="Arial" panose="020B0604020202020204" pitchFamily="34" charset="0"/><a:buChar char="•"/></a:pPr><a:r><a:rPr lang="fr-FR" sz="2000" dirty="0"><a:latin typeface="Poppins"/></a:rPr><a:t>✅ Améliorations ciblées</a:t></a:r></a:p><a:p><a:pPr><a:buFont typeface="Arial" panose="020B0604020202020204" pitchFamily="34" charset="0"/><a:buChar char="•"/></a:pPr><a:r><a:rPr lang="fr-FR" sz="2000" dirty="0"><a:latin typeface="Poppins"/></a:rPr><a:t>❌ Pas de prise en charge conjointe</a:t></a:r><a:br><a:rPr lang="fr-FR" sz="2000" dirty="0"><a:latin typeface="Poppins"/></a:rPr></a:br><a:r><a:rPr lang="fr-FR" sz="2000" b="1" dirty="0"><a:latin typeface="Poppins"/></a:rPr><a:t>QoS + Sécurité + Énergie</a:t></a:r><a:endParaRPr lang="fr-FR" sz="2000" dirty="0"><a:latin typeface="Poppins"/></a:endParaRPr></a:p></p:txBody></p:sp><p:sp><p:nvSpPr><p:cNvPr id="11" name="ZoneTexte 10"><a:extLst><a:ext uri="{FF2B5EF4-FFF2-40B4-BE49-F238E27FC236}"><a16:creationId xmlns:a16="http://schemas.microsoft.com/office/drawing/2014/main" id="{0755AE98-9944-E798-4A96-205DAF2D7BDB}"/></a:ext></a:extLst></p:cNvPr><p:cNvSpPr txBox="1"/><p:nvPr/></p:nvSpPr><p:spPr><a:xfrm><a:off x="457200" y="4175508"/><a:ext cx="4616604" cy="1323439"/></a:xfrm><a:prstGeom prst="rect"><a:avLst/></a:prstGeom><a:noFill/></p:spPr><p:txBody><a:bodyPr wrap="square"><a:spAutoFit/></a:bodyPr><a:lstStyle/><a:p><a:r><a:rPr lang="fr-FR" sz="2000" b="1" dirty="0"><a:latin typeface="Poppins"/></a:rPr><a:t>📌 Approches récentes</a:t></a:r></a:p><a:p><a:r><a:rPr lang="fr-FR" sz="2000" i="1" dirty="0"><a:latin typeface="Poppins"/></a:rPr><a:t>QRPL, </a:t></a:r><a:r><a:rPr lang="fr-FR" sz="2000" i="1" dirty="0" err="1"><a:latin typeface="Poppins"/></a:rPr><a:t>CoAR</a:t></a:r><a:r><a:rPr lang="fr-FR" sz="2000" i="1" dirty="0"><a:latin typeface="Poppins"/></a:rPr><a:t>-RPL</a:t></a:r><a:endParaRPr lang="fr-FR" sz="2000" dirty="0"><a:latin typeface="Poppins"/></a:endParaRPr></a:p><a:p><a:pPr><a:buFont typeface="Arial" panose="020B0604020202020204" pitchFamily="34" charset="0"/><a:buChar char="•"/></a:pPr><a:r><a:rPr lang="fr-FR" sz="2000" dirty="0"><a:latin typeface="Poppins"/></a:rPr><a:t>✅ Approches adaptatives / intelligentes</a:t></a:r></a:p><a:p><a:pPr><a:buFont typeface="Arial" panose="020B0604020202020204" pitchFamily="34" charset="0"/><a:buChar char="•"/></a:pPr><a:r><a:rPr lang="fr-FR" sz="2000" dirty="0"><a:latin typeface="Poppins"/></a:rPr><a:t>❌ Focalisées sur </a:t></a:r><a:r><a:rPr lang="fr-FR" sz="2000" b="1" dirty="0"><a:latin typeface="Poppins"/></a:rPr><a:t>un seul axe</a:t></a:r><a:endParaRPr lang="fr-FR" sz="2000" dirty="0"><a:latin typeface="Poppins"/></a:endParaRPr></a:p></p:txBody></p:sp><p:sp><p:nvSpPr><p:cNvPr id="13" name="ZoneTexte 12"><a:extLst><a:ext uri="{FF2B5EF4-FFF2-40B4-BE49-F238E27FC236}"><a16:creationId xmlns:a16="http://schemas.microsoft.com/office/drawing/2014/main" id="{5120050A-070E-ADB3-C1E3-0E7FAC89AC13}"/></a:ext></a:extLst></p:cNvPr><p:cNvSpPr txBox="1"/><p:nvPr/></p:nvSpPr><p:spPr><a:xfrm><a:off x="457199" y="5576468"/><a:ext cx="9049871" cy="1015663"/></a:xfrm><a:prstGeom prst="rect"><a:avLst/></a:prstGeom><a:noFill/></p:spPr><p:txBody><a:bodyPr wrap="square"><a:spAutoFit/></a:bodyPr><a:lstStyle/><a:p><a:r><a:rPr lang="fr-FR" sz="2000" b="1" dirty="0"><a:latin typeface="Poppins"/></a:rPr><a:t>⚠️ Constat général</a:t></a:r></a:p><a:p><a:r><a:rPr lang="fr-FR" sz="2000" b="1" dirty="0"><a:latin typeface="Poppins"/></a:rPr><a:t>Aucune solution existante n’est holistique</a:t></a:r><a:br><a:rPr lang="fr-FR" sz="2000" b="1" dirty="0"><a:latin typeface="Poppins"/></a:rPr></a:br><a:r><a:rPr lang="fr-FR" sz="2000" b="1" dirty="0"><a:latin typeface="Poppins"/></a:rPr><a:t>(QoS + Sécurité + Efficacité énergétique).</a:t></a:r><a:endParaRPr lang="fr-FR" sz="2000" dirty="0"><a:latin typeface="Poppins"/></a:endParaRPr></a:p></p:txBody></p:sp><p:grpSp><p:nvGrpSpPr><p:cNvPr id="4" name="Group 7584"><a:extLst><a:ext uri="{FF2B5EF4-FFF2-40B4-BE49-F238E27FC236}"><a16:creationId xmlns:a16="http://schemas.microsoft.com/office/drawing/2014/main" id="{B1339688-4599-8572-26D4-8CD2C9F7343C}"/></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7830D49C-ED2D-D3E0-9CEA-5DF5D7AFBA93}"/></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40CDF940-2B15-6B24-BDDC-0DFA7E7D824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583CB6A7-F12E-EC9F-4071-D039EBA698DD}"/></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0959FD64-EC97-8AB3-07E1-7C75C2E56D43}"/></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4" name="Shape 7963"><a:extLst><a:ext uri="{FF2B5EF4-FFF2-40B4-BE49-F238E27FC236}"><a16:creationId xmlns:a16="http://schemas.microsoft.com/office/drawing/2014/main" id="{9B062D2C-D867-9566-F7F4-A9F81F432725}"/></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5" name="Rectangle 14"><a:extLst><a:ext uri="{FF2B5EF4-FFF2-40B4-BE49-F238E27FC236}"><a16:creationId xmlns:a16="http://schemas.microsoft.com/office/drawing/2014/main" id="{18A5872C-11A3-3577-EE0B-89232DBD7FDE}"/></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6/19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1273D9ED-1CC6-3CD3-D6D0-D195869789FE}"/></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2514CE7F-9382-F5C4-D2DE-2EE5E2A4A880}"/></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0F6EC1E9-1762-EB17-2E5C-391FB856EEAD}"/></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val="FFFFFF"/></a:solidFill><a:latin typeface="Poppins"/></a:rPr><a:t>État de l'art : Routage IoT</a:t></a:r></a:p></p:txBody></p:sp></p:grpSp><p:sp><p:nvSpPr><p:cNvPr id="2" name="Flèche : droite 1"><a:hlinkClick r:id="" action="ppaction://hlinkshowjump?jump=nextslide"/><a:extLst><a:ext uri="{FF2B5EF4-FFF2-40B4-BE49-F238E27FC236}"><a16:creationId xmlns:a16="http://schemas.microsoft.com/office/drawing/2014/main" id="{030F20BF-A3CF-0FE7-58F7-E17302F22C8D}"/></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D4CAC99D-32F4-724D-ADCE-B9883462DD47}"/></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10.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hlinkClick r:id="rId3" action="ppaction://hlinkfile"/><a:extLst><a:ext uri="{FF2B5EF4-FFF2-40B4-BE49-F238E27FC236}"><a16:creationId xmlns:a16="http://schemas.microsoft.com/office/drawing/2014/main" id="{0C617E1F-63B8-752D-B14A-977BD092CD8B}"/></a:ext></a:extLst></p:cNvPr><p:cNvSpPr txBox="1"/><p:nvPr/></p:nvSpPr><p:spPr><a:xfrm><a:off x="-1" y="1348688"/><a:ext cx="4616604" cy="369332"/></a:xfrm><a:prstGeom prst="rect"><a:avLst/></a:prstGeom><a:noFill/></p:spPr><p:txBody><a:bodyPr wrap="square"><a:spAutoFit/></a:bodyPr><a:lstStyle/><a:p><a:r><a:rPr lang="fr-FR" b="1" dirty="0"><a:latin typeface="Poppins"/></a:rPr><a:t>🔷 Quatre briques principales</a:t></a:r></a:p></p:txBody></p:sp><p:sp><p:nvSpPr><p:cNvPr id="9" name="ZoneTexte 8"><a:extLst><a:ext uri="{FF2B5EF4-FFF2-40B4-BE49-F238E27FC236}"><a16:creationId xmlns:a16="http://schemas.microsoft.com/office/drawing/2014/main" id="{C6A6CD9A-EE86-D1E1-2E53-1354A041DC0C}"/></a:ext></a:extLst></p:cNvPr><p:cNvSpPr txBox="1"/><p:nvPr/></p:nvSpPr><p:spPr><a:xfrm><a:off x="-1" y="1692554"/><a:ext cx="7315201" cy="923330"/></a:xfrm><a:prstGeom prst="rect"><a:avLst/></a:prstGeom><a:noFill/></p:spPr><p:txBody><a:bodyPr wrap="square"><a:spAutoFit/></a:bodyPr><a:lstStyle/><a:p><a:r><a:rPr lang="fr-FR" b="1" dirty="0"><a:solidFill>val="0053D3"/></a:solidFill><a:latin typeface="Poppins"/></a:rPr><a:t>1. Classification du trafic</a:t></a:r></a:p><a:p><a:pPr><a:buFont typeface="Arial" panose="020B0604020202020204" pitchFamily="34" charset="0"/><a:buChar char="•"/></a:pPr><a:r><a:rPr lang="fr-FR" b="1" dirty="0"><a:latin typeface="Poppins"/></a:rPr><a:t>4 classes de priorité</a:t></a:r><a:r><a:rPr lang="fr-FR" dirty="0"><a:latin typeface="Poppins"/></a:rPr><a:t> : C3 → C0</a:t></a:r></a:p><a:p><a:pPr><a:buFont typeface="Arial" panose="020B0604020202020204" pitchFamily="34" charset="0"/><a:buChar char="•"/></a:pPr><a:r><a:rPr lang="fr-FR" dirty="0"><a:latin typeface="Poppins"/></a:rPr><a:t>Allocation différenciée des ressources</a:t></a:r></a:p></p:txBody></p:sp><p:sp><p:nvSpPr><p:cNvPr id="11" name="ZoneTexte 10"><a:extLst><a:ext uri="{FF2B5EF4-FFF2-40B4-BE49-F238E27FC236}"><a16:creationId xmlns:a16="http://schemas.microsoft.com/office/drawing/2014/main" id="{7E1DE8A7-243B-ABB6-3582-B75994272377}"/></a:ext></a:extLst></p:cNvPr><p:cNvSpPr txBox="1"/><p:nvPr/></p:nvSpPr><p:spPr><a:xfrm><a:off x="-1" y="2590418"/><a:ext cx="6305107" cy="1446550"/></a:xfrm><a:prstGeom prst="rect"><a:avLst/></a:prstGeom><a:noFill/></p:spPr><p:txBody><a:bodyPr wrap="square"><a:spAutoFit/></a:bodyPr><a:lstStyle/><a:p><a:r><a:rPr lang="fr-FR" b="1" dirty="0"><a:solidFill>val="0053D3"/></a:solidFill><a:latin typeface="Poppins"/></a:rPr><a:t>2. Ordonnancement adaptatif</a:t></a:r></a:p><a:p><a:pPr><a:buFont typeface="Arial" panose="020B0604020202020204" pitchFamily="34" charset="0"/><a:buChar char="•"/></a:pPr><a:r><a:rPr lang="fr-FR" b="1" dirty="0"><a:latin typeface="Poppins"/></a:rPr><a:t>WRR (Weighted Round Robin)</a:t></a:r><a:endParaRPr lang="fr-FR" dirty="0"><a:latin typeface="Poppins"/></a:endParaRPr></a:p><a:p><a:pPr><a:buFont typeface="Arial" panose="020B0604020202020204" pitchFamily="34" charset="0"/><a:buChar char="•"/></a:pPr><a:r><a:rPr lang="fr-FR" dirty="0"><a:latin typeface="Poppins"/></a:rPr><a:t>Files prioritaires avec </a:t></a:r><a:r><a:rPr lang="fr-FR" b="1" dirty="0"><a:latin typeface="Poppins"/></a:rPr><a:t>anti-famine</a:t></a:r><a:endParaRPr lang="fr-FR" dirty="0"><a:latin typeface="Poppins"/></a:endParaRPr></a:p><a:p><a:pPr><a:buFont typeface="Arial" panose="020B0604020202020204" pitchFamily="34" charset="0"/><a:buChar char="•"/></a:pPr><a:r><a:rPr lang="fr-FR" dirty="0"><a:latin typeface="Poppins"/></a:rPr><a:t>Accès garanti au </a:t></a:r><a:r><a:rPr lang="fr-FR" sz="1600" dirty="0"><a:latin typeface="Poppins"/></a:rPr><a:t>médium pour les </a:t></a:r><a:br><a:rPr lang="fr-FR" sz="1600" dirty="0"><a:latin typeface="Poppins"/></a:rPr></a:br><a:r><a:rPr lang="fr-FR" sz="1600" dirty="0"><a:latin typeface="Poppins"/></a:rPr><a:t>flux critiques</a:t></a:r><a:endParaRPr lang="fr-FR" dirty="0"><a:latin typeface="Poppins"/></a:endParaRPr></a:p></p:txBody></p:sp><p:sp><p:nvSpPr><p:cNvPr id="13" name="ZoneTexte 12"><a:extLst><a:ext uri="{FF2B5EF4-FFF2-40B4-BE49-F238E27FC236}"><a16:creationId xmlns:a16="http://schemas.microsoft.com/office/drawing/2014/main" id="{332BCDC0-5703-9E2E-FDFD-82FB6CB97310}"/></a:ext></a:extLst></p:cNvPr><p:cNvSpPr txBox="1"/><p:nvPr/></p:nvSpPr><p:spPr><a:xfrm><a:off x="-1" y="4011502"/><a:ext cx="7917366" cy="369332"/></a:xfrm><a:prstGeom prst="rect"><a:avLst/></a:prstGeom><a:noFill/></p:spPr><p:txBody><a:bodyPr wrap="square"><a:spAutoFit/></a:bodyPr><a:lstStyle/><a:p><a:r><a:rPr lang="fr-FR" b="1" dirty="0"><a:solidFill>val="0053D3"/></a:solidFill><a:latin typeface="Poppins"/></a:rPr><a:t>3. Métrique composite</a:t></a:r></a:p></p:txBody></p:sp><p:sp><p:nvSpPr><p:cNvPr id="15" name="ZoneTexte 14"><a:extLst><a:ext uri="{FF2B5EF4-FFF2-40B4-BE49-F238E27FC236}"><a16:creationId xmlns:a16="http://schemas.microsoft.com/office/drawing/2014/main" id="{05129FB4-139A-91F5-5C75-95549E8ECA7B}"/></a:ext></a:extLst></p:cNvPr><p:cNvSpPr txBox="1"/><p:nvPr/></p:nvSpPr><p:spPr><a:xfrm><a:off x="-1" y="4372452"/><a:ext cx="5986130" cy="369332"/></a:xfrm><a:prstGeom prst="rect"><a:avLst/></a:prstGeom><a:noFill/></p:spPr><p:txBody><a:bodyPr wrap="square"><a:spAutoFit/></a:bodyPr><a:lstStyle/><a:p><a:pPr><a:buFont typeface="Arial" panose="020B0604020202020204" pitchFamily="34" charset="0"/><a:buChar char="•"/></a:pPr><a:r><a:rPr lang="fr-FR" dirty="0"><a:latin typeface="Poppins"/></a:rPr><a:t>Sélection de routes </a:t></a:r><a:r><a:rPr lang="fr-FR" b="1" dirty="0"><a:latin typeface="Poppins"/></a:rPr><a:t>fiables</a:t></a:r><a:r><a:rPr lang="fr-FR" dirty="0"><a:latin typeface="Poppins"/></a:rPr><a:t>, </a:t></a:r><a:r><a:rPr lang="fr-FR" b="1" dirty="0"><a:latin typeface="Poppins"/></a:rPr><a:t>rapides</a:t></a:r><a:r><a:rPr lang="fr-FR" dirty="0"><a:latin typeface="Poppins"/></a:rPr><a:t> et </a:t></a:r><a:r><a:rPr lang="fr-FR" b="1" dirty="0"><a:latin typeface="Poppins"/></a:rPr><a:t>économes</a:t></a:r><a:endParaRPr lang="fr-FR" dirty="0"><a:latin typeface="Poppins"/></a:endParaRPr></a:p></p:txBody></p:sp><p:pic><p:nvPicPr><p:cNvPr id="17" name="Image 16"><a:hlinkClick r:id="rId4" action="ppaction://hlinkfile"/><a:extLst><a:ext uri="{FF2B5EF4-FFF2-40B4-BE49-F238E27FC236}"><a16:creationId xmlns:a16="http://schemas.microsoft.com/office/drawing/2014/main" id="{505A2FD7-8B5C-EEC3-87DC-409F8A115242}"/></a:ext></a:extLst></p:cNvPr><p:cNvPicPr><a:picLocks noChangeAspect="1"/></p:cNvPicPr><p:nvPr/></p:nvPicPr><p:blipFill><a:blip r:embed="rId5"/><a:stretch><a:fillRect/></a:stretch></p:blipFill><p:spPr><a:xfrm><a:off x="-1" y="4355368"/><a:ext cx="3458058" cy="362001"/></a:xfrm><a:prstGeom prst="rect"><a:avLst/></a:prstGeom></p:spPr></p:pic><p:sp><p:nvSpPr><p:cNvPr id="19" name="ZoneTexte 18"><a:extLst><a:ext uri="{FF2B5EF4-FFF2-40B4-BE49-F238E27FC236}"><a16:creationId xmlns:a16="http://schemas.microsoft.com/office/drawing/2014/main" id="{229DFEAA-5F7C-BB56-7DD1-066869CA575E}"/></a:ext></a:extLst></p:cNvPr><p:cNvSpPr txBox="1"/><p:nvPr/></p:nvSpPr><p:spPr><a:xfrm><a:off x="-1" y="4691903"/><a:ext cx="7138595" cy="1200329"/></a:xfrm><a:prstGeom prst="rect"><a:avLst/></a:prstGeom><a:noFill/></p:spPr><p:txBody><a:bodyPr wrap="square"><a:spAutoFit/></a:bodyPr><a:lstStyle/><a:p><a:r><a:rPr lang="fr-FR" b="1" dirty="0"><a:solidFill>val="0053D3"/></a:solidFill><a:latin typeface="Poppins"/></a:rPr><a:t>4. Apprentissage léger</a:t></a:r></a:p><a:p><a:pPr><a:buFont typeface="Arial" panose="020B0604020202020204" pitchFamily="34" charset="0"/><a:buChar char="•"/></a:pPr><a:r><a:rPr lang="fr-FR" b="1" dirty="0"><a:latin typeface="Poppins"/></a:rPr><a:t>Q-learning embarqué</a:t></a:r><a:endParaRPr lang="fr-FR" dirty="0"><a:latin typeface="Poppins"/></a:endParaRPr></a:p><a:p><a:pPr><a:buFont typeface="Arial" panose="020B0604020202020204" pitchFamily="34" charset="0"/><a:buChar char="•"/></a:pPr><a:r><a:rPr lang="fr-FR" dirty="0"><a:latin typeface="Poppins"/></a:rPr><a:t>Ajustement dynamique des poids (α,β,γ)(\alpha, \beta, \gamma)(α,β,γ)</a:t></a:r></a:p><a:p><a:pPr><a:buFont typeface="Arial" panose="020B0604020202020204" pitchFamily="34" charset="0"/><a:buChar char="•"/></a:pPr><a:r><a:rPr lang="fr-FR" dirty="0"><a:latin typeface="Poppins"/></a:rPr><a:t>Adaptation aux conditions du réseau</a:t></a:r></a:p></p:txBody></p:sp><p:sp><p:nvSpPr><p:cNvPr id="21" name="ZoneTexte 20"><a:extLst><a:ext uri="{FF2B5EF4-FFF2-40B4-BE49-F238E27FC236}"><a16:creationId xmlns:a16="http://schemas.microsoft.com/office/drawing/2014/main" id="{AC8D8CE9-FA7B-9077-09D9-11F49A4F2AD3}"/></a:ext></a:extLst></p:cNvPr><p:cNvSpPr txBox="1"/><p:nvPr/></p:nvSpPr><p:spPr><a:xfrm><a:off x="-1" y="5866768"/><a:ext cx="9507071" cy="646331"/></a:xfrm><a:prstGeom prst="rect"><a:avLst/></a:prstGeom><a:noFill/></p:spPr><p:txBody><a:bodyPr wrap="square"><a:spAutoFit/></a:bodyPr><a:lstStyle/><a:p><a:r><a:rPr lang="fr-FR" b="1" dirty="0"><a:latin typeface="Poppins"/></a:rPr><a:t>⭐ Message clé</a:t></a:r></a:p><a:p><a:r><a:rPr lang="fr-FR" b="1" dirty="0"><a:latin typeface="Poppins"/></a:rPr><a:t>RPLMQoS introduit une QoS différenciée et adaptative dans RPL, sans alourdir les nœuds IoT.</a:t></a:r><a:endParaRPr lang="fr-FR" dirty="0"><a:latin typeface="Poppins"/></a:endParaRPr></a:p></p:txBody></p:sp><p:grpSp><p:nvGrpSpPr><p:cNvPr id="4" name="Group 7584"><a:extLst><a:ext uri="{FF2B5EF4-FFF2-40B4-BE49-F238E27FC236}"><a16:creationId xmlns:a16="http://schemas.microsoft.com/office/drawing/2014/main" id="{C76D8AB6-DD44-E312-5F6D-317B237EAAC8}"/></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ED7D440D-C791-DE0A-500A-E7653AB22D1B}"/></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DEB423D8-5527-6DA5-DDA4-0E79B88DFE77}"/></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50497DCD-A3E3-A563-000D-067736F6F6D9}"/></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938EB2D0-D23B-3798-5B29-A0410A662A8B}"/></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4" name="Shape 7963"><a:extLst><a:ext uri="{FF2B5EF4-FFF2-40B4-BE49-F238E27FC236}"><a16:creationId xmlns:a16="http://schemas.microsoft.com/office/drawing/2014/main" id="{1E6B4444-570F-4A07-9C88-053CF6FCF3A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6" name="Rectangle 15"><a:extLst><a:ext uri="{FF2B5EF4-FFF2-40B4-BE49-F238E27FC236}"><a16:creationId xmlns:a16="http://schemas.microsoft.com/office/drawing/2014/main" id="{82003362-A102-E75B-6A6F-E1AC3DA7AA13}"/></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7/19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8" name="Groupe 17"><a:extLst><a:ext uri="{FF2B5EF4-FFF2-40B4-BE49-F238E27FC236}"><a16:creationId xmlns:a16="http://schemas.microsoft.com/office/drawing/2014/main" id="{F3056A03-009F-2E4A-462D-DB97F8DB9D39}"/></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20" name="Picture 4" descr="logo.jpg"><a:extLst><a:ext uri="{FF2B5EF4-FFF2-40B4-BE49-F238E27FC236}"><a16:creationId xmlns:a16="http://schemas.microsoft.com/office/drawing/2014/main" id="{B6F34789-1C1B-63F1-EDC0-E7001D346998}"/></a:ext></a:extLst></p:cNvPr><p:cNvPicPr><a:picLocks noChangeAspect="1"/></p:cNvPicPr><p:nvPr/></p:nvPicPr><p:blipFill><a:blip r:embed="rId6"/><a:stretch><a:fillRect/></a:stretch></p:blipFill><p:spPr><a:xfrm><a:off x="7950314" y="1873025"/><a:ext cx="1440000" cy="664615"/></a:xfrm><a:prstGeom prst="rect"><a:avLst/></a:prstGeom><a:grpFill/></p:spPr></p:pic><p:sp><p:nvSpPr><p:cNvPr id="22" name="Rectangle 21"><a:extLst><a:ext uri="{FF2B5EF4-FFF2-40B4-BE49-F238E27FC236}"><a16:creationId xmlns:a16="http://schemas.microsoft.com/office/drawing/2014/main" id="{DA1A5AD5-0E8B-CFD2-BA70-A0893466A2F8}"/></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3600" dirty="0" err="1"/><a:t>RPLMQoS</a:t></a:r><a:r><a:rPr lang="fr-FR" sz="3600" dirty="0"/><a:t> : Architecture</a:t></a:r></a:p></p:txBody></p:sp></p:grpSp><p:sp><p:nvSpPr><p:cNvPr id="2" name="Flèche : droite 1"><a:hlinkClick r:id="" action="ppaction://hlinkshowjump?jump=nextslide"/><a:extLst><a:ext uri="{FF2B5EF4-FFF2-40B4-BE49-F238E27FC236}"><a16:creationId xmlns:a16="http://schemas.microsoft.com/office/drawing/2014/main" id="{CD5D339C-5F13-D895-9CBD-11579804AC08}"/></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B65CD369-8C83-3DE6-8F83-C476DF68DFEC}"/></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23" name="ZoneTexte 22"><a:extLst><a:ext uri="{FF2B5EF4-FFF2-40B4-BE49-F238E27FC236}"><a16:creationId xmlns:a16="http://schemas.microsoft.com/office/drawing/2014/main" id="{E3074469-CCBF-E232-26D3-A523B205E6A4}"/></a:ext></a:extLst></p:cNvPr><p:cNvSpPr txBox="1"/><p:nvPr/></p:nvSpPr><p:spPr><a:xfrm><a:off x="-1" y="727823"/><a:ext cx="9158235" cy="646331"/></a:xfrm><a:prstGeom prst="rect"><a:avLst/></a:prstGeom><a:noFill/></p:spPr><p:txBody><a:bodyPr wrap="square"><a:spAutoFit/></a:bodyPr><a:lstStyle/><a:p><a:pPr algn="l"/><a:r><a:rPr lang="en-US" sz="1800" b="0" i="0" u="none" strike="noStrike" baseline="0" dirty="0"><a:solidFill>val="00008C"/></a:solidFill><a:latin typeface="Poppins"/></a:rPr><a:t>RPLMQoS : An Adaptive QoS-Aware Routing Protocol with Multi-Queue Prioritization for</a:t></a:r></a:p><a:p><a:pPr algn="l"/><a:r><a:rPr lang="fr-FR" sz="1800" b="0" i="0" u="none" strike="noStrike" baseline="0" dirty="0"><a:solidFill>val="00008C"/></a:solidFill><a:latin typeface="Poppins"/></a:rPr><a:t>the Internet of </a:t></a:r><a:r><a:rPr lang="fr-FR" sz="1800" b="0" i="0" u="none" strike="noStrike" baseline="0" dirty="0" err="1"><a:solidFill>val="00008C"/></a:solidFill><a:latin typeface="Poppins"/></a:rPr><a:t>Things</a:t></a:r><a:r><a:rPr lang="fr-FR" sz="1800" b="0" i="0" u="none" strike="noStrike" baseline="0" dirty="0"><a:solidFill>val="00008C"/></a:solidFill><a:latin typeface="Poppins"/></a:rPr><a:t>.</a:t></a:r><a:endParaRPr lang="fr-FR" dirty="0"/></a:p></p:txBody></p:sp><p:pic><p:nvPicPr><p:cNvPr id="29" name="Image 28"><a:extLst><a:ext uri="{FF2B5EF4-FFF2-40B4-BE49-F238E27FC236}"><a16:creationId xmlns:a16="http://schemas.microsoft.com/office/drawing/2014/main" id="{957DDAE1-9277-F889-CC1C-DD068AFA33D1}"/></a:ext></a:extLst></p:cNvPr><p:cNvPicPr><a:picLocks noChangeAspect="1"/></p:cNvPicPr><p:nvPr/></p:nvPicPr><p:blipFill><a:blip r:embed="rId7"/><a:stretch><a:fillRect/></a:stretch></p:blipFill><p:spPr><a:xfrm><a:off x="3657600" y="1160470"/><a:ext cx="5457307" cy="3045939"/></a:xfrm><a:prstGeom prst="rect"><a:avLst/></a:prstGeom></p:spPr></p:pic><p:sp><p:nvSpPr><p:cNvPr id="35" name="ZoneTexte 34"><a:extLst><a:ext uri="{FF2B5EF4-FFF2-40B4-BE49-F238E27FC236}"><a16:creationId xmlns:a16="http://schemas.microsoft.com/office/drawing/2014/main" id="{4EDF4986-020B-ECC3-D4E4-67B14C8A4FC7}"/></a:ext></a:extLst></p:cNvPr><p:cNvSpPr txBox="1"/><p:nvPr/></p:nvSpPr><p:spPr><a:xfrm><a:off x="5126791" y="4105851"/><a:ext cx="4844714" cy="369332"/></a:xfrm><a:prstGeom prst="rect"><a:avLst/></a:prstGeom><a:noFill/></p:spPr><p:txBody><a:bodyPr wrap="square"><a:spAutoFit/></a:bodyPr><a:lstStyle/><a:p><a:r><a:rPr lang="fr-FR" sz="1800" b="1" dirty="0"><a:effectLst/></a:rPr><a:t>Architecture </a:t></a:r><a:r><a:rPr lang="fr-FR" sz="1800" b="1" dirty="0" err="1"><a:effectLst/></a:rPr><a:t>RPLMQoS</a:t></a:r><a:r><a:rPr lang="fr-FR" sz="1800" b="1" dirty="0"><a:effectLst/></a:rPr><a:t> </a:t></a:r><a:endParaRPr lang="fr-FR" b="1" dirty="0"/></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11.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extLst><a:ext uri="{FF2B5EF4-FFF2-40B4-BE49-F238E27FC236}"><a16:creationId xmlns:a16="http://schemas.microsoft.com/office/drawing/2014/main" id="{BE87A8AD-E665-0EC0-F25F-702CF6A3BE82}"/></a:ext></a:extLst></p:cNvPr><p:cNvSpPr txBox="1"/><p:nvPr/></p:nvSpPr><p:spPr><a:xfrm><a:off x="55961" y="945620"/><a:ext cx="6099716" cy="1477328"/></a:xfrm><a:prstGeom prst="rect"><a:avLst/></a:prstGeom><a:noFill/></p:spPr><p:txBody><a:bodyPr wrap="square"><a:spAutoFit/></a:bodyPr><a:lstStyle/><a:p><a:r><a:rPr lang="fr-FR" b="1" dirty="0"><a:latin typeface="Poppins"/></a:rPr><a:t>📊 Fiabilité – Taux de livraison (PDR)</a:t></a:r></a:p><a:p><a:pPr><a:buFont typeface="Arial" panose="020B0604020202020204" pitchFamily="34" charset="0"/><a:buChar char="•"/></a:pPr><a:r><a:rPr lang="fr-FR" b="1" dirty="0"><a:latin typeface="Poppins"/></a:rPr><a:t>RPL standard</a:t></a:r><a:r><a:rPr lang="fr-FR" dirty="0"><a:latin typeface="Poppins"/></a:rPr><a:t> : 89 %</a:t></a:r></a:p><a:p><a:pPr><a:buFont typeface="Arial" panose="020B0604020202020204" pitchFamily="34" charset="0"/><a:buChar char="•"/></a:pPr><a:r><a:rPr lang="fr-FR" b="1" dirty="0"><a:latin typeface="Poppins"/></a:rPr><a:t>RPLMQoS</a:t></a:r><a:r><a:rPr lang="fr-FR" dirty="0"><a:latin typeface="Poppins"/></a:rPr><a:t> : </a:t></a:r><a:r><a:rPr lang="fr-FR" b="1" dirty="0"><a:latin typeface="Poppins"/></a:rPr><a:t>96,5 %</a:t></a:r><a:endParaRPr lang="fr-FR" dirty="0"><a:latin typeface="Poppins"/></a:endParaRPr></a:p><a:p><a:pPr><a:buFont typeface="Arial" panose="020B0604020202020204" pitchFamily="34" charset="0"/><a:buChar char="•"/></a:pPr><a:r><a:rPr lang="fr-FR" b="1" dirty="0"><a:latin typeface="Poppins"/></a:rPr><a:t>Classe critique (C3)</a:t></a:r><a:r><a:rPr lang="fr-FR" dirty="0"><a:latin typeface="Poppins"/></a:rPr><a:t> : </a:t></a:r><a:r><a:rPr lang="fr-FR" b="1" dirty="0"><a:latin typeface="Poppins"/></a:rPr><a:t>97,3 %</a:t></a:r><a:r><a:rPr lang="fr-FR" dirty="0"><a:latin typeface="Poppins"/></a:rPr><a:t> </a:t></a:r><a:r><a:rPr lang="fr-FR" i="1" dirty="0"><a:latin typeface="Poppins"/></a:rPr><a:t>(pics à 98,5 %)</a:t></a:r><a:endParaRPr lang="fr-FR" dirty="0"><a:latin typeface="Poppins"/></a:endParaRPr></a:p><a:p><a:r><a:rPr lang="fr-FR" dirty="0"><a:latin typeface="Poppins"/></a:rPr><a:t>➡️ </a:t></a:r><a:r><a:rPr lang="fr-FR" b="1" dirty="0"><a:latin typeface="Poppins"/></a:rPr><a:t>+7,5 points</a:t></a:r><a:r><a:rPr lang="fr-FR" dirty="0"><a:latin typeface="Poppins"/></a:rPr><a:t> pour les flux critiques</a:t></a:r></a:p></p:txBody></p:sp><p:sp><p:nvSpPr><p:cNvPr id="9" name="ZoneTexte 8"><a:extLst><a:ext uri="{FF2B5EF4-FFF2-40B4-BE49-F238E27FC236}"><a16:creationId xmlns:a16="http://schemas.microsoft.com/office/drawing/2014/main" id="{3EF2E8F3-C360-4FE5-DC77-7713B98C5230}"/></a:ext></a:extLst></p:cNvPr><p:cNvSpPr txBox="1"/><p:nvPr/></p:nvSpPr><p:spPr><a:xfrm><a:off x="55961" y="2556752"/><a:ext cx="4616604" cy="1477328"/></a:xfrm><a:prstGeom prst="rect"><a:avLst/></a:prstGeom><a:noFill/></p:spPr><p:txBody><a:bodyPr wrap="square"><a:spAutoFit/></a:bodyPr><a:lstStyle/><a:p><a:r><a:rPr lang="fr-FR" b="1" dirty="0"><a:latin typeface="Poppins"/></a:rPr><a:t>⏱️ Latence bout en bout</a:t></a:r></a:p><a:p><a:pPr><a:buFont typeface="Arial" panose="020B0604020202020204" pitchFamily="34" charset="0"/><a:buChar char="•"/></a:pPr><a:r><a:rPr lang="fr-FR" b="1" dirty="0"><a:latin typeface="Poppins"/></a:rPr><a:t>Globale</a:t></a:r><a:r><a:rPr lang="fr-FR" dirty="0"><a:latin typeface="Poppins"/></a:rPr><a:t> : 80 ms → </a:t></a:r><a:r><a:rPr lang="fr-FR" b="1" dirty="0"><a:latin typeface="Poppins"/></a:rPr><a:t>65 ms</a:t></a:r><a:r><a:rPr lang="fr-FR" dirty="0"><a:latin typeface="Poppins"/></a:rPr><a:t> </a:t></a:r><a:r><a:rPr lang="fr-FR" i="1" dirty="0"><a:latin typeface="Poppins"/></a:rPr><a:t>(−18,7 %)</a:t></a:r><a:endParaRPr lang="fr-FR" dirty="0"><a:latin typeface="Poppins"/></a:endParaRPr></a:p><a:p><a:pPr><a:buFont typeface="Arial" panose="020B0604020202020204" pitchFamily="34" charset="0"/><a:buChar char="•"/></a:pPr><a:r><a:rPr lang="fr-FR" b="1" dirty="0"><a:latin typeface="Poppins"/></a:rPr><a:t>Classe C3</a:t></a:r><a:r><a:rPr lang="fr-FR" dirty="0"><a:latin typeface="Poppins"/></a:rPr><a:t> : 95 ms → </a:t></a:r><a:r><a:rPr lang="fr-FR" b="1" dirty="0"><a:latin typeface="Poppins"/></a:rPr><a:t>45 ms</a:t></a:r><a:r><a:rPr lang="fr-FR" dirty="0"><a:latin typeface="Poppins"/></a:rPr><a:t> </a:t></a:r><a:r><a:rPr lang="fr-FR" i="1" dirty="0"><a:latin typeface="Poppins"/></a:rPr><a:t>(−52,6 %)</a:t></a:r><a:endParaRPr lang="fr-FR" dirty="0"><a:latin typeface="Poppins"/></a:endParaRPr></a:p><a:p><a:r><a:rPr lang="fr-FR" dirty="0"><a:latin typeface="Poppins"/></a:rPr><a:t>✅ </a:t></a:r><a:r><a:rPr lang="fr-FR" b="1" dirty="0"><a:latin typeface="Poppins"/></a:rPr><a:t>Sous le seuil de 100 ms</a:t></a:r><a:r><a:rPr lang="fr-FR" dirty="0"><a:latin typeface="Poppins"/></a:rPr><a:t> (applications médicales)</a:t></a:r></a:p></p:txBody></p:sp><p:sp><p:nvSpPr><p:cNvPr id="11" name="ZoneTexte 10"><a:extLst><a:ext uri="{FF2B5EF4-FFF2-40B4-BE49-F238E27FC236}"><a16:creationId xmlns:a16="http://schemas.microsoft.com/office/drawing/2014/main" id="{55250F5C-4129-F346-0909-42CC320D2EA3}"/></a:ext></a:extLst></p:cNvPr><p:cNvSpPr txBox="1"/><p:nvPr/></p:nvSpPr><p:spPr><a:xfrm><a:off x="55961" y="4230326"/><a:ext cx="4616604" cy="923330"/></a:xfrm><a:prstGeom prst="rect"><a:avLst/></a:prstGeom><a:noFill/></p:spPr><p:txBody><a:bodyPr wrap="square"><a:spAutoFit/></a:bodyPr><a:lstStyle/><a:p><a:r><a:rPr lang="fr-FR" b="1" dirty="0"><a:latin typeface="Poppins"/></a:rPr><a:t>📉 Jitter</a:t></a:r></a:p><a:p><a:pPr><a:buFont typeface="Arial" panose="020B0604020202020204" pitchFamily="34" charset="0"/><a:buChar char="•"/></a:pPr><a:r><a:rPr lang="fr-FR" b="1" dirty="0"><a:latin typeface="Poppins"/></a:rPr><a:t>Réduction de 35,7 %</a:t></a:r><a:endParaRPr lang="fr-FR" dirty="0"><a:latin typeface="Poppins"/></a:endParaRPr></a:p><a:p><a:pPr><a:buFont typeface="Arial" panose="020B0604020202020204" pitchFamily="34" charset="0"/><a:buChar char="•"/></a:pPr><a:r><a:rPr lang="fr-FR" dirty="0"><a:latin typeface="Poppins"/></a:rPr><a:t>Meilleure </a:t></a:r><a:r><a:rPr lang="fr-FR" b="1" dirty="0"><a:latin typeface="Poppins"/></a:rPr><a:t>stabilité temporelle</a:t></a:r><a:endParaRPr lang="fr-FR" dirty="0"><a:latin typeface="Poppins"/></a:endParaRPr></a:p></p:txBody></p:sp><p:sp><p:nvSpPr><p:cNvPr id="13" name="ZoneTexte 12"><a:extLst><a:ext uri="{FF2B5EF4-FFF2-40B4-BE49-F238E27FC236}"><a16:creationId xmlns:a16="http://schemas.microsoft.com/office/drawing/2014/main" id="{AFA76534-E495-8DCC-B95B-B7923D05CCAD}"/></a:ext></a:extLst></p:cNvPr><p:cNvSpPr txBox="1"/><p:nvPr/></p:nvSpPr><p:spPr><a:xfrm><a:off x="55961" y="5364176"/><a:ext cx="4923840" cy="1200329"/></a:xfrm><a:prstGeom prst="rect"><a:avLst/></a:prstGeom><a:noFill/></p:spPr><p:txBody><a:bodyPr wrap="square"><a:spAutoFit/></a:bodyPr><a:lstStyle/><a:p><a:r><a:rPr lang="fr-FR" b="1" dirty="0"><a:latin typeface="Poppins"/></a:rPr><a:t>⭐ Message clé</a:t></a:r></a:p><a:p><a:r><a:rPr lang="fr-FR" b="1" dirty="0"><a:latin typeface="Poppins"/></a:rPr><a:t>RPLMQoS garantit une QoS fiable, rapide et stable pour les flux critiques, sans dépasser les contraintes IoT.</a:t></a:r><a:endParaRPr lang="fr-FR" dirty="0"><a:latin typeface="Poppins"/></a:endParaRPr></a:p></p:txBody></p:sp><p:grpSp><p:nvGrpSpPr><p:cNvPr id="4" name="Group 7584"><a:extLst><a:ext uri="{FF2B5EF4-FFF2-40B4-BE49-F238E27FC236}"><a16:creationId xmlns:a16="http://schemas.microsoft.com/office/drawing/2014/main" id="{B3F4EBC3-AD1A-921F-2E9A-550B057794D0}"/></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9DDAF928-0627-FC03-8734-F1FD2214636F}"/></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F1CF029A-7B7E-151B-9D47-C3E987CCAE8C}"/></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718CE053-BB32-1FDA-27FE-A78729828A76}"/></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4DA6A9B4-F291-5B46-60E4-02407C8B2ACC}"/></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4" name="Shape 7963"><a:extLst><a:ext uri="{FF2B5EF4-FFF2-40B4-BE49-F238E27FC236}"><a16:creationId xmlns:a16="http://schemas.microsoft.com/office/drawing/2014/main" id="{7F2F7615-E939-58E7-68CA-CF3BE5B22FD4}"/></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5" name="Rectangle 14"><a:extLst><a:ext uri="{FF2B5EF4-FFF2-40B4-BE49-F238E27FC236}"><a16:creationId xmlns:a16="http://schemas.microsoft.com/office/drawing/2014/main" id="{2A208675-D796-CA60-C072-353585A33D74}"/></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8/19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2126F362-28D0-D2AA-49B9-EDE29E92F730}"/></a:ext></a:extLst></p:cNvPr><p:cNvGrpSpPr/><p:nvPr/></p:nvGrpSpPr><p:grpSpPr><a:xfrm><a:off x="-19648" y="7952"/><a:ext cx="9526719" cy="684000"/><a:chOff x="1260789" y="1873024"/><a:chExt cx="812952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E953C5AC-1334-4D23-06B4-C01B0C355F29}"/></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561340F2-79EE-A339-B720-A2ACE6634131}"/></a:ext></a:extLst></p:cNvPr><p:cNvSpPr/><p:nvPr/></p:nvSpPr><p:spPr><a:xfrm><a:off x="126078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RPLMQoS : Résultats</a:t></a:r></a:p></p:txBody></p:sp></p:grpSp><p:sp><p:nvSpPr><p:cNvPr id="2" name="Flèche : droite 1"><a:hlinkClick r:id="" action="ppaction://hlinkshowjump?jump=nextslide"/><a:extLst><a:ext uri="{FF2B5EF4-FFF2-40B4-BE49-F238E27FC236}"><a16:creationId xmlns:a16="http://schemas.microsoft.com/office/drawing/2014/main" id="{C10FEA78-646D-538B-C9B8-D95123A1FCE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F7CFD825-05BE-FE9D-0571-AAA7712A7E3A}"/></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pic><p:nvPicPr><p:cNvPr id="5" name="Image 4"><a:extLst><a:ext uri="{FF2B5EF4-FFF2-40B4-BE49-F238E27FC236}"><a16:creationId xmlns:a16="http://schemas.microsoft.com/office/drawing/2014/main" id="{D0E340E1-6C9C-997C-B123-BF4EEABA8CA3}"/></a:ext></a:extLst></p:cNvPr><p:cNvPicPr><a:picLocks noChangeAspect="1"/></p:cNvPicPr><p:nvPr/></p:nvPicPr><p:blipFill><a:blip r:embed="rId4"/><a:stretch><a:fillRect/></a:stretch></p:blipFill><p:spPr><a:xfrm><a:off x="6064326" y="655615"/><a:ext cx="2477442" cy="1602540"/></a:xfrm><a:prstGeom prst="rect"><a:avLst/></a:prstGeom></p:spPr></p:pic><p:sp><p:nvSpPr><p:cNvPr id="20" name="ZoneTexte 19"><a:extLst><a:ext uri="{FF2B5EF4-FFF2-40B4-BE49-F238E27FC236}"><a16:creationId xmlns:a16="http://schemas.microsoft.com/office/drawing/2014/main" id="{7B12E957-1D3A-1ACA-D7E0-D67DDB18DEAC}"/></a:ext></a:extLst></p:cNvPr><p:cNvSpPr txBox="1"/><p:nvPr/></p:nvSpPr><p:spPr><a:xfrm><a:off x="4979801" y="2391958"/><a:ext cx="4293459" cy="369332"/></a:xfrm><a:prstGeom prst="rect"><a:avLst/></a:prstGeom><a:noFill/></p:spPr><p:txBody><a:bodyPr wrap="square"><a:spAutoFit/></a:bodyPr><a:lstStyle/><a:p><a:pPr marR="90170" algn="ctr"><a:spcBef><a:spcPts val="600"/></a:spcBef><a:spcAft><a:spcPts val="1000"/></a:spcAft></a:pPr><a:r><a:rPr lang="fr-FR" sz="1800" i="1" dirty="0"><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rPr><a:t>Fig.  </a:t></a:r><a:r><a:rPr lang="ar-SA" sz="1800" i="1" dirty="0"><a:solidFill>val="1F497D"/></a:solidFill><a:effectLst/><a:latin typeface="Palatino Linotype" panose="02040502050505030304" pitchFamily="18" charset="0"/><a:ea typeface="Palatino Linotype" panose="02040502050505030304" pitchFamily="18" charset="0"/><a:cs typeface="Times New Roman" panose="02020603050405020304" pitchFamily="18" charset="0"/></a:rPr><a:t>‎</a:t></a:r><a:r><a:rPr lang="fr-FR" sz="1800" i="1" dirty="0"><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rPr><a:t>2.4 – Comparaison du PDR</a:t></a:r></a:p></p:txBody></p:sp><p:pic><p:nvPicPr><p:cNvPr id="22" name="Image 21"><a:extLst><a:ext uri="{FF2B5EF4-FFF2-40B4-BE49-F238E27FC236}"><a16:creationId xmlns:a16="http://schemas.microsoft.com/office/drawing/2014/main" id="{D85F74BD-B528-9DED-FB61-8480A2183769}"/></a:ext></a:extLst></p:cNvPr><p:cNvPicPr><a:picLocks noChangeAspect="1"/></p:cNvPicPr><p:nvPr/></p:nvPicPr><p:blipFill><a:blip r:embed="rId5"/><a:stretch><a:fillRect/></a:stretch></p:blipFill><p:spPr><a:xfrm><a:off x="5901099" y="4519939"/><a:ext cx="2548171" cy="1771978"/></a:xfrm><a:prstGeom prst="rect"><a:avLst/></a:prstGeom></p:spPr></p:pic><p:sp><p:nvSpPr><p:cNvPr id="24" name="ZoneTexte 23"><a:extLst><a:ext uri="{FF2B5EF4-FFF2-40B4-BE49-F238E27FC236}"><a16:creationId xmlns:a16="http://schemas.microsoft.com/office/drawing/2014/main" id="{93986568-F6B5-DB1A-A61E-CB460F8206F0}"/></a:ext></a:extLst></p:cNvPr><p:cNvSpPr txBox="1"/><p:nvPr/></p:nvSpPr><p:spPr><a:xfrm><a:off x="5236513" y="6229937"/><a:ext cx="3877344" cy="369332"/></a:xfrm><a:prstGeom prst="rect"><a:avLst/></a:prstGeom><a:noFill/></p:spPr><p:txBody><a:bodyPr wrap="square"><a:spAutoFit/></a:bodyPr><a:lstStyle/><a:p><a:pPr marR="90170" algn="ctr"><a:spcBef><a:spcPts val="600"/></a:spcBef><a:spcAft><a:spcPts val="1000"/></a:spcAft></a:pPr><a:r><a:rPr lang="fr-FR" sz="1800" i="1" dirty="0"><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rPr><a:t>Fig.  </a:t></a:r><a:r><a:rPr lang="ar-SA" sz="1800" i="1" dirty="0"><a:solidFill>val="1F497D"/></a:solidFill><a:effectLst/><a:latin typeface="Palatino Linotype" panose="02040502050505030304" pitchFamily="18" charset="0"/><a:ea typeface="Palatino Linotype" panose="02040502050505030304" pitchFamily="18" charset="0"/><a:cs typeface="Times New Roman" panose="02020603050405020304" pitchFamily="18" charset="0"/></a:rPr><a:t>‎</a:t></a:r><a:r><a:rPr lang="fr-FR" sz="1800" i="1" dirty="0"><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rPr><a:t>2.7 – Comparaison du </a:t></a:r><a:r><a:rPr lang="fr-FR" sz="1800" i="1" dirty="0" err="1"><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rPr><a:t>jitter</a:t></a:r><a:endParaRPr lang="fr-FR" sz="1800" i="1" dirty="0"><a:solidFill>val="1F497D"/></a:solidFill><a:effectLst/><a:latin typeface="Palatino Linotype" panose="02040502050505030304" pitchFamily="18" charset="0"/><a:ea typeface="Palatino Linotype" panose="02040502050505030304" pitchFamily="18" charset="0"/><a:cs typeface="Palatino Linotype" panose="02040502050505030304" pitchFamily="18" charset="0"/></a:endParaRPr></a:p></p:txBody></p:sp><p:pic><p:nvPicPr><p:cNvPr id="19" name="Image 18"><a:extLst><a:ext uri="{FF2B5EF4-FFF2-40B4-BE49-F238E27FC236}"><a16:creationId xmlns:a16="http://schemas.microsoft.com/office/drawing/2014/main" id="{4A3DBE6C-6352-761E-C0E1-ABD6835FAA82}"/></a:ext></a:extLst></p:cNvPr><p:cNvPicPr><a:picLocks noChangeAspect="1"/></p:cNvPicPr><p:nvPr/></p:nvPicPr><p:blipFill><a:blip r:embed="rId6"/><a:stretch><a:fillRect/></a:stretch></p:blipFill><p:spPr><a:xfrm><a:off x="6295486" y="2702425"/><a:ext cx="2032405" cy="1817514"/></a:xfrm><a:prstGeom prst="rect"><a:avLst/></a:prstGeom></p:spPr></p:pic><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0C2718F-34E7-8773-5D41-3558CD5F7F8D}"/>
              </a:ext>
            </a:extLst>
          </p:cNvPr>
          <p:cNvPicPr>
            <a:picLocks noChangeAspect="1"/>
          </p:cNvPicPr>
          <p:nvPr/>
        </p:nvPicPr>
        <p:blipFill>
          <a:blip r:embed="rId3"/>
          <a:stretch>
            <a:fillRect/>
          </a:stretch>
        </p:blipFill>
        <p:spPr>
          <a:xfrm>
            <a:off x="0" y="877186"/>
            <a:ext cx="9144000" cy="5103628"/>
          </a:xfrm>
          <a:prstGeom prst="rect">
            <a:avLst/>
          </a:prstGeom>
        </p:spPr>
      </p:pic>
      <p:sp>
        <p:nvSpPr>
          <p:cNvPr id="7" name="ZoneTexte 6">
            <a:extLst>
              <a:ext uri="{FF2B5EF4-FFF2-40B4-BE49-F238E27FC236}">
                <a16:creationId xmlns:a16="http://schemas.microsoft.com/office/drawing/2014/main" id="{D117A6E3-4AD7-BD71-BBA2-75CB5D12F2FD}"/>
              </a:ext>
            </a:extLst>
          </p:cNvPr>
          <p:cNvSpPr txBox="1"/>
          <p:nvPr/>
        </p:nvSpPr>
        <p:spPr>
          <a:xfrm>
            <a:off x="1404257" y="6211669"/>
            <a:ext cx="7478486"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4.5 – PDR de la classe C3 (flux critiques)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076642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9AAA3FCA-D25A-3780-38AB-B535A8B55AA9}"/>
              </a:ext>
            </a:extLst>
          </p:cNvPr>
          <p:cNvSpPr txBox="1"/>
          <p:nvPr/>
        </p:nvSpPr>
        <p:spPr>
          <a:xfrm>
            <a:off x="2038350" y="4002412"/>
            <a:ext cx="4572000" cy="646331"/>
          </a:xfrm>
          <a:prstGeom prst="rect">
            <a:avLst/>
          </a:prstGeom>
          <a:noFill/>
        </p:spPr>
        <p:txBody>
          <a:bodyPr wrap="square">
            <a:spAutoFit/>
          </a:bodyPr>
          <a:lstStyle/>
          <a:p>
            <a:r>
              <a:rPr lang="fr-FR" dirty="0">
                <a:effectLst/>
              </a:rPr>
              <a:t>Fig. 2.6 – Analyse de la consommation énergétique cumulative</a:t>
            </a:r>
          </a:p>
        </p:txBody>
      </p:sp>
      <p:pic>
        <p:nvPicPr>
          <p:cNvPr id="4" name="Image 3">
            <a:extLst>
              <a:ext uri="{FF2B5EF4-FFF2-40B4-BE49-F238E27FC236}">
                <a16:creationId xmlns:a16="http://schemas.microsoft.com/office/drawing/2014/main" id="{AADC86CC-4FC5-4B7F-2988-D252F0272EF7}"/>
              </a:ext>
            </a:extLst>
          </p:cNvPr>
          <p:cNvPicPr>
            <a:picLocks noChangeAspect="1"/>
          </p:cNvPicPr>
          <p:nvPr/>
        </p:nvPicPr>
        <p:blipFill>
          <a:blip r:embed="rId2"/>
          <a:stretch>
            <a:fillRect/>
          </a:stretch>
        </p:blipFill>
        <p:spPr>
          <a:xfrm>
            <a:off x="408214" y="0"/>
            <a:ext cx="8327571" cy="5418944"/>
          </a:xfrm>
          <a:prstGeom prst="rect">
            <a:avLst/>
          </a:prstGeom>
        </p:spPr>
      </p:pic>
      <p:sp>
        <p:nvSpPr>
          <p:cNvPr id="7" name="ZoneTexte 6">
            <a:extLst>
              <a:ext uri="{FF2B5EF4-FFF2-40B4-BE49-F238E27FC236}">
                <a16:creationId xmlns:a16="http://schemas.microsoft.com/office/drawing/2014/main" id="{63CD0E8D-7E2C-CEA0-C69D-7C269EE9457D}"/>
              </a:ext>
            </a:extLst>
          </p:cNvPr>
          <p:cNvSpPr txBox="1"/>
          <p:nvPr/>
        </p:nvSpPr>
        <p:spPr>
          <a:xfrm>
            <a:off x="1175657" y="5914349"/>
            <a:ext cx="6727372"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4.5 – PDR pour </a:t>
            </a:r>
            <a:r>
              <a:rPr lang="fr-FR" sz="1800" b="0" i="1" u="none" strike="noStrike" baseline="0" dirty="0" err="1">
                <a:solidFill>val="1F487C"/&gt;</a:solidFill>
                <a:latin typeface="Palatino Linotype" panose="02040502050505030304" pitchFamily="18" charset="0"/>
              </a:rPr>
              <a:t>RPLMQoS</a:t>
            </a:r>
            <a:r>
              <a:rPr lang="fr-FR" sz="1800" b="0" i="1" u="none" strike="noStrike" baseline="0" dirty="0">
                <a:solidFill>val="1F487C"/&gt;</a:solidFill>
                <a:latin typeface="Palatino Linotype" panose="02040502050505030304" pitchFamily="18" charset="0"/>
              </a:rPr>
              <a:t> vs RPL sous charge variable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4017075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6813440-0FFE-C6E3-E261-6B0F63ACC5B4}"/>
              </a:ext>
            </a:extLst>
          </p:cNvPr>
          <p:cNvPicPr>
            <a:picLocks noChangeAspect="1"/>
          </p:cNvPicPr>
          <p:nvPr/>
        </p:nvPicPr>
        <p:blipFill>
          <a:blip r:embed="rId2"/>
          <a:stretch>
            <a:fillRect/>
          </a:stretch>
        </p:blipFill>
        <p:spPr>
          <a:xfrm>
            <a:off x="0" y="719528"/>
            <a:ext cx="8556171" cy="5418944"/>
          </a:xfrm>
          <a:prstGeom prst="rect">
            <a:avLst/>
          </a:prstGeom>
        </p:spPr>
      </p:pic>
      <p:sp>
        <p:nvSpPr>
          <p:cNvPr id="5" name="ZoneTexte 4">
            <a:extLst>
              <a:ext uri="{FF2B5EF4-FFF2-40B4-BE49-F238E27FC236}">
                <a16:creationId xmlns:a16="http://schemas.microsoft.com/office/drawing/2014/main" id="{7B265C40-E53C-CA51-1879-3ABF928BD995}"/>
              </a:ext>
            </a:extLst>
          </p:cNvPr>
          <p:cNvSpPr txBox="1"/>
          <p:nvPr/>
        </p:nvSpPr>
        <p:spPr>
          <a:xfrm>
            <a:off x="881743" y="6215076"/>
            <a:ext cx="7903028" cy="381668"/>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4.6 – Latence par classe de trafic pour </a:t>
            </a:r>
            <a:r>
              <a:rPr lang="fr-FR" sz="1800" b="0" i="1" u="none" strike="noStrike" baseline="0" dirty="0" err="1">
                <a:solidFill>val="1F487C"/&gt;</a:solidFill>
                <a:latin typeface="Palatino Linotype" panose="02040502050505030304" pitchFamily="18" charset="0"/>
              </a:rPr>
              <a:t>RPLMQoS</a:t>
            </a:r>
            <a:r>
              <a:rPr lang="fr-FR" sz="1800" b="0" i="1" u="none" strike="noStrike" baseline="0" dirty="0">
                <a:solidFill>val="1F487C"/&gt;</a:solidFill>
                <a:latin typeface="Palatino Linotype" panose="02040502050505030304" pitchFamily="18" charset="0"/>
              </a:rPr>
              <a:t> vs RPL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830049609"/>
      </p:ext>
    </p:extLst>
  </p:cSld>
  <p:clrMapOvr>
    <a:masterClrMapping/>
  </p:clrMapOvr>
</p:sld>
</file>

<file path=ppt/slides/slide15.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hlinkClick r:id="rId3" action="ppaction://hlinkfile"/><a:extLst><a:ext uri="{FF2B5EF4-FFF2-40B4-BE49-F238E27FC236}"><a16:creationId xmlns:a16="http://schemas.microsoft.com/office/drawing/2014/main" id="{7729DC09-9D36-6B4A-DBB6-CBF1BC6E8A4B}"/></a:ext></a:extLst></p:cNvPr><p:cNvSpPr txBox="1"/><p:nvPr/></p:nvSpPr><p:spPr><a:xfrm><a:off x="256479" y="842580"/><a:ext cx="4616604" cy="369332"/></a:xfrm><a:prstGeom prst="rect"><a:avLst/></a:prstGeom><a:noFill/></p:spPr><p:txBody><a:bodyPr wrap="square"><a:spAutoFit/></a:bodyPr><a:lstStyle/><a:p><a:r><a:rPr lang="fr-FR" dirty="0"><a:latin typeface="Poppins"/></a:rPr><a:t>🔷 </a:t></a:r><a:r><a:rPr lang="fr-FR" b="1" dirty="0"><a:latin typeface="Poppins"/></a:rPr><a:t>Trois composants principaux</a:t></a:r><a:endParaRPr lang="fr-FR" dirty="0"><a:latin typeface="Poppins"/></a:endParaRPr></a:p></p:txBody></p:sp><p:sp><p:nvSpPr><p:cNvPr id="9" name="ZoneTexte 8"><a:extLst><a:ext uri="{FF2B5EF4-FFF2-40B4-BE49-F238E27FC236}"><a16:creationId xmlns:a16="http://schemas.microsoft.com/office/drawing/2014/main" id="{8363D211-FDF4-04AF-28D5-CF4250712C9D}"/></a:ext></a:extLst></p:cNvPr><p:cNvSpPr txBox="1"/><p:nvPr/></p:nvSpPr><p:spPr><a:xfrm><a:off x="256479" y="1239774"/><a:ext cx="5765180" cy="1477328"/></a:xfrm><a:prstGeom prst="rect"><a:avLst/></a:prstGeom><a:noFill/></p:spPr><p:txBody><a:bodyPr wrap="square"><a:spAutoFit/></a:bodyPr><a:lstStyle/><a:p><a:r><a:rPr lang="fr-FR" b="1" dirty="0"><a:latin typeface="Poppins"/></a:rPr><a:t>🔷 1. Modèle de confiance distribué</a:t></a:r></a:p><a:p><a:pPr marL="531813" defTabSz="450850"><a:buFont typeface="Arial" panose="020B0604020202020204" pitchFamily="34" charset="0"/><a:buChar char="•"/></a:pPr><a:r><a:rPr lang="fr-FR" dirty="0"><a:latin typeface="Poppins"/></a:rPr><a:t>Observation du comportement des voisins</a:t></a:r></a:p><a:p><a:pPr marL="531813" defTabSz="450850"><a:buFont typeface="Arial" panose="020B0604020202020204" pitchFamily="34" charset="0"/><a:buChar char="•"/></a:pPr><a:r><a:rPr lang="fr-FR" b="1" dirty="0"><a:latin typeface="Poppins"/></a:rPr><a:t>Score de confiance par nœud</a:t></a:r><a:endParaRPr lang="fr-FR" dirty="0"><a:latin typeface="Poppins"/></a:endParaRPr></a:p><a:p><a:pPr marL="531813" defTabSz="450850"><a:buFont typeface="Arial" panose="020B0604020202020204" pitchFamily="34" charset="0"/><a:buChar char="•"/></a:pPr><a:r><a:rPr lang="fr-FR" dirty="0"><a:latin typeface="Poppins"/></a:rPr><a:t>Sélection de parents </a:t></a:r><a:r><a:rPr lang="fr-FR" b="1" dirty="0"><a:latin typeface="Poppins"/></a:rPr><a:t>fiables</a:t></a:r><a:endParaRPr lang="fr-FR" dirty="0"><a:latin typeface="Poppins"/></a:endParaRPr></a:p><a:p><a:pPr marL="531813" defTabSz="450850"><a:buFont typeface="Arial" panose="020B0604020202020204" pitchFamily="34" charset="0"/><a:buChar char="•"/></a:pPr><a:r><a:rPr lang="fr-FR" dirty="0"><a:latin typeface="Poppins"/></a:rPr><a:t>Éviction progressive des nœuds suspects</a:t></a:r></a:p></p:txBody></p:sp><p:sp><p:nvSpPr><p:cNvPr id="11" name="ZoneTexte 10"><a:extLst><a:ext uri="{FF2B5EF4-FFF2-40B4-BE49-F238E27FC236}"><a16:creationId xmlns:a16="http://schemas.microsoft.com/office/drawing/2014/main" id="{C7BEE857-48C9-C13F-3423-9CEC2A6825EB}"/></a:ext></a:extLst></p:cNvPr><p:cNvSpPr txBox="1"/><p:nvPr/></p:nvSpPr><p:spPr><a:xfrm><a:off x="256479" y="2803731"/><a:ext cx="6657276" cy="1477328"/></a:xfrm><a:prstGeom prst="rect"><a:avLst/></a:prstGeom><a:noFill/></p:spPr><p:txBody><a:bodyPr wrap="square"><a:spAutoFit/></a:bodyPr><a:lstStyle/><a:p><a:r><a:rPr lang="fr-FR" b="1" dirty="0"><a:latin typeface="Poppins"/></a:rPr><a:t>🔷 2. Détection d’anomalies par IA légère</a:t></a:r></a:p><a:p><a:pPr marL="531813"><a:buFont typeface="Arial" panose="020B0604020202020204" pitchFamily="34" charset="0"/><a:buChar char="•"/></a:pPr><a:r><a:rPr lang="fr-FR" b="1" dirty="0"><a:latin typeface="Poppins"/></a:rPr><a:t>LSTM quantifié 8 bits</a:t></a:r><a:endParaRPr lang="fr-FR" dirty="0"><a:latin typeface="Poppins"/></a:endParaRPr></a:p><a:p><a:pPr marL="531813"><a:buFont typeface="Arial" panose="020B0604020202020204" pitchFamily="34" charset="0"/><a:buChar char="•"/></a:pPr><a:r><a:rPr lang="fr-FR" dirty="0"><a:latin typeface="Poppins"/></a:rPr><a:t>Empreinte mémoire : </a:t></a:r><a:r><a:rPr lang="fr-FR" b="1" dirty="0"><a:latin typeface="Poppins"/></a:rPr><a:t>≈ 2,5 KB</a:t></a:r><a:endParaRPr lang="fr-FR" dirty="0"><a:latin typeface="Poppins"/></a:endParaRPr></a:p><a:p><a:pPr marL="531813"><a:buFont typeface="Arial" panose="020B0604020202020204" pitchFamily="34" charset="0"/><a:buChar char="•"/></a:pPr><a:r><a:rPr lang="fr-FR" dirty="0"><a:latin typeface="Poppins"/></a:rPr><a:t>Analyse des </a:t></a:r><a:r><a:rPr lang="fr-FR" b="1" dirty="0"><a:latin typeface="Poppins"/></a:rPr><a:t>motifs temporels de trafic</a:t></a:r><a:endParaRPr lang="fr-FR" dirty="0"><a:latin typeface="Poppins"/></a:endParaRPr></a:p><a:p><a:pPr marL="531813"><a:buFont typeface="Arial" panose="020B0604020202020204" pitchFamily="34" charset="0"/><a:buChar char="•"/></a:pPr><a:r><a:rPr lang="fr-FR" dirty="0"><a:latin typeface="Poppins"/></a:rPr><a:t>Détection rapide des attaques de routage</a:t></a:r></a:p></p:txBody></p:sp><p:sp><p:nvSpPr><p:cNvPr id="13" name="ZoneTexte 12"><a:extLst><a:ext uri="{FF2B5EF4-FFF2-40B4-BE49-F238E27FC236}"><a16:creationId xmlns:a16="http://schemas.microsoft.com/office/drawing/2014/main" id="{C061A8C8-8481-7395-9838-46BF2E38C8DE}"/></a:ext></a:extLst></p:cNvPr><p:cNvSpPr txBox="1"/><p:nvPr/></p:nvSpPr><p:spPr><a:xfrm><a:off x="256479" y="4367688"/><a:ext cx="5765179" cy="1200329"/></a:xfrm><a:prstGeom prst="rect"><a:avLst/></a:prstGeom><a:noFill/></p:spPr><p:txBody><a:bodyPr wrap="square"><a:spAutoFit/></a:bodyPr><a:lstStyle/><a:p><a:r><a:rPr lang="fr-FR" b="1" dirty="0"><a:latin typeface="Poppins"/></a:rPr><a:t>🔷 3. Gestion intelligente de l’énergie	</a:t></a:r></a:p><a:p><a:pPr marL="531813"><a:buFont typeface="Arial" panose="020B0604020202020204" pitchFamily="34" charset="0"/><a:buChar char="•"/></a:pPr><a:r><a:rPr lang="fr-FR" dirty="0"><a:latin typeface="Poppins"/></a:rPr><a:t>Prédiction des conditions d’éclairage</a:t></a:r></a:p><a:p><a:pPr marL="531813"><a:buFont typeface="Arial" panose="020B0604020202020204" pitchFamily="34" charset="0"/><a:buChar char="•"/></a:pPr><a:r><a:rPr lang="fr-FR" b="1" dirty="0"><a:latin typeface="Poppins"/></a:rPr><a:t>Adaptation dynamique du duty cycle</a:t></a:r><a:endParaRPr lang="fr-FR" dirty="0"><a:latin typeface="Poppins"/></a:endParaRPr></a:p><a:p><a:pPr marL="531813"><a:buFont typeface="Arial" panose="020B0604020202020204" pitchFamily="34" charset="0"/><a:buChar char="•"/></a:pPr><a:r><a:rPr lang="fr-FR" dirty="0"><a:latin typeface="Poppins"/></a:rPr><a:t>Optimisation du routage selon l’énergie disponible</a:t></a:r></a:p></p:txBody></p:sp><p:sp><p:nvSpPr><p:cNvPr id="15" name="ZoneTexte 14"><a:extLst><a:ext uri="{FF2B5EF4-FFF2-40B4-BE49-F238E27FC236}"><a16:creationId xmlns:a16="http://schemas.microsoft.com/office/drawing/2014/main" id="{CD2117A7-70E4-4946-C585-46901950E80D}"/></a:ext></a:extLst></p:cNvPr><p:cNvSpPr txBox="1"/><p:nvPr/></p:nvSpPr><p:spPr><a:xfrm><a:off x="256479" y="5600054"/><a:ext cx="8229600" cy="923330"/></a:xfrm><a:prstGeom prst="rect"><a:avLst/></a:prstGeom><a:noFill/></p:spPr><p:txBody><a:bodyPr wrap="square"><a:spAutoFit/></a:bodyPr><a:lstStyle/><a:p><a:r><a:rPr lang="fr-FR" b="1" dirty="0"><a:latin typeface="Poppins"/></a:rPr><a:t>⭐ Message clé</a:t></a:r></a:p><a:p><a:r><a:rPr lang="fr-FR" b="1" dirty="0"><a:latin typeface="Poppins"/></a:rPr><a:t>AER-RPL combine sécurité adaptative et efficacité énergétique tout en respectant les fortes contraintes des nœuds IoT.</a:t></a:r><a:endParaRPr lang="fr-FR" dirty="0"><a:latin typeface="Poppins"/></a:endParaRPr></a:p></p:txBody></p:sp><p:grpSp><p:nvGrpSpPr><p:cNvPr id="4" name="Group 7584"><a:extLst><a:ext uri="{FF2B5EF4-FFF2-40B4-BE49-F238E27FC236}"><a16:creationId xmlns:a16="http://schemas.microsoft.com/office/drawing/2014/main" id="{612BB547-CABC-CCA8-FEA1-B056179B7469}"/></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3D47B623-BC20-8C4F-BF64-57A6A896242E}"/></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9649F349-835B-A781-9058-B3B973E5A947}"/></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92AF61AD-4621-D158-FD9E-25032E58C54A}"/></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481F5719-4E0F-9F62-F029-7F762ABC0CB7}"/></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4" name="Shape 7963"><a:extLst><a:ext uri="{FF2B5EF4-FFF2-40B4-BE49-F238E27FC236}"><a16:creationId xmlns:a16="http://schemas.microsoft.com/office/drawing/2014/main" id="{D315DA14-E2D3-8A3D-FD07-D3A4E567F00E}"/></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6" name="Rectangle 15"><a:extLst><a:ext uri="{FF2B5EF4-FFF2-40B4-BE49-F238E27FC236}"><a16:creationId xmlns:a16="http://schemas.microsoft.com/office/drawing/2014/main" id="{3A1C8658-0FD7-5CC2-8932-2067604E9222}"/></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9/19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7" name="Groupe 16"><a:extLst><a:ext uri="{FF2B5EF4-FFF2-40B4-BE49-F238E27FC236}"><a16:creationId xmlns:a16="http://schemas.microsoft.com/office/drawing/2014/main" id="{7E55D797-3862-597C-40BA-902D682AAE0E}"/></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18" name="Picture 4" descr="logo.jpg"><a:extLst><a:ext uri="{FF2B5EF4-FFF2-40B4-BE49-F238E27FC236}"><a16:creationId xmlns:a16="http://schemas.microsoft.com/office/drawing/2014/main" id="{7EFF8877-5CF5-B0A8-AFA3-23FD2D450D65}"/></a:ext></a:extLst></p:cNvPr><p:cNvPicPr><a:picLocks noChangeAspect="1"/></p:cNvPicPr><p:nvPr/></p:nvPicPr><p:blipFill><a:blip r:embed="rId4"/><a:stretch><a:fillRect/></a:stretch></p:blipFill><p:spPr><a:xfrm><a:off x="7950314" y="1873025"/><a:ext cx="1440000" cy="664615"/></a:xfrm><a:prstGeom prst="rect"><a:avLst/></a:prstGeom><a:grpFill/></p:spPr></p:pic><p:sp><p:nvSpPr><p:cNvPr id="19" name="Rectangle 18"><a:extLst><a:ext uri="{FF2B5EF4-FFF2-40B4-BE49-F238E27FC236}"><a16:creationId xmlns:a16="http://schemas.microsoft.com/office/drawing/2014/main" id="{A496F2FB-3C90-A456-7515-65159D24E217}"/></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000" b="1" dirty="0"><a:solidFill><a:schemeClr val="bg1"/></a:solidFill></a:rPr><a:t>AER-RPL (</a:t></a:r><a:r><a:rPr lang="fr-FR" sz="2000" b="1" dirty="0"><a:solidFill><a:schemeClr val="bg1"/></a:solidFill><a:latin typeface="Poppins"/></a:rPr><a:t>Advanced Energy-aware and </a:t></a:r><a:r><a:rPr lang="fr-FR" sz="2000" b="1" dirty="0" err="1"><a:solidFill><a:schemeClr val="bg1"/></a:solidFill><a:latin typeface="Poppins"/></a:rPr><a:t>Resilient</a:t></a:r><a:r><a:rPr lang="fr-FR" sz="2000" b="1" dirty="0"><a:solidFill><a:schemeClr val="bg1"/></a:solidFill><a:latin typeface="Poppins"/></a:rPr><a:t> RPL): Architecture</a:t></a:r></a:p></p:txBody></p:sp></p:grpSp><p:sp><p:nvSpPr><p:cNvPr id="2" name="Flèche : droite 1"><a:hlinkClick r:id="" action="ppaction://hlinkshowjump?jump=nextslide"/><a:extLst><a:ext uri="{FF2B5EF4-FFF2-40B4-BE49-F238E27FC236}"><a16:creationId xmlns:a16="http://schemas.microsoft.com/office/drawing/2014/main" id="{2B1C3C1C-8789-2D1A-3CBD-88805091974F}"/></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0AD9E2BA-993C-D578-B506-40F4E6721FA1}"/></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pic><p:nvPicPr><p:cNvPr id="20" name="Image 19" descr="Une image contenant texte, capture d’écran, Police&#xA;&#xA;Le contenu généré par l’IA peut être incorrect."><a:extLst><a:ext uri="{FF2B5EF4-FFF2-40B4-BE49-F238E27FC236}"><a16:creationId xmlns:a16="http://schemas.microsoft.com/office/drawing/2014/main" id="{41266A2D-6B55-CE5B-4149-A31ABB1FEF37}"/></a:ext></a:extLst></p:cNvPr><p:cNvPicPr><a:picLocks noChangeAspect="1"/></p:cNvPicPr><p:nvPr/></p:nvPicPr><p:blipFill><a:blip r:embed="rId5"/><a:stretch><a:fillRect/></a:stretch></p:blipFill><p:spPr><a:xfrm><a:off x="4572000" y="877186"/><a:ext cx="4572000" cy="2551814"/></a:xfrm><a:prstGeom prst="rect"><a:avLst/></a:prstGeom></p:spPr></p:pic><p:sp><p:nvSpPr><p:cNvPr id="22" name="ZoneTexte 21"><a:extLst><a:ext uri="{FF2B5EF4-FFF2-40B4-BE49-F238E27FC236}"><a16:creationId xmlns:a16="http://schemas.microsoft.com/office/drawing/2014/main" id="{50D174C8-EFBB-1F8E-4376-71F86B921E9F}"/></a:ext></a:extLst></p:cNvPr><p:cNvSpPr txBox="1"/><p:nvPr/></p:nvSpPr><p:spPr><a:xfrm><a:off x="5126791" y="3857861"/><a:ext cx="4438698" cy="1200329"/></a:xfrm><a:prstGeom prst="rect"><a:avLst/></a:prstGeom><a:noFill/></p:spPr><p:txBody><a:bodyPr wrap="square"><a:spAutoFit/></a:bodyPr><a:lstStyle/><a:p><a:r><a:rPr lang="fr-FR" dirty="0"><a:effectLst/></a:rPr><a:t>Architecture AER-RPL : Sécurité proactive + Efficacité énergétique via confiance distribuée, LSTM quantifié 8 bits et récupération d’énergie intelligente</a:t></a:r></a:p></p:txBody></p:sp><p:sp><p:nvSpPr><p:cNvPr id="24" name="ZoneTexte 23"><a:extLst><a:ext uri="{FF2B5EF4-FFF2-40B4-BE49-F238E27FC236}"><a16:creationId xmlns:a16="http://schemas.microsoft.com/office/drawing/2014/main" id="{CD405D10-DB9F-ADF4-B087-85CACEE81B63}"/></a:ext></a:extLst></p:cNvPr><p:cNvSpPr txBox="1"/><p:nvPr/></p:nvSpPr><p:spPr><a:xfrm><a:off x="5376995" y="3431419"/><a:ext cx="2804479" cy="369332"/></a:xfrm><a:prstGeom prst="rect"><a:avLst/></a:prstGeom><a:noFill/></p:spPr><p:txBody><a:bodyPr wrap="square"><a:spAutoFit/></a:bodyPr><a:lstStyle/><a:p><a:r><a:rPr lang="fr-FR" b="1" dirty="0"><a:effectLst/></a:rPr><a:t>Architecture AER-RPL</a:t></a: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7F744A2-7414-AD9D-CF61-3B7DEC3D4411}"/>
              </a:ext>
            </a:extLst>
          </p:cNvPr>
          <p:cNvSpPr txBox="1"/>
          <p:nvPr/>
        </p:nvSpPr>
        <p:spPr>
          <a:xfrm>
            <a:off x="122831" y="1218275"/>
            <a:ext cx="8270543" cy="3693319"/>
          </a:xfrm>
          <a:prstGeom prst="rect">
            <a:avLst/>
          </a:prstGeom>
          <a:noFill/>
        </p:spPr>
        <p:txBody>
          <a:bodyPr wrap="square">
            <a:spAutoFit/>
          </a:bodyPr>
          <a:lstStyle/>
          <a:p>
            <a:r>
              <a:rPr lang="fr-FR" b="1" dirty="0"/>
              <a:t>3. Architecture AER-RPL</a:t>
            </a:r>
          </a:p>
          <a:p>
            <a:r>
              <a:rPr lang="fr-FR" dirty="0">
                <a:effectLst/>
              </a:rPr>
              <a:t>Architecture AER-RPL : Sécurité proactive + Efficacité énergétique via confiance distribuée, LSTM quantifié 8 bits et récupération d’énergie intelligente »</a:t>
            </a:r>
          </a:p>
          <a:p>
            <a:r>
              <a:rPr lang="fr-FR" b="1" dirty="0">
                <a:effectLst/>
              </a:rPr>
              <a:t>Script oral à dire :</a:t>
            </a:r>
            <a:r>
              <a:rPr lang="fr-FR" dirty="0">
                <a:effectLst/>
              </a:rPr>
              <a:t> « La deuxième contribution, AER-RPL, renforce à la fois la sécurité et l’efficacité énergétique. Elle repose sur trois briques complémentaires :</a:t>
            </a:r>
          </a:p>
          <a:p>
            <a:pPr>
              <a:buFont typeface="Arial" panose="020B0604020202020204" pitchFamily="34" charset="0"/>
              <a:buChar char="•"/>
            </a:pPr>
            <a:r>
              <a:rPr lang="fr-FR" dirty="0"/>
              <a:t>Un modèle de confiance distribué :</a:t>
            </a:r>
          </a:p>
          <a:p>
            <a:pPr>
              <a:buFont typeface="Arial" panose="020B0604020202020204" pitchFamily="34" charset="0"/>
              <a:buChar char="•"/>
            </a:pPr>
            <a:endParaRPr lang="fr-FR" dirty="0"/>
          </a:p>
          <a:p>
            <a:pPr>
              <a:buFont typeface="Arial" panose="020B0604020202020204" pitchFamily="34" charset="0"/>
              <a:buChar char="•"/>
            </a:pPr>
            <a:endParaRPr lang="fr-FR" dirty="0"/>
          </a:p>
          <a:p>
            <a:pPr>
              <a:buFont typeface="Arial" panose="020B0604020202020204" pitchFamily="34" charset="0"/>
              <a:buChar char="•"/>
            </a:pPr>
            <a:r>
              <a:rPr lang="fr-FR" dirty="0"/>
              <a:t>Un détecteur d’attaques basé sur un LSTM quantifié 8 bits (seulement 2,5 Ko) capable de détecter </a:t>
            </a:r>
            <a:r>
              <a:rPr lang="fr-FR" dirty="0" err="1"/>
              <a:t>sinkhole</a:t>
            </a:r>
            <a:r>
              <a:rPr lang="fr-FR" dirty="0"/>
              <a:t>, </a:t>
            </a:r>
            <a:r>
              <a:rPr lang="fr-FR" dirty="0" err="1"/>
              <a:t>selective</a:t>
            </a:r>
            <a:r>
              <a:rPr lang="fr-FR" dirty="0"/>
              <a:t> </a:t>
            </a:r>
            <a:r>
              <a:rPr lang="fr-FR" dirty="0" err="1"/>
              <a:t>forwarding</a:t>
            </a:r>
            <a:r>
              <a:rPr lang="fr-FR" dirty="0"/>
              <a:t>, hello flood et </a:t>
            </a:r>
            <a:r>
              <a:rPr lang="fr-FR" dirty="0" err="1"/>
              <a:t>rank</a:t>
            </a:r>
            <a:r>
              <a:rPr lang="fr-FR" dirty="0"/>
              <a:t> </a:t>
            </a:r>
            <a:r>
              <a:rPr lang="fr-FR" dirty="0" err="1"/>
              <a:t>attack</a:t>
            </a:r>
            <a:r>
              <a:rPr lang="fr-FR" dirty="0"/>
              <a:t>.</a:t>
            </a:r>
          </a:p>
          <a:p>
            <a:pPr>
              <a:buFont typeface="Arial" panose="020B0604020202020204" pitchFamily="34" charset="0"/>
              <a:buChar char="•"/>
            </a:pPr>
            <a:r>
              <a:rPr lang="fr-FR" dirty="0"/>
              <a:t>Un module intelligent de récupération d’énergie avec prédiction LSTM et adaptation du </a:t>
            </a:r>
            <a:r>
              <a:rPr lang="fr-FR" dirty="0" err="1"/>
              <a:t>duty</a:t>
            </a:r>
            <a:r>
              <a:rPr lang="fr-FR" dirty="0"/>
              <a:t> cycle. Ces trois blocs travaillent ensemble pour offrir une sécurité proactive tout en augmentant significativement l’autonomie du réseau. »</a:t>
            </a:r>
          </a:p>
        </p:txBody>
      </p:sp>
      <p:pic>
        <p:nvPicPr>
          <p:cNvPr id="5" name="Image 4">
            <a:extLst>
              <a:ext uri="{FF2B5EF4-FFF2-40B4-BE49-F238E27FC236}">
                <a16:creationId xmlns:a16="http://schemas.microsoft.com/office/drawing/2014/main" id="{631ABCBA-4C74-261E-EE9F-A11C61A45E3A}"/>
              </a:ext>
            </a:extLst>
          </p:cNvPr>
          <p:cNvPicPr>
            <a:picLocks noChangeAspect="1"/>
          </p:cNvPicPr>
          <p:nvPr/>
        </p:nvPicPr>
        <p:blipFill>
          <a:blip r:embed="rId2"/>
          <a:stretch>
            <a:fillRect/>
          </a:stretch>
        </p:blipFill>
        <p:spPr>
          <a:xfrm>
            <a:off x="2533365" y="3095578"/>
            <a:ext cx="4077269" cy="333422"/>
          </a:xfrm>
          <a:prstGeom prst="rect">
            <a:avLst/>
          </a:prstGeom>
        </p:spPr>
      </p:pic>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4010707473"/>
      </p:ext>
    </p:extLst>
  </p:cSld>
  <p:clrMapOvr>
    <a:masterClrMapping/>
  </p:clrMapOvr>
</p:sld>
</file>

<file path=ppt/slides/slide17.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7" name="ZoneTexte 6"><a:extLst><a:ext uri="{FF2B5EF4-FFF2-40B4-BE49-F238E27FC236}"><a16:creationId xmlns:a16="http://schemas.microsoft.com/office/drawing/2014/main" id="{7928B526-A4E9-0AE8-D9AF-E6AA160AD2C3}"/></a:ext></a:extLst></p:cNvPr><p:cNvSpPr txBox="1"/><p:nvPr/></p:nvSpPr><p:spPr><a:xfrm><a:off x="488734" y="744649"/><a:ext cx="6077415" cy="1015663"/></a:xfrm><a:prstGeom prst="rect"><a:avLst/></a:prstGeom><a:noFill/></p:spPr><p:txBody><a:bodyPr wrap="square"><a:spAutoFit/></a:bodyPr><a:lstStyle/><a:p><a:r><a:rPr lang="fr-FR" sz="2000" b="1" dirty="0"/><a:t>📊 Taux de détection</a:t></a:r></a:p><a:p><a:pPr><a:buFont typeface="Arial" panose="020B0604020202020204" pitchFamily="34" charset="0"/><a:buChar char="•"/></a:pPr><a:r><a:rPr lang="fr-FR" sz="2000" b="1" dirty="0"/><a:t>95,1 %</a:t></a:r><a:r><a:rPr lang="fr-FR" sz="2000" dirty="0"/><a:t> des attaques détectées</a:t></a:r></a:p><a:p><a:pPr><a:buFont typeface="Arial" panose="020B0604020202020204" pitchFamily="34" charset="0"/><a:buChar char="•"/></a:pPr><a:r><a:rPr lang="fr-FR" sz="2000" dirty="0"/><a:t>Attaques : </a:t></a:r><a:r><a:rPr lang="fr-FR" sz="2000" i="1" dirty="0"/><a:t>sinkhole, selective forwarding, hello flood</a:t></a:r><a:endParaRPr lang="fr-FR" sz="2000" dirty="0"/></a:p></p:txBody></p:sp><p:sp><p:nvSpPr><p:cNvPr id="9" name="ZoneTexte 8"><a:extLst><a:ext uri="{FF2B5EF4-FFF2-40B4-BE49-F238E27FC236}"><a16:creationId xmlns:a16="http://schemas.microsoft.com/office/drawing/2014/main" id="{581A55C0-2CCC-F267-5F07-61D6685D8EFC}"/></a:ext></a:extLst></p:cNvPr><p:cNvSpPr txBox="1"/><p:nvPr/></p:nvSpPr><p:spPr><a:xfrm><a:off x="488734" y="1809055"/><a:ext cx="4616604" cy="1015663"/></a:xfrm><a:prstGeom prst="rect"><a:avLst/></a:prstGeom><a:noFill/></p:spPr><p:txBody><a:bodyPr wrap="square"><a:spAutoFit/></a:bodyPr><a:lstStyle/><a:p><a:r><a:rPr lang="fr-FR" sz="2000" b="1" dirty="0"/><a:t>📊 Faux positifs</a:t></a:r></a:p><a:p><a:pPr><a:buFont typeface="Arial" panose="020B0604020202020204" pitchFamily="34" charset="0"/><a:buChar char="•"/></a:pPr><a:r><a:rPr lang="fr-FR" sz="2000" b="1" dirty="0"/><a:t>3,1 %</a:t></a:r><a:r><a:rPr lang="fr-FR" sz="2000" dirty="0"/><a:t> seulement</a:t></a:r></a:p><a:p><a:pPr><a:buFont typeface="Arial" panose="020B0604020202020204" pitchFamily="34" charset="0"/><a:buChar char="•"/></a:pPr><a:r><a:rPr lang="fr-FR" sz="2000" dirty="0"/><a:t>Préservation des nœuds honnêtes</a:t></a:r></a:p></p:txBody></p:sp><p:sp><p:nvSpPr><p:cNvPr id="11" name="ZoneTexte 10"><a:extLst><a:ext uri="{FF2B5EF4-FFF2-40B4-BE49-F238E27FC236}"><a16:creationId xmlns:a16="http://schemas.microsoft.com/office/drawing/2014/main" id="{DA07D2E0-015E-ABF6-2412-30679CAA620B}"/></a:ext></a:extLst></p:cNvPr><p:cNvSpPr txBox="1"/><p:nvPr/></p:nvSpPr><p:spPr><a:xfrm><a:off x="488734" y="2873461"/><a:ext cx="4616604" cy="1015663"/></a:xfrm><a:prstGeom prst="rect"><a:avLst/></a:prstGeom><a:noFill/></p:spPr><p:txBody><a:bodyPr wrap="square"><a:spAutoFit/></a:bodyPr><a:lstStyle/><a:p><a:r><a:rPr lang="fr-FR" sz="2000" b="1" dirty="0"/><a:t>📊 Temps de réaction</a:t></a:r></a:p><a:p><a:pPr><a:buFont typeface="Arial" panose="020B0604020202020204" pitchFamily="34" charset="0"/><a:buChar char="•"/></a:pPr><a:r><a:rPr lang="fr-FR" sz="2000" b="1" dirty="0"/><a:t>28,7 s</a:t></a:r><a:r><a:rPr lang="fr-FR" sz="2000" dirty="0"/><a:t> en moyenne</a:t></a:r></a:p><a:p><a:pPr><a:buFont typeface="Arial" panose="020B0604020202020204" pitchFamily="34" charset="0"/><a:buChar char="•"/></a:pPr><a:r><a:rPr lang="fr-FR" sz="2000" dirty="0"/><a:t>Isolation rapide des nœuds malveillants</a:t></a:r></a:p></p:txBody></p:sp><p:sp><p:nvSpPr><p:cNvPr id="13" name="Rectangle 1"><a:extLst><a:ext uri="{FF2B5EF4-FFF2-40B4-BE49-F238E27FC236}"><a16:creationId xmlns:a16="http://schemas.microsoft.com/office/drawing/2014/main" id="{B04F432F-4758-A263-56EA-709F5283A789}"/></a:ext></a:extLst></p:cNvPr><p:cNvSpPr><a:spLocks noChangeArrowheads="1"/></p:cNvSpPr><p:nvPr/></p:nvSpPr><p:spPr bwMode="auto"><a:xfrm><a:off x="488734" y="3891701"/><a:ext cx="4178003" cy="400110"/></a:xfrm><a:prstGeom prst="rect"><a:avLst/></a:prstGeom><a:noFill/><a:ln><a:noFill/></a:ln><a:effectLst/><a:extLst><a:ext uri="{909E8E84-426E-40DD-AFC4-6F175D3DCCD1}"><a14:hiddenFill xmlns:a14="http://schemas.microsoft.com/office/drawing/2010/main"><a:solidFill><a:schemeClr val="accent1"/></a:solidFill></a14:hiddenFill></a:ext><a:ext uri="{91240B29-F687-4F45-9708-019B960494DF}"><a14:hiddenLine xmlns:a14="http://schemas.microsoft.com/office/drawing/2010/main" w="9525"><a:solidFill><a:schemeClr val="tx1"/></a:solidFill><a:miter lim="800000"/><a:headEnd/><a:tailEnd/></a14:hiddenLine></a:ext><a:ext uri="{AF507438-7753-43E0-B8FC-AC1667EBCBE1}"><a14:hiddenEffects xmlns:a14="http://schemas.microsoft.com/office/drawing/2010/main"><a:effectLst><a:outerShdw dist="35921" dir="2700000" algn="ctr" rotWithShape="0"><a:schemeClr val="bg2"/></a:outerShdw></a:effectLst></a14:hiddenEffects></a:ext></a:extLst></p:spPr><p:txBody><a:bodyPr vert="horz" wrap="none" lIns="91440" tIns="45720" rIns="91440" bIns="45720" numCol="1" anchor="ctr" anchorCtr="0" compatLnSpc="1"><a:prstTxWarp prst="textNoShape"><a:avLst/></a:prstTxWarp><a:spAutoFit/></a:bodyPr><a:lstStyle/><a:p><a:pPr marL="0" marR="0" lvl="0" indent="0" algn="l" defTabSz="914400" rtl="0" eaLnBrk="0" fontAlgn="base" latinLnBrk="0" hangingPunct="0"><a:lnSpc><a:spcPct val="100000"/></a:lnSpc><a:spcBef><a:spcPct val="0"/></a:spcBef><a:spcAft><a:spcPct val="0"/></a:spcAft><a:buClrTx/><a:buSzTx/><a:buFontTx/><a:buNone/><a:tabLst/></a:pPr><a:r><a:rPr kumimoji="0" lang="fr-FR" altLang="fr-FR" sz="2000" b="1" i="0" u="none" strike="noStrike" cap="none" normalizeH="0" baseline="0" dirty="0"><a:ln><a:noFill/></a:ln><a:solidFill><a:schemeClr val="tx1"/></a:solidFill><a:effectLst/><a:latin typeface="Arial" panose="020B0604020202020204" pitchFamily="34" charset="0"/></a:rPr><a:t>📊 Comparaison avec Trust-RPL</a:t></a:r></a:p></p:txBody></p:sp><p:sp><p:nvSpPr><p:cNvPr id="16" name="ZoneTexte 15"><a:extLst><a:ext uri="{FF2B5EF4-FFF2-40B4-BE49-F238E27FC236}"><a16:creationId xmlns:a16="http://schemas.microsoft.com/office/drawing/2014/main" id="{0C8F0C74-8794-72DC-2692-99D01C2924EB}"/></a:ext></a:extLst></p:cNvPr><p:cNvSpPr txBox="1"/><p:nvPr/></p:nvSpPr><p:spPr><a:xfrm><a:off x="488734" y="5640317"/><a:ext cx="8867555" cy="923330"/></a:xfrm><a:prstGeom prst="rect"><a:avLst/></a:prstGeom><a:noFill/></p:spPr><p:txBody><a:bodyPr wrap="square"><a:spAutoFit/></a:bodyPr><a:lstStyle/><a:p><a:r><a:rPr lang="fr-FR" b="1" dirty="0"/><a:t>⭐ Message clé</a:t></a:r></a:p><a:p><a:r><a:rPr lang="fr-FR" b="1" dirty="0"/><a:t>AER-RPL offre un compromis optimal entre précision, rapidité et faible impact sur le réseau IoT.</a:t></a:r><a:endParaRPr lang="fr-FR" dirty="0"/></a:p></p:txBody></p:sp><p:grpSp><p:nvGrpSpPr><p:cNvPr id="4" name="Group 7584"><a:extLst><a:ext uri="{FF2B5EF4-FFF2-40B4-BE49-F238E27FC236}"><a16:creationId xmlns:a16="http://schemas.microsoft.com/office/drawing/2014/main" id="{2F390641-8CD4-CF6E-2096-AF1DCD2A0112}"/></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12A68521-9E91-65FA-E1C3-9A9C8F364C95}"/></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01A4649D-058C-23D5-A29A-1E90FB809A74}"/></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10" name="Shape 7944"><a:extLst><a:ext uri="{FF2B5EF4-FFF2-40B4-BE49-F238E27FC236}"><a16:creationId xmlns:a16="http://schemas.microsoft.com/office/drawing/2014/main" id="{22F9EB2E-9510-6616-82EF-78326EA3A519}"/></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8D4F47E0-CE9D-C54B-5284-ADFED62DEBCB}"/></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5" name="Shape 7963"><a:extLst><a:ext uri="{FF2B5EF4-FFF2-40B4-BE49-F238E27FC236}"><a16:creationId xmlns:a16="http://schemas.microsoft.com/office/drawing/2014/main" id="{B528B62E-75CC-2DCD-406B-0B610643948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7" name="Rectangle 16"><a:extLst><a:ext uri="{FF2B5EF4-FFF2-40B4-BE49-F238E27FC236}"><a16:creationId xmlns:a16="http://schemas.microsoft.com/office/drawing/2014/main" id="{F050FBD3-202C-B889-7D20-4B4685F26B5C}"/></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10/19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8" name="Groupe 17"><a:extLst><a:ext uri="{FF2B5EF4-FFF2-40B4-BE49-F238E27FC236}"><a16:creationId xmlns:a16="http://schemas.microsoft.com/office/drawing/2014/main" id="{20BD7D49-BF7D-D37B-6416-31E263C5EC39}"/></a:ext></a:extLst></p:cNvPr><p:cNvGrpSpPr/><p:nvPr/></p:nvGrpSpPr><p:grpSpPr><a:xfrm><a:off x="614" y="11932"/><a:ext cx="9506457" cy="684000"/><a:chOff x="1278079" y="1873024"/><a:chExt cx="8112235" cy="664616"/></a:xfrm><a:gradFill><a:gsLst><a:gs pos="0">val="162B40"/></a:gs><a:gs pos="48000">val="34495E"/></a:gs><a:gs pos="100000">val="177BBE"/></a:gs></a:gsLst><a:lin ang="0" scaled="1"/></a:gradFill></p:grpSpPr><p:pic><p:nvPicPr><p:cNvPr id="19" name="Picture 4" descr="logo.jpg"><a:extLst><a:ext uri="{FF2B5EF4-FFF2-40B4-BE49-F238E27FC236}"><a16:creationId xmlns:a16="http://schemas.microsoft.com/office/drawing/2014/main" id="{48EF4139-725A-4B3C-DB8A-C2BC27FE0637}"/></a:ext></a:extLst></p:cNvPr><p:cNvPicPr><a:picLocks noChangeAspect="1"/></p:cNvPicPr><p:nvPr/></p:nvPicPr><p:blipFill><a:blip r:embed="rId3"/><a:stretch><a:fillRect/></a:stretch></p:blipFill><p:spPr><a:xfrm><a:off x="7950314" y="1873025"/><a:ext cx="1440000" cy="664615"/></a:xfrm><a:prstGeom prst="rect"><a:avLst/></a:prstGeom><a:grpFill/></p:spPr></p:pic><p:sp><p:nvSpPr><p:cNvPr id="20" name="Rectangle 19"><a:extLst><a:ext uri="{FF2B5EF4-FFF2-40B4-BE49-F238E27FC236}"><a16:creationId xmlns:a16="http://schemas.microsoft.com/office/drawing/2014/main" id="{ADEE1B31-BEC4-194E-98FB-36F361B667C7}"/></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AER-RPL : Performances de sécurité</a:t></a:r></a:p></p:txBody></p:sp></p:grpSp><p:graphicFrame><p:nvGraphicFramePr><p:cNvPr id="21" name="Tableau 20"><a:extLst><a:ext uri="{FF2B5EF4-FFF2-40B4-BE49-F238E27FC236}"><a16:creationId xmlns:a16="http://schemas.microsoft.com/office/drawing/2014/main" id="{134D0770-526A-164D-6BE3-4B106E7F9D2A}"/></a:ext></a:extLst></p:cNvPr><p:cNvGraphicFramePr><a:graphicFrameLocks noGrp="1"/></p:cNvGraphicFramePr><p:nvPr><p:extLst><p:ext uri="{D42A27DB-BD31-4B8C-83A1-F6EECF244321}"><p14:modId xmlns:p14="http://schemas.microsoft.com/office/powerpoint/2010/main" val="3986320089"/></p:ext></p:extLst></p:nvPr></p:nvGraphicFramePr><p:xfrm><a:off x="972410" y="4497082"/><a:ext cx="6096000" cy="1112520"/></p:xfrm><a:graphic><a:graphicData uri="http://schemas.openxmlformats.org/drawingml/2006/table"><a:tbl><a:tblPr firstRow="1" bandRow="1"><a:tableStyleId>{5C22544A-7EE6-4342-B048-85BDC9FD1C3A}</a:tableStyleId></a:tblPr><a:tblGrid><a:gridCol w="1524000"><a:extLst><a:ext uri="{9D8B030D-6E8A-4147-A177-3AD203B41FA5}"><a16:colId xmlns:a16="http://schemas.microsoft.com/office/drawing/2014/main" val="1982382932"/></a:ext></a:extLst></a:gridCol><a:gridCol w="1524000"><a:extLst><a:ext uri="{9D8B030D-6E8A-4147-A177-3AD203B41FA5}"><a16:colId xmlns:a16="http://schemas.microsoft.com/office/drawing/2014/main" val="1966262627"/></a:ext></a:extLst></a:gridCol><a:gridCol w="1524000"><a:extLst><a:ext uri="{9D8B030D-6E8A-4147-A177-3AD203B41FA5}"><a16:colId xmlns:a16="http://schemas.microsoft.com/office/drawing/2014/main" val="3250489532"/></a:ext></a:extLst></a:gridCol><a:gridCol w="1524000"><a:extLst><a:ext uri="{9D8B030D-6E8A-4147-A177-3AD203B41FA5}"><a16:colId xmlns:a16="http://schemas.microsoft.com/office/drawing/2014/main" val="1732828578"/></a:ext></a:extLst></a:gridCol></a:tblGrid><a:tr h="370840"><a:tc><a:txBody><a:bodyPr/><a:lstStyle/><a:p><a:r><a:rPr lang="fr-FR" dirty="0"/><a:t>Protocole</a:t></a:r></a:p></a:txBody><a:tcPr/></a:tc><a:tc><a:txBody><a:bodyPr/><a:lstStyle/><a:p><a:r><a:rPr lang="fr-FR" dirty="0"/><a:t>Détection</a:t></a:r></a:p></a:txBody><a:tcPr/></a:tc><a:tc><a:txBody><a:bodyPr/><a:lstStyle/><a:p><a:pPr marL="0" marR="0" lvl="0" indent="0" algn="l" defTabSz="457200" rtl="0" eaLnBrk="1" fontAlgn="auto" latinLnBrk="0" hangingPunct="1"><a:lnSpc><a:spcPct val="100000"/></a:lnSpc><a:spcBef><a:spcPts val="0"/></a:spcBef><a:spcAft><a:spcPts val="0"/></a:spcAft><a:buClrTx/><a:buSzTx/><a:buFontTx/><a:buNone/><a:tabLst/><a:defRPr/></a:pPr><a:r><a:rPr lang="fr-FR" dirty="0"/><a:t>Faux positifs</a:t></a:r></a:p></a:txBody><a:tcPr/></a:tc><a:tc><a:txBody><a:bodyPr/><a:lstStyle/><a:p><a:r><a:rPr lang="fr-FR" dirty="0"/><a:t>Réaction</a:t></a:r></a:p></a:txBody><a:tcPr/></a:tc><a:extLst><a:ext uri="{0D108BD9-81ED-4DB2-BD59-A6C34878D82A}"><a16:rowId xmlns:a16="http://schemas.microsoft.com/office/drawing/2014/main" val="3287259012"/></a:ext></a:extLst></a:tr><a:tr h="370840"><a:tc><a:txBody><a:bodyPr/><a:lstStyle/><a:p><a:r><a:rPr lang="fr-FR" dirty="0"/><a:t>Trust-RPL</a:t></a:r></a:p></a:txBody><a:tcPr anchor="ctr"/></a:tc><a:tc><a:txBody><a:bodyPr/><a:lstStyle/><a:p><a:r><a:rPr lang="fr-FR" dirty="0"/><a:t>~75 %</a:t></a:r></a:p></a:txBody><a:tcPr anchor="ctr"/></a:tc><a:tc><a:txBody><a:bodyPr/><a:lstStyle/><a:p><a:r><a:rPr lang="fr-FR" dirty="0"/><a:t>&gt;10 %</a:t></a:r></a:p></a:txBody><a:tcPr anchor="ctr"/></a:tc><a:tc><a:txBody><a:bodyPr/><a:lstStyle/><a:p><a:r><a:rPr lang="fr-FR"/><a:t>&gt;60 s</a:t></a:r></a:p></a:txBody><a:tcPr anchor="ctr"/></a:tc><a:extLst><a:ext uri="{0D108BD9-81ED-4DB2-BD59-A6C34878D82A}"><a16:rowId xmlns:a16="http://schemas.microsoft.com/office/drawing/2014/main" val="3149063458"/></a:ext></a:extLst></a:tr><a:tr h="370840"><a:tc><a:txBody><a:bodyPr/><a:lstStyle/><a:p><a:r><a:rPr lang="fr-FR" b="1" dirty="0"/><a:t>AER-RPL</a:t></a:r><a:endParaRPr lang="fr-FR" dirty="0"/></a:p></a:txBody><a:tcPr anchor="ctr"/></a:tc><a:tc><a:txBody><a:bodyPr/><a:lstStyle/><a:p><a:r><a:rPr lang="fr-FR" b="1" dirty="0"/><a:t>95,1 %</a:t></a:r><a:endParaRPr lang="fr-FR" dirty="0"/></a:p></a:txBody><a:tcPr anchor="ctr"/></a:tc><a:tc><a:txBody><a:bodyPr/><a:lstStyle/><a:p><a:r><a:rPr lang="fr-FR" b="1" dirty="0"/><a:t>3,1 %</a:t></a:r><a:endParaRPr lang="fr-FR" dirty="0"/></a:p></a:txBody><a:tcPr anchor="ctr"/></a:tc><a:tc><a:txBody><a:bodyPr/><a:lstStyle/><a:p><a:r><a:rPr lang="fr-FR" b="1" dirty="0"/><a:t>28,7 s</a:t></a:r><a:endParaRPr lang="fr-FR" dirty="0"/></a:p></a:txBody><a:tcPr anchor="ctr"/></a:tc><a:extLst><a:ext uri="{0D108BD9-81ED-4DB2-BD59-A6C34878D82A}"><a16:rowId xmlns:a16="http://schemas.microsoft.com/office/drawing/2014/main" val="720659489"/></a:ext></a:extLst></a:tr></a:tbl></a:graphicData></a:graphic></p:graphicFrame><p:sp><p:nvSpPr><p:cNvPr id="2" name="Flèche : droite 1"><a:hlinkClick r:id="" action="ppaction://hlinkshowjump?jump=nextslide"/><a:extLst><a:ext uri="{FF2B5EF4-FFF2-40B4-BE49-F238E27FC236}"><a16:creationId xmlns:a16="http://schemas.microsoft.com/office/drawing/2014/main" id="{85DF3C98-491D-1B47-D274-7D3912271737}"/></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BD637EE3-09EB-5267-AB5A-70218257D16A}"/></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827D2D4-3639-44DB-D1A3-DA2842237354}"/>
              </a:ext>
            </a:extLst>
          </p:cNvPr>
          <p:cNvPicPr>
            <a:picLocks noChangeAspect="1"/>
          </p:cNvPicPr>
          <p:nvPr/>
        </p:nvPicPr>
        <p:blipFill>
          <a:blip r:embed="rId2"/>
          <a:stretch>
            <a:fillRect/>
          </a:stretch>
        </p:blipFill>
        <p:spPr>
          <a:xfrm>
            <a:off x="0" y="193623"/>
            <a:ext cx="9144000" cy="2660754"/>
          </a:xfrm>
          <a:prstGeom prst="rect">
            <a:avLst/>
          </a:prstGeom>
        </p:spPr>
      </p:pic>
      <p:sp>
        <p:nvSpPr>
          <p:cNvPr id="7" name="ZoneTexte 6">
            <a:extLst>
              <a:ext uri="{FF2B5EF4-FFF2-40B4-BE49-F238E27FC236}">
                <a16:creationId xmlns:a16="http://schemas.microsoft.com/office/drawing/2014/main" id="{3C8850DC-469E-4F96-9EBB-38D9B643E40F}"/>
              </a:ext>
            </a:extLst>
          </p:cNvPr>
          <p:cNvSpPr txBox="1"/>
          <p:nvPr/>
        </p:nvSpPr>
        <p:spPr>
          <a:xfrm>
            <a:off x="1181100" y="3105834"/>
            <a:ext cx="7219950"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3.5 – Évolution de la confiance avec pondération temporelle </a:t>
            </a:r>
            <a:endParaRPr lang="fr-FR" dirty="0"/>
          </a:p>
        </p:txBody>
      </p:sp>
      <p:pic>
        <p:nvPicPr>
          <p:cNvPr id="9" name="Image 8">
            <a:extLst>
              <a:ext uri="{FF2B5EF4-FFF2-40B4-BE49-F238E27FC236}">
                <a16:creationId xmlns:a16="http://schemas.microsoft.com/office/drawing/2014/main" id="{F427F42C-E0B2-2AE8-ACFE-8BAD2487A121}"/>
              </a:ext>
            </a:extLst>
          </p:cNvPr>
          <p:cNvPicPr>
            <a:picLocks noChangeAspect="1"/>
          </p:cNvPicPr>
          <p:nvPr/>
        </p:nvPicPr>
        <p:blipFill>
          <a:blip r:embed="rId3"/>
          <a:stretch>
            <a:fillRect/>
          </a:stretch>
        </p:blipFill>
        <p:spPr>
          <a:xfrm>
            <a:off x="823912" y="3658489"/>
            <a:ext cx="7496175" cy="2709014"/>
          </a:xfrm>
          <a:prstGeom prst="rect">
            <a:avLst/>
          </a:prstGeom>
        </p:spPr>
      </p:pic>
      <p:sp>
        <p:nvSpPr>
          <p:cNvPr id="11" name="ZoneTexte 10">
            <a:extLst>
              <a:ext uri="{FF2B5EF4-FFF2-40B4-BE49-F238E27FC236}">
                <a16:creationId xmlns:a16="http://schemas.microsoft.com/office/drawing/2014/main" id="{315CB85E-FD26-9A38-F67D-302FE64E6813}"/>
              </a:ext>
            </a:extLst>
          </p:cNvPr>
          <p:cNvSpPr txBox="1"/>
          <p:nvPr/>
        </p:nvSpPr>
        <p:spPr>
          <a:xfrm>
            <a:off x="823912" y="6368187"/>
            <a:ext cx="7043738"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3.10 – Performances sous attaques simulées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4210537777"/>
      </p:ext>
    </p:extLst>
  </p:cSld>
  <p:clrMapOvr>
    <a:masterClrMapping/>
  </p:clrMapOvr>
</p:sld>
</file>

<file path=ppt/slides/slide19.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53C8CEA8-C0A3-1F0B-1799-B48774A8BADA}"/></a:ext></a:extLst></p:cNvPr><p:cNvSpPr txBox="1"/><p:nvPr/></p:nvSpPr><p:spPr><a:xfrm><a:off x="1008997" y="994911"/><a:ext cx="5750148" cy="1569660"/></a:xfrm><a:prstGeom prst="rect"><a:avLst/></a:prstGeom><a:noFill/></p:spPr><p:txBody><a:bodyPr wrap="square"><a:spAutoFit/></a:bodyPr><a:lstStyle/><a:p><a:r><a:rPr lang="fr-FR" sz="2400" dirty="0"/><a:t>🔋 </a:t></a:r><a:r><a:rPr lang="fr-FR" sz="2400" b="1" dirty="0"/><a:t>Consommation par paquet</a:t></a:r><a:br><a:rPr lang="fr-FR" sz="2400" dirty="0"/></a:br><a:r><a:rPr lang="fr-FR" sz="2400" dirty="0"/><a:t>📉 RPL standard : ~</a:t></a:r><a:r><a:rPr lang="fr-FR" sz="2400" b="1" dirty="0"/><a:t>1200 </a:t></a:r><a:r><a:rPr lang="fr-FR" sz="2400" b="1" dirty="0" err="1"/><a:t>mJ</a:t></a:r><a:r><a:rPr lang="fr-FR" sz="2400" b="1" dirty="0"/><a:t>/paquet</a:t></a:r><a:br><a:rPr lang="fr-FR" sz="2400" dirty="0"/></a:br><a:r><a:rPr lang="fr-FR" sz="2400" dirty="0"/><a:t>📉 AER-RPL : ~</a:t></a:r><a:r><a:rPr lang="fr-FR" sz="2400" b="1" dirty="0"/><a:t>780 </a:t></a:r><a:r><a:rPr lang="fr-FR" sz="2400" b="1" dirty="0" err="1"/><a:t>mJ</a:t></a:r><a:r><a:rPr lang="fr-FR" sz="2400" b="1" dirty="0"/><a:t>/paquet</a:t></a:r><a:br><a:rPr lang="fr-FR" sz="2400" dirty="0"/></a:br><a:r><a:rPr lang="fr-FR" sz="2400" dirty="0"/><a:t>✅ </a:t></a:r><a:r><a:rPr lang="fr-FR" sz="2400" b="1" dirty="0"/><a:t>Réduction : 35 %</a:t></a:r><a:endParaRPr lang="fr-FR" sz="2400" dirty="0"/></a:p></p:txBody></p:sp><p:sp><p:nvSpPr><p:cNvPr id="11" name="ZoneTexte 10"><a:extLst><a:ext uri="{FF2B5EF4-FFF2-40B4-BE49-F238E27FC236}"><a16:creationId xmlns:a16="http://schemas.microsoft.com/office/drawing/2014/main" id="{4607A9AE-E3B3-03DA-CAF4-0D194B4C1B31}"/></a:ext></a:extLst></p:cNvPr><p:cNvSpPr txBox="1"/><p:nvPr/></p:nvSpPr><p:spPr><a:xfrm><a:off x="1008997" y="2906249"/><a:ext cx="6463862" cy="1200329"/></a:xfrm><a:prstGeom prst="rect"><a:avLst/></a:prstGeom><a:noFill/></p:spPr><p:txBody><a:bodyPr wrap="square"><a:spAutoFit/></a:bodyPr><a:lstStyle/><a:p><a:r><a:rPr lang="fr-FR" sz="2400" dirty="0"/><a:t>⏳ </a:t></a:r><a:r><a:rPr lang="fr-FR" sz="2400" b="1" dirty="0"/><a:t>Durée de vie des nœuds</a:t></a:r><a:br><a:rPr lang="fr-FR" sz="2400" dirty="0"/></a:br><a:r><a:rPr lang="fr-FR" sz="2400" dirty="0"/><a:t>📈 </a:t></a:r><a:r><a:rPr lang="fr-FR" sz="2400" b="1" dirty="0"/><a:t>+40 %</a:t></a:r><a:r><a:rPr lang="fr-FR" sz="2400" dirty="0"/><a:t> en moyenne</a:t></a:r><a:br><a:rPr lang="fr-FR" sz="2400" dirty="0"/></a:br><a:r><a:rPr lang="fr-FR" sz="2400" dirty="0"/><a:t>📌 Exemple : </a:t></a:r><a:r><a:rPr lang="fr-FR" sz="2400" b="1" dirty="0"/><a:t>1 an → 1,4 an</a:t></a:r><a:r><a:rPr lang="fr-FR" sz="2400" dirty="0"/><a:t> (mêmes conditions)</a:t></a:r></a:p></p:txBody></p:sp><p:sp><p:nvSpPr><p:cNvPr id="13" name="ZoneTexte 12"><a:extLst><a:ext uri="{FF2B5EF4-FFF2-40B4-BE49-F238E27FC236}"><a16:creationId xmlns:a16="http://schemas.microsoft.com/office/drawing/2014/main" id="{2F12031D-4E33-F1E2-4E21-4FF7AB1F71EB}"/></a:ext></a:extLst></p:cNvPr><p:cNvSpPr txBox="1"/><p:nvPr/></p:nvSpPr><p:spPr><a:xfrm><a:off x="1008997" y="4376140"/><a:ext cx="5750148" cy="1938992"/></a:xfrm><a:prstGeom prst="rect"><a:avLst/></a:prstGeom><a:noFill/></p:spPr><p:txBody><a:bodyPr wrap="square"><a:spAutoFit/></a:bodyPr><a:lstStyle/><a:p><a:r><a:rPr lang="fr-FR" sz="2400" dirty="0"/><a:t>☀️ </a:t></a:r><a:r><a:rPr lang="fr-FR" sz="2400" b="1" dirty="0"/><a:t>Récupération d’énergie</a:t></a:r><a:br><a:rPr lang="fr-FR" sz="2400" dirty="0"/></a:br><a:r><a:rPr lang="fr-FR" sz="2400" dirty="0"/><a:t>🔌 </a:t></a:r><a:r><a:rPr lang="fr-FR" sz="2400" b="1" dirty="0"/><a:t>≈ 70 %</a:t></a:r><a:r><a:rPr lang="fr-FR" sz="2400" dirty="0"/><a:t> de l’énergie solaire exploitée</a:t></a:r><a:br><a:rPr lang="fr-FR" sz="2400" dirty="0"/></a:br><a:r><a:rPr lang="fr-FR" sz="2400" dirty="0"/><a:t>⚙️ Adaptation intelligente au contexte</a:t></a:r><a:br><a:rPr lang="fr-FR" sz="2400" dirty="0"/></a:br><a:r><a:rPr lang="fr-FR" sz="2400" dirty="0"/><a:t>🌾 Applications : agriculture de précision, surveillance environnementale</a:t></a:r></a:p></p:txBody></p:sp><p:grpSp><p:nvGrpSpPr><p:cNvPr id="4" name="Group 7584"><a:extLst><a:ext uri="{FF2B5EF4-FFF2-40B4-BE49-F238E27FC236}"><a16:creationId xmlns:a16="http://schemas.microsoft.com/office/drawing/2014/main" id="{682329CE-F168-A7DD-B431-F23813BC080C}"/></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88626137-C92B-A9F7-3EF8-B00804F3D75E}"/></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3C099743-3CA2-0131-7AC1-E5204F240F04}"/></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8A5BE7C3-C03D-49F3-0B38-116E3748CC8F}"/></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FCFD10F2-ED51-11FA-55A1-148311D8B0C3}"/></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2322D72C-1EFD-8369-6C6B-84C6CFB1E21E}"/></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92AAF5C8-B6B5-7D3E-19FF-12BD72072F4E}"/></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11/19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5" name="Groupe 14"><a:extLst><a:ext uri="{FF2B5EF4-FFF2-40B4-BE49-F238E27FC236}"><a16:creationId xmlns:a16="http://schemas.microsoft.com/office/drawing/2014/main" id="{F33A04BE-12B4-A15A-BC4B-6B9FEF8C1D07}"/></a:ext></a:extLst></p:cNvPr><p:cNvGrpSpPr/><p:nvPr/></p:nvGrpSpPr><p:grpSpPr><a:xfrm><a:off x="614" y="36384"/><a:ext cx="9506457" cy="684000"/><a:chOff x="1278079" y="1873024"/><a:chExt cx="8112235" cy="664616"/></a:xfrm><a:gradFill><a:gsLst><a:gs pos="0">val="162B40"/></a:gs><a:gs pos="48000">val="34495E"/></a:gs><a:gs pos="100000">val="177BBE"/></a:gs></a:gsLst><a:lin ang="0" scaled="1"/></a:gradFill></p:grpSpPr><p:pic><p:nvPicPr><p:cNvPr id="16" name="Picture 4" descr="logo.jpg"><a:extLst><a:ext uri="{FF2B5EF4-FFF2-40B4-BE49-F238E27FC236}"><a16:creationId xmlns:a16="http://schemas.microsoft.com/office/drawing/2014/main" id="{C2289E3A-3C52-D026-4222-0C28C7082110}"/></a:ext></a:extLst></p:cNvPr><p:cNvPicPr><a:picLocks noChangeAspect="1"/></p:cNvPicPr><p:nvPr/></p:nvPicPr><p:blipFill><a:blip r:embed="rId3"/><a:stretch><a:fillRect/></a:stretch></p:blipFill><p:spPr><a:xfrm><a:off x="7950314" y="1873025"/><a:ext cx="1440000" cy="664615"/></a:xfrm><a:prstGeom prst="rect"><a:avLst/></a:prstGeom><a:grpFill/></p:spPr></p:pic><p:sp><p:nvSpPr><p:cNvPr id="17" name="Rectangle 16"><a:extLst><a:ext uri="{FF2B5EF4-FFF2-40B4-BE49-F238E27FC236}"><a16:creationId xmlns:a16="http://schemas.microsoft.com/office/drawing/2014/main" id="{150D93E3-B977-B217-6B93-9BC49E142F7E}"/></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AER-RPL : Performances énergétiques</a:t></a:r></a:p></p:txBody></p:sp></p:grpSp><p:sp><p:nvSpPr><p:cNvPr id="2" name="Flèche : droite 1"><a:hlinkClick r:id="" action="ppaction://hlinkshowjump?jump=nextslide"/><a:extLst><a:ext uri="{FF2B5EF4-FFF2-40B4-BE49-F238E27FC236}"><a16:creationId xmlns:a16="http://schemas.microsoft.com/office/drawing/2014/main" id="{F6BF2E6D-8EF0-B3FC-216F-9B160660F807}"/></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9BEB5F2F-42F5-E046-5214-FA505B0AD7D9}"/></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73BA377-94DF-07D2-0C68-6FFB827FD5DA}"/>
              </a:ext>
            </a:extLst>
          </p:cNvPr>
          <p:cNvPicPr>
            <a:picLocks noChangeAspect="1"/>
          </p:cNvPicPr>
          <p:nvPr/>
        </p:nvPicPr>
        <p:blipFill>
          <a:blip r:embed="rId2"/>
          <a:stretch>
            <a:fillRect/>
          </a:stretch>
        </p:blipFill>
        <p:spPr>
          <a:xfrm>
            <a:off x="0" y="259517"/>
            <a:ext cx="8858250" cy="2708301"/>
          </a:xfrm>
          <a:prstGeom prst="rect">
            <a:avLst/>
          </a:prstGeom>
        </p:spPr>
      </p:pic>
      <p:sp>
        <p:nvSpPr>
          <p:cNvPr id="5" name="ZoneTexte 4">
            <a:extLst>
              <a:ext uri="{FF2B5EF4-FFF2-40B4-BE49-F238E27FC236}">
                <a16:creationId xmlns:a16="http://schemas.microsoft.com/office/drawing/2014/main" id="{51F3D1C2-CD4F-3FDA-C0F6-719EE55B7D13}"/>
              </a:ext>
            </a:extLst>
          </p:cNvPr>
          <p:cNvSpPr txBox="1"/>
          <p:nvPr/>
        </p:nvSpPr>
        <p:spPr>
          <a:xfrm>
            <a:off x="1981200" y="3059668"/>
            <a:ext cx="6400800"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3.9 – Comparaison de la consommation énergétique </a:t>
            </a:r>
            <a:endParaRPr lang="fr-FR" dirty="0"/>
          </a:p>
        </p:txBody>
      </p:sp>
      <p:pic>
        <p:nvPicPr>
          <p:cNvPr id="7" name="Image 6">
            <a:extLst>
              <a:ext uri="{FF2B5EF4-FFF2-40B4-BE49-F238E27FC236}">
                <a16:creationId xmlns:a16="http://schemas.microsoft.com/office/drawing/2014/main" id="{43E0BAA2-2040-5AF3-FB6C-7D4507901D85}"/>
              </a:ext>
            </a:extLst>
          </p:cNvPr>
          <p:cNvPicPr>
            <a:picLocks noChangeAspect="1"/>
          </p:cNvPicPr>
          <p:nvPr/>
        </p:nvPicPr>
        <p:blipFill>
          <a:blip r:embed="rId3"/>
          <a:stretch>
            <a:fillRect/>
          </a:stretch>
        </p:blipFill>
        <p:spPr>
          <a:xfrm>
            <a:off x="152400" y="3525819"/>
            <a:ext cx="8858249" cy="2708301"/>
          </a:xfrm>
          <a:prstGeom prst="rect">
            <a:avLst/>
          </a:prstGeom>
        </p:spPr>
      </p:pic>
      <p:sp>
        <p:nvSpPr>
          <p:cNvPr id="9" name="ZoneTexte 8">
            <a:extLst>
              <a:ext uri="{FF2B5EF4-FFF2-40B4-BE49-F238E27FC236}">
                <a16:creationId xmlns:a16="http://schemas.microsoft.com/office/drawing/2014/main" id="{0A0F9CFA-2F0F-6F06-E740-085438221074}"/>
              </a:ext>
            </a:extLst>
          </p:cNvPr>
          <p:cNvSpPr txBox="1"/>
          <p:nvPr/>
        </p:nvSpPr>
        <p:spPr>
          <a:xfrm>
            <a:off x="342900" y="6330456"/>
            <a:ext cx="8877300" cy="646331"/>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3.11 – Performances énergétiques d’AER-RPL montrant la réduction de consommation et l’efficacité de la récupération d’énergie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933154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604961D-6AE0-09DE-32F5-6221F4D6D40A}"/>
              </a:ext>
            </a:extLst>
          </p:cNvPr>
          <p:cNvPicPr>
            <a:picLocks noChangeAspect="1"/>
          </p:cNvPicPr>
          <p:nvPr/>
        </p:nvPicPr>
        <p:blipFill>
          <a:blip r:embed="rId2"/>
          <a:stretch>
            <a:fillRect/>
          </a:stretch>
        </p:blipFill>
        <p:spPr>
          <a:xfrm>
            <a:off x="0" y="633334"/>
            <a:ext cx="9144000" cy="2795666"/>
          </a:xfrm>
          <a:prstGeom prst="rect">
            <a:avLst/>
          </a:prstGeom>
        </p:spPr>
      </p:pic>
      <p:sp>
        <p:nvSpPr>
          <p:cNvPr id="5" name="ZoneTexte 4">
            <a:extLst>
              <a:ext uri="{FF2B5EF4-FFF2-40B4-BE49-F238E27FC236}">
                <a16:creationId xmlns:a16="http://schemas.microsoft.com/office/drawing/2014/main" id="{AB5BAE69-29D5-3F89-DACC-B3A109D17109}"/>
              </a:ext>
            </a:extLst>
          </p:cNvPr>
          <p:cNvSpPr txBox="1"/>
          <p:nvPr/>
        </p:nvSpPr>
        <p:spPr>
          <a:xfrm>
            <a:off x="704850" y="3810001"/>
            <a:ext cx="7924800"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3.7 – Efficacité de la récupération d’énergie solaire sur 24 heures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4220630998"/>
      </p:ext>
    </p:extLst>
  </p:cSld>
  <p:clrMapOvr>
    <a:masterClrMapping/>
  </p:clrMapOvr>
</p:sld>
</file>

<file path=ppt/slides/slide22.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C1291E9D-E2BC-DB6E-BC41-02EE60AAB2C4}"/></a:ext></a:extLst></p:cNvPr><p:cNvSpPr txBox="1"/><p:nvPr/></p:nvSpPr><p:spPr><a:xfrm><a:off x="551798" y="1128275"/><a:ext cx="6335852" cy="1569660"/></a:xfrm><a:prstGeom prst="rect"><a:avLst/></a:prstGeom><a:noFill/></p:spPr><p:txBody><a:bodyPr wrap="square"><a:spAutoFit/></a:bodyPr><a:lstStyle/><a:p><a:r><a:rPr lang="fr-FR" sz="2400" dirty="0"/><a:t>📊 </a:t></a:r><a:r><a:rPr lang="fr-FR" sz="2400" b="1" dirty="0"/><a:t>Campagne de simulation</a:t></a:r><a:br><a:rPr lang="fr-FR" sz="2400" dirty="0"/></a:br><a:r><a:rPr lang="fr-FR" sz="2400" dirty="0"/><a:t>🔢 </a:t></a:r><a:r><a:rPr lang="fr-FR" sz="2400" b="1" dirty="0"/><a:t>1200 simulations représentatives</a:t></a:r><a:br><a:rPr lang="fr-FR" sz="2400" dirty="0"/></a:br><a:r><a:rPr lang="fr-FR" sz="2400" dirty="0"/><a:t>🧮 Sélectionnées parmi </a:t></a:r><a:r><a:rPr lang="fr-FR" sz="2400" b="1" dirty="0"/><a:t>32 400 combinaisons</a:t></a:r><a:br><a:rPr lang="fr-FR" sz="2400" dirty="0"/></a:br><a:r><a:rPr lang="fr-FR" sz="2400" dirty="0"/><a:t>🎯 Focus sur </a:t></a:r><a:r><a:rPr lang="fr-FR" sz="2400" b="1" dirty="0"/><a:t>scénarios critiques</a:t></a:r><a:endParaRPr lang="fr-FR" sz="2400" dirty="0"/></a:p></p:txBody></p:sp><p:sp><p:nvSpPr><p:cNvPr id="11" name="ZoneTexte 10"><a:extLst><a:ext uri="{FF2B5EF4-FFF2-40B4-BE49-F238E27FC236}"><a16:creationId xmlns:a16="http://schemas.microsoft.com/office/drawing/2014/main" id="{B0F975B8-7E4C-A328-E215-C0428B36CEA0}"/></a:ext></a:extLst></p:cNvPr><p:cNvSpPr txBox="1"/><p:nvPr/></p:nvSpPr><p:spPr><a:xfrm><a:off x="551798" y="3065027"/><a:ext cx="7973380" cy="1569660"/></a:xfrm><a:prstGeom prst="rect"><a:avLst/></a:prstGeom><a:noFill/></p:spPr><p:txBody><a:bodyPr wrap="square"><a:spAutoFit/></a:bodyPr><a:lstStyle/><a:p><a:r><a:rPr lang="fr-FR" sz="2400" dirty="0"/><a:t>🖥️ </a:t></a:r><a:r><a:rPr lang="fr-FR" sz="2400" b="1" dirty="0"/><a:t>Environnement de simulation</a:t></a:r><a:br><a:rPr lang="fr-FR" sz="2400" dirty="0"/></a:br><a:r><a:rPr lang="fr-FR" sz="2400" dirty="0"/><a:t>⚙️ </a:t></a:r><a:r><a:rPr lang="fr-FR" sz="2400" b="1" dirty="0"/><a:t>Contiki-NG v4.8</a:t></a:r><a:br><a:rPr lang="fr-FR" sz="2400" dirty="0"/></a:br><a:r><a:rPr lang="fr-FR" sz="2400" dirty="0"/><a:t>🧪 </a:t></a:r><a:r><a:rPr lang="fr-FR" sz="2400" b="1" dirty="0"/><a:t>Cooja 3.0</a:t></a:r><a:br><a:rPr lang="fr-FR" sz="2400" dirty="0"/></a:br><a:r><a:rPr lang="fr-FR" sz="2400" dirty="0"/><a:t>📌 Plateforme de référence pour les protocoles IoT</a:t></a:r></a:p></p:txBody></p:sp><p:sp><p:nvSpPr><p:cNvPr id="13" name="ZoneTexte 12"><a:extLst><a:ext uri="{FF2B5EF4-FFF2-40B4-BE49-F238E27FC236}"><a16:creationId xmlns:a16="http://schemas.microsoft.com/office/drawing/2014/main" id="{D6A9AFE9-88A7-BEEE-A066-D60F8207D766}"/></a:ext></a:extLst></p:cNvPr><p:cNvSpPr txBox="1"/><p:nvPr/></p:nvSpPr><p:spPr><a:xfrm><a:off x="551798" y="4891424"/><a:ext cx="6335852" cy="1569660"/></a:xfrm><a:prstGeom prst="rect"><a:avLst/></a:prstGeom><a:noFill/></p:spPr><p:txBody><a:bodyPr wrap="square"><a:spAutoFit/></a:bodyPr><a:lstStyle/><a:p><a:r><a:rPr lang="fr-FR" sz="2400" dirty="0"/><a:t>🔌 </a:t></a:r><a:r><a:rPr lang="fr-FR" sz="2400" b="1" dirty="0"/><a:t>Plateformes matérielles</a:t></a:r><a:br><a:rPr lang="fr-FR" sz="2400" dirty="0"/></a:br><a:r><a:rPr lang="fr-FR" sz="2400" dirty="0"/><a:t>🟥 </a:t></a:r><a:r><a:rPr lang="fr-FR" sz="2400" b="1" dirty="0" err="1"/><a:t>Zolertia</a:t></a:r><a:r><a:rPr lang="fr-FR" sz="2400" b="1" dirty="0"/><a:t> </a:t></a:r><a:r><a:rPr lang="fr-FR" sz="2400" b="1" dirty="0" err="1"/><a:t>Firefly</a:t></a:r><a:r><a:rPr lang="fr-FR" sz="2400" dirty="0"/><a:t> : 32 KB RAM</a:t></a:r><a:br><a:rPr lang="fr-FR" sz="2400" dirty="0"/></a:br><a:r><a:rPr lang="fr-FR" sz="2400" dirty="0"/><a:t>🟦 </a:t></a:r><a:r><a:rPr lang="fr-FR" sz="2400" b="1" dirty="0"/><a:t>Sky </a:t></a:r><a:r><a:rPr lang="fr-FR" sz="2400" b="1" dirty="0" err="1"/><a:t>motes</a:t></a:r><a:r><a:rPr lang="fr-FR" sz="2400" dirty="0"/><a:t> : 8 KB RAM</a:t></a:r><a:br><a:rPr lang="fr-FR" sz="2400" dirty="0"/></a:br><a:r><a:rPr lang="fr-FR" sz="2400" dirty="0"/><a:t>✅ Représentatives des nœuds IoT réels</a:t></a:r></a:p></p:txBody></p:sp><p:grpSp><p:nvGrpSpPr><p:cNvPr id="4" name="Group 7584"><a:extLst><a:ext uri="{FF2B5EF4-FFF2-40B4-BE49-F238E27FC236}"><a16:creationId xmlns:a16="http://schemas.microsoft.com/office/drawing/2014/main" id="{2C030951-CBCB-A185-5474-AF439DA1DE20}"/></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678240F5-7E83-D50C-BFE4-521EE70099C1}"/></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72E22416-67A3-1A16-A02B-EB32D90A2966}"/></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BB22FCB3-CFA3-A9E4-F0F1-530CF8D24C47}"/></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8A08F75E-B0FA-CD25-ABFD-919FA50A41C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D39BB820-917F-AAD2-8ED1-4A5848E3B1B1}"/></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82E935AA-5B03-0004-B506-49855E2632A1}"/></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 2/19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5" name="Groupe 14"><a:extLst><a:ext uri="{FF2B5EF4-FFF2-40B4-BE49-F238E27FC236}"><a16:creationId xmlns:a16="http://schemas.microsoft.com/office/drawing/2014/main" id="{052A28B3-2B53-F11D-3ED2-8A72C69698F9}"/></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16" name="Picture 4" descr="logo.jpg"><a:extLst><a:ext uri="{FF2B5EF4-FFF2-40B4-BE49-F238E27FC236}"><a16:creationId xmlns:a16="http://schemas.microsoft.com/office/drawing/2014/main" id="{9B73CD52-887E-EA49-36B2-89A9252576CD}"/></a:ext></a:extLst></p:cNvPr><p:cNvPicPr><a:picLocks noChangeAspect="1"/></p:cNvPicPr><p:nvPr/></p:nvPicPr><p:blipFill><a:blip r:embed="rId3"/><a:stretch><a:fillRect/></a:stretch></p:blipFill><p:spPr><a:xfrm><a:off x="7950314" y="1873025"/><a:ext cx="1440000" cy="664615"/></a:xfrm><a:prstGeom prst="rect"><a:avLst/></a:prstGeom><a:grpFill/></p:spPr></p:pic><p:sp><p:nvSpPr><p:cNvPr id="17" name="Rectangle 16"><a:extLst><a:ext uri="{FF2B5EF4-FFF2-40B4-BE49-F238E27FC236}"><a16:creationId xmlns:a16="http://schemas.microsoft.com/office/drawing/2014/main" id="{204CF309-1F72-4C6D-4026-302E28BC7BB4}"/></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Méthodologie de validation</a:t></a:r></a:p></p:txBody></p:sp></p:grpSp><p:sp><p:nvSpPr><p:cNvPr id="2" name="Flèche : droite 1"><a:hlinkClick r:id="" action="ppaction://hlinkshowjump?jump=nextslide"/><a:extLst><a:ext uri="{FF2B5EF4-FFF2-40B4-BE49-F238E27FC236}"><a16:creationId xmlns:a16="http://schemas.microsoft.com/office/drawing/2014/main" id="{CE499806-BC92-6F6B-C402-AE219592B238}"/></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FEBEFD10-8FEE-6A64-1A45-26C82C4A8BC1}"/></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28C13F0-EAA8-701B-2CC4-8B1DA848ADED}"/>
              </a:ext>
            </a:extLst>
          </p:cNvPr>
          <p:cNvPicPr>
            <a:picLocks noChangeAspect="1"/>
          </p:cNvPicPr>
          <p:nvPr/>
        </p:nvPicPr>
        <p:blipFill>
          <a:blip r:embed="rId3"/>
          <a:stretch>
            <a:fillRect/>
          </a:stretch>
        </p:blipFill>
        <p:spPr>
          <a:xfrm>
            <a:off x="0" y="-562495"/>
            <a:ext cx="9144000" cy="4630189"/>
          </a:xfrm>
          <a:prstGeom prst="rect">
            <a:avLst/>
          </a:prstGeom>
        </p:spPr>
      </p:pic>
      <p:sp>
        <p:nvSpPr>
          <p:cNvPr id="5" name="ZoneTexte 4">
            <a:extLst>
              <a:ext uri="{FF2B5EF4-FFF2-40B4-BE49-F238E27FC236}">
                <a16:creationId xmlns:a16="http://schemas.microsoft.com/office/drawing/2014/main" id="{049446BA-6D65-39B7-2FE6-AFB28316F28A}"/>
              </a:ext>
            </a:extLst>
          </p:cNvPr>
          <p:cNvSpPr txBox="1"/>
          <p:nvPr/>
        </p:nvSpPr>
        <p:spPr>
          <a:xfrm>
            <a:off x="571500" y="4305985"/>
            <a:ext cx="8362950" cy="369332"/>
          </a:xfrm>
          <a:prstGeom prst="rect">
            <a:avLst/>
          </a:prstGeom>
          <a:noFill/>
        </p:spPr>
        <p:txBody>
          <a:bodyPr wrap="square">
            <a:spAutoFit/>
          </a:bodyPr>
          <a:lstStyle/>
          <a:p>
            <a:r>
              <a:rPr lang="fr-FR" sz="1800" b="0" i="1" u="none" strike="noStrike" baseline="0" dirty="0">
                <a:solidFill>val="1F487C"/&gt;</a:solidFill>
                <a:latin typeface="Palatino Linotype" panose="02040502050505030304" pitchFamily="18" charset="0"/>
              </a:rPr>
              <a:t>Fig. 4.1 – Stabilité des métriques pendant la phase d’échauffement </a:t>
            </a:r>
            <a:endParaRPr lang="fr-FR"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800727864"/>
      </p:ext>
    </p:extLst>
  </p:cSld>
  <p:clrMapOvr>
    <a:masterClrMapping/>
  </p:clrMapOvr>
</p:sld>
</file>

<file path=ppt/slides/slide24.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grpSp><p:nvGrpSpPr><p:cNvPr id="4" name="Group 7584"><a:extLst><a:ext uri="{FF2B5EF4-FFF2-40B4-BE49-F238E27FC236}"><a16:creationId xmlns:a16="http://schemas.microsoft.com/office/drawing/2014/main" id="{2C030951-CBCB-A185-5474-AF439DA1DE20}"/></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678240F5-7E83-D50C-BFE4-521EE70099C1}"/></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72E22416-67A3-1A16-A02B-EB32D90A2966}"/></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BB22FCB3-CFA3-A9E4-F0F1-530CF8D24C47}"/></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8A08F75E-B0FA-CD25-ABFD-919FA50A41C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D39BB820-917F-AAD2-8ED1-4A5848E3B1B1}"/></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82E935AA-5B03-0004-B506-49855E2632A1}"/></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 2/19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5" name="Groupe 14"><a:extLst><a:ext uri="{FF2B5EF4-FFF2-40B4-BE49-F238E27FC236}"><a16:creationId xmlns:a16="http://schemas.microsoft.com/office/drawing/2014/main" id="{052A28B3-2B53-F11D-3ED2-8A72C69698F9}"/></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16" name="Picture 4" descr="logo.jpg"><a:extLst><a:ext uri="{FF2B5EF4-FFF2-40B4-BE49-F238E27FC236}"><a16:creationId xmlns:a16="http://schemas.microsoft.com/office/drawing/2014/main" id="{9B73CD52-887E-EA49-36B2-89A9252576CD}"/></a:ext></a:extLst></p:cNvPr><p:cNvPicPr><a:picLocks noChangeAspect="1"/></p:cNvPicPr><p:nvPr/></p:nvPicPr><p:blipFill><a:blip r:embed="rId3"/><a:stretch><a:fillRect/></a:stretch></p:blipFill><p:spPr><a:xfrm><a:off x="7950314" y="1873025"/><a:ext cx="1440000" cy="664615"/></a:xfrm><a:prstGeom prst="rect"><a:avLst/></a:prstGeom><a:grpFill/></p:spPr></p:pic><p:sp><p:nvSpPr><p:cNvPr id="17" name="Rectangle 16"><a:extLst><a:ext uri="{FF2B5EF4-FFF2-40B4-BE49-F238E27FC236}"><a16:creationId xmlns:a16="http://schemas.microsoft.com/office/drawing/2014/main" id="{204CF309-1F72-4C6D-4026-302E28BC7BB4}"/></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latin typeface="Poppins"/></a:rPr><a:t>Synthèse comparative globale</a:t></a:r></a:p></p:txBody></p:sp></p:grpSp><p:sp><p:nvSpPr><p:cNvPr id="2" name="Flèche : droite 1"><a:hlinkClick r:id="" action="ppaction://hlinkshowjump?jump=nextslide"/><a:extLst><a:ext uri="{FF2B5EF4-FFF2-40B4-BE49-F238E27FC236}"><a16:creationId xmlns:a16="http://schemas.microsoft.com/office/drawing/2014/main" id="{CE499806-BC92-6F6B-C402-AE219592B238}"/></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FEBEFD10-8FEE-6A64-1A45-26C82C4A8BC1}"/></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pic><p:nvPicPr><p:cNvPr id="18" name="Image 17"><a:extLst><a:ext uri="{FF2B5EF4-FFF2-40B4-BE49-F238E27FC236}"><a16:creationId xmlns:a16="http://schemas.microsoft.com/office/drawing/2014/main" id="{CC19A17E-912D-AF31-C3EE-D0A44471F48B}"/></a:ext></a:extLst></p:cNvPr><p:cNvPicPr><a:picLocks noChangeAspect="1"/></p:cNvPicPr><p:nvPr/></p:nvPicPr><p:blipFill><a:blip r:embed="rId4"/><a:stretch><a:fillRect/></a:stretch></p:blipFill><p:spPr><a:xfrm><a:off x="1859611" y="823823"/><a:ext cx="5284140" cy="4345383"/></a:xfrm><a:prstGeom prst="rect"><a:avLst/></a:prstGeom></p:spPr></p:pic><p:sp><p:nvSpPr><p:cNvPr id="20" name="ZoneTexte 19"><a:extLst><a:ext uri="{FF2B5EF4-FFF2-40B4-BE49-F238E27FC236}"><a16:creationId xmlns:a16="http://schemas.microsoft.com/office/drawing/2014/main" id="{93180B04-8377-37B2-2DA2-92D16338D0C2}"/></a:ext></a:extLst></p:cNvPr><p:cNvSpPr txBox="1"/><p:nvPr/></p:nvSpPr><p:spPr><a:xfrm><a:off x="751422" y="5387846"/><a:ext cx="6906678" cy="369332"/></a:xfrm><a:prstGeom prst="rect"><a:avLst/></a:prstGeom><a:noFill/></p:spPr><p:txBody><a:bodyPr wrap="square"><a:spAutoFit/></a:bodyPr><a:lstStyle/><a:p><a:r><a:rPr lang="fr-FR" sz="1800" b="0" i="1" u="none" strike="noStrike" baseline="0" dirty="0"><a:solidFill>val="1F487C"/></a:solidFill><a:latin typeface="Palatino Linotype" panose="02040502050505030304" pitchFamily="18" charset="0"/></a:rPr><a:t>Fig. 4.2 – Résumé comparatif global des performances </a:t></a:r><a:endParaRPr lang="fr-FR" dirty="0"/></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extLst><p:ext uri="{BB962C8B-B14F-4D97-AF65-F5344CB8AC3E}"><p14:creationId xmlns:p14="http://schemas.microsoft.com/office/powerpoint/2010/main" val="1756445651"/></p:ext></p:extLst></p:cSld><p:clrMapOvr><a:masterClrMapping/></p:clrMapOvr></p:sld>
</file>

<file path=ppt/slides/slide25.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E8D7B2F5-FEA3-60FD-FA1D-D154746884B5}"/></a:ext></a:extLst></p:cNvPr><p:cNvSpPr txBox="1"/><p:nvPr/></p:nvSpPr><p:spPr><a:xfrm><a:off x="583329" y="922874"/><a:ext cx="6516137" cy="1569660"/></a:xfrm><a:prstGeom prst="rect"><a:avLst/></a:prstGeom><a:noFill/></p:spPr><p:txBody><a:bodyPr wrap="square"><a:spAutoFit/></a:bodyPr><a:lstStyle/><a:p><a:r><a:rPr lang="fr-FR" sz="2400" dirty="0"/><a:t>📊 </a:t></a:r><a:r><a:rPr lang="fr-FR" sz="2400" b="1" dirty="0"/><a:t>Topologies réseau</a:t></a:r><a:br><a:rPr lang="fr-FR" sz="2400" dirty="0"/></a:br><a:r><a:rPr lang="fr-FR" sz="2400" dirty="0"/><a:t>📐 Grilles régulières : </a:t></a:r><a:r><a:rPr lang="fr-FR" sz="2400" b="1" dirty="0"/><a:t>25 à 100 nœuds</a:t></a:r><a:br><a:rPr lang="fr-FR" sz="2400" dirty="0"/></a:br><a:r><a:rPr lang="fr-FR" sz="2400" dirty="0"/><a:t>🎲 Topologies aléatoires : </a:t></a:r><a:r><a:rPr lang="fr-FR" sz="2400" b="1" dirty="0"/><a:t>50×30 m à 500×500 m</a:t></a:r><a:br><a:rPr lang="fr-FR" sz="2400" dirty="0"/></a:br><a:r><a:rPr lang="fr-FR" sz="2400" dirty="0"/><a:t>🔀 Réseaux </a:t></a:r><a:r><a:rPr lang="fr-FR" sz="2400" b="1" dirty="0"/><a:t>structurés vs chaotiques</a:t></a:r><a:endParaRPr lang="fr-FR" sz="2400" dirty="0"/></a:p></p:txBody></p:sp><p:sp><p:nvSpPr><p:cNvPr id="11" name="ZoneTexte 10"><a:extLst><a:ext uri="{FF2B5EF4-FFF2-40B4-BE49-F238E27FC236}"><a16:creationId xmlns:a16="http://schemas.microsoft.com/office/drawing/2014/main" id="{CF33BBE7-B448-622F-E200-7AE2325E052D}"/></a:ext></a:extLst></p:cNvPr><p:cNvSpPr txBox="1"/><p:nvPr/></p:nvSpPr><p:spPr><a:xfrm><a:off x="583329" y="2764369"/><a:ext cx="5109243" cy="1569660"/></a:xfrm><a:prstGeom prst="rect"><a:avLst/></a:prstGeom><a:noFill/></p:spPr><p:txBody><a:bodyPr wrap="square"><a:spAutoFit/></a:bodyPr><a:lstStyle/><a:p><a:r><a:rPr lang="fr-FR" sz="2400" dirty="0"/><a:t>📊 </a:t></a:r><a:r><a:rPr lang="fr-FR" sz="2400" b="1" dirty="0"/><a:t>Modèles de trafic</a:t></a:r><a:br><a:rPr lang="fr-FR" sz="2400" dirty="0"/></a:br><a:r><a:rPr lang="fr-FR" sz="2400" dirty="0"/><a:t>⏱️ </a:t></a:r><a:r><a:rPr lang="fr-FR" sz="2400" b="1" dirty="0"/><a:t>CBR</a:t></a:r><a:r><a:rPr lang="fr-FR" sz="2400" dirty="0"/><a:t> (Constant Bit Rate)</a:t></a:r><a:br><a:rPr lang="fr-FR" sz="2400" dirty="0"/></a:br><a:r><a:rPr lang="fr-FR" sz="2400" dirty="0"/><a:t>🎲 </a:t></a:r><a:r><a:rPr lang="fr-FR" sz="2400" b="1" dirty="0"/><a:t>Loi de Poisson</a:t></a:r><a:br><a:rPr lang="fr-FR" sz="2400" dirty="0"/></a:br><a:r><a:rPr lang="fr-FR" sz="2400" dirty="0"/><a:t>⚡ </a:t></a:r><a:r><a:rPr lang="fr-FR" sz="2400" b="1" dirty="0"/><a:t>Trafic prioritaire</a:t></a:r><a:r><a:rPr lang="fr-FR" sz="2400" dirty="0"/><a:t> : classes </a:t></a:r><a:r><a:rPr lang="fr-FR" sz="2400" b="1" dirty="0"/><a:t>C0 à C3</a:t></a:r><a:endParaRPr lang="fr-FR" sz="2400" dirty="0"/></a:p></p:txBody></p:sp><p:sp><p:nvSpPr><p:cNvPr id="13" name="ZoneTexte 12"><a:extLst><a:ext uri="{FF2B5EF4-FFF2-40B4-BE49-F238E27FC236}"><a16:creationId xmlns:a16="http://schemas.microsoft.com/office/drawing/2014/main" id="{86070049-4D77-DF9D-DCD5-A9D186E47762}"/></a:ext></a:extLst></p:cNvPr><p:cNvSpPr txBox="1"/><p:nvPr/></p:nvSpPr><p:spPr><a:xfrm><a:off x="583329" y="4605865"/><a:ext cx="5133925" cy="1938992"/></a:xfrm><a:prstGeom prst="rect"><a:avLst/></a:prstGeom><a:noFill/></p:spPr><p:txBody><a:bodyPr wrap="square"><a:spAutoFit/></a:bodyPr><a:lstStyle/><a:p><a:r><a:rPr lang="fr-FR" sz="2400" dirty="0"/><a:t>📊 </a:t></a:r><a:r><a:rPr lang="fr-FR" sz="2400" b="1" dirty="0"/><a:t>Interférences radio</a:t></a:r><a:br><a:rPr lang="fr-FR" sz="2400" dirty="0"/></a:br><a:r><a:rPr lang="fr-FR" sz="2400" dirty="0"/><a:t>📶 </a:t></a:r><a:r><a:rPr lang="fr-FR" sz="2400" b="1" dirty="0"/><a:t>WiFi 2.4 GHz</a:t></a:r><a:br><a:rPr lang="fr-FR" sz="2400" dirty="0"/></a:br><a:r><a:rPr lang="fr-FR" sz="2400" dirty="0"/><a:t>🔵 </a:t></a:r><a:r><a:rPr lang="fr-FR" sz="2400" b="1" dirty="0"/><a:t>Bluetooth</a:t></a:r><a:br><a:rPr lang="fr-FR" sz="2400" dirty="0"/></a:br><a:r><a:rPr lang="fr-FR" sz="2400" dirty="0"/><a:t>📡 </a:t></a:r><a:r><a:rPr lang="fr-FR" sz="2400" b="1" dirty="0"/><a:t>Bruit gaussien</a:t></a:r><a:br><a:rPr lang="fr-FR" sz="2400" dirty="0"/></a:br><a:r><a:rPr lang="fr-FR" sz="2400" dirty="0"/><a:t>🏥🏭 Environnements bruyants</a:t></a:r></a:p></p:txBody></p:sp><p:grpSp><p:nvGrpSpPr><p:cNvPr id="4" name="Group 7584"><a:extLst><a:ext uri="{FF2B5EF4-FFF2-40B4-BE49-F238E27FC236}"><a16:creationId xmlns:a16="http://schemas.microsoft.com/office/drawing/2014/main" id="{415F04D9-AE2C-B621-420A-7AA35A7113C0}"/></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A7BE4A39-D277-95EA-3CDA-F66B3DD9D411}"/></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2DCE1BA4-3068-542C-CBBF-DE3922F8A963}"/></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7D89278B-0148-0906-6FE9-CA345A4F14A8}"/></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0C3C9F7D-BBE3-E154-598F-18A8E5966C3B}"/></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39B1B803-E49D-68BC-B5BD-C2F2285E554B}"/></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B41766C9-AD47-564A-3322-0E1D3AB2B156}"/></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13/19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5" name="Groupe 14"><a:extLst><a:ext uri="{FF2B5EF4-FFF2-40B4-BE49-F238E27FC236}"><a16:creationId xmlns:a16="http://schemas.microsoft.com/office/drawing/2014/main" id="{A1474C21-15DE-8B32-85DC-491D19040DF0}"/></a:ext></a:extLst></p:cNvPr><p:cNvGrpSpPr/><p:nvPr/></p:nvGrpSpPr><p:grpSpPr><a:xfrm><a:off x="614" y="-1716"/><a:ext cx="9506457" cy="684000"/><a:chOff x="1278079" y="1873024"/><a:chExt cx="8112235" cy="664616"/></a:xfrm><a:gradFill><a:gsLst><a:gs pos="0">val="162B40"/></a:gs><a:gs pos="48000">val="34495E"/></a:gs><a:gs pos="100000">val="177BBE"/></a:gs></a:gsLst><a:lin ang="0" scaled="1"/></a:gradFill></p:grpSpPr><p:pic><p:nvPicPr><p:cNvPr id="16" name="Picture 4" descr="logo.jpg"><a:extLst><a:ext uri="{FF2B5EF4-FFF2-40B4-BE49-F238E27FC236}"><a16:creationId xmlns:a16="http://schemas.microsoft.com/office/drawing/2014/main" id="{46113E64-65CE-F755-48D5-37983FD25956}"/></a:ext></a:extLst></p:cNvPr><p:cNvPicPr><a:picLocks noChangeAspect="1"/></p:cNvPicPr><p:nvPr/></p:nvPicPr><p:blipFill><a:blip r:embed="rId3"/><a:stretch><a:fillRect/></a:stretch></p:blipFill><p:spPr><a:xfrm><a:off x="7950314" y="1873025"/><a:ext cx="1440000" cy="664615"/></a:xfrm><a:prstGeom prst="rect"><a:avLst/></a:prstGeom><a:grpFill/></p:spPr></p:pic><p:sp><p:nvSpPr><p:cNvPr id="17" name="Rectangle 16"><a:extLst><a:ext uri="{FF2B5EF4-FFF2-40B4-BE49-F238E27FC236}"><a16:creationId xmlns:a16="http://schemas.microsoft.com/office/drawing/2014/main" id="{19905F0B-8F9E-2B40-7F8D-85EC6DB40166}"/></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Scénarios d'évaluation</a:t></a:r></a:p></p:txBody></p:sp></p:grpSp><p:sp><p:nvSpPr><p:cNvPr id="2" name="Flèche : droite 1"><a:hlinkClick r:id="" action="ppaction://hlinkshowjump?jump=nextslide"/><a:extLst><a:ext uri="{FF2B5EF4-FFF2-40B4-BE49-F238E27FC236}"><a16:creationId xmlns:a16="http://schemas.microsoft.com/office/drawing/2014/main" id="{D7351D7D-877C-4CAD-6017-C1FCDE2D259A}"/></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5F558FA0-08FE-8CA1-1F7E-1B8DD0400EA7}"/></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6.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FE3BFBD0-7721-6F5A-2D2C-67C06A55497A}"/></a:ext></a:extLst></p:cNvPr><p:cNvSpPr txBox="1"/><p:nvPr/></p:nvSpPr><p:spPr><a:xfrm><a:off x="914404" y="888587"/><a:ext cx="6948000" cy="1323439"/></a:xfrm><a:prstGeom prst="rect"><a:avLst/></a:prstGeom><a:noFill/></p:spPr><p:txBody><a:bodyPr wrap="square"><a:spAutoFit/></a:bodyPr><a:lstStyle/><a:p><a:r><a:rPr lang="fr-FR" sz="2000" dirty="0"/><a:t>📊 </a:t></a:r><a:r><a:rPr lang="fr-FR" sz="2000" b="1" dirty="0"/><a:t>Qualité de Service – RPLMQoS</a:t></a:r><a:br><a:rPr lang="fr-FR" sz="2000" dirty="0"/></a:br><a:r><a:rPr lang="fr-FR" sz="2000" dirty="0"/><a:t>✅ </a:t></a:r><a:r><a:rPr lang="fr-FR" sz="2000" b="1" dirty="0"/><a:t>PDR supérieur</a:t></a:r><a:r><a:rPr lang="fr-FR" sz="2000" dirty="0"/><a:t> à RPL, MQRPL, EQRPL</a:t></a:r><a:br><a:rPr lang="fr-FR" sz="2000" dirty="0"/></a:br><a:r><a:rPr lang="fr-FR" sz="2000" dirty="0"/><a:t>✅ </a:t></a:r><a:r><a:rPr lang="fr-FR" sz="2000" b="1" dirty="0"/><a:t>Latence minimale</a:t></a:r><a:r><a:rPr lang="fr-FR" sz="2000" dirty="0"/><a:t> pour flux critiques (C3)</a:t></a:r><a:br><a:rPr lang="fr-FR" sz="2000" dirty="0"/></a:br><a:r><a:rPr lang="fr-FR" sz="2000" dirty="0"/><a:t>✅ </a:t></a:r><a:r><a:rPr lang="fr-FR" sz="2000" b="1" dirty="0"/><a:t>Adaptation dynamique</a:t></a:r><a:r><a:rPr lang="fr-FR" sz="2000" dirty="0"/><a:t> (Q-learning)</a:t></a:r></a:p></p:txBody></p:sp><p:sp><p:nvSpPr><p:cNvPr id="11" name="ZoneTexte 10"><a:extLst><a:ext uri="{FF2B5EF4-FFF2-40B4-BE49-F238E27FC236}"><a16:creationId xmlns:a16="http://schemas.microsoft.com/office/drawing/2014/main" id="{988CF4F3-30AB-609F-1AC6-3F85F54EB613}"/></a:ext></a:extLst></p:cNvPr><p:cNvSpPr txBox="1"/><p:nvPr/></p:nvSpPr><p:spPr><a:xfrm><a:off x="914404" y="2293271"/><a:ext cx="6948000" cy="1323439"/></a:xfrm><a:prstGeom prst="rect"><a:avLst/></a:prstGeom><a:noFill/></p:spPr><p:txBody><a:bodyPr wrap="square"><a:spAutoFit/></a:bodyPr><a:lstStyle/><a:p><a:r><a:rPr lang="fr-FR" sz="2000" dirty="0"/><a:t>📊 </a:t></a:r><a:r><a:rPr lang="fr-FR" sz="2000" b="1" dirty="0"/><a:t>Sécurité &amp; Énergie – AER-RPL</a:t></a:r><a:br><a:rPr lang="fr-FR" sz="2000" dirty="0"/></a:br><a:r><a:rPr lang="fr-FR" sz="2000" dirty="0"/><a:t>✅ </a:t></a:r><a:r><a:rPr lang="fr-FR" sz="2000" b="1" dirty="0"/><a:t>Détection &gt; Trust-RPL</a:t></a:r><a:r><a:rPr lang="fr-FR" sz="2000" dirty="0"/><a:t> (+20 points)</a:t></a:r><a:br><a:rPr lang="fr-FR" sz="2000" dirty="0"/></a:br><a:r><a:rPr lang="fr-FR" sz="2000" dirty="0"/><a:t>✅ </a:t></a:r><a:r><a:rPr lang="fr-FR" sz="2000" b="1" dirty="0"/><a:t>Faux positifs très faibles</a:t></a:r><a:r><a:rPr lang="fr-FR" sz="2000" dirty="0"/><a:t> (÷3)</a:t></a:r><a:br><a:rPr lang="fr-FR" sz="2000" dirty="0"/></a:br><a:r><a:rPr lang="fr-FR" sz="2000" dirty="0"/><a:t>✅ </a:t></a:r><a:r><a:rPr lang="fr-FR" sz="2000" b="1" dirty="0"/><a:t>Consommation réduite</a:t></a:r><a:r><a:rPr lang="fr-FR" sz="2000" dirty="0"/><a:t> (−35 % vs RPL)</a:t></a:r></a:p></p:txBody></p:sp><p:sp><p:nvSpPr><p:cNvPr id="13" name="ZoneTexte 12"><a:extLst><a:ext uri="{FF2B5EF4-FFF2-40B4-BE49-F238E27FC236}"><a16:creationId xmlns:a16="http://schemas.microsoft.com/office/drawing/2014/main" id="{4EEDBEFE-72B2-1C79-CA60-2D64883A868B}"/></a:ext></a:extLst></p:cNvPr><p:cNvSpPr txBox="1"/><p:nvPr/></p:nvSpPr><p:spPr><a:xfrm><a:off x="914404" y="3888704"/><a:ext cx="6948000" cy="1015663"/></a:xfrm><a:prstGeom prst="rect"><a:avLst/></a:prstGeom><a:noFill/></p:spPr><p:txBody><a:bodyPr wrap="square"><a:spAutoFit/></a:bodyPr><a:lstStyle/><a:p><a:r><a:rPr lang="fr-FR" sz="2000" dirty="0"/><a:t>📊 </a:t></a:r><a:r><a:rPr lang="fr-FR" sz="2000" b="1" dirty="0"/><a:t>Approche globale (holistique)</a:t></a:r><a:br><a:rPr lang="fr-FR" sz="2000" dirty="0"/></a:br><a:r><a:rPr lang="fr-FR" sz="2000" dirty="0"/><a:t>Combinaison simultanée :</a:t></a:r><a:br><a:rPr lang="fr-FR" sz="2000" dirty="0"/></a:br><a:r><a:rPr lang="fr-FR" sz="2000" b="1" dirty="0"/><a:t>PDR × Latence × Énergie × Sécurité</a:t></a:r><a:endParaRPr lang="fr-FR" sz="2000" dirty="0"/></a:p></p:txBody></p:sp><p:sp><p:nvSpPr><p:cNvPr id="15" name="ZoneTexte 14"><a:extLst><a:ext uri="{FF2B5EF4-FFF2-40B4-BE49-F238E27FC236}"><a16:creationId xmlns:a16="http://schemas.microsoft.com/office/drawing/2014/main" id="{E465774E-EF32-BA5A-3E3F-CB6FA71354F6}"/></a:ext></a:extLst></p:cNvPr><p:cNvSpPr txBox="1"/><p:nvPr/></p:nvSpPr><p:spPr><a:xfrm><a:off x="914404" y="5207137"/><a:ext cx="6948000" cy="1015663"/></a:xfrm><a:prstGeom prst="rect"><a:avLst/></a:prstGeom><a:noFill/></p:spPr><p:txBody><a:bodyPr wrap="square"><a:spAutoFit/></a:bodyPr><a:lstStyle/><a:p><a:r><a:rPr lang="fr-FR" sz="2000" dirty="0"/><a:t>📊 </a:t></a:r><a:r><a:rPr lang="fr-FR" sz="2000" b="1" dirty="0"/><a:t>Validation scientifique</a:t></a:r><a:br><a:rPr lang="fr-FR" sz="2000" dirty="0"/></a:br><a:r><a:rPr lang="fr-FR" sz="2000" dirty="0"/><a:t>Tests statistiques rigoureux</a:t></a:r><a:br><a:rPr lang="fr-FR" sz="2000" dirty="0"/></a:br><a:r><a:rPr lang="fr-FR" sz="2000" b="1" dirty="0"/><a:t>p &lt; 0,001</a:t></a:r><a:endParaRPr lang="fr-FR" sz="2000" dirty="0"/></a:p></p:txBody></p:sp><p:grpSp><p:nvGrpSpPr><p:cNvPr id="4" name="Group 7584"><a:extLst><a:ext uri="{FF2B5EF4-FFF2-40B4-BE49-F238E27FC236}"><a16:creationId xmlns:a16="http://schemas.microsoft.com/office/drawing/2014/main" id="{FD57EC32-C720-205B-8FCF-F1BE4BBA79BD}"/></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82BBC2DC-3141-23ED-7256-0A4EF9433539}"/></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ADF96653-CD07-4C84-514B-B267D269076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D1F0E57E-374A-3B92-D8A5-F6C75AE4712D}"/></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876716C2-5BDF-63DE-D9CD-FEEC2BCC6088}"/></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59BED2C4-D63F-5891-F9EA-EB71C9E4C9D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5FBE73C3-F105-E1C4-7647-8AD5EAD7AB6A}"/></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14/19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22E484ED-3AFF-9E2F-1D47-D84FBAEBD6EB}"/></a:ext></a:extLst></p:cNvPr><p:cNvGrpSpPr/><p:nvPr/></p:nvGrpSpPr><p:grpSpPr><a:xfrm><a:off x="614" y="17334"/><a:ext cx="9506457" cy="684000"/><a:chOff x="1278079" y="1873024"/><a:chExt cx="811223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CC7D64EC-4469-C888-5F18-FE2546B76BDC}"/></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2C4A0F9E-19CE-BC6F-1F87-F80508372D05}"/></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Comparaison état de l'art</a:t></a:r></a:p></p:txBody></p:sp></p:grpSp><p:sp><p:nvSpPr><p:cNvPr id="2" name="Flèche : droite 1"><a:hlinkClick r:id="" action="ppaction://hlinkshowjump?jump=nextslide"/><a:extLst><a:ext uri="{FF2B5EF4-FFF2-40B4-BE49-F238E27FC236}"><a16:creationId xmlns:a16="http://schemas.microsoft.com/office/drawing/2014/main" id="{FEDDE5BE-2054-5509-5F23-DB8343AF5C4D}"/></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F40E7811-8C46-F74D-D194-F360DA567E09}"/></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7.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8" name="ZoneTexte 7"><a:extLst><a:ext uri="{FF2B5EF4-FFF2-40B4-BE49-F238E27FC236}"><a16:creationId xmlns:a16="http://schemas.microsoft.com/office/drawing/2014/main" id="{0C269B1B-63AF-2443-59AA-DA1F5FBD3D8D}"/></a:ext></a:extLst></p:cNvPr><p:cNvSpPr txBox="1"/><p:nvPr/></p:nvSpPr><p:spPr><a:xfrm><a:off x="567562" y="765846"/><a:ext cx="6287902" cy="1323439"/></a:xfrm><a:prstGeom prst="rect"><a:avLst/></a:prstGeom><a:noFill/></p:spPr><p:txBody><a:bodyPr wrap="square"><a:spAutoFit/></a:bodyPr><a:lstStyle/><a:p><a:r><a:rPr lang="fr-FR" sz="2000" dirty="0"/><a:t>📊 </a:t></a:r><a:r><a:rPr lang="fr-FR" sz="2000" b="1" dirty="0"/><a:t>Vérification des hypothèses</a:t></a:r><a:br><a:rPr lang="fr-FR" sz="2000" dirty="0"/></a:br><a:r><a:rPr lang="fr-FR" sz="2000" dirty="0"/><a:t>Normalité des distributions</a:t></a:r><a:br><a:rPr lang="fr-FR" sz="2000" dirty="0"/></a:br><a:r><a:rPr lang="fr-FR" sz="2000" dirty="0"/><a:t>Homogénéité des variances</a:t></a:r><a:br><a:rPr lang="fr-FR" sz="2000" dirty="0"/></a:br><a:r><a:rPr lang="fr-FR" sz="2000" dirty="0"/><a:t>Hypothèses validées</a:t></a:r></a:p></p:txBody></p:sp><p:sp><p:nvSpPr><p:cNvPr id="10" name="ZoneTexte 9"><a:extLst><a:ext uri="{FF2B5EF4-FFF2-40B4-BE49-F238E27FC236}"><a16:creationId xmlns:a16="http://schemas.microsoft.com/office/drawing/2014/main" id="{38166E52-8C26-090F-7C8B-5C908AFDC00D}"/></a:ext></a:extLst></p:cNvPr><p:cNvSpPr txBox="1"/><p:nvPr/></p:nvSpPr><p:spPr><a:xfrm><a:off x="567562" y="2296115"/><a:ext cx="6287902" cy="1323439"/></a:xfrm><a:prstGeom prst="rect"><a:avLst/></a:prstGeom><a:noFill/></p:spPr><p:txBody><a:bodyPr wrap="square"><a:spAutoFit/></a:bodyPr><a:lstStyle/><a:p><a:r><a:rPr lang="fr-FR" sz="2000" dirty="0"/><a:t>📊 </a:t></a:r><a:r><a:rPr lang="fr-FR" sz="2000" b="1" dirty="0"/><a:t>Tests statistiques appliqués</a:t></a:r><a:br><a:rPr lang="fr-FR" sz="2000" dirty="0"/></a:br><a:r><a:rPr lang="fr-FR" sz="2000" dirty="0"/><a:t>t de </a:t></a:r><a:r><a:rPr lang="fr-FR" sz="2000" dirty="0" err="1"/><a:t>Student</a:t></a:r><a:r><a:rPr lang="fr-FR" sz="2000" dirty="0"/><a:t> (comparaisons deux à deux)</a:t></a:r><a:br><a:rPr lang="fr-FR" sz="2000" dirty="0"/></a:br><a:r><a:rPr lang="fr-FR" sz="2000" dirty="0"/><a:t>ANOVA (comparaisons multiples)</a:t></a:r><a:br><a:rPr lang="fr-FR" sz="2000" dirty="0"/></a:br><a:r><a:rPr lang="fr-FR" sz="2000" b="1" dirty="0"/><a:t>p &lt; 0,001</a:t></a:r><a:r><a:rPr lang="fr-FR" sz="2000" dirty="0"/><a:t> (hautement significatif)</a:t></a:r></a:p></p:txBody></p:sp><p:sp><p:nvSpPr><p:cNvPr id="12" name="ZoneTexte 11"><a:extLst><a:ext uri="{FF2B5EF4-FFF2-40B4-BE49-F238E27FC236}"><a16:creationId xmlns:a16="http://schemas.microsoft.com/office/drawing/2014/main" id="{D9186929-E3EA-5B7C-05DC-5F82801A9E9C}"/></a:ext></a:extLst></p:cNvPr><p:cNvSpPr txBox="1"/><p:nvPr/></p:nvSpPr><p:spPr><a:xfrm><a:off x="567562" y="3857916"/><a:ext cx="6287902" cy="1015663"/></a:xfrm><a:prstGeom prst="rect"><a:avLst/></a:prstGeom><a:noFill/></p:spPr><p:txBody><a:bodyPr wrap="square"><a:spAutoFit/></a:bodyPr><a:lstStyle/><a:p><a:r><a:rPr lang="fr-FR" sz="2000" dirty="0"/><a:t>📊 </a:t></a:r><a:r><a:rPr lang="fr-FR" sz="2000" b="1" dirty="0"/><a:t>Taille d’effet</a:t></a:r><a:br><a:rPr lang="fr-FR" sz="2000" dirty="0"/></a:br><a:r><a:rPr lang="fr-FR" sz="2000" dirty="0" err="1"/><a:t>Cohen’s</a:t></a:r><a:r><a:rPr lang="fr-FR" sz="2000" dirty="0"/><a:t> d &gt; 0,8</a:t></a:r><a:br><a:rPr lang="fr-FR" sz="2000" dirty="0"/></a:br><a:r><a:rPr lang="fr-FR" sz="2000" dirty="0"/><a:t>Effet </a:t></a:r><a:r><a:rPr lang="fr-FR" sz="2000" b="1" dirty="0"/><a:t>fort</a:t></a:r><a:r><a:rPr lang="fr-FR" sz="2000" dirty="0"/><a:t> et non négligeable</a:t></a:r></a:p></p:txBody></p:sp><p:sp><p:nvSpPr><p:cNvPr id="14" name="ZoneTexte 13"><a:extLst><a:ext uri="{FF2B5EF4-FFF2-40B4-BE49-F238E27FC236}"><a16:creationId xmlns:a16="http://schemas.microsoft.com/office/drawing/2014/main" id="{D58EF56A-0EF1-82E2-D571-AF912F3843F9}"/></a:ext></a:extLst></p:cNvPr><p:cNvSpPr txBox="1"/><p:nvPr/></p:nvSpPr><p:spPr><a:xfrm><a:off x="567562" y="5016590"/><a:ext cx="6287902" cy="1323439"/></a:xfrm><a:prstGeom prst="rect"><a:avLst/></a:prstGeom><a:noFill/></p:spPr><p:txBody><a:bodyPr wrap="square"><a:spAutoFit/></a:bodyPr><a:lstStyle/><a:p><a:r><a:rPr lang="fr-FR" sz="2000" dirty="0"/><a:t>📊 </a:t></a:r><a:r><a:rPr lang="fr-FR" sz="2000" b="1" dirty="0"/><a:t>Puissance statistique</a:t></a:r><a:br><a:rPr lang="fr-FR" sz="2000" dirty="0"/></a:br><a:r><a:rPr lang="fr-FR" sz="2000" dirty="0"/><a:t>1200 simulations</a:t></a:r><a:br><a:rPr lang="fr-FR" sz="2000" dirty="0"/></a:br><a:r><a:rPr lang="fr-FR" sz="2000" dirty="0"/><a:t>Puissance &gt; 0,9</a:t></a:r><a:br><a:rPr lang="fr-FR" sz="2000" dirty="0"/></a:br><a:r><a:rPr lang="fr-FR" sz="2000" dirty="0"/><a:t>Confiance élevée dans les résultats</a:t></a:r></a:p></p:txBody></p:sp><p:grpSp><p:nvGrpSpPr><p:cNvPr id="4" name="Group 7584"><a:extLst><a:ext uri="{FF2B5EF4-FFF2-40B4-BE49-F238E27FC236}"><a16:creationId xmlns:a16="http://schemas.microsoft.com/office/drawing/2014/main" id="{4E120319-2ACC-F9F8-3E19-D34068AF250E}"/></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337EEEE4-AE9C-2F1B-3D83-BEB8C5C49641}"/></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89C8E83D-6015-39AB-CB54-6FF852AE877E}"/></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9" name="Shape 7944"><a:extLst><a:ext uri="{FF2B5EF4-FFF2-40B4-BE49-F238E27FC236}"><a16:creationId xmlns:a16="http://schemas.microsoft.com/office/drawing/2014/main" id="{8BB67536-D248-2F5F-82E7-C9F2F094ABBE}"/></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1" name="Rectangle 10"><a:extLst><a:ext uri="{FF2B5EF4-FFF2-40B4-BE49-F238E27FC236}"><a16:creationId xmlns:a16="http://schemas.microsoft.com/office/drawing/2014/main" id="{4EA80797-B9F7-9671-B213-97A426E38228}"/></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3" name="Shape 7963"><a:extLst><a:ext uri="{FF2B5EF4-FFF2-40B4-BE49-F238E27FC236}"><a16:creationId xmlns:a16="http://schemas.microsoft.com/office/drawing/2014/main" id="{8D164C99-7D14-353B-D0C7-706659DD655A}"/></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5" name="Rectangle 14"><a:extLst><a:ext uri="{FF2B5EF4-FFF2-40B4-BE49-F238E27FC236}"><a16:creationId xmlns:a16="http://schemas.microsoft.com/office/drawing/2014/main" id="{2405946E-5A24-0A07-FAA3-571CD49B12F9}"/></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15/19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78DCE55E-6E4C-D372-6480-E8DE6F1417F4}"/></a:ext></a:extLst></p:cNvPr><p:cNvGrpSpPr/><p:nvPr/></p:nvGrpSpPr><p:grpSpPr><a:xfrm><a:off x="614" y="36384"/><a:ext cx="9506457" cy="684000"/><a:chOff x="1278079" y="1873024"/><a:chExt cx="811223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CFC3349C-5781-D2CF-4A0E-21808EDC0CBA}"/></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EE5329E1-FB19-44AF-4C11-65AFC4E9CDBA}"/></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Validation statistique des résultats</a:t></a:r></a:p></p:txBody></p:sp></p:grpSp><p:sp><p:nvSpPr><p:cNvPr id="2" name="Flèche : droite 1"><a:hlinkClick r:id="" action="ppaction://hlinkshowjump?jump=nextslide"/><a:extLst><a:ext uri="{FF2B5EF4-FFF2-40B4-BE49-F238E27FC236}"><a16:creationId xmlns:a16="http://schemas.microsoft.com/office/drawing/2014/main" id="{F636D417-70C1-20CD-F169-540C80659EAA}"/></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722EDB23-C002-F0A5-DAFB-F8DFDF36EC46}"/></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8.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15F3EA55-0878-3885-F9E7-C3497592BBD3}"/></a:ext></a:extLst></p:cNvPr><p:cNvSpPr txBox="1"/><p:nvPr/></p:nvSpPr><p:spPr><a:xfrm><a:off x="331086" y="1118521"/><a:ext cx="7973380" cy="1631216"/></a:xfrm><a:prstGeom prst="rect"><a:avLst/></a:prstGeom><a:noFill/></p:spPr><p:txBody><a:bodyPr wrap="square"><a:spAutoFit/></a:bodyPr><a:lstStyle/><a:p><a:r><a:rPr lang="fr-FR" sz="2000" dirty="0"/><a:t>⚠️ </a:t></a:r><a:r><a:rPr lang="fr-FR" sz="2000" b="1" dirty="0"/><a:t>1. Overhead mémoire</a:t></a:r><a:br><a:rPr lang="fr-FR" sz="2000" dirty="0"/></a:br><a:r><a:rPr lang="fr-FR" sz="2000" dirty="0"/><a:t>RPLMQoS : </a:t></a:r><a:r><a:rPr lang="fr-FR" sz="2000" b="1" dirty="0"/><a:t>+4,2 KB</a:t></a:r><a:br><a:rPr lang="fr-FR" sz="2000" dirty="0"/></a:br><a:r><a:rPr lang="fr-FR" sz="2000" dirty="0"/><a:t>AER-RPL : </a:t></a:r><a:r><a:rPr lang="fr-FR" sz="2000" b="1" dirty="0"/><a:t>+5,1 KB</a:t></a:r><a:endParaRPr lang="fr-FR" sz="2000" dirty="0"/></a:p><a:p><a:r><a:rPr lang="fr-FR" sz="2000" dirty="0"/><a:t>✅ Acceptable sur plateformes </a:t></a:r><a:r><a:rPr lang="fr-FR" sz="2000" b="1" dirty="0"/><a:t>≥ 32 KB RAM</a:t></a:r><a:br><a:rPr lang="fr-FR" sz="2000" dirty="0"/></a:br><a:r><a:rPr lang="fr-FR" sz="2000" dirty="0"/><a:t>⚠️ Contraignant sur </a:t></a:r><a:r><a:rPr lang="fr-FR" sz="2000" b="1" dirty="0"/><a:t>8 KB RAM</a:t></a:r><a:r><a:rPr lang="fr-FR" sz="2000" dirty="0"/><a:t> → optimisation requise</a:t></a:r></a:p></p:txBody></p:sp><p:sp><p:nvSpPr><p:cNvPr id="11" name="ZoneTexte 10"><a:extLst><a:ext uri="{FF2B5EF4-FFF2-40B4-BE49-F238E27FC236}"><a16:creationId xmlns:a16="http://schemas.microsoft.com/office/drawing/2014/main" id="{5ABC9255-5593-9482-A83D-E95AA232F4C0}"/></a:ext></a:extLst></p:cNvPr><p:cNvSpPr txBox="1"/><p:nvPr/></p:nvSpPr><p:spPr><a:xfrm><a:off x="331086" y="2975931"/><a:ext cx="7159082" cy="1323439"/></a:xfrm><a:prstGeom prst="rect"><a:avLst/></a:prstGeom><a:noFill/></p:spPr><p:txBody><a:bodyPr wrap="square"><a:spAutoFit/></a:bodyPr><a:lstStyle/><a:p><a:r><a:rPr lang="fr-FR" sz="2000" dirty="0"/><a:t>⚠️ </a:t></a:r><a:r><a:rPr lang="fr-FR" sz="2000" b="1" dirty="0"/><a:t>2. Récupération d’énergie</a:t></a:r><a:br><a:rPr lang="fr-FR" sz="2000" dirty="0"/></a:br><a:r><a:rPr lang="fr-FR" sz="2000" dirty="0"/><a:t>Dépend des </a:t></a:r><a:r><a:rPr lang="fr-FR" sz="2000" b="1" dirty="0"/><a:t>conditions d’éclairage</a:t></a:r><a:br><a:rPr lang="fr-FR" sz="2000" dirty="0"/></a:br><a:r><a:rPr lang="fr-FR" sz="2000" dirty="0"/><a:t>Gains réduits en environnements </a:t></a:r><a:r><a:rPr lang="fr-FR" sz="2000" b="1" dirty="0"/><a:t>ombragés ou fermés</a:t></a:r><a:br><a:rPr lang="fr-FR" sz="2000" dirty="0"/></a:br><a:r><a:rPr lang="fr-FR" sz="2000" dirty="0"/><a:t>Performances optimales en </a:t></a:r><a:r><a:rPr lang="fr-FR" sz="2000" b="1" dirty="0"/><a:t>extérieur</a:t></a:r><a:endParaRPr lang="fr-FR" sz="2000" dirty="0"/></a:p></p:txBody></p:sp><p:sp><p:nvSpPr><p:cNvPr id="13" name="ZoneTexte 12"><a:extLst><a:ext uri="{FF2B5EF4-FFF2-40B4-BE49-F238E27FC236}"><a16:creationId xmlns:a16="http://schemas.microsoft.com/office/drawing/2014/main" id="{71E89B5C-A267-C7B4-051D-B99BBA1AB504}"/></a:ext></a:extLst></p:cNvPr><p:cNvSpPr txBox="1"/><p:nvPr/></p:nvSpPr><p:spPr><a:xfrm><a:off x="331086" y="4479448"/><a:ext cx="5738648" cy="1015663"/></a:xfrm><a:prstGeom prst="rect"><a:avLst/></a:prstGeom><a:noFill/></p:spPr><p:txBody><a:bodyPr wrap="square"><a:spAutoFit/></a:bodyPr><a:lstStyle/><a:p><a:r><a:rPr lang="fr-FR" sz="2000" dirty="0"/><a:t>⚠️ </a:t></a:r><a:r><a:rPr lang="fr-FR" sz="2000" b="1" dirty="0"/><a:t>3. Validation expérimentale</a:t></a:r><a:br><a:rPr lang="fr-FR" sz="2000" dirty="0"/></a:br><a:r><a:rPr lang="fr-FR" sz="2000" dirty="0"/><a:t>Résultats principalement en </a:t></a:r><a:r><a:rPr lang="fr-FR" sz="2000" b="1" dirty="0"/><a:t>simulation (Cooja)</a:t></a:r><a:br><a:rPr lang="fr-FR" sz="2000" dirty="0"/></a:br><a:r><a:rPr lang="fr-FR" sz="2000" dirty="0"/><a:t>Validation sur </a:t></a:r><a:r><a:rPr lang="fr-FR" sz="2000" b="1" dirty="0"/><a:t>banc réel</a:t></a:r><a:r><a:rPr lang="fr-FR" sz="2000" dirty="0"/><a:t> à réaliser</a:t></a:r></a:p></p:txBody></p:sp><p:sp><p:nvSpPr><p:cNvPr id="15" name="ZoneTexte 14"><a:extLst><a:ext uri="{FF2B5EF4-FFF2-40B4-BE49-F238E27FC236}"><a16:creationId xmlns:a16="http://schemas.microsoft.com/office/drawing/2014/main" id="{13253BAB-7805-8467-2483-65E07EB3DE58}"/></a:ext></a:extLst></p:cNvPr><p:cNvSpPr txBox="1"/><p:nvPr/></p:nvSpPr><p:spPr><a:xfrm><a:off x="331086" y="5775710"/><a:ext cx="8148754" cy="707886"/></a:xfrm><a:prstGeom prst="rect"><a:avLst/></a:prstGeom><a:noFill/></p:spPr><p:txBody><a:bodyPr wrap="square"><a:spAutoFit/></a:bodyPr><a:lstStyle/><a:p><a:r><a:rPr lang="fr-FR" sz="2000" dirty="0"/><a:t>💡 </a:t></a:r><a:r><a:rPr lang="fr-FR" sz="2000" b="1" dirty="0"/><a:t>Message clé</a:t></a:r><a:br><a:rPr lang="fr-FR" sz="2000" dirty="0"/></a:br><a:r><a:rPr lang="fr-FR" sz="2000" dirty="0"/><a:t>Limitations connues, maîtrisées et ouvrant des perspectives d’amélioration.</a:t></a:r></a:p></p:txBody></p:sp><p:grpSp><p:nvGrpSpPr><p:cNvPr id="4" name="Group 7584"><a:extLst><a:ext uri="{FF2B5EF4-FFF2-40B4-BE49-F238E27FC236}"><a16:creationId xmlns:a16="http://schemas.microsoft.com/office/drawing/2014/main" id="{D270BA49-F517-1EF1-B192-4037284376DF}"/></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A5858AAD-E409-FE04-5A98-2877F4B7475D}"/></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D991C22B-5432-C5A3-90D5-CE3E02CADD9A}"/></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9B7AB5AC-21E7-3DAA-A3C3-F91260D1E84B}"/></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F39DECC1-9AF2-0390-27E6-890F5E1195F2}"/></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B241E25B-E336-FBB9-6B5D-E6E3BBAE077B}"/></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8C0DE7AB-C8C4-2FEC-E15B-709BB4D72438}"/></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16/19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24E03AAF-CBDF-845E-5750-5FD8D91B9C63}"/></a:ext></a:extLst></p:cNvPr><p:cNvGrpSpPr/><p:nvPr/></p:nvGrpSpPr><p:grpSpPr><a:xfrm><a:off x="614" y="36384"/><a:ext cx="9506457" cy="684000"/><a:chOff x="1278079" y="1873024"/><a:chExt cx="811223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200DD26E-2DEE-DB1F-4B4C-F3E4B8C9188C}"/></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522C5096-204A-F9E5-B4A9-2EB80AD7E84F}"/></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pPr><a:defRPr sz="2400" b="1"><a:solidFill>val="177BBE"/></a:solidFill><a:latin typeface="Poppins"/></a:defRPr></a:pPr><a:r><a:rPr lang="fr-FR" sz="2400" b="1" dirty="0"><a:solidFill><a:schemeClr val="bg1"/></a:solidFill></a:rPr><a:t>Limitations identifiées</a:t></a:r></a:p></p:txBody></p:sp></p:grpSp><p:sp><p:nvSpPr><p:cNvPr id="2" name="Flèche : droite 1"><a:hlinkClick r:id="" action="ppaction://hlinkshowjump?jump=nextslide"/><a:extLst><a:ext uri="{FF2B5EF4-FFF2-40B4-BE49-F238E27FC236}"><a16:creationId xmlns:a16="http://schemas.microsoft.com/office/drawing/2014/main" id="{E137F349-F3B8-DF6F-7C3D-699DC48C5D3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5DB9A1B8-8B20-B4A5-3797-253E0CAC47D7}"/></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29.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9" name="ZoneTexte 8"><a:extLst><a:ext uri="{FF2B5EF4-FFF2-40B4-BE49-F238E27FC236}"><a16:creationId xmlns:a16="http://schemas.microsoft.com/office/drawing/2014/main" id="{D890AFF4-D075-8208-3B6B-0BAF7BEB66A1}"/></a:ext></a:extLst></p:cNvPr><p:cNvSpPr txBox="1"/><p:nvPr/></p:nvSpPr><p:spPr><a:xfrm><a:off x="758279" y="831885"/><a:ext cx="7345195" cy="1323439"/></a:xfrm><a:prstGeom prst="rect"><a:avLst/></a:prstGeom><a:noFill/></p:spPr><p:txBody><a:bodyPr wrap="square"><a:spAutoFit/></a:bodyPr><a:lstStyle/><a:p><a:r><a:rPr lang="fr-FR" sz="2000" dirty="0"/><a:t>🎯 </a:t></a:r><a:r><a:rPr lang="fr-FR" sz="2000" b="1" dirty="0"/><a:t>1. RPLMQoS – Nouveau paradigme QoS</a:t></a:r><a:endParaRPr lang="fr-FR" sz="2000" dirty="0"/></a:p><a:p><a:pPr><a:buFont typeface="Arial" panose="020B0604020202020204" pitchFamily="34" charset="0"/><a:buChar char="•"/></a:pPr><a:r><a:rPr lang="fr-FR" sz="2000" dirty="0"/><a:t>QoS différenciée (</a:t></a:r><a:r><a:rPr lang="fr-FR" sz="2000" b="1" dirty="0"/><a:t>4 classes</a:t></a:r><a:r><a:rPr lang="fr-FR" sz="2000" dirty="0"/><a:t>)</a:t></a:r></a:p><a:p><a:pPr><a:buFont typeface="Arial" panose="020B0604020202020204" pitchFamily="34" charset="0"/><a:buChar char="•"/></a:pPr><a:r><a:rPr lang="fr-FR" sz="2000" dirty="0"/><a:t>Métrique composite </a:t></a:r><a:r><a:rPr lang="fr-FR" sz="2000" b="1" dirty="0"/><a:t>adaptative</a:t></a:r><a:endParaRPr lang="fr-FR" sz="2000" dirty="0"/></a:p><a:p><a:pPr><a:buFont typeface="Arial" panose="020B0604020202020204" pitchFamily="34" charset="0"/><a:buChar char="•"/></a:pPr><a:r><a:rPr lang="fr-FR" sz="2000" b="1" dirty="0"/><a:t>Q-learning embarqué</a:t></a:r><a:endParaRPr lang="fr-FR" sz="2000" dirty="0"/></a:p></p:txBody></p:sp><p:sp><p:nvSpPr><p:cNvPr id="11" name="ZoneTexte 10"><a:extLst><a:ext uri="{FF2B5EF4-FFF2-40B4-BE49-F238E27FC236}"><a16:creationId xmlns:a16="http://schemas.microsoft.com/office/drawing/2014/main" id="{15C609AA-2CC9-8F94-17C3-1B404E2D65B5}"/></a:ext></a:extLst></p:cNvPr><p:cNvSpPr txBox="1"/><p:nvPr/></p:nvSpPr><p:spPr><a:xfrm><a:off x="758279" y="2525081"/><a:ext cx="7345195" cy="1323439"/></a:xfrm><a:prstGeom prst="rect"><a:avLst/></a:prstGeom><a:noFill/></p:spPr><p:txBody><a:bodyPr wrap="square"><a:spAutoFit/></a:bodyPr><a:lstStyle/><a:p><a:r><a:rPr lang="fr-FR" sz="2000" dirty="0"/><a:t>🎯 </a:t></a:r><a:r><a:rPr lang="fr-FR" sz="2000" b="1" dirty="0"/><a:t>2. AER-RPL – Sécurité &amp; Énergie</a:t></a:r><a:endParaRPr lang="fr-FR" sz="2000" dirty="0"/></a:p><a:p><a:pPr><a:buFont typeface="Arial" panose="020B0604020202020204" pitchFamily="34" charset="0"/><a:buChar char="•"/></a:pPr><a:r><a:rPr lang="fr-FR" sz="2000" dirty="0"/><a:t>Sécurité + efficacité énergétique intégrées</a:t></a:r></a:p><a:p><a:pPr><a:buFont typeface="Arial" panose="020B0604020202020204" pitchFamily="34" charset="0"/><a:buChar char="•"/></a:pPr><a:r><a:rPr lang="fr-FR" sz="2000" dirty="0"/><a:t>IA légère compatible IoT (</a:t></a:r><a:r><a:rPr lang="fr-FR" sz="2000" b="1" dirty="0"/><a:t>LSTM 8-bit</a:t></a:r><a:r><a:rPr lang="fr-FR" sz="2000" dirty="0"/><a:t>)</a:t></a:r></a:p><a:p><a:pPr><a:buFont typeface="Arial" panose="020B0604020202020204" pitchFamily="34" charset="0"/><a:buChar char="•"/></a:pPr><a:r><a:rPr lang="fr-FR" sz="2000" dirty="0"/><a:t>Récupération d’énergie intelligente</a:t></a:r></a:p></p:txBody></p:sp><p:sp><p:nvSpPr><p:cNvPr id="13" name="ZoneTexte 12"><a:extLst><a:ext uri="{FF2B5EF4-FFF2-40B4-BE49-F238E27FC236}"><a16:creationId xmlns:a16="http://schemas.microsoft.com/office/drawing/2014/main" id="{8F98903B-E4A2-D2DE-BDCA-E74A3F580F44}"/></a:ext></a:extLst></p:cNvPr><p:cNvSpPr txBox="1"/><p:nvPr/></p:nvSpPr><p:spPr><a:xfrm><a:off x="758279" y="4218277"/><a:ext cx="10017297" cy="1015663"/></a:xfrm><a:prstGeom prst="rect"><a:avLst/></a:prstGeom><a:noFill/></p:spPr><p:txBody><a:bodyPr wrap="square"><a:spAutoFit/></a:bodyPr><a:lstStyle/><a:p><a:r><a:rPr lang="fr-FR" sz="2000" dirty="0"/><a:t>🎯 </a:t></a:r><a:r><a:rPr lang="fr-FR" sz="2000" b="1" dirty="0"/><a:t>3. Validation solide</a:t></a:r><a:endParaRPr lang="fr-FR" sz="2000" dirty="0"/></a:p><a:p><a:pPr><a:buFont typeface="Arial" panose="020B0604020202020204" pitchFamily="34" charset="0"/><a:buChar char="•"/></a:pPr><a:r><a:rPr lang="fr-FR" sz="2000" b="1" dirty="0"/><a:t>1200 simulations représentatives</a:t></a:r><a:endParaRPr lang="fr-FR" sz="2000" dirty="0"/></a:p><a:p><a:pPr><a:buFont typeface="Arial" panose="020B0604020202020204" pitchFamily="34" charset="0"/><a:buChar char="•"/></a:pPr><a:r><a:rPr lang="fr-FR" sz="2000" dirty="0"/><a:t>Validation statistique rigoureuse</a:t></a:r></a:p></p:txBody></p:sp><p:sp><p:nvSpPr><p:cNvPr id="15" name="ZoneTexte 14"><a:extLst><a:ext uri="{FF2B5EF4-FFF2-40B4-BE49-F238E27FC236}"><a16:creationId xmlns:a16="http://schemas.microsoft.com/office/drawing/2014/main" id="{CECB896F-29CB-9B2A-9A8D-C429F888F56B}"/></a:ext></a:extLst></p:cNvPr><p:cNvSpPr txBox="1"/><p:nvPr/></p:nvSpPr><p:spPr><a:xfrm><a:off x="758280" y="5542142"/><a:ext cx="7946190" cy="707886"/></a:xfrm><a:prstGeom prst="rect"><a:avLst/></a:prstGeom><a:noFill/></p:spPr><p:txBody><a:bodyPr wrap="square"><a:spAutoFit/></a:bodyPr><a:lstStyle/><a:p><a:r><a:rPr lang="fr-FR" sz="2000" dirty="0"/><a:t>💡 </a:t></a:r><a:r><a:rPr lang="fr-FR" sz="2000" b="1" dirty="0"/><a:t>Message final</a:t></a:r><a:br><a:rPr lang="fr-FR" sz="2000" dirty="0"/></a:br><a:r><a:rPr lang="fr-FR" sz="2000" b="1" dirty="0"/><a:t>Une brique logicielle complète pour les réseaux IoT critiques</a:t></a:r><a:endParaRPr lang="fr-FR" sz="2000" dirty="0"/></a:p></p:txBody></p:sp><p:grpSp><p:nvGrpSpPr><p:cNvPr id="4" name="Group 7584"><a:extLst><a:ext uri="{FF2B5EF4-FFF2-40B4-BE49-F238E27FC236}"><a16:creationId xmlns:a16="http://schemas.microsoft.com/office/drawing/2014/main" id="{AFD08CBA-21B4-F43F-201A-8D585A62AD6D}"/></a:ext></a:extLst></p:cNvPr><p:cNvGrpSpPr/><p:nvPr/></p:nvGrpSpPr><p:grpSpPr><a:xfrm><a:off x="-1" y="6616929"/><a:ext cx="9288000" cy="241071"/><a:chOff x="0" y="95085"/><a:chExt cx="5792348" cy="112882"/></a:xfrm></p:grpSpPr><p:sp><p:nvSpPr><p:cNvPr id="6" name="Shape 7931"><a:extLst><a:ext uri="{FF2B5EF4-FFF2-40B4-BE49-F238E27FC236}"><a16:creationId xmlns:a16="http://schemas.microsoft.com/office/drawing/2014/main" id="{9829F2D6-21D5-44EA-94CA-84234FA0F688}"/></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7" name="Rectangle 6"><a:extLst><a:ext uri="{FF2B5EF4-FFF2-40B4-BE49-F238E27FC236}"><a16:creationId xmlns:a16="http://schemas.microsoft.com/office/drawing/2014/main" id="{54D7CAEF-49E4-227B-EDBF-0172D3890A42}"/></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8" name="Shape 7944"><a:extLst><a:ext uri="{FF2B5EF4-FFF2-40B4-BE49-F238E27FC236}"><a16:creationId xmlns:a16="http://schemas.microsoft.com/office/drawing/2014/main" id="{D1C584B9-480F-D2CC-4FA0-C49CAB38A5EC}"/></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B0F0B85F-9B90-FE24-88A0-BC12B73345F4}"/></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2" name="Shape 7963"><a:extLst><a:ext uri="{FF2B5EF4-FFF2-40B4-BE49-F238E27FC236}"><a16:creationId xmlns:a16="http://schemas.microsoft.com/office/drawing/2014/main" id="{234510A7-2A2A-252C-E394-10B856483F6B}"/></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4" name="Rectangle 13"><a:extLst><a:ext uri="{FF2B5EF4-FFF2-40B4-BE49-F238E27FC236}"><a16:creationId xmlns:a16="http://schemas.microsoft.com/office/drawing/2014/main" id="{A6D0513A-6514-2A43-FE7D-411757BF4887}"/></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17/19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6" name="Groupe 15"><a:extLst><a:ext uri="{FF2B5EF4-FFF2-40B4-BE49-F238E27FC236}"><a16:creationId xmlns:a16="http://schemas.microsoft.com/office/drawing/2014/main" id="{1A87C448-C7BF-066A-4E9A-478EA0469C3A}"/></a:ext></a:extLst></p:cNvPr><p:cNvGrpSpPr/><p:nvPr/></p:nvGrpSpPr><p:grpSpPr><a:xfrm><a:off x="614" y="9088"/><a:ext cx="9506457" cy="684000"/><a:chOff x="1278079" y="1873024"/><a:chExt cx="8112235" cy="664616"/></a:xfrm><a:gradFill><a:gsLst><a:gs pos="0">val="162B40"/></a:gs><a:gs pos="48000">val="34495E"/></a:gs><a:gs pos="100000">val="177BBE"/></a:gs></a:gsLst><a:lin ang="0" scaled="1"/></a:gradFill></p:grpSpPr><p:pic><p:nvPicPr><p:cNvPr id="17" name="Picture 4" descr="logo.jpg"><a:extLst><a:ext uri="{FF2B5EF4-FFF2-40B4-BE49-F238E27FC236}"><a16:creationId xmlns:a16="http://schemas.microsoft.com/office/drawing/2014/main" id="{058E3F31-207E-B642-B325-5A7106393DBF}"/></a:ext></a:extLst></p:cNvPr><p:cNvPicPr><a:picLocks noChangeAspect="1"/></p:cNvPicPr><p:nvPr/></p:nvPicPr><p:blipFill><a:blip r:embed="rId3"/><a:stretch><a:fillRect/></a:stretch></p:blipFill><p:spPr><a:xfrm><a:off x="7950314" y="1873025"/><a:ext cx="1440000" cy="664615"/></a:xfrm><a:prstGeom prst="rect"><a:avLst/></a:prstGeom><a:grpFill/></p:spPr></p:pic><p:sp><p:nvSpPr><p:cNvPr id="18" name="Rectangle 17"><a:extLst><a:ext uri="{FF2B5EF4-FFF2-40B4-BE49-F238E27FC236}"><a16:creationId xmlns:a16="http://schemas.microsoft.com/office/drawing/2014/main" id="{D049C91F-FC00-F0F8-922C-44110FEA5BF1}"/></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a:schemeClr val="bg1"/></a:solidFill></a:rPr><a:t>Conclusion</a:t></a:r></a:p></p:txBody></p:sp></p:grpSp><p:sp><p:nvSpPr><p:cNvPr id="2" name="Flèche : droite 1"><a:hlinkClick r:id="" action="ppaction://hlinkshowjump?jump=nextslide"/><a:extLst><a:ext uri="{FF2B5EF4-FFF2-40B4-BE49-F238E27FC236}"><a16:creationId xmlns:a16="http://schemas.microsoft.com/office/drawing/2014/main" id="{90F43BAE-BA2D-A038-3184-A63C4BAD5DA4}"/></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C0A90211-9D89-EB5F-6F6C-89F1EAB80B11}"/></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A0B53429-D1A3-9A51-A0D4-2405C0EC2254}"/>
              </a:ext>
            </a:extLst>
          </p:cNvPr>
          <p:cNvGraphicFramePr>
            <a:graphicFrameLocks noGrp="1"/>
          </p:cNvGraphicFramePr>
          <p:nvPr>
            <p:extLst>
              <p:ext uri="{D42A27DB-BD31-4B8C-83A1-F6EECF244321}">
                <p14:modId xmlns:p14="http://schemas.microsoft.com/office/powerpoint/2010/main" val="2795001329"/>
              </p:ext>
            </p:extLst>
          </p:nvPr>
        </p:nvGraphicFramePr>
        <p:xfrm>
          <a:off x="457200" y="418848"/>
          <a:ext cx="8544909" cy="4862598"/>
        </p:xfrm>
        <a:graphic>
          <a:graphicData uri="http://schemas.openxmlformats.org/drawingml/2006/table">
            <a:tbl>
              <a:tblPr firstRow="1" bandRow="1">
                <a:tableStyleId>{5C22544A-7EE6-4342-B048-85BDC9FD1C3A}</a:tableStyleId>
              </a:tblPr>
              <a:tblGrid>
                <a:gridCol w="1052732">
                  <a:extLst>
                    <a:ext uri="{9D8B030D-6E8A-4147-A177-3AD203B41FA5}">
                      <a16:colId xmlns:a16="http://schemas.microsoft.com/office/drawing/2014/main" val="2838583591"/>
                    </a:ext>
                  </a:extLst>
                </a:gridCol>
                <a:gridCol w="3605952">
                  <a:extLst>
                    <a:ext uri="{9D8B030D-6E8A-4147-A177-3AD203B41FA5}">
                      <a16:colId xmlns:a16="http://schemas.microsoft.com/office/drawing/2014/main" val="4135243961"/>
                    </a:ext>
                  </a:extLst>
                </a:gridCol>
                <a:gridCol w="3886225">
                  <a:extLst>
                    <a:ext uri="{9D8B030D-6E8A-4147-A177-3AD203B41FA5}">
                      <a16:colId xmlns:a16="http://schemas.microsoft.com/office/drawing/2014/main" val="521081311"/>
                    </a:ext>
                  </a:extLst>
                </a:gridCol>
              </a:tblGrid>
              <a:tr h="440548">
                <a:tc>
                  <a:txBody>
                    <a:bodyPr/>
                    <a:lstStyle/>
                    <a:p>
                      <a:pPr>
                        <a:lnSpc>
                          <a:spcPct val="115000"/>
                        </a:lnSpc>
                        <a:spcAft>
                          <a:spcPts val="800"/>
                        </a:spcAft>
                      </a:pPr>
                      <a:r>
                        <a:rPr lang="fr-FR" sz="2000" kern="100" dirty="0">
                          <a:effectLst/>
                          <a:highlight>val="FFFF00"/&gt;</a:highlight>
                        </a:rPr>
                        <a:t> </a:t>
                      </a:r>
                      <a:endParaRPr lang="fr-FR" sz="2000" kern="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nSpc>
                          <a:spcPct val="115000"/>
                        </a:lnSpc>
                        <a:spcAft>
                          <a:spcPts val="800"/>
                        </a:spcAft>
                      </a:pPr>
                      <a:r>
                        <a:rPr lang="fr-FR" sz="2000" kern="100">
                          <a:effectLst/>
                        </a:rPr>
                        <a:t>RPLMQoS (santé) :</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lnL w="12700" cmpd="sng">
                      <a:noFill/>
                    </a:lnL>
                  </a:tcPr>
                </a:tc>
                <a:tc>
                  <a:txBody>
                    <a:bodyPr/>
                    <a:lstStyle/>
                    <a:p>
                      <a:pPr>
                        <a:lnSpc>
                          <a:spcPct val="115000"/>
                        </a:lnSpc>
                        <a:spcAft>
                          <a:spcPts val="800"/>
                        </a:spcAft>
                      </a:pPr>
                      <a:r>
                        <a:rPr lang="fr-FR" sz="2000" kern="100">
                          <a:effectLst/>
                        </a:rPr>
                        <a:t>RPL-AER (agriculture) </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2248244614"/>
                  </a:ext>
                </a:extLst>
              </a:tr>
              <a:tr h="810433">
                <a:tc>
                  <a:txBody>
                    <a:bodyPr/>
                    <a:lstStyle/>
                    <a:p>
                      <a:pPr algn="ctr">
                        <a:lnSpc>
                          <a:spcPct val="115000"/>
                        </a:lnSpc>
                        <a:spcAft>
                          <a:spcPts val="800"/>
                        </a:spcAft>
                      </a:pPr>
                      <a:r>
                        <a:rPr lang="fr-FR" sz="2000" b="1" kern="100" dirty="0">
                          <a:effectLst/>
                        </a:rPr>
                        <a:t>Nbre de files</a:t>
                      </a:r>
                      <a:endParaRPr lang="fr-FR" sz="2000" b="1" kern="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lnT w="38100" cmpd="sng">
                      <a:noFill/>
                    </a:lnT>
                  </a:tcPr>
                </a:tc>
                <a:tc>
                  <a:txBody>
                    <a:bodyPr/>
                    <a:lstStyle/>
                    <a:p>
                      <a:pPr>
                        <a:lnSpc>
                          <a:spcPct val="115000"/>
                        </a:lnSpc>
                        <a:spcAft>
                          <a:spcPts val="800"/>
                        </a:spcAft>
                      </a:pPr>
                      <a:r>
                        <a:rPr lang="fr-FR" sz="2000" kern="100" dirty="0">
                          <a:effectLst/>
                        </a:rPr>
                        <a:t>4 files d'attente strictement prioritaires (C0 à C3)</a:t>
                      </a:r>
                      <a:endParaRPr lang="fr-FR" sz="2000" kern="100" dirty="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tc>
                  <a:txBody>
                    <a:bodyPr/>
                    <a:lstStyle/>
                    <a:p>
                      <a:pPr>
                        <a:lnSpc>
                          <a:spcPct val="115000"/>
                        </a:lnSpc>
                        <a:spcAft>
                          <a:spcPts val="800"/>
                        </a:spcAft>
                      </a:pPr>
                      <a:r>
                        <a:rPr lang="fr-FR" sz="2000" kern="100">
                          <a:effectLst/>
                        </a:rPr>
                        <a:t>1 seule file, mais décisions de routage ultra-intelligentes</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1281484415"/>
                  </a:ext>
                </a:extLst>
              </a:tr>
              <a:tr h="810433">
                <a:tc>
                  <a:txBody>
                    <a:bodyPr/>
                    <a:lstStyle/>
                    <a:p>
                      <a:pPr algn="ctr">
                        <a:lnSpc>
                          <a:spcPct val="115000"/>
                        </a:lnSpc>
                        <a:spcAft>
                          <a:spcPts val="800"/>
                        </a:spcAft>
                      </a:pPr>
                      <a:r>
                        <a:rPr lang="fr-FR" sz="2000" b="1" kern="100">
                          <a:effectLst/>
                        </a:rPr>
                        <a:t>AI</a:t>
                      </a:r>
                      <a:endParaRPr lang="fr-FR" sz="2000" b="1" kern="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tc>
                  <a:txBody>
                    <a:bodyPr/>
                    <a:lstStyle/>
                    <a:p>
                      <a:pPr>
                        <a:lnSpc>
                          <a:spcPct val="115000"/>
                        </a:lnSpc>
                        <a:spcAft>
                          <a:spcPts val="800"/>
                        </a:spcAft>
                      </a:pPr>
                      <a:r>
                        <a:rPr lang="fr-FR" sz="2000" kern="100" dirty="0">
                          <a:effectLst/>
                        </a:rPr>
                        <a:t>Scheduler WRR adaptatif avec Q-learning réactif</a:t>
                      </a:r>
                      <a:endParaRPr lang="fr-FR" sz="2000" kern="100" dirty="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tc>
                  <a:txBody>
                    <a:bodyPr/>
                    <a:lstStyle/>
                    <a:p>
                      <a:pPr>
                        <a:lnSpc>
                          <a:spcPct val="115000"/>
                        </a:lnSpc>
                        <a:spcAft>
                          <a:spcPts val="800"/>
                        </a:spcAft>
                      </a:pPr>
                      <a:r>
                        <a:rPr lang="fr-FR" sz="2000" kern="100">
                          <a:effectLst/>
                        </a:rPr>
                        <a:t>LSTM prédictif qui anticipe l'énergie à 30 minutes</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3604675312"/>
                  </a:ext>
                </a:extLst>
              </a:tr>
              <a:tr h="810433">
                <a:tc>
                  <a:txBody>
                    <a:bodyPr/>
                    <a:lstStyle/>
                    <a:p>
                      <a:pPr algn="ctr">
                        <a:lnSpc>
                          <a:spcPct val="115000"/>
                        </a:lnSpc>
                        <a:spcAft>
                          <a:spcPts val="800"/>
                        </a:spcAft>
                      </a:pPr>
                      <a:r>
                        <a:rPr lang="fr-FR" sz="2000" b="1" kern="100" dirty="0">
                          <a:effectLst/>
                        </a:rPr>
                        <a:t>Métrique</a:t>
                      </a:r>
                      <a:endParaRPr lang="fr-FR" sz="2000" b="1" kern="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tc>
                  <a:txBody>
                    <a:bodyPr/>
                    <a:lstStyle/>
                    <a:p>
                      <a:pPr>
                        <a:lnSpc>
                          <a:spcPct val="115000"/>
                        </a:lnSpc>
                        <a:spcAft>
                          <a:spcPts val="800"/>
                        </a:spcAft>
                      </a:pPr>
                      <a:r>
                        <a:rPr lang="fr-FR" sz="2000" kern="100">
                          <a:effectLst/>
                        </a:rPr>
                        <a:t>Métrique composite favorisant la fiabilité et la vitesse</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tc>
                  <a:txBody>
                    <a:bodyPr/>
                    <a:lstStyle/>
                    <a:p>
                      <a:pPr>
                        <a:lnSpc>
                          <a:spcPct val="115000"/>
                        </a:lnSpc>
                        <a:spcAft>
                          <a:spcPts val="800"/>
                        </a:spcAft>
                      </a:pPr>
                      <a:r>
                        <a:rPr lang="fr-FR" sz="2000" kern="100">
                          <a:effectLst/>
                        </a:rPr>
                        <a:t>Métrique MCS favorisant la durabilité et la sécurité</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1210259320"/>
                  </a:ext>
                </a:extLst>
              </a:tr>
              <a:tr h="810433">
                <a:tc>
                  <a:txBody>
                    <a:bodyPr/>
                    <a:lstStyle/>
                    <a:p>
                      <a:pPr algn="ctr">
                        <a:lnSpc>
                          <a:spcPct val="115000"/>
                        </a:lnSpc>
                        <a:spcAft>
                          <a:spcPts val="800"/>
                        </a:spcAft>
                      </a:pPr>
                      <a:r>
                        <a:rPr lang="fr-FR" sz="2000" b="1" kern="100" dirty="0">
                          <a:effectLst/>
                        </a:rPr>
                        <a:t>Objectif</a:t>
                      </a:r>
                      <a:endParaRPr lang="fr-FR" sz="2000" b="1" kern="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tc>
                  <a:txBody>
                    <a:bodyPr/>
                    <a:lstStyle/>
                    <a:p>
                      <a:pPr>
                        <a:lnSpc>
                          <a:spcPct val="115000"/>
                        </a:lnSpc>
                        <a:spcAft>
                          <a:spcPts val="800"/>
                        </a:spcAft>
                      </a:pPr>
                      <a:r>
                        <a:rPr lang="fr-FR" sz="2000" kern="100" dirty="0">
                          <a:effectLst/>
                        </a:rPr>
                        <a:t>38 ms de latence pour les alertes vitales</a:t>
                      </a:r>
                      <a:endParaRPr lang="fr-FR" sz="2000" kern="100" dirty="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tc>
                  <a:txBody>
                    <a:bodyPr/>
                    <a:lstStyle/>
                    <a:p>
                      <a:pPr>
                        <a:lnSpc>
                          <a:spcPct val="115000"/>
                        </a:lnSpc>
                        <a:spcAft>
                          <a:spcPts val="800"/>
                        </a:spcAft>
                      </a:pPr>
                      <a:r>
                        <a:rPr lang="fr-FR" sz="2000" kern="100">
                          <a:effectLst/>
                        </a:rPr>
                        <a:t>18 mois d'autonomie sous énergie solaire intermittente</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3273354288"/>
                  </a:ext>
                </a:extLst>
              </a:tr>
              <a:tr h="1180318">
                <a:tc>
                  <a:txBody>
                    <a:bodyPr/>
                    <a:lstStyle/>
                    <a:p>
                      <a:pPr algn="ctr">
                        <a:lnSpc>
                          <a:spcPct val="115000"/>
                        </a:lnSpc>
                        <a:spcAft>
                          <a:spcPts val="800"/>
                        </a:spcAft>
                      </a:pPr>
                      <a:r>
                        <a:rPr lang="fr-FR" sz="2000" b="1" kern="100" dirty="0">
                          <a:effectLst/>
                        </a:rPr>
                        <a:t>Résultat</a:t>
                      </a:r>
                      <a:endParaRPr lang="fr-FR" sz="2000" b="1" kern="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tc>
                  <a:txBody>
                    <a:bodyPr/>
                    <a:lstStyle/>
                    <a:p>
                      <a:pPr>
                        <a:lnSpc>
                          <a:spcPct val="115000"/>
                        </a:lnSpc>
                        <a:spcAft>
                          <a:spcPts val="800"/>
                        </a:spcAft>
                      </a:pPr>
                      <a:r>
                        <a:rPr lang="fr-FR" sz="2000" kern="100">
                          <a:effectLst/>
                        </a:rPr>
                        <a:t> 99,1% de livraison des alertes C0, au prix de 15,7% d'énergie</a:t>
                      </a:r>
                      <a:endParaRPr lang="fr-FR" sz="2000" kern="10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tc>
                  <a:txBody>
                    <a:bodyPr/>
                    <a:lstStyle/>
                    <a:p>
                      <a:pPr>
                        <a:lnSpc>
                          <a:spcPct val="115000"/>
                        </a:lnSpc>
                        <a:spcAft>
                          <a:spcPts val="800"/>
                        </a:spcAft>
                      </a:pPr>
                      <a:r>
                        <a:rPr lang="fr-FR" sz="2000" kern="100" dirty="0">
                          <a:effectLst/>
                        </a:rPr>
                        <a:t>32% de consommation énergétique, latence moyenne 150 ms</a:t>
                      </a:r>
                      <a:endParaRPr lang="fr-FR" sz="2000" kern="100" dirty="0">
                        <a:effectLst/>
                        <a:latin typeface="Aptos" panose="020B0004020202020204" pitchFamily="34" charset="0"/>
                        <a:ea typeface="Aptos" panose="020B0004020202020204" pitchFamily="34" charset="0"/>
                        <a:cs typeface="Arial" panose="020B0604020202020204" pitchFamily="34" charset="0"/>
                      </a:endParaRPr>
                    </a:p>
                  </a:txBody>
                  <a:tcPr marL="84997" marR="84997" marT="42499" marB="42499"/>
                </a:tc>
                <a:extLst>
                  <a:ext uri="{0D108BD9-81ED-4DB2-BD59-A6C34878D82A}">
                    <a16:rowId xmlns:a16="http://schemas.microsoft.com/office/drawing/2014/main" val="531027068"/>
                  </a:ext>
                </a:extLst>
              </a:tr>
            </a:tbl>
          </a:graphicData>
        </a:graphic>
      </p:graphicFrame>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445701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 1">
            <a:extLst>
              <a:ext uri="{FF2B5EF4-FFF2-40B4-BE49-F238E27FC236}">
                <a16:creationId xmlns:a16="http://schemas.microsoft.com/office/drawing/2014/main" id="{01A466B0-1273-567C-BB19-1DD3F404A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621" y="1135944"/>
            <a:ext cx="7725104" cy="2329598"/>
          </a:xfrm>
          <a:prstGeom prst="rect">
            <a:avLst/>
          </a:prstGeom>
          <a:noFill/>
          <a:extLst>
            <a:ext uri="{909E8E84-426E-40DD-AFC4-6F175D3DCCD1}">
              <a14:hiddenFill xmlns:a14="http://schemas.microsoft.com/office/drawing/2010/main">
                <a:solidFill>val="FFFFFF"/&gt;</a:solidFill>
              </a14:hiddenFill>
            </a:ext>
          </a:extLst>
        </p:spPr>
      </p:pic>
      <p:pic>
        <p:nvPicPr>
          <p:cNvPr id="1025" name="Image 2">
            <a:extLst>
              <a:ext uri="{FF2B5EF4-FFF2-40B4-BE49-F238E27FC236}">
                <a16:creationId xmlns:a16="http://schemas.microsoft.com/office/drawing/2014/main" id="{141C8FDF-5C7E-FC67-2C18-FF6EB7D4D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275" y="4305300"/>
            <a:ext cx="7858394" cy="2506892"/>
          </a:xfrm>
          <a:prstGeom prst="rect">
            <a:avLst/>
          </a:prstGeom>
          <a:noFill/>
          <a:extLst>
            <a:ext uri="{909E8E84-426E-40DD-AFC4-6F175D3DCCD1}">
              <a14:hiddenFill xmlns:a14="http://schemas.microsoft.com/office/drawing/2010/main">
                <a:solidFill>val="FFFFFF"/&gt;</a:solidFill>
              </a14:hiddenFill>
            </a:ext>
          </a:extLst>
        </p:spPr>
      </p:pic>
      <p:sp>
        <p:nvSpPr>
          <p:cNvPr id="2" name="Rectangle 3">
            <a:extLst>
              <a:ext uri="{FF2B5EF4-FFF2-40B4-BE49-F238E27FC236}">
                <a16:creationId xmlns:a16="http://schemas.microsoft.com/office/drawing/2014/main" id="{8B7BD8BC-10F8-BB67-BF03-35C27B07FD4D}"/>
              </a:ext>
            </a:extLst>
          </p:cNvPr>
          <p:cNvSpPr>
            <a:spLocks noChangeArrowheads="1"/>
          </p:cNvSpPr>
          <p:nvPr/>
        </p:nvSpPr>
        <p:spPr bwMode="auto">
          <a:xfrm>
            <a:off x="8599" y="230832"/>
            <a:ext cx="86466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Aptos" panose="020B0004020202020204" pitchFamily="34" charset="0"/>
                <a:ea typeface="T3Font_0"/>
                <a:cs typeface="Inter-SemiBold"/>
              </a:rPr>
              <a:t>Les chiffres qui impressionnent </a:t>
            </a:r>
            <a:endParaRPr kumimoji="0" lang="fr-FR" altLang="fr-FR" sz="1200" b="0" i="0" u="none" strike="noStrike" cap="none" normalizeH="0" baseline="0" dirty="0">
              <a:ln>
                <a:noFill/>
              </a:ln>
              <a:solidFill>
                <a:schemeClr val="tx1"/>
              </a:solidFill>
              <a:effectLst/>
            </a:endParaRPr>
          </a:p>
        </p:txBody>
      </p:sp>
      <p:sp>
        <p:nvSpPr>
          <p:cNvPr id="3" name="Rectangle 4">
            <a:extLst>
              <a:ext uri="{FF2B5EF4-FFF2-40B4-BE49-F238E27FC236}">
                <a16:creationId xmlns:a16="http://schemas.microsoft.com/office/drawing/2014/main" id="{E856BC5F-3266-D4C7-1D50-2F94190E4D6E}"/>
              </a:ext>
            </a:extLst>
          </p:cNvPr>
          <p:cNvSpPr>
            <a:spLocks noChangeArrowheads="1"/>
          </p:cNvSpPr>
          <p:nvPr/>
        </p:nvSpPr>
        <p:spPr bwMode="auto">
          <a:xfrm>
            <a:off x="0" y="3784028"/>
            <a:ext cx="244316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Aptos" panose="020B0004020202020204" pitchFamily="34" charset="0"/>
                <a:ea typeface="T3Font_0"/>
                <a:cs typeface="Inter-SemiBold"/>
              </a:rPr>
              <a:t>RPL-AER (Agriculture)</a:t>
            </a:r>
            <a:endParaRPr kumimoji="0" lang="fr-FR" altLang="fr-FR" sz="1050" b="0" i="0" u="none" strike="noStrike" cap="none" normalizeH="0" baseline="0" dirty="0">
              <a:ln>
                <a:noFill/>
              </a:ln>
              <a:solidFill>
                <a:schemeClr val="tx1"/>
              </a:solidFill>
              <a:effectLst/>
            </a:endParaRPr>
          </a:p>
        </p:txBody>
      </p:sp>
      <p:sp>
        <p:nvSpPr>
          <p:cNvPr id="4" name="Rectangle 5">
            <a:extLst>
              <a:ext uri="{FF2B5EF4-FFF2-40B4-BE49-F238E27FC236}">
                <a16:creationId xmlns:a16="http://schemas.microsoft.com/office/drawing/2014/main" id="{8E3B39C7-CD5A-569B-B14C-6719DCA390CD}"/>
              </a:ext>
            </a:extLst>
          </p:cNvPr>
          <p:cNvSpPr>
            <a:spLocks noChangeArrowheads="1"/>
          </p:cNvSpPr>
          <p:nvPr/>
        </p:nvSpPr>
        <p:spPr bwMode="auto">
          <a:xfrm>
            <a:off x="0" y="4305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6" name="ZoneTexte 5">
            <a:extLst>
              <a:ext uri="{FF2B5EF4-FFF2-40B4-BE49-F238E27FC236}">
                <a16:creationId xmlns:a16="http://schemas.microsoft.com/office/drawing/2014/main" id="{79309683-2F01-CB7A-AB79-7D67B2A307D0}"/>
              </a:ext>
            </a:extLst>
          </p:cNvPr>
          <p:cNvSpPr txBox="1"/>
          <p:nvPr/>
        </p:nvSpPr>
        <p:spPr>
          <a:xfrm>
            <a:off x="0" y="875308"/>
            <a:ext cx="461929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1" i="0" u="none" strike="noStrike" cap="none" normalizeH="0" baseline="0" dirty="0">
                <a:ln>
                  <a:noFill/>
                </a:ln>
                <a:solidFill>
                  <a:schemeClr val="tx1"/>
                </a:solidFill>
                <a:effectLst/>
                <a:latin typeface="Aptos" panose="020B0004020202020204" pitchFamily="34" charset="0"/>
                <a:ea typeface="T3Font_0"/>
                <a:cs typeface="Inter-SemiBold"/>
              </a:rPr>
              <a:t>RPLMQoS (Santé)</a:t>
            </a:r>
            <a:endParaRPr kumimoji="0" lang="fr-FR" altLang="fr-FR" sz="1050" b="0" i="0" u="none" strike="noStrike" cap="none" normalizeH="0" baseline="0" dirty="0">
              <a:ln>
                <a:noFill/>
              </a:ln>
              <a:solidFill>
                <a:schemeClr val="tx1"/>
              </a:solidFill>
              <a:effectLst/>
            </a:endParaRPr>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2847215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0E1B00B-13AE-9DB0-7D02-94BBFF1BA78C}"/>
              </a:ext>
            </a:extLst>
          </p:cNvPr>
          <p:cNvSpPr txBox="1"/>
          <p:nvPr/>
        </p:nvSpPr>
        <p:spPr>
          <a:xfrm>
            <a:off x="0" y="170058"/>
            <a:ext cx="4572000" cy="369332"/>
          </a:xfrm>
          <a:prstGeom prst="rect">
            <a:avLst/>
          </a:prstGeom>
          <a:noFill/>
        </p:spPr>
        <p:txBody>
          <a:bodyPr wrap="square">
            <a:spAutoFit/>
          </a:bodyPr>
          <a:lstStyle/>
          <a:p>
            <a:r>
              <a:rPr lang="fr-FR" sz="1800" b="1" i="0" u="none" strike="noStrike" baseline="0" dirty="0">
                <a:solidFill>val="162B40"/&gt;</a:solidFill>
                <a:latin typeface="Poppins"/>
              </a:rPr>
              <a:t>Les formules expliquées </a:t>
            </a:r>
            <a:endParaRPr lang="fr-FR" dirty="0"/>
          </a:p>
        </p:txBody>
      </p:sp>
      <p:sp>
        <p:nvSpPr>
          <p:cNvPr id="5" name="ZoneTexte 4">
            <a:extLst>
              <a:ext uri="{FF2B5EF4-FFF2-40B4-BE49-F238E27FC236}">
                <a16:creationId xmlns:a16="http://schemas.microsoft.com/office/drawing/2014/main" id="{AAC06286-8C00-F624-D483-BDD8A74C7DF3}"/>
              </a:ext>
            </a:extLst>
          </p:cNvPr>
          <p:cNvSpPr txBox="1"/>
          <p:nvPr/>
        </p:nvSpPr>
        <p:spPr>
          <a:xfrm>
            <a:off x="35471" y="717077"/>
            <a:ext cx="8367549" cy="3724096"/>
          </a:xfrm>
          <a:prstGeom prst="rect">
            <a:avLst/>
          </a:prstGeom>
          <a:noFill/>
        </p:spPr>
        <p:txBody>
          <a:bodyPr wrap="square">
            <a:spAutoFit/>
          </a:bodyPr>
          <a:lstStyle/>
          <a:p>
            <a:r>
              <a:rPr lang="fr-FR" sz="2800" b="1" i="0" u="none" strike="noStrike" baseline="0" dirty="0">
                <a:solidFill>val="162B40"/&gt;</a:solidFill>
                <a:latin typeface="Poppins"/>
              </a:rPr>
              <a:t>Formule 1 : La note du chemin (RPLMQoS)</a:t>
            </a:r>
            <a:endParaRPr lang="fr-FR" sz="2800" b="0" i="0" u="none" strike="noStrike" baseline="0" dirty="0">
              <a:solidFill>val="162B40"/&gt;</a:solidFill>
              <a:latin typeface="Poppins"/>
            </a:endParaRPr>
          </a:p>
          <a:p>
            <a:r>
              <a:rPr lang="fr-FR" sz="1800" b="1" i="0" u="none" strike="noStrike" baseline="0" dirty="0">
                <a:solidFill>val="162B40"/&gt;</a:solidFill>
                <a:latin typeface="Poppins"/>
              </a:rPr>
              <a:t>CM </a:t>
            </a:r>
            <a:r>
              <a:rPr lang="fr-FR" sz="1800" b="0" i="0" u="none" strike="noStrike" baseline="0" dirty="0">
                <a:solidFill>val="162B40"/&gt;</a:solidFill>
                <a:latin typeface="Poppins"/>
              </a:rPr>
              <a:t>=</a:t>
            </a:r>
            <a:r>
              <a:rPr lang="fr-FR" sz="1800" b="1" i="0" u="none" strike="noStrike" baseline="0" dirty="0">
                <a:solidFill>val="162B40"/&gt;</a:solidFill>
                <a:latin typeface="Poppins"/>
              </a:rPr>
              <a:t>0,4</a:t>
            </a:r>
            <a:r>
              <a:rPr lang="fr-FR" sz="1800" b="0" i="0" u="none" strike="noStrike" baseline="0" dirty="0">
                <a:solidFill>val="162B40"/&gt;</a:solidFill>
                <a:latin typeface="Poppins"/>
              </a:rPr>
              <a:t>×</a:t>
            </a:r>
            <a:r>
              <a:rPr lang="fr-FR" sz="1800" b="1" i="0" u="none" strike="noStrike" baseline="0" dirty="0">
                <a:solidFill>val="162B40"/&gt;</a:solidFill>
                <a:latin typeface="Poppins"/>
              </a:rPr>
              <a:t>ETX </a:t>
            </a:r>
            <a:r>
              <a:rPr lang="fr-FR" sz="1800" b="0" i="0" u="none" strike="noStrike" baseline="0" dirty="0">
                <a:solidFill>val="162B40"/&gt;</a:solidFill>
                <a:latin typeface="Poppins"/>
              </a:rPr>
              <a:t>+</a:t>
            </a:r>
            <a:r>
              <a:rPr lang="fr-FR" sz="1800" b="1" i="0" u="none" strike="noStrike" baseline="0" dirty="0">
                <a:solidFill>val="162B40"/&gt;</a:solidFill>
                <a:latin typeface="Poppins"/>
              </a:rPr>
              <a:t>0,3</a:t>
            </a:r>
            <a:r>
              <a:rPr lang="fr-FR" sz="1800" b="0" i="0" u="none" strike="noStrike" baseline="0" dirty="0">
                <a:solidFill>val="162B40"/&gt;</a:solidFill>
                <a:latin typeface="Poppins"/>
              </a:rPr>
              <a:t>×(</a:t>
            </a:r>
            <a:r>
              <a:rPr lang="fr-FR" sz="1800" b="1" i="0" u="none" strike="noStrike" baseline="0" dirty="0">
                <a:solidFill>val="162B40"/&gt;</a:solidFill>
                <a:latin typeface="Poppins"/>
              </a:rPr>
              <a:t>1−batterie) </a:t>
            </a:r>
            <a:r>
              <a:rPr lang="fr-FR" sz="1800" b="0" i="0" u="none" strike="noStrike" baseline="0" dirty="0">
                <a:solidFill>val="162B40"/&gt;</a:solidFill>
                <a:latin typeface="Poppins"/>
              </a:rPr>
              <a:t>+</a:t>
            </a:r>
            <a:r>
              <a:rPr lang="fr-FR" sz="1800" b="1" i="0" u="none" strike="noStrike" baseline="0" dirty="0">
                <a:solidFill>val="162B40"/&gt;</a:solidFill>
                <a:latin typeface="Poppins"/>
              </a:rPr>
              <a:t>0,3×délai</a:t>
            </a:r>
            <a:endParaRPr lang="fr-FR" sz="1800" b="0" i="0" u="none" strike="noStrike" baseline="0" dirty="0">
              <a:solidFill>val="162B40"/&gt;</a:solidFill>
              <a:latin typeface="Poppins"/>
            </a:endParaRPr>
          </a:p>
          <a:p>
            <a:r>
              <a:rPr lang="fr-FR" sz="1800" b="0" i="0" u="none" strike="noStrike" baseline="0" dirty="0">
                <a:solidFill>val="162B40"/&gt;</a:solidFill>
                <a:latin typeface="Poppins"/>
              </a:rPr>
              <a:t>On donne une note à chaque voisin. Plus la note est petite, mieux c'est.</a:t>
            </a:r>
          </a:p>
          <a:p>
            <a:r>
              <a:rPr lang="fr-FR" sz="1800" b="1" i="0" u="none" strike="noStrike" baseline="0" dirty="0">
                <a:solidFill>val="162B40"/&gt;</a:solidFill>
                <a:latin typeface="Poppins"/>
              </a:rPr>
              <a:t>Exemple concret :</a:t>
            </a:r>
            <a:endParaRPr lang="fr-FR" sz="1800" b="0" i="0" u="none" strike="noStrike" baseline="0" dirty="0">
              <a:solidFill>val="162B40"/&gt;</a:solidFill>
              <a:latin typeface="Poppins"/>
            </a:endParaRPr>
          </a:p>
          <a:p>
            <a:r>
              <a:rPr lang="fr-FR" sz="1800" b="0" i="0" u="none" strike="noStrike" baseline="0" dirty="0">
                <a:solidFill>val="162B40"/&gt;</a:solidFill>
                <a:latin typeface="Poppins"/>
              </a:rPr>
              <a:t>Voisin A :Signal parfait (ETX=1,2), mais batterie à 15% →Note =5,2</a:t>
            </a:r>
          </a:p>
          <a:p>
            <a:endParaRPr lang="fr-FR" sz="1800" b="0" i="0" u="none" strike="noStrike" baseline="0" dirty="0">
              <a:solidFill>val="162B40"/&gt;</a:solidFill>
              <a:latin typeface="Poppins"/>
            </a:endParaRPr>
          </a:p>
          <a:p>
            <a:r>
              <a:rPr lang="fr-FR" sz="1800" b="0" i="0" u="none" strike="noStrike" baseline="0" dirty="0">
                <a:solidFill>val="162B40"/&gt;</a:solidFill>
                <a:latin typeface="Poppins"/>
              </a:rPr>
              <a:t>Voisin B :Signal moyen (ETX=1,5), batterie pleine (90%)→Note = </a:t>
            </a:r>
            <a:r>
              <a:rPr lang="fr-FR" sz="1800" b="1" i="0" u="none" strike="noStrike" baseline="0" dirty="0">
                <a:solidFill>val="162B40"/&gt;</a:solidFill>
                <a:latin typeface="Poppins"/>
              </a:rPr>
              <a:t>4,2 </a:t>
            </a:r>
            <a:r>
              <a:rPr lang="fr-FR" sz="1800" b="0" i="0" u="none" strike="noStrike" baseline="0" dirty="0">
                <a:solidFill>val="162B40"/&gt;</a:solidFill>
                <a:latin typeface="Poppins"/>
              </a:rPr>
              <a:t>←ON CHOISIT B</a:t>
            </a:r>
          </a:p>
          <a:p>
            <a:endParaRPr lang="fr-FR" sz="1800" b="0" i="0" u="none" strike="noStrike" baseline="0" dirty="0">
              <a:solidFill>val="162B40"/&gt;</a:solidFill>
              <a:latin typeface="Poppins"/>
            </a:endParaRPr>
          </a:p>
          <a:p>
            <a:r>
              <a:rPr lang="fr-FR" sz="1800" b="0" i="0" u="none" strike="noStrike" baseline="0" dirty="0">
                <a:solidFill>val="162B40"/&gt;</a:solidFill>
                <a:latin typeface="Poppins"/>
              </a:rPr>
              <a:t>Pourquoi ? Parce que A va mourir dans 1 heure, et on devra changer de chemin de toute façon.</a:t>
            </a:r>
          </a:p>
          <a:p>
            <a:r>
              <a:rPr lang="fr-FR" sz="2800" b="1" i="0" u="none" strike="noStrike" baseline="0" dirty="0">
                <a:solidFill>val="162B40"/&gt;</a:solidFill>
                <a:latin typeface="Poppins"/>
              </a:rPr>
              <a:t>Formule 2 : Ce que l'IA veut maximiser (RPLMQoS)</a:t>
            </a:r>
            <a:endParaRPr lang="fr-FR" sz="2800" b="0" i="0" u="none" strike="noStrike" baseline="0" dirty="0">
              <a:solidFill>val="162B40"/&gt;</a:solidFill>
              <a:latin typeface="Poppins"/>
            </a:endParaRPr>
          </a:p>
          <a:p>
            <a:r>
              <a:rPr lang="fr-FR" sz="1800" b="1" i="0" u="none" strike="noStrike" baseline="0" dirty="0">
                <a:solidFill>val="162B40"/&gt;</a:solidFill>
                <a:latin typeface="Poppins"/>
              </a:rPr>
              <a:t>R </a:t>
            </a:r>
            <a:r>
              <a:rPr lang="fr-FR" sz="1800" b="0" i="0" u="none" strike="noStrike" baseline="0" dirty="0">
                <a:solidFill>val="162B40"/&gt;</a:solidFill>
                <a:latin typeface="Poppins"/>
              </a:rPr>
              <a:t>=</a:t>
            </a:r>
            <a:r>
              <a:rPr lang="fr-FR" sz="1800" b="1" i="0" u="none" strike="noStrike" baseline="0" dirty="0">
                <a:solidFill>val="162B40"/&gt;</a:solidFill>
                <a:latin typeface="Poppins"/>
              </a:rPr>
              <a:t>−</a:t>
            </a:r>
            <a:r>
              <a:rPr lang="fr-FR" sz="1800" b="1" i="0" u="none" strike="noStrike" baseline="0" dirty="0" err="1">
                <a:solidFill>val="162B40"/&gt;</a:solidFill>
                <a:latin typeface="Poppins"/>
              </a:rPr>
              <a:t>délai_vital</a:t>
            </a:r>
            <a:r>
              <a:rPr lang="fr-FR" sz="1800" b="1" i="0" u="none" strike="noStrike" baseline="0" dirty="0">
                <a:solidFill>val="162B40"/&gt;</a:solidFill>
                <a:latin typeface="Poppins"/>
              </a:rPr>
              <a:t> </a:t>
            </a:r>
            <a:r>
              <a:rPr lang="fr-FR" sz="1800" b="0" i="0" u="none" strike="noStrike" baseline="0" dirty="0">
                <a:solidFill>val="162B40"/&gt;</a:solidFill>
                <a:latin typeface="Poppins"/>
              </a:rPr>
              <a:t>−</a:t>
            </a:r>
            <a:r>
              <a:rPr lang="fr-FR" sz="1800" b="1" i="0" u="none" strike="noStrike" baseline="0" dirty="0">
                <a:solidFill>val="162B40"/&gt;</a:solidFill>
                <a:latin typeface="Poppins"/>
              </a:rPr>
              <a:t>0,5×délai_urgent </a:t>
            </a:r>
            <a:r>
              <a:rPr lang="fr-FR" sz="1800" b="0" i="0" u="none" strike="noStrike" baseline="0" dirty="0">
                <a:solidFill>val="162B40"/&gt;</a:solidFill>
                <a:latin typeface="Poppins"/>
              </a:rPr>
              <a:t>+</a:t>
            </a:r>
            <a:r>
              <a:rPr lang="fr-FR" sz="1800" b="1" i="0" u="none" strike="noStrike" baseline="0" dirty="0">
                <a:solidFill>val="162B40"/&gt;</a:solidFill>
                <a:latin typeface="Poppins"/>
              </a:rPr>
              <a:t>0,3×équité </a:t>
            </a:r>
            <a:r>
              <a:rPr lang="fr-FR" sz="1800" b="0" i="0" u="none" strike="noStrike" baseline="0" dirty="0">
                <a:solidFill>val="162B40"/&gt;</a:solidFill>
                <a:latin typeface="Poppins"/>
              </a:rPr>
              <a:t>−</a:t>
            </a:r>
            <a:r>
              <a:rPr lang="fr-FR" sz="1800" b="1" i="0" u="none" strike="noStrike" baseline="0" dirty="0">
                <a:solidFill>val="162B40"/&gt;</a:solidFill>
                <a:latin typeface="Poppins"/>
              </a:rPr>
              <a:t>0,2×énergie </a:t>
            </a:r>
            <a:endParaRPr lang="fr-FR" dirty="0">
              <a:latin typeface="Poppins"/>
            </a:endParaRPr>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1632195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085D1E4-7FB4-E41C-1542-17587539EF46}"/>
              </a:ext>
            </a:extLst>
          </p:cNvPr>
          <p:cNvPicPr>
            <a:picLocks noChangeAspect="1"/>
          </p:cNvPicPr>
          <p:nvPr/>
        </p:nvPicPr>
        <p:blipFill>
          <a:blip r:embed="rId2"/>
          <a:stretch>
            <a:fillRect/>
          </a:stretch>
        </p:blipFill>
        <p:spPr>
          <a:xfrm>
            <a:off x="324615" y="1342733"/>
            <a:ext cx="7643522" cy="4695459"/>
          </a:xfrm>
          <a:prstGeom prst="rect">
            <a:avLst/>
          </a:prstGeom>
        </p:spPr>
      </p:pic>
      <p:sp>
        <p:nvSpPr>
          <p:cNvPr id="5" name="ZoneTexte 4">
            <a:extLst>
              <a:ext uri="{FF2B5EF4-FFF2-40B4-BE49-F238E27FC236}">
                <a16:creationId xmlns:a16="http://schemas.microsoft.com/office/drawing/2014/main" id="{F6C40E81-58B5-FFF6-4F78-51CAC7F2CD79}"/>
              </a:ext>
            </a:extLst>
          </p:cNvPr>
          <p:cNvSpPr txBox="1"/>
          <p:nvPr/>
        </p:nvSpPr>
        <p:spPr>
          <a:xfrm>
            <a:off x="914400" y="658789"/>
            <a:ext cx="6400800" cy="461665"/>
          </a:xfrm>
          <a:prstGeom prst="rect">
            <a:avLst/>
          </a:prstGeom>
          <a:noFill/>
        </p:spPr>
        <p:txBody>
          <a:bodyPr wrap="square">
            <a:spAutoFit/>
          </a:bodyPr>
          <a:lstStyle/>
          <a:p>
            <a:r>
              <a:rPr lang="fr-FR" sz="2400" b="0" i="0" u="none" strike="noStrike" baseline="0" dirty="0">
                <a:solidFill>val="162B40"/&gt;</a:solidFill>
                <a:latin typeface="Poppins"/>
              </a:rPr>
              <a:t>🆚 </a:t>
            </a:r>
            <a:r>
              <a:rPr lang="fr-FR" sz="2400" b="1" i="0" u="none" strike="noStrike" baseline="0" dirty="0">
                <a:solidFill>val="162B40"/&gt;</a:solidFill>
                <a:latin typeface="Poppins"/>
              </a:rPr>
              <a:t>RPLMQoS vs RPL-AER : qui gagne ?</a:t>
            </a:r>
            <a:endParaRPr lang="fr-FR" sz="2400" dirty="0"/>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2521220468"/>
      </p:ext>
    </p:extLst>
  </p:cSld>
  <p:clrMapOvr>
    <a:masterClrMapping/>
  </p:clrMapOvr>
</p:sld>
</file>

<file path=ppt/slides/slide34.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4" name="TextBox 3"/><p:cNvSpPr txBox="1"/><p:nvPr/></p:nvSpPr><p:spPr><a:xfrm><a:off x="457200" y="1155460"/><a:ext cx="8681834" cy="2943563"/></a:xfrm><a:prstGeom prst="rect"><a:avLst/></a:prstGeom><a:noFill/></p:spPr><p:txBody><a:bodyPr wrap="square" anchor="t"><a:spAutoFit/></a:bodyPr><a:lstStyle/><a:p><a:pPr algn="l"><a:lnSpc><a:spcPct val="200000"/></a:lnSpc></a:pPr><a:r><a:rPr lang="fr-FR" sz="2400" b="0" i="0" dirty="0"><a:solidFill>val="2C2C2B"/></a:solidFill><a:effectLst/><a:latin typeface="Poppins"/></a:rPr><a:t>Intégration avec TSCH, 5G NR et synchronisation avancée</a:t></a:r></a:p><a:p><a:pPr algn="l"><a:lnSpc><a:spcPct val="200000"/></a:lnSpc></a:pPr><a:r><a:rPr lang="fr-FR" sz="2400" b="0" i="0" dirty="0"><a:solidFill>val="2C2C2B"/></a:solidFill><a:effectLst/><a:latin typeface="Poppins"/></a:rPr><a:t>Hybridation avec des approches temps réel (TDMA, slots réservés)</a:t></a:r></a:p><a:p><a:pPr algn="l"><a:lnSpc><a:spcPct val="200000"/></a:lnSpc></a:pPr><a:r><a:rPr lang="fr-FR" sz="2400" b="1" i="0" dirty="0"><a:solidFill>val="2C2C2B"/></a:solidFill><a:effectLst/><a:latin typeface="Poppins"/></a:rPr><a:t>Expérimentations</a:t></a:r><a:r><a:rPr lang="fr-FR" sz="2400" b="0" i="0" dirty="0"><a:solidFill>val="2C2C2B"/></a:solidFill><a:effectLst/><a:latin typeface="Poppins"/></a:rPr><a:t> sur bancs réels et plateformes de test</a:t></a:r></a:p><a:p><a:pPr algn="l"><a:lnSpc><a:spcPct val="200000"/></a:lnSpc></a:pPr><a:r><a:rPr lang="fr-FR" sz="2400" b="0" i="0" dirty="0"><a:solidFill>val="2C2C2B"/></a:solidFill><a:effectLst/><a:latin typeface="Poppins"/></a:rPr><a:t>Vers une </a:t></a:r><a:r><a:rPr lang="fr-FR" sz="2400" b="1" i="0" dirty="0"><a:solidFill>val="2C2C2B"/></a:solidFill><a:effectLst/><a:latin typeface="Poppins"/></a:rPr><a:t>standardisation</a:t></a:r><a:r><a:rPr lang="fr-FR" sz="2400" b="0" i="0" dirty="0"><a:solidFill>val="2C2C2B"/></a:solidFill><a:effectLst/><a:latin typeface="Poppins"/></a:rPr><a:t> et une adoption large</a:t></a:r></a:p></p:txBody></p:sp><p:grpSp><p:nvGrpSpPr><p:cNvPr id="6" name="Group 7584"><a:extLst><a:ext uri="{FF2B5EF4-FFF2-40B4-BE49-F238E27FC236}"><a16:creationId xmlns:a16="http://schemas.microsoft.com/office/drawing/2014/main" id="{9EF9CAB0-D3F7-A3AA-13D3-DD8DA62E26F3}"/></a:ext></a:extLst></p:cNvPr><p:cNvGrpSpPr/><p:nvPr/></p:nvGrpSpPr><p:grpSpPr><a:xfrm><a:off x="-1" y="6616929"/><a:ext cx="9288000" cy="241071"/><a:chOff x="0" y="95085"/><a:chExt cx="5792348" cy="112882"/></a:xfrm></p:grpSpPr><p:sp><p:nvSpPr><p:cNvPr id="7" name="Shape 7931"><a:extLst><a:ext uri="{FF2B5EF4-FFF2-40B4-BE49-F238E27FC236}"><a16:creationId xmlns:a16="http://schemas.microsoft.com/office/drawing/2014/main" id="{30A332D5-2C3D-6AB0-CE94-C806777B6BDC}"/></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AD9436C1-B982-C653-3C64-79C38C2FCF0C}"/></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9" name="Shape 7944"><a:extLst><a:ext uri="{FF2B5EF4-FFF2-40B4-BE49-F238E27FC236}"><a16:creationId xmlns:a16="http://schemas.microsoft.com/office/drawing/2014/main" id="{378F064F-71AB-F039-801C-E5F11BBF71E0}"/></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83D373B8-E9D2-453B-5229-B2A07C1798A3}"/></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1" name="Shape 7963"><a:extLst><a:ext uri="{FF2B5EF4-FFF2-40B4-BE49-F238E27FC236}"><a16:creationId xmlns:a16="http://schemas.microsoft.com/office/drawing/2014/main" id="{E139D216-82BC-FBDA-CA69-B35993789C09}"/></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B1C3A1BB-B936-DE13-5F83-09B50A0F1361}"/></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18/19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3" name="Groupe 12"><a:extLst><a:ext uri="{FF2B5EF4-FFF2-40B4-BE49-F238E27FC236}"><a16:creationId xmlns:a16="http://schemas.microsoft.com/office/drawing/2014/main" id="{8C24036E-D7B8-EFDD-C739-605E945FBA95}"/></a:ext></a:extLst></p:cNvPr><p:cNvGrpSpPr/><p:nvPr/></p:nvGrpSpPr><p:grpSpPr><a:xfrm><a:off x="614" y="21600"/><a:ext cx="9506457" cy="684000"/><a:chOff x="1278079" y="1873024"/><a:chExt cx="8112235" cy="664616"/></a:xfrm><a:gradFill><a:gsLst><a:gs pos="0">val="162B40"/></a:gs><a:gs pos="48000">val="34495E"/></a:gs><a:gs pos="100000">val="177BBE"/></a:gs></a:gsLst><a:lin ang="0" scaled="1"/></a:gradFill></p:grpSpPr><p:pic><p:nvPicPr><p:cNvPr id="14" name="Picture 4" descr="logo.jpg"><a:extLst><a:ext uri="{FF2B5EF4-FFF2-40B4-BE49-F238E27FC236}"><a16:creationId xmlns:a16="http://schemas.microsoft.com/office/drawing/2014/main" id="{E4853BC7-F677-ABFC-7485-B9CCD2868DAE}"/></a:ext></a:extLst></p:cNvPr><p:cNvPicPr><a:picLocks noChangeAspect="1"/></p:cNvPicPr><p:nvPr/></p:nvPicPr><p:blipFill><a:blip r:embed="rId3"/><a:stretch><a:fillRect/></a:stretch></p:blipFill><p:spPr><a:xfrm><a:off x="7950314" y="1873025"/><a:ext cx="1440000" cy="664615"/></a:xfrm><a:prstGeom prst="rect"><a:avLst/></a:prstGeom><a:grpFill/></p:spPr></p:pic><p:sp><p:nvSpPr><p:cNvPr id="15" name="Rectangle 14"><a:extLst><a:ext uri="{FF2B5EF4-FFF2-40B4-BE49-F238E27FC236}"><a16:creationId xmlns:a16="http://schemas.microsoft.com/office/drawing/2014/main" id="{550A2E33-7308-8932-7C35-6F138228E0AF}"/></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a:schemeClr val="bg1"/></a:solidFill></a:rPr><a:t>Perspectives</a:t></a:r></a:p></p:txBody></p:sp></p:grpSp><p:sp><p:nvSpPr><p:cNvPr id="2" name="Flèche : droite 1"><a:hlinkClick r:id="" action="ppaction://hlinkshowjump?jump=nextslide"/><a:extLst><a:ext uri="{FF2B5EF4-FFF2-40B4-BE49-F238E27FC236}"><a16:creationId xmlns:a16="http://schemas.microsoft.com/office/drawing/2014/main" id="{5EB638A9-2A38-E442-4E5C-E8300E9C1ECB}"/></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C83CE5B1-9667-DEFB-D6FC-E9E5F645F86E}"/></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35.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4" name="TextBox 3"/><p:cNvSpPr txBox="1"/><p:nvPr/></p:nvSpPr><p:spPr><a:xfrm><a:off x="457200" y="1188720"/><a:ext cx="8229600" cy="1800493"/></a:xfrm><a:prstGeom prst="rect"><a:avLst/></a:prstGeom><a:noFill/></p:spPr><p:txBody><a:bodyPr wrap="square" anchor="t"><a:spAutoFit/></a:bodyPr><a:lstStyle/><a:p><a:pPr marL="571500" indent="-571500"><a:buBlip><a:blip r:embed="rId3"/></a:buBlip></a:pPr><a:r><a:rPr lang="fr-FR" sz="4400" dirty="0"/><a:t>Merci pour votre attention</a:t></a:r></a:p><a:p><a:pPr marL="571500" indent="-571500"><a:buBlip><a:blip r:embed="rId3"/></a:buBlip></a:pPr><a:r><a:rPr lang="fr-FR" sz="4400" dirty="0"/><a:t>Questions ?</a:t></a:r></a:p><a:p><a:pPr><a:spcBef><a:spcPts val="600"/></a:spcBef><a:spcAft><a:spcPts val="1200"/></a:spcAft><a:defRPr sz="1800"><a:solidFill>val="162B40"/></a:solidFill><a:latin typeface="Poppins"/></a:defRPr></a:pPr><a:endParaRPr dirty="0"/></a:p></p:txBody></p:sp><p:grpSp><p:nvGrpSpPr><p:cNvPr id="6" name="Group 7584"><a:extLst><a:ext uri="{FF2B5EF4-FFF2-40B4-BE49-F238E27FC236}"><a16:creationId xmlns:a16="http://schemas.microsoft.com/office/drawing/2014/main" id="{A69DA624-1886-C89B-2C71-B31D67E507D8}"/></a:ext></a:extLst></p:cNvPr><p:cNvGrpSpPr/><p:nvPr/></p:nvGrpSpPr><p:grpSpPr><a:xfrm><a:off x="-1" y="6616929"/><a:ext cx="9288000" cy="241071"/><a:chOff x="0" y="95085"/><a:chExt cx="5792348" cy="112882"/></a:xfrm></p:grpSpPr><p:sp><p:nvSpPr><p:cNvPr id="7" name="Shape 7931"><a:extLst><a:ext uri="{FF2B5EF4-FFF2-40B4-BE49-F238E27FC236}"><a16:creationId xmlns:a16="http://schemas.microsoft.com/office/drawing/2014/main" id="{D490651B-4586-DC74-370D-4C6DCC351ECA}"/></a:ext></a:extLst></p:cNvPr><p:cNvSpPr/><p:nvPr/></p:nvSpPr><p:spPr><a:xfrm><a:off x="0" y="95085"/><a:ext cx="2068612"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val="162B40"/></a:fillRef><a:effectRef idx="0"><a:scrgbClr r="0" g="0" b="0"/></a:effectRef><a:fontRef idx="none"/></p:style><p:txBody><a:bodyPr/><a:lstStyle/><a:p><a:endParaRPr lang="fr-FR" sz="1200"/></a:p></p:txBody></p:sp><p:sp><p:nvSpPr><p:cNvPr id="8" name="Rectangle 7"><a:extLst><a:ext uri="{FF2B5EF4-FFF2-40B4-BE49-F238E27FC236}"><a16:creationId xmlns:a16="http://schemas.microsoft.com/office/drawing/2014/main" id="{33603D5A-821E-4C46-2A3F-5820529A8D77}"/></a:ext></a:extLst></p:cNvPr><p:cNvSpPr/><p:nvPr/></p:nvSpPr><p:spPr><a:xfrm><a:off x="47917" y="118308"/><a:ext cx="2426081"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Madani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BELACEL</a:t></a:r><a:r><a:rPr lang="fr-FR" sz="1200" kern="100" spc="28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(Université</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Djillali</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Liabès</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EEDIS)</a:t></a:r><a:endParaRPr lang="fr-FR" sz="1200" kern="100" dirty="0"><a:solidFill>val="162B40"/></a:solidFill><a:effectLst/><a:latin typeface="Poppins" panose="020F0502020204030204" pitchFamily="34" charset="0"/><a:ea typeface="Poppins" panose="020F0502020204030204" pitchFamily="34" charset="0"/></a:endParaRPr></a:p></p:txBody></p:sp><p:sp><p:nvSpPr><p:cNvPr id="9" name="Shape 7944"><a:extLst><a:ext uri="{FF2B5EF4-FFF2-40B4-BE49-F238E27FC236}"><a16:creationId xmlns:a16="http://schemas.microsoft.com/office/drawing/2014/main" id="{2544E42D-E329-E3C5-2C62-F2C79B210F0A}"/></a:ext></a:extLst></p:cNvPr><p:cNvSpPr/><p:nvPr/></p:nvSpPr><p:spPr><a:xfrm><a:off x="2068612" y="95085"/><a:ext cx="2257299"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val="34495E"/></a:fillRef><a:effectRef idx="0"><a:scrgbClr r="0" g="0" b="0"/></a:effectRef><a:fontRef idx="none"/></p:style><p:txBody><a:bodyPr/><a:lstStyle/><a:p><a:endParaRPr lang="fr-FR" sz="1200"/></a:p></p:txBody></p:sp><p:sp><p:nvSpPr><p:cNvPr id="10" name="Rectangle 9"><a:extLst><a:ext uri="{FF2B5EF4-FFF2-40B4-BE49-F238E27FC236}"><a16:creationId xmlns:a16="http://schemas.microsoft.com/office/drawing/2014/main" id="{FDE6D0D2-4171-7CCD-7035-A228ADB4D618}"/></a:ext></a:extLst></p:cNvPr><p:cNvSpPr/><p:nvPr/></p:nvSpPr><p:spPr><a:xfrm><a:off x="2087193" y="118308"/><a:ext cx="2774278" cy="89659"/></a:xfrm><a:prstGeom prst="rect"><a:avLst/></a:prstGeom><a:ln><a:noFill/></a:ln></p:spPr><p:txBody><a:bodyPr vert="horz" lIns="0" tIns="0" rIns="0" bIns="0" rtlCol="0"><a:noAutofit/></a:bodyPr><a:lstStyle/><a:p><a:pPr><a:lnSpc><a:spcPct val="107000"/></a:lnSpc><a:spcAft><a:spcPts val="800"/></a:spcAft><a:defRPr sz="2200"><a:solidFill>val="177BBE"/></a:solidFill><a:latin typeface="Poppins"/></a:defRPr></a:pPr><a:r><a:rPr lang="fr-FR" sz="1200" kern="100" dirty="0"><a:solidFill>val="FFFFFF"/></a:solidFill><a:latin typeface="Poppins" panose="020F0502020204030204" pitchFamily="34" charset="0"/><a:ea typeface="Poppins" panose="020F0502020204030204" pitchFamily="34" charset="0"/></a:rPr><a:t>La Qualité de Service dans les Réseaux IoT Basés sur RPL</a:t></a:r></a:p></p:txBody></p:sp><p:sp><p:nvSpPr><p:cNvPr id="11" name="Shape 7963"><a:extLst><a:ext uri="{FF2B5EF4-FFF2-40B4-BE49-F238E27FC236}"><a16:creationId xmlns:a16="http://schemas.microsoft.com/office/drawing/2014/main" id="{993258D2-5811-6E69-2E77-C2B94FA70EC0}"/></a:ext></a:extLst></p:cNvPr><p:cNvSpPr/><p:nvPr/></p:nvSpPr><p:spPr><a:xfrm><a:off x="4325911" y="95085"/><a:ext cx="1373537" cy="109652"/></a:xfrm><a:custGeom><a:avLst/><a:gdLst/><a:ahLst/><a:cxnLst/><a:rect l="0" t="0" r="0" b="0"/><a:pathLst><a:path w="1919973" h="109652"><a:moveTo><a:pt x="0" y="0"/></a:moveTo><a:lnTo><a:pt x="1919973" y="0"/></a:lnTo><a:lnTo><a:pt x="1919973" y="109652"/></a:lnTo><a:lnTo><a:pt x="0" y="109652"/></a:lnTo><a:lnTo><a:pt x="0" y="0"/></a:lnTo></a:path></a:pathLst></a:custGeom><a:ln w="0" cap="flat"><a:miter lim="127000"/></a:ln></p:spPr><p:style><a:lnRef idx="0">val="162B40"><a:alpha val="0"/></a:srgbClr></a:lnRef><a:fillRef idx="1">val="3D95D4"/></a:fillRef><a:effectRef idx="0"><a:scrgbClr r="0" g="0" b="0"/></a:effectRef><a:fontRef idx="none"/></p:style><p:txBody><a:bodyPr/><a:lstStyle/><a:p><a:endParaRPr lang="fr-FR" sz="1200"/></a:p></p:txBody></p:sp><p:sp><p:nvSpPr><p:cNvPr id="12" name="Rectangle 11"><a:extLst><a:ext uri="{FF2B5EF4-FFF2-40B4-BE49-F238E27FC236}"><a16:creationId xmlns:a16="http://schemas.microsoft.com/office/drawing/2014/main" id="{A28D090D-A9BC-8323-2FC6-D16B81BD7B35}"/></a:ext></a:extLst></p:cNvPr><p:cNvSpPr/><p:nvPr/></p:nvSpPr><p:spPr><a:xfrm><a:off x="4325911" y="111624"/><a:ext cx="1466437" cy="89659"/></a:xfrm><a:prstGeom prst="rect"><a:avLst/></a:prstGeom><a:ln><a:noFill/></a:ln></p:spPr><p:txBody><a:bodyPr vert="horz" lIns="0" tIns="0" rIns="0" bIns="0" rtlCol="0"><a:noAutofit/></a:bodyPr><a:lstStyle/><a:p><a:pPr><a:lnSpc><a:spcPct val="107000"/></a:lnSpc><a:spcAft><a:spcPts val="800"/></a:spcAft></a:pPr><a:r><a:rPr lang="fr-FR" sz="1200" kern="100" dirty="0"><a:solidFill>val="FFFFFF"/></a:solidFill><a:effectLst/><a:latin typeface="Poppins" panose="020F0502020204030204" pitchFamily="34" charset="0"/><a:ea typeface="Poppins" panose="020F0502020204030204" pitchFamily="34" charset="0"/></a:rPr><a:t>Soutenance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de</a:t></a:r><a:r><a:rPr lang="fr-FR" sz="1200" kern="100" spc="75"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thèse</a:t></a:r><a:r><a:rPr lang="fr-FR" sz="1200" kern="100" spc="290" dirty="0"><a:solidFill>val="FFFFFF"/></a:solidFill><a:effectLst/><a:latin typeface="Poppins" panose="020F0502020204030204" pitchFamily="34" charset="0"/><a:ea typeface="Poppins" panose="020F0502020204030204" pitchFamily="34" charset="0"/></a:rPr><a:t> </a:t></a:r><a:r><a:rPr lang="fr-FR" sz="1200" kern="100" dirty="0"><a:solidFill>val="FFFFFF"/></a:solidFill><a:effectLst/><a:latin typeface="Poppins" panose="020F0502020204030204" pitchFamily="34" charset="0"/><a:ea typeface="Poppins" panose="020F0502020204030204" pitchFamily="34" charset="0"/></a:rPr><a:t>2026   /19</a:t></a:r><a:endParaRPr lang="fr-FR" sz="1200" kern="100" dirty="0"><a:solidFill>val="162B40"/></a:solidFill><a:effectLst/><a:latin typeface="Poppins" panose="020F0502020204030204" pitchFamily="34" charset="0"/><a:ea typeface="Poppins" panose="020F0502020204030204" pitchFamily="34" charset="0"/></a:endParaRPr></a:p></p:txBody></p:sp></p:grpSp><p:grpSp><p:nvGrpSpPr><p:cNvPr id="13" name="Groupe 12"><a:extLst><a:ext uri="{FF2B5EF4-FFF2-40B4-BE49-F238E27FC236}"><a16:creationId xmlns:a16="http://schemas.microsoft.com/office/drawing/2014/main" id="{9CBCB4B5-665B-62F7-34FD-82A4566A07D8}"/></a:ext></a:extLst></p:cNvPr><p:cNvGrpSpPr/><p:nvPr/></p:nvGrpSpPr><p:grpSpPr><a:xfrm><a:off x="614" y="17331"/><a:ext cx="9506457" cy="684000"/><a:chOff x="1278079" y="1873024"/><a:chExt cx="8112235" cy="664616"/></a:xfrm><a:gradFill><a:gsLst><a:gs pos="0">val="162B40"/></a:gs><a:gs pos="48000">val="34495E"/></a:gs><a:gs pos="100000">val="177BBE"/></a:gs></a:gsLst><a:lin ang="0" scaled="1"/></a:gradFill></p:grpSpPr><p:pic><p:nvPicPr><p:cNvPr id="14" name="Picture 4" descr="logo.jpg"><a:extLst><a:ext uri="{FF2B5EF4-FFF2-40B4-BE49-F238E27FC236}"><a16:creationId xmlns:a16="http://schemas.microsoft.com/office/drawing/2014/main" id="{130EEA77-7CD1-78AA-DE22-F994E19493A6}"/></a:ext></a:extLst></p:cNvPr><p:cNvPicPr><a:picLocks noChangeAspect="1"/></p:cNvPicPr><p:nvPr/></p:nvPicPr><p:blipFill><a:blip r:embed="rId4"/><a:stretch><a:fillRect/></a:stretch></p:blipFill><p:spPr><a:xfrm><a:off x="7950314" y="1873025"/><a:ext cx="1440000" cy="664615"/></a:xfrm><a:prstGeom prst="rect"><a:avLst/></a:prstGeom><a:grpFill/></p:spPr></p:pic><p:sp><p:nvSpPr><p:cNvPr id="15" name="Rectangle 14"><a:extLst><a:ext uri="{FF2B5EF4-FFF2-40B4-BE49-F238E27FC236}"><a16:creationId xmlns:a16="http://schemas.microsoft.com/office/drawing/2014/main" id="{9464EB4F-1DCF-2BE0-ABD4-7E059B391BE8}"/></a:ext></a:extLst></p:cNvPr><p:cNvSpPr/><p:nvPr/></p:nvSpPr><p:spPr><a:xfrm><a:off x="1278079" y="1873024"/><a:ext cx="6804000" cy="648000"/></a:xfrm><a:prstGeom prst="rect"><a:avLst/></a:prstGeom><a:grpFill/><a:ln><a:noFill/></a:ln></p:spPr><p:style><a:lnRef idx="1"><a:schemeClr val="accent1"/></a:lnRef><a:fillRef idx="3"><a:schemeClr val="accent1"/></a:fillRef><a:effectRef idx="2"><a:schemeClr val="accent1"/></a:effectRef><a:fontRef idx="minor"><a:schemeClr val="lt1"/></a:fontRef></p:style><p:txBody><a:bodyPr rtlCol="0" anchor="ctr"/><a:lstStyle/><a:p><a:r><a:rPr lang="fr-FR" sz="2400" b="1" dirty="0"><a:solidFill><a:schemeClr val="bg1"/></a:solidFill></a:rPr><a:t>Questions</a:t></a:r></a:p></p:txBody></p:sp></p:grpSp><p:sp><p:nvSpPr><p:cNvPr id="2" name="Flèche : droite 1"><a:hlinkClick r:id="" action="ppaction://hlinkshowjump?jump=nextslide"/><a:extLst><a:ext uri="{FF2B5EF4-FFF2-40B4-BE49-F238E27FC236}"><a16:creationId xmlns:a16="http://schemas.microsoft.com/office/drawing/2014/main" id="{75CFB021-8B6D-8A4B-8274-768963C4D5AC}"/></a:ext></a:extLst></p:cNvPr><p:cNvSpPr/><p:nvPr/></p:nvSpPr><p:spPr><a:xfrm><a:off x="8834234" y="6367029"/><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3" name="Flèche : droite 2"><a:hlinkClick r:id="" action="ppaction://hlinkshowjump?jump=previousslide"/><a:extLst><a:ext uri="{FF2B5EF4-FFF2-40B4-BE49-F238E27FC236}"><a16:creationId xmlns:a16="http://schemas.microsoft.com/office/drawing/2014/main" id="{7EA4B610-F89A-CD39-BC58-4FD01528942C}"/></a:ext></a:extLst></p:cNvPr><p:cNvSpPr/><p:nvPr/></p:nvSpPr><p:spPr><a:xfrm rot="10800000"><a:off x="-150" y="6336908"/><a:ext cx="324000" cy="288000"/></a:xfrm><a:prstGeom prst="rightArrow"><a:avLst/></a:prstGeom><a:noFill/></p:spPr><p:style><a:lnRef idx="1"><a:schemeClr val="accent1"/></a:lnRef><a:fillRef idx="3"><a:schemeClr val="accent1"/></a:fillRef><a:effectRef idx="2"><a:schemeClr val="accent1"/></a:effectRef><a:fontRef idx="minor"><a:schemeClr val="lt1"/></a:fontRef></p:style><p:txBody><a:bodyPr rtlCol="0" anchor="ctr"/><a:lstStyle/><a:p><a:pPr algn="ctr"/><a:endParaRPr lang="fr-FR"/></a:p></p:txBody></p:sp><p:sp><p:nvSpPr><p:cNvPr id="990001" name="Pied de page FLE"/><p:cNvSpPr><a:spLocks noGrp="1"/></p:cNvSpPr><p:nvPr/></p:nvSpPr><p:spPr><a:xfrm><a:off x="-228600" y="-457200"/><a:ext cx="0" cy="274320"/></a:xfrm><a:prstGeom prst="rect"><a:avLst/></a:prstGeom></p:spPr><p:txBody><a:bodyPr anchor="b"/><a:lstStyle/><a:p><a:pPr algn="r"><a:defRPr sz="900"><a:solidFill><a:srgbClr val="9AA7B6"/></a:solidFill><a:latin typeface="Poppins"/></a:defRPr></a:pPr><a:r><a:rPr lang="fr-FR" sz="900"><a:solidFill><a:srgbClr val="9AA7B6"/></a:solidFill><a:latin typeface="Poppins"/></a:rPr><a:t>Université de Mostaganem — Dr. Madani BELACEL</a:t></a:r></a:p></p:txBody></p:sp></p:spTree></p:cSld><p:clrMapOvr><a:masterClrMapping/></p:clrMapOvr></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capture d’écran&#10;&#10;Le contenu généré par l’IA peut être incorrect.">
            <a:extLst>
              <a:ext uri="{FF2B5EF4-FFF2-40B4-BE49-F238E27FC236}">
                <a16:creationId xmlns:a16="http://schemas.microsoft.com/office/drawing/2014/main" id="{319C7991-7987-E304-8B69-E0E3C1353340}"/>
              </a:ext>
            </a:extLst>
          </p:cNvPr>
          <p:cNvPicPr>
            <a:picLocks noChangeAspect="1"/>
          </p:cNvPicPr>
          <p:nvPr/>
        </p:nvPicPr>
        <p:blipFill>
          <a:blip r:embed="rId3"/>
          <a:stretch>
            <a:fillRect/>
          </a:stretch>
        </p:blipFill>
        <p:spPr>
          <a:xfrm>
            <a:off x="0" y="0"/>
            <a:ext cx="9144000" cy="5103628"/>
          </a:xfrm>
          <a:prstGeom prst="rect">
            <a:avLst/>
          </a:prstGeom>
        </p:spPr>
      </p:pic>
      <p:sp>
        <p:nvSpPr>
          <p:cNvPr id="7" name="ZoneTexte 6">
            <a:extLst>
              <a:ext uri="{FF2B5EF4-FFF2-40B4-BE49-F238E27FC236}">
                <a16:creationId xmlns:a16="http://schemas.microsoft.com/office/drawing/2014/main" id="{C47629F2-8540-E3CC-FFAD-9A5663D008B2}"/>
              </a:ext>
            </a:extLst>
          </p:cNvPr>
          <p:cNvSpPr txBox="1"/>
          <p:nvPr/>
        </p:nvSpPr>
        <p:spPr>
          <a:xfrm>
            <a:off x="1548063" y="5145148"/>
            <a:ext cx="457200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Prototype expérimental réel sur ESP32 – Implémentation </a:t>
            </a:r>
            <a:r>
              <a:rPr lang="fr-FR" dirty="0" err="1">
                <a:effectLst/>
              </a:rPr>
              <a:t>Contiki</a:t>
            </a:r>
            <a:r>
              <a:rPr lang="fr-FR" dirty="0">
                <a:effectLst/>
              </a:rPr>
              <a:t>-NG des protocoles </a:t>
            </a:r>
            <a:r>
              <a:rPr lang="fr-FR" dirty="0" err="1">
                <a:effectLst/>
              </a:rPr>
              <a:t>RPLMQoS</a:t>
            </a:r>
            <a:r>
              <a:rPr lang="fr-FR" dirty="0">
                <a:effectLst/>
              </a:rPr>
              <a:t> et AER-RPL avec capteurs et récupération d’énergie</a:t>
            </a:r>
          </a:p>
        </p:txBody>
      </p:sp>
      <p:sp>
        <p:nvSpPr>
          <p:cNvPr id="990001" name="Pied de page FLE"/>
          <p:cNvSpPr>
            <a:spLocks noGrp="1"/>
          </p:cNvSpPr>
          <p:nvPr/>
        </p:nvSpPr>
        <p:spPr>
          <a:xfrm>
            <a:off x="-228600" y="-457200"/>
            <a:ext cx="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extLst>
      <p:ext uri="{BB962C8B-B14F-4D97-AF65-F5344CB8AC3E}">
        <p14:creationId xmlns:p14="http://schemas.microsoft.com/office/powerpoint/2010/main" val="395775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12585</TotalTime>
  <Words>8270</Words>
  <Application>Microsoft Office PowerPoint</Application>
  <PresentationFormat>Affichage à l'écran (4:3)</PresentationFormat>
  <Paragraphs>664</Paragraphs>
  <Slides>36</Slides>
  <Notes>26</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36</vt:i4>
      </vt:variant>
    </vt:vector>
  </HeadingPairs>
  <TitlesOfParts>
    <vt:vector size="51" baseType="lpstr">
      <vt:lpstr>Apple Color Emoji</vt:lpstr>
      <vt:lpstr>Aptos</vt:lpstr>
      <vt:lpstr>Arial</vt:lpstr>
      <vt:lpstr>Calibri</vt:lpstr>
      <vt:lpstr>Century</vt:lpstr>
      <vt:lpstr>Inter</vt:lpstr>
      <vt:lpstr>Inter SemiBold</vt:lpstr>
      <vt:lpstr>LMSans12-Regular</vt:lpstr>
      <vt:lpstr>NimbusRomNo9L-Medi</vt:lpstr>
      <vt:lpstr>Palatino Linotype</vt:lpstr>
      <vt:lpstr>Segoe UI Emoji</vt:lpstr>
      <vt:lpstr>Segoe UI Symbol</vt:lpstr>
      <vt:lpstr>Times New Roman</vt:lpstr>
      <vt:lpstr>ui-sans-serif</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islem oussama</dc:creator>
  <cp:keywords/>
  <dc:description>generated using python-pptx</dc:description>
  <cp:lastModifiedBy>islem oussama</cp:lastModifiedBy>
  <cp:revision>280</cp:revision>
  <dcterms:created xsi:type="dcterms:W3CDTF">2013-01-27T09:14:16Z</dcterms:created>
  <dcterms:modified xsi:type="dcterms:W3CDTF">2026-04-20T19:42:00Z</dcterms:modified>
  <cp:category/>
</cp:coreProperties>
</file>