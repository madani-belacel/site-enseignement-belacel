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</p:sldIdLst>
  <p:sldSz cx="9144000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A5C33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914400"/>
            <a:ext cx="768096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3200" b="1">
                <a:solidFill>
                  <a:srgbClr val="FFFFFF"/>
                </a:solidFill>
                <a:latin typeface="Calibri"/>
              </a:defRPr>
            </a:pPr>
            <a:r>
              <a:t>Dialogue 11 — Washing the Dishes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2103120"/>
            <a:ext cx="768096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000" b="0">
                <a:solidFill>
                  <a:srgbClr val="C5D9C7"/>
                </a:solidFill>
                <a:latin typeface="Calibri"/>
              </a:defRPr>
            </a:pPr>
            <a:r>
              <a:t>📖 Niveau 19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3200400"/>
            <a:ext cx="768096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400" b="0">
                <a:solidFill>
                  <a:srgbClr val="A0C0A8"/>
                </a:solidFill>
                <a:latin typeface="Calibri"/>
              </a:defRPr>
            </a:pPr>
            <a:r>
              <a:t>Dr. BELACEL Madani — Université de Mostaganem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3931920"/>
            <a:ext cx="768096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200" b="0">
                <a:solidFill>
                  <a:srgbClr val="80B088"/>
                </a:solidFill>
                <a:latin typeface="Calibri"/>
              </a:defRPr>
            </a:pPr>
            <a:r>
              <a:t>Dialogue 11 / 20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73152"/>
          </a:xfrm>
          <a:prstGeom prst="rect">
            <a:avLst/>
          </a:prstGeom>
          <a:solidFill>
            <a:srgbClr val="2C6E4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37160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666666"/>
                </a:solidFill>
                <a:latin typeface="Calibri"/>
              </a:defRPr>
            </a:pPr>
            <a:r>
              <a:t>Dialogue 11 — Washing the Dishes  |  📖 Niveau 19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0" y="137160"/>
            <a:ext cx="10972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000" b="0">
                <a:solidFill>
                  <a:srgbClr val="666666"/>
                </a:solidFill>
                <a:latin typeface="Calibri"/>
              </a:defRPr>
            </a:pPr>
            <a:r>
              <a:t>1/8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594360"/>
            <a:ext cx="8229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400" b="1">
                <a:solidFill>
                  <a:srgbClr val="B45309"/>
                </a:solidFill>
                <a:latin typeface="Calibri"/>
              </a:defRPr>
            </a:pPr>
            <a:r>
              <a:t>Madani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1097280"/>
            <a:ext cx="8229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200" b="0">
                <a:solidFill>
                  <a:srgbClr val="222222"/>
                </a:solidFill>
                <a:latin typeface="Calibri"/>
              </a:defRPr>
            </a:pPr>
            <a:r>
              <a:t>After the meal, the dishes need washing. Who will help?</a:t>
            </a:r>
          </a:p>
        </p:txBody>
      </p:sp>
      <p:sp>
        <p:nvSpPr>
          <p:cNvPr id="7" name="Rectangle 6"/>
          <p:cNvSpPr/>
          <p:nvPr/>
        </p:nvSpPr>
        <p:spPr>
          <a:xfrm>
            <a:off x="457200" y="2606040"/>
            <a:ext cx="8229600" cy="18288"/>
          </a:xfrm>
          <a:prstGeom prst="rect">
            <a:avLst/>
          </a:prstGeom>
          <a:solidFill>
            <a:srgbClr val="E8F0E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57200" y="27432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2C6E49"/>
                </a:solidFill>
                <a:latin typeface="Calibri"/>
              </a:defRPr>
            </a:pPr>
            <a:r>
              <a:t>الترجمة :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3108960"/>
            <a:ext cx="822960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2000" b="0">
                <a:solidFill>
                  <a:srgbClr val="1A3C6E"/>
                </a:solidFill>
                <a:latin typeface="Traditional Arabic"/>
              </a:defRPr>
            </a:pPr>
            <a:r>
              <a:t>من سيساعد؟. تحتاج الصحون إلى غسل،بعد الوجبة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57200" y="45720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666666"/>
                </a:solidFill>
                <a:latin typeface="Calibri"/>
              </a:defRPr>
            </a:pPr>
            <a:r>
              <a:t>Audio : Dialogue_11_Washing_the_Dishes/01_Madani.mp3</a:t>
            </a:r>
          </a:p>
        </p:txBody>
      </p:sp>
      <p:sp>
        <p:nvSpPr>
          <p:cNvPr id="11" name="Rectangle 10"/>
          <p:cNvSpPr/>
          <p:nvPr/>
        </p:nvSpPr>
        <p:spPr>
          <a:xfrm>
            <a:off x="0" y="6784848"/>
            <a:ext cx="9144000" cy="73152"/>
          </a:xfrm>
          <a:prstGeom prst="rect">
            <a:avLst/>
          </a:prstGeom>
          <a:solidFill>
            <a:srgbClr val="1A5C3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73152"/>
          </a:xfrm>
          <a:prstGeom prst="rect">
            <a:avLst/>
          </a:prstGeom>
          <a:solidFill>
            <a:srgbClr val="2C6E4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37160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666666"/>
                </a:solidFill>
                <a:latin typeface="Calibri"/>
              </a:defRPr>
            </a:pPr>
            <a:r>
              <a:t>Dialogue 11 — Washing the Dishes  |  📖 Niveau 19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0" y="137160"/>
            <a:ext cx="10972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000" b="0">
                <a:solidFill>
                  <a:srgbClr val="666666"/>
                </a:solidFill>
                <a:latin typeface="Calibri"/>
              </a:defRPr>
            </a:pPr>
            <a:r>
              <a:t>2/8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594360"/>
            <a:ext cx="8229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400" b="1">
                <a:solidFill>
                  <a:srgbClr val="B45309"/>
                </a:solidFill>
                <a:latin typeface="Calibri"/>
              </a:defRPr>
            </a:pPr>
            <a:r>
              <a:t>Oussama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1097280"/>
            <a:ext cx="8229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200" b="0">
                <a:solidFill>
                  <a:srgbClr val="222222"/>
                </a:solidFill>
                <a:latin typeface="Calibri"/>
              </a:defRPr>
            </a:pPr>
            <a:r>
              <a:t>I will wash the plates and glasses carefully with soap and warm water.</a:t>
            </a:r>
          </a:p>
        </p:txBody>
      </p:sp>
      <p:sp>
        <p:nvSpPr>
          <p:cNvPr id="7" name="Rectangle 6"/>
          <p:cNvSpPr/>
          <p:nvPr/>
        </p:nvSpPr>
        <p:spPr>
          <a:xfrm>
            <a:off x="457200" y="2606040"/>
            <a:ext cx="8229600" cy="18288"/>
          </a:xfrm>
          <a:prstGeom prst="rect">
            <a:avLst/>
          </a:prstGeom>
          <a:solidFill>
            <a:srgbClr val="E8F0E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57200" y="27432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2C6E49"/>
                </a:solidFill>
                <a:latin typeface="Calibri"/>
              </a:defRPr>
            </a:pPr>
            <a:r>
              <a:t>الترجمة :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3108960"/>
            <a:ext cx="822960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2000" b="0">
                <a:solidFill>
                  <a:srgbClr val="1A3C6E"/>
                </a:solidFill>
                <a:latin typeface="Traditional Arabic"/>
              </a:defRPr>
            </a:pPr>
            <a:r>
              <a:t>.سأغسل الصحون والأكواب بعناية بالصابون والماء الدافئ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57200" y="45720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666666"/>
                </a:solidFill>
                <a:latin typeface="Calibri"/>
              </a:defRPr>
            </a:pPr>
            <a:r>
              <a:t>Audio : Dialogue_11_Washing_the_Dishes/02_Oussama.mp3</a:t>
            </a:r>
          </a:p>
        </p:txBody>
      </p:sp>
      <p:sp>
        <p:nvSpPr>
          <p:cNvPr id="11" name="Rectangle 10"/>
          <p:cNvSpPr/>
          <p:nvPr/>
        </p:nvSpPr>
        <p:spPr>
          <a:xfrm>
            <a:off x="0" y="6784848"/>
            <a:ext cx="9144000" cy="73152"/>
          </a:xfrm>
          <a:prstGeom prst="rect">
            <a:avLst/>
          </a:prstGeom>
          <a:solidFill>
            <a:srgbClr val="1A5C3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73152"/>
          </a:xfrm>
          <a:prstGeom prst="rect">
            <a:avLst/>
          </a:prstGeom>
          <a:solidFill>
            <a:srgbClr val="2C6E4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37160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666666"/>
                </a:solidFill>
                <a:latin typeface="Calibri"/>
              </a:defRPr>
            </a:pPr>
            <a:r>
              <a:t>Dialogue 11 — Washing the Dishes  |  📖 Niveau 19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0" y="137160"/>
            <a:ext cx="10972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000" b="0">
                <a:solidFill>
                  <a:srgbClr val="666666"/>
                </a:solidFill>
                <a:latin typeface="Calibri"/>
              </a:defRPr>
            </a:pPr>
            <a:r>
              <a:t>3/8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594360"/>
            <a:ext cx="8229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400" b="1">
                <a:solidFill>
                  <a:srgbClr val="B45309"/>
                </a:solidFill>
                <a:latin typeface="Calibri"/>
              </a:defRPr>
            </a:pPr>
            <a:r>
              <a:t>Islem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1097280"/>
            <a:ext cx="8229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200" b="0">
                <a:solidFill>
                  <a:srgbClr val="222222"/>
                </a:solidFill>
                <a:latin typeface="Calibri"/>
              </a:defRPr>
            </a:pPr>
            <a:r>
              <a:t>I will dry them with a clean towel and put them in their places.</a:t>
            </a:r>
          </a:p>
        </p:txBody>
      </p:sp>
      <p:sp>
        <p:nvSpPr>
          <p:cNvPr id="7" name="Rectangle 6"/>
          <p:cNvSpPr/>
          <p:nvPr/>
        </p:nvSpPr>
        <p:spPr>
          <a:xfrm>
            <a:off x="457200" y="2606040"/>
            <a:ext cx="8229600" cy="18288"/>
          </a:xfrm>
          <a:prstGeom prst="rect">
            <a:avLst/>
          </a:prstGeom>
          <a:solidFill>
            <a:srgbClr val="E8F0E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57200" y="27432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2C6E49"/>
                </a:solidFill>
                <a:latin typeface="Calibri"/>
              </a:defRPr>
            </a:pPr>
            <a:r>
              <a:t>الترجمة :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3108960"/>
            <a:ext cx="822960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2000" b="0">
                <a:solidFill>
                  <a:srgbClr val="1A3C6E"/>
                </a:solidFill>
                <a:latin typeface="Traditional Arabic"/>
              </a:defRPr>
            </a:pPr>
            <a:r>
              <a:t>.سأنشفها بمنشفة نظيفة وأضعها في أماكنها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57200" y="45720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666666"/>
                </a:solidFill>
                <a:latin typeface="Calibri"/>
              </a:defRPr>
            </a:pPr>
            <a:r>
              <a:t>Audio : Dialogue_11_Washing_the_Dishes/03_Islem.mp3</a:t>
            </a:r>
          </a:p>
        </p:txBody>
      </p:sp>
      <p:sp>
        <p:nvSpPr>
          <p:cNvPr id="11" name="Rectangle 10"/>
          <p:cNvSpPr/>
          <p:nvPr/>
        </p:nvSpPr>
        <p:spPr>
          <a:xfrm>
            <a:off x="0" y="6784848"/>
            <a:ext cx="9144000" cy="73152"/>
          </a:xfrm>
          <a:prstGeom prst="rect">
            <a:avLst/>
          </a:prstGeom>
          <a:solidFill>
            <a:srgbClr val="1A5C3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73152"/>
          </a:xfrm>
          <a:prstGeom prst="rect">
            <a:avLst/>
          </a:prstGeom>
          <a:solidFill>
            <a:srgbClr val="2C6E4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37160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666666"/>
                </a:solidFill>
                <a:latin typeface="Calibri"/>
              </a:defRPr>
            </a:pPr>
            <a:r>
              <a:t>Dialogue 11 — Washing the Dishes  |  📖 Niveau 19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0" y="137160"/>
            <a:ext cx="10972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000" b="0">
                <a:solidFill>
                  <a:srgbClr val="666666"/>
                </a:solidFill>
                <a:latin typeface="Calibri"/>
              </a:defRPr>
            </a:pPr>
            <a:r>
              <a:t>4/8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594360"/>
            <a:ext cx="8229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400" b="1">
                <a:solidFill>
                  <a:srgbClr val="B45309"/>
                </a:solidFill>
                <a:latin typeface="Calibri"/>
              </a:defRPr>
            </a:pPr>
            <a:r>
              <a:t>Anes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1097280"/>
            <a:ext cx="8229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200" b="0">
                <a:solidFill>
                  <a:srgbClr val="222222"/>
                </a:solidFill>
                <a:latin typeface="Calibri"/>
              </a:defRPr>
            </a:pPr>
            <a:r>
              <a:t>Can I rinse the spoons and forks?</a:t>
            </a:r>
          </a:p>
        </p:txBody>
      </p:sp>
      <p:sp>
        <p:nvSpPr>
          <p:cNvPr id="7" name="Rectangle 6"/>
          <p:cNvSpPr/>
          <p:nvPr/>
        </p:nvSpPr>
        <p:spPr>
          <a:xfrm>
            <a:off x="457200" y="2606040"/>
            <a:ext cx="8229600" cy="18288"/>
          </a:xfrm>
          <a:prstGeom prst="rect">
            <a:avLst/>
          </a:prstGeom>
          <a:solidFill>
            <a:srgbClr val="E8F0E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57200" y="27432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2C6E49"/>
                </a:solidFill>
                <a:latin typeface="Calibri"/>
              </a:defRPr>
            </a:pPr>
            <a:r>
              <a:t>الترجمة :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3108960"/>
            <a:ext cx="822960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2000" b="0">
                <a:solidFill>
                  <a:srgbClr val="1A3C6E"/>
                </a:solidFill>
                <a:latin typeface="Traditional Arabic"/>
              </a:defRPr>
            </a:pPr>
            <a:r>
              <a:t>هل يمكنني شطف الملاعق والشوك؟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57200" y="45720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666666"/>
                </a:solidFill>
                <a:latin typeface="Calibri"/>
              </a:defRPr>
            </a:pPr>
            <a:r>
              <a:t>Audio : Dialogue_11_Washing_the_Dishes/04_Anes.mp3</a:t>
            </a:r>
          </a:p>
        </p:txBody>
      </p:sp>
      <p:sp>
        <p:nvSpPr>
          <p:cNvPr id="11" name="Rectangle 10"/>
          <p:cNvSpPr/>
          <p:nvPr/>
        </p:nvSpPr>
        <p:spPr>
          <a:xfrm>
            <a:off x="0" y="6784848"/>
            <a:ext cx="9144000" cy="73152"/>
          </a:xfrm>
          <a:prstGeom prst="rect">
            <a:avLst/>
          </a:prstGeom>
          <a:solidFill>
            <a:srgbClr val="1A5C3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73152"/>
          </a:xfrm>
          <a:prstGeom prst="rect">
            <a:avLst/>
          </a:prstGeom>
          <a:solidFill>
            <a:srgbClr val="2C6E4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37160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666666"/>
                </a:solidFill>
                <a:latin typeface="Calibri"/>
              </a:defRPr>
            </a:pPr>
            <a:r>
              <a:t>Dialogue 11 — Washing the Dishes  |  📖 Niveau 19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0" y="137160"/>
            <a:ext cx="10972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000" b="0">
                <a:solidFill>
                  <a:srgbClr val="666666"/>
                </a:solidFill>
                <a:latin typeface="Calibri"/>
              </a:defRPr>
            </a:pPr>
            <a:r>
              <a:t>5/8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594360"/>
            <a:ext cx="8229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400" b="1">
                <a:solidFill>
                  <a:srgbClr val="B45309"/>
                </a:solidFill>
                <a:latin typeface="Calibri"/>
              </a:defRPr>
            </a:pPr>
            <a:r>
              <a:t>Madani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1097280"/>
            <a:ext cx="8229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200" b="0">
                <a:solidFill>
                  <a:srgbClr val="222222"/>
                </a:solidFill>
                <a:latin typeface="Calibri"/>
              </a:defRPr>
            </a:pPr>
            <a:r>
              <a:t>Yes. Rinsing well removes the soap and keeps them clean.</a:t>
            </a:r>
          </a:p>
        </p:txBody>
      </p:sp>
      <p:sp>
        <p:nvSpPr>
          <p:cNvPr id="7" name="Rectangle 6"/>
          <p:cNvSpPr/>
          <p:nvPr/>
        </p:nvSpPr>
        <p:spPr>
          <a:xfrm>
            <a:off x="457200" y="2606040"/>
            <a:ext cx="8229600" cy="18288"/>
          </a:xfrm>
          <a:prstGeom prst="rect">
            <a:avLst/>
          </a:prstGeom>
          <a:solidFill>
            <a:srgbClr val="E8F0E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57200" y="27432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2C6E49"/>
                </a:solidFill>
                <a:latin typeface="Calibri"/>
              </a:defRPr>
            </a:pPr>
            <a:r>
              <a:t>الترجمة :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3108960"/>
            <a:ext cx="822960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2000" b="0">
                <a:solidFill>
                  <a:srgbClr val="1A3C6E"/>
                </a:solidFill>
                <a:latin typeface="Traditional Arabic"/>
              </a:defRPr>
            </a:pPr>
            <a:r>
              <a:t>. الشطف الجيد يزيل الصابون ويبقيها نظيفة.نعم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57200" y="45720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666666"/>
                </a:solidFill>
                <a:latin typeface="Calibri"/>
              </a:defRPr>
            </a:pPr>
            <a:r>
              <a:t>Audio : Dialogue_11_Washing_the_Dishes/05_Madani.mp3</a:t>
            </a:r>
          </a:p>
        </p:txBody>
      </p:sp>
      <p:sp>
        <p:nvSpPr>
          <p:cNvPr id="11" name="Rectangle 10"/>
          <p:cNvSpPr/>
          <p:nvPr/>
        </p:nvSpPr>
        <p:spPr>
          <a:xfrm>
            <a:off x="0" y="6784848"/>
            <a:ext cx="9144000" cy="73152"/>
          </a:xfrm>
          <a:prstGeom prst="rect">
            <a:avLst/>
          </a:prstGeom>
          <a:solidFill>
            <a:srgbClr val="1A5C3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73152"/>
          </a:xfrm>
          <a:prstGeom prst="rect">
            <a:avLst/>
          </a:prstGeom>
          <a:solidFill>
            <a:srgbClr val="2C6E4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37160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666666"/>
                </a:solidFill>
                <a:latin typeface="Calibri"/>
              </a:defRPr>
            </a:pPr>
            <a:r>
              <a:t>Dialogue 11 — Washing the Dishes  |  📖 Niveau 19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0" y="137160"/>
            <a:ext cx="10972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000" b="0">
                <a:solidFill>
                  <a:srgbClr val="666666"/>
                </a:solidFill>
                <a:latin typeface="Calibri"/>
              </a:defRPr>
            </a:pPr>
            <a:r>
              <a:t>6/8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594360"/>
            <a:ext cx="8229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400" b="1">
                <a:solidFill>
                  <a:srgbClr val="B45309"/>
                </a:solidFill>
                <a:latin typeface="Calibri"/>
              </a:defRPr>
            </a:pPr>
            <a:r>
              <a:t>Oussama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1097280"/>
            <a:ext cx="8229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200" b="0">
                <a:solidFill>
                  <a:srgbClr val="222222"/>
                </a:solidFill>
                <a:latin typeface="Calibri"/>
              </a:defRPr>
            </a:pPr>
            <a:r>
              <a:t>Washing dishes is a simple but important daily job.</a:t>
            </a:r>
          </a:p>
        </p:txBody>
      </p:sp>
      <p:sp>
        <p:nvSpPr>
          <p:cNvPr id="7" name="Rectangle 6"/>
          <p:cNvSpPr/>
          <p:nvPr/>
        </p:nvSpPr>
        <p:spPr>
          <a:xfrm>
            <a:off x="457200" y="2606040"/>
            <a:ext cx="8229600" cy="18288"/>
          </a:xfrm>
          <a:prstGeom prst="rect">
            <a:avLst/>
          </a:prstGeom>
          <a:solidFill>
            <a:srgbClr val="E8F0E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57200" y="27432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2C6E49"/>
                </a:solidFill>
                <a:latin typeface="Calibri"/>
              </a:defRPr>
            </a:pPr>
            <a:r>
              <a:t>الترجمة :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3108960"/>
            <a:ext cx="822960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2000" b="0">
                <a:solidFill>
                  <a:srgbClr val="1A3C6E"/>
                </a:solidFill>
                <a:latin typeface="Traditional Arabic"/>
              </a:defRPr>
            </a:pPr>
            <a:r>
              <a:t>.غسل الصحون عمل يومي بسيط لكنه مهم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57200" y="45720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666666"/>
                </a:solidFill>
                <a:latin typeface="Calibri"/>
              </a:defRPr>
            </a:pPr>
            <a:r>
              <a:t>Audio : Dialogue_11_Washing_the_Dishes/06_Oussama.mp3</a:t>
            </a:r>
          </a:p>
        </p:txBody>
      </p:sp>
      <p:sp>
        <p:nvSpPr>
          <p:cNvPr id="11" name="Rectangle 10"/>
          <p:cNvSpPr/>
          <p:nvPr/>
        </p:nvSpPr>
        <p:spPr>
          <a:xfrm>
            <a:off x="0" y="6784848"/>
            <a:ext cx="9144000" cy="73152"/>
          </a:xfrm>
          <a:prstGeom prst="rect">
            <a:avLst/>
          </a:prstGeom>
          <a:solidFill>
            <a:srgbClr val="1A5C3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73152"/>
          </a:xfrm>
          <a:prstGeom prst="rect">
            <a:avLst/>
          </a:prstGeom>
          <a:solidFill>
            <a:srgbClr val="2C6E4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37160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666666"/>
                </a:solidFill>
                <a:latin typeface="Calibri"/>
              </a:defRPr>
            </a:pPr>
            <a:r>
              <a:t>Dialogue 11 — Washing the Dishes  |  📖 Niveau 19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0" y="137160"/>
            <a:ext cx="10972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000" b="0">
                <a:solidFill>
                  <a:srgbClr val="666666"/>
                </a:solidFill>
                <a:latin typeface="Calibri"/>
              </a:defRPr>
            </a:pPr>
            <a:r>
              <a:t>7/8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594360"/>
            <a:ext cx="8229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400" b="1">
                <a:solidFill>
                  <a:srgbClr val="B45309"/>
                </a:solidFill>
                <a:latin typeface="Calibri"/>
              </a:defRPr>
            </a:pPr>
            <a:r>
              <a:t>Islem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1097280"/>
            <a:ext cx="8229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200" b="0">
                <a:solidFill>
                  <a:srgbClr val="222222"/>
                </a:solidFill>
                <a:latin typeface="Calibri"/>
              </a:defRPr>
            </a:pPr>
            <a:r>
              <a:t>When we share the work, no one feels overloaded.</a:t>
            </a:r>
          </a:p>
        </p:txBody>
      </p:sp>
      <p:sp>
        <p:nvSpPr>
          <p:cNvPr id="7" name="Rectangle 6"/>
          <p:cNvSpPr/>
          <p:nvPr/>
        </p:nvSpPr>
        <p:spPr>
          <a:xfrm>
            <a:off x="457200" y="2606040"/>
            <a:ext cx="8229600" cy="18288"/>
          </a:xfrm>
          <a:prstGeom prst="rect">
            <a:avLst/>
          </a:prstGeom>
          <a:solidFill>
            <a:srgbClr val="E8F0E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57200" y="27432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2C6E49"/>
                </a:solidFill>
                <a:latin typeface="Calibri"/>
              </a:defRPr>
            </a:pPr>
            <a:r>
              <a:t>الترجمة :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3108960"/>
            <a:ext cx="822960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2000" b="0">
                <a:solidFill>
                  <a:srgbClr val="1A3C6E"/>
                </a:solidFill>
                <a:latin typeface="Traditional Arabic"/>
              </a:defRPr>
            </a:pPr>
            <a:r>
              <a:t>. لا يشعر أحد بالإرهاق،عندما نتشارك العمل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57200" y="45720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666666"/>
                </a:solidFill>
                <a:latin typeface="Calibri"/>
              </a:defRPr>
            </a:pPr>
            <a:r>
              <a:t>Audio : Dialogue_11_Washing_the_Dishes/07_Islem.mp3</a:t>
            </a:r>
          </a:p>
        </p:txBody>
      </p:sp>
      <p:sp>
        <p:nvSpPr>
          <p:cNvPr id="11" name="Rectangle 10"/>
          <p:cNvSpPr/>
          <p:nvPr/>
        </p:nvSpPr>
        <p:spPr>
          <a:xfrm>
            <a:off x="0" y="6784848"/>
            <a:ext cx="9144000" cy="73152"/>
          </a:xfrm>
          <a:prstGeom prst="rect">
            <a:avLst/>
          </a:prstGeom>
          <a:solidFill>
            <a:srgbClr val="1A5C3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73152"/>
          </a:xfrm>
          <a:prstGeom prst="rect">
            <a:avLst/>
          </a:prstGeom>
          <a:solidFill>
            <a:srgbClr val="2C6E4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37160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666666"/>
                </a:solidFill>
                <a:latin typeface="Calibri"/>
              </a:defRPr>
            </a:pPr>
            <a:r>
              <a:t>Dialogue 11 — Washing the Dishes  |  📖 Niveau 19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0" y="137160"/>
            <a:ext cx="10972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000" b="0">
                <a:solidFill>
                  <a:srgbClr val="666666"/>
                </a:solidFill>
                <a:latin typeface="Calibri"/>
              </a:defRPr>
            </a:pPr>
            <a:r>
              <a:t>8/8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594360"/>
            <a:ext cx="8229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400" b="1">
                <a:solidFill>
                  <a:srgbClr val="B45309"/>
                </a:solidFill>
                <a:latin typeface="Calibri"/>
              </a:defRPr>
            </a:pPr>
            <a:r>
              <a:t>Madani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1097280"/>
            <a:ext cx="8229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200" b="0">
                <a:solidFill>
                  <a:srgbClr val="222222"/>
                </a:solidFill>
                <a:latin typeface="Calibri"/>
              </a:defRPr>
            </a:pPr>
            <a:r>
              <a:t>Yes. Completing the meal cycle with cleaning shows respect for the home.</a:t>
            </a:r>
          </a:p>
        </p:txBody>
      </p:sp>
      <p:sp>
        <p:nvSpPr>
          <p:cNvPr id="7" name="Rectangle 6"/>
          <p:cNvSpPr/>
          <p:nvPr/>
        </p:nvSpPr>
        <p:spPr>
          <a:xfrm>
            <a:off x="457200" y="2606040"/>
            <a:ext cx="8229600" cy="18288"/>
          </a:xfrm>
          <a:prstGeom prst="rect">
            <a:avLst/>
          </a:prstGeom>
          <a:solidFill>
            <a:srgbClr val="E8F0E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57200" y="27432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2C6E49"/>
                </a:solidFill>
                <a:latin typeface="Calibri"/>
              </a:defRPr>
            </a:pPr>
            <a:r>
              <a:t>الترجمة :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3108960"/>
            <a:ext cx="822960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2000" b="0">
                <a:solidFill>
                  <a:srgbClr val="1A3C6E"/>
                </a:solidFill>
                <a:latin typeface="Traditional Arabic"/>
              </a:defRPr>
            </a:pPr>
            <a:r>
              <a:t>. إكمال دورة الوجبة بالتنظيف يظهر الاحترام للبيت.نعم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57200" y="45720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666666"/>
                </a:solidFill>
                <a:latin typeface="Calibri"/>
              </a:defRPr>
            </a:pPr>
            <a:r>
              <a:t>Audio : Dialogue_11_Washing_the_Dishes/08_Madani.mp3</a:t>
            </a:r>
          </a:p>
        </p:txBody>
      </p:sp>
      <p:sp>
        <p:nvSpPr>
          <p:cNvPr id="11" name="Rectangle 10"/>
          <p:cNvSpPr/>
          <p:nvPr/>
        </p:nvSpPr>
        <p:spPr>
          <a:xfrm>
            <a:off x="0" y="6784848"/>
            <a:ext cx="9144000" cy="73152"/>
          </a:xfrm>
          <a:prstGeom prst="rect">
            <a:avLst/>
          </a:prstGeom>
          <a:solidFill>
            <a:srgbClr val="1A5C3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