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SI S5 — Couche Réseau : IP et subnetting avancé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**Concevoir** un plan d'adressage **VLSM** optimisé pour une topologie multi-réseaux.</a:t>
            </a:r>
          </a:p>
          <a:p>
            <a:pPr>
              <a:defRPr sz="2000"/>
            </a:pPr>
            <a:r>
              <a:t>🎯 **Calculer** rapidement réseau, broadcast, plage hôtes pour tout masque CIDR.</a:t>
            </a:r>
          </a:p>
          <a:p>
            <a:pPr>
              <a:defRPr sz="2000"/>
            </a:pPr>
            <a:r>
              <a:t>🎯 **Configurer** et **expliquer** **NAT** et **PAT** (overload).</a:t>
            </a:r>
          </a:p>
          <a:p>
            <a:pPr>
              <a:defRPr sz="2000"/>
            </a:pPr>
            <a:r>
              <a:t>🎯 **Agréger** des routes (route summarization) pour simplifier les tables de routage.</a:t>
            </a:r>
          </a:p>
          <a:p>
            <a:pPr>
              <a:defRPr sz="2000"/>
            </a:pPr>
            <a:r>
              <a:t>🎯 **Configurer** le routage statique avancé et la passerelle par défaut.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CIDR et VLSM — principes</a:t>
            </a:r>
          </a:p>
          <a:p>
            <a:pPr>
              <a:defRPr sz="2000"/>
            </a:pPr>
            <a:r>
              <a:t>📋 Méthode de calcul VLSM</a:t>
            </a:r>
          </a:p>
          <a:p>
            <a:pPr>
              <a:defRPr sz="2000"/>
            </a:pPr>
            <a:r>
              <a:t>📋 NAT et PAT</a:t>
            </a:r>
          </a:p>
          <a:p>
            <a:pPr>
              <a:defRPr sz="2000"/>
            </a:pPr>
            <a:r>
              <a:t>📋 Agrégation de routes (supernetting)</a:t>
            </a:r>
          </a:p>
          <a:p>
            <a:pPr>
              <a:defRPr sz="2000"/>
            </a:pPr>
            <a:r>
              <a:t>📋 Routage statique avancé</a:t>
            </a:r>
          </a:p>
          <a:p>
            <a:pPr>
              <a:defRPr sz="2000"/>
            </a:pPr>
            <a:r>
              <a:t>📋 Cas pratique complet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**Concevoir** un plan d'adressage **VLSM** optimisé pour une topologie multi-réseaux.</a:t>
            </a:r>
          </a:p>
          <a:p>
            <a:pPr>
              <a:defRPr sz="2000"/>
            </a:pPr>
            <a:r>
              <a:t>1️⃣ **Calculer** rapidement réseau, broadcast, plage hôtes pour tout masque CIDR.</a:t>
            </a:r>
          </a:p>
          <a:p>
            <a:pPr>
              <a:defRPr sz="2000"/>
            </a:pPr>
            <a:r>
              <a:t>1️⃣ **Configurer** et **expliquer** **NAT** et **PAT** (overload).</a:t>
            </a:r>
          </a:p>
          <a:p>
            <a:pPr>
              <a:defRPr sz="2000"/>
            </a:pPr>
            <a:r>
              <a:t>1️⃣ **Agréger** des routes (route summarization) pour simplifier les tables de routage.</a:t>
            </a:r>
          </a:p>
          <a:p>
            <a:pPr>
              <a:defRPr sz="2000"/>
            </a:pPr>
            <a:r>
              <a:t>1️⃣ **Configurer** le routage statique avancé et la passerelle par défaut.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CIDR et VLSM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Méthode de calcul VLSM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Lister les réseaux par **taille décroissante** (plus gros d'abord).</a:t>
            </a:r>
          </a:p>
          <a:p>
            <a:pPr>
              <a:defRPr sz="2000"/>
            </a:pPr>
            <a:r>
              <a:t>3️⃣ Partir du bloc principal (ex. 192.168.1.0/24).</a:t>
            </a:r>
          </a:p>
          <a:p>
            <a:pPr>
              <a:defRPr sz="2000"/>
            </a:pPr>
            <a:r>
              <a:t>3️⃣ Allouer le **plus grand** sous-réseau en premier.</a:t>
            </a:r>
          </a:p>
          <a:p>
            <a:pPr>
              <a:defRPr sz="2000"/>
            </a:pPr>
            <a:r>
              <a:t>3️⃣ Continuer avec la **prochaine adresse réseau disponible**.</a:t>
            </a:r>
          </a:p>
          <a:p>
            <a:pPr>
              <a:defRPr sz="2000"/>
            </a:pPr>
            <a:r>
              <a:t>3️⃣ Vérifier qu'il n'y a **pas de chevauchement**.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NAT et PAT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Casse le modèle **bout-à-bout** (certaines apps : FTP, VoIP, IPsec).</a:t>
            </a:r>
          </a:p>
          <a:p>
            <a:pPr>
              <a:defRPr sz="2000"/>
            </a:pPr>
            <a:r>
              <a:t>4️⃣ Épuisement ports (~64 000 par IP publique).</a:t>
            </a:r>
          </a:p>
          <a:p>
            <a:pPr>
              <a:defRPr sz="2000"/>
            </a:pPr>
            <a:r>
              <a:t>4️⃣ **IPv6** réduit le besoin de NAT (Ch. 06).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Agrégation de routes (Supernetting)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