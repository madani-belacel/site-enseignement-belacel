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02 : Modèle OSI vs TCP/IP</a:t>
            </a:r>
          </a:p>
          <a:p>
            <a:r>
              <a:t>Module Reseaux</a:t>
            </a:r>
          </a:p>
          <a:p>
            <a:r>
              <a:t>Dr. BELACEL Madani — Université de Mostaganem</a:t>
            </a:r>
          </a:p>
          <a:p>
            <a:r>
              <a:t>Année 2026-2027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02 — Diapo 2/10</a:t>
            </a:r>
          </a:p>
          <a:p>
            <a:r>
              <a:t>Modèle OSI vs TCP/IP</a:t>
            </a:r>
          </a:p>
          <a:p>
            <a:r>
              <a:t>Couches, encapsulage PDU, comparaison détaillée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02 — Diapo 3/10</a:t>
            </a:r>
          </a:p>
          <a:p>
            <a:r>
              <a:t>Modèle OSI vs TCP/IP</a:t>
            </a:r>
          </a:p>
          <a:p>
            <a:r>
              <a:t>Couches, encapsulage PDU, comparaison détaillée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02 — Diapo 4/10</a:t>
            </a:r>
          </a:p>
          <a:p>
            <a:r>
              <a:t>Modèle OSI vs TCP/IP</a:t>
            </a:r>
          </a:p>
          <a:p>
            <a:r>
              <a:t>Couches, encapsulage PDU, comparaison détaillée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02 — Diapo 5/10</a:t>
            </a:r>
          </a:p>
          <a:p>
            <a:r>
              <a:t>Modèle OSI vs TCP/IP</a:t>
            </a:r>
          </a:p>
          <a:p>
            <a:r>
              <a:t>Couches, encapsulage PDU, comparaison détaillée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02 — Diapo 6/10</a:t>
            </a:r>
          </a:p>
          <a:p>
            <a:r>
              <a:t>Modèle OSI vs TCP/IP</a:t>
            </a:r>
          </a:p>
          <a:p>
            <a:r>
              <a:t>Couches, encapsulage PDU, comparaison détaillée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02 — Diapo 7/10</a:t>
            </a:r>
          </a:p>
          <a:p>
            <a:r>
              <a:t>Modèle OSI vs TCP/IP</a:t>
            </a:r>
          </a:p>
          <a:p>
            <a:r>
              <a:t>Couches, encapsulage PDU, comparaison détaillée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02 — Diapo 8/10</a:t>
            </a:r>
          </a:p>
          <a:p>
            <a:r>
              <a:t>Modèle OSI vs TCP/IP</a:t>
            </a:r>
          </a:p>
          <a:p>
            <a:r>
              <a:t>Couches, encapsulage PDU, comparaison détaillée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02 — Diapo 9/10</a:t>
            </a:r>
          </a:p>
          <a:p>
            <a:r>
              <a:t>Modèle OSI vs TCP/IP</a:t>
            </a:r>
          </a:p>
          <a:p>
            <a:r>
              <a:t>Couches, encapsulage PDU, comparaison détaillée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02 — Diapo 10/10</a:t>
            </a:r>
          </a:p>
          <a:p>
            <a:r>
              <a:t>Modèle OSI vs TCP/IP</a:t>
            </a:r>
          </a:p>
          <a:p>
            <a:r>
              <a:t>Couches, encapsulage PDU, comparaison détaillée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TP Réseaux SI S5 — Subnetting et VLSM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Licence SI — Semestre 5 — BELACEL Madani — Université de Mostaganem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SI-S5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🎯 Appliquer VLSM sur topologie multi-sites</a:t>
            </a:r>
          </a:p>
          <a:p>
            <a:pPr>
              <a:defRPr sz="2000"/>
            </a:pPr>
            <a:r>
              <a:t>🎯 Configurer interfaces routeur/switch selon plan d'adressage</a:t>
            </a:r>
          </a:p>
          <a:p>
            <a:pPr>
              <a:defRPr sz="2000"/>
            </a:pPr>
            <a:r>
              <a:t>🎯 Vérifier connectivité et tables de routage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SI-S5  •  Diapositive 2/10</a:t>
            </a:r>
          </a:p>
        </p:txBody>
      </p:sp>
      <p:pic>
        <p:nvPicPr>
          <p:cNvPr id="5" name="Picture 4" descr="Reseaux_s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1️⃣ Appliquer VLSM sur topologie multi-sites</a:t>
            </a:r>
          </a:p>
          <a:p>
            <a:pPr>
              <a:defRPr sz="2000"/>
            </a:pPr>
            <a:r>
              <a:t>1️⃣ Configurer interfaces routeur/switch selon plan d'adressage</a:t>
            </a:r>
          </a:p>
          <a:p>
            <a:pPr>
              <a:defRPr sz="2000"/>
            </a:pPr>
            <a:r>
              <a:t>1️⃣ Vérifier connectivité et tables de routage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SI-S5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Partie 1 — Topologie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2️⃣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SI-S5  •  Diapositive 4/10</a:t>
            </a:r>
          </a:p>
        </p:txBody>
      </p:sp>
      <p:pic>
        <p:nvPicPr>
          <p:cNvPr id="5" name="Picture 4" descr="Reseaux_s0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Partie 2 — Consignes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3️⃣ Vérifier le tableau ci-dessus (calcul manuscrit).</a:t>
            </a:r>
          </a:p>
          <a:p>
            <a:pPr>
              <a:defRPr sz="2000"/>
            </a:pPr>
            <a:r>
              <a:t>3️⃣ Assigner IP aux PC : Siège .10, Agence .10, Invités .10.</a:t>
            </a:r>
          </a:p>
          <a:p>
            <a:pPr>
              <a:defRPr sz="2000"/>
            </a:pPr>
            <a:r>
              <a:t>3️⃣ Topologie : R1 (Siège + lien), R2 (Agence + Invités + lien).</a:t>
            </a:r>
          </a:p>
          <a:p>
            <a:pPr>
              <a:defRPr sz="2000"/>
            </a:pPr>
            <a:r>
              <a:t>3️⃣ Configurer toutes interfaces + GW PC.</a:t>
            </a:r>
          </a:p>
          <a:p>
            <a:pPr>
              <a:defRPr sz="2000"/>
            </a:pPr>
            <a:r>
              <a:t>3️⃣ Routes statiques ou connect si directement connectés.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SI-S5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Partie 3 — Vérifications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4️⃣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SI-S5  •  Diapositive 6/10</a:t>
            </a:r>
          </a:p>
        </p:txBody>
      </p:sp>
      <p:pic>
        <p:nvPicPr>
          <p:cNvPr id="5" name="Picture 4" descr="Reseaux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1005840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Partie 4 — Questions de bilan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5️⃣ Pourquoi VLSM réduit le gaspillage vs 4× /26 ?</a:t>
            </a:r>
          </a:p>
          <a:p>
            <a:pPr>
              <a:defRPr sz="2000"/>
            </a:pPr>
            <a:r>
              <a:t>5️⃣ Quelle route résume les 4 sous-réseaux ?</a:t>
            </a:r>
          </a:p>
          <a:p>
            <a:pPr>
              <a:defRPr sz="2000"/>
            </a:pPr>
            <a:r>
              <a:t>5️⃣ Impact NAT sur adresse source vue par Internet simulé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SI-S5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Approfondissement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📌 Exemples Université de Mostaganem</a:t>
            </a:r>
          </a:p>
          <a:p>
            <a:pPr>
              <a:defRPr sz="2000"/>
            </a:pPr>
            <a:r>
              <a:t>📌 Références bibliographiques</a:t>
            </a:r>
          </a:p>
          <a:p>
            <a:pPr>
              <a:defRPr sz="2000"/>
            </a:pPr>
            <a:r>
              <a:t>📌 Lien TD/TP associé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SI-S5  •  Diapositive 8/10</a:t>
            </a:r>
          </a:p>
        </p:txBody>
      </p:sp>
      <p:pic>
        <p:nvPicPr>
          <p:cNvPr id="5" name="Picture 4" descr="Reseaux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Approfondissement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📌 Exemples Université de Mostaganem</a:t>
            </a:r>
          </a:p>
          <a:p>
            <a:pPr>
              <a:defRPr sz="2000"/>
            </a:pPr>
            <a:r>
              <a:t>📌 Références bibliographiques</a:t>
            </a:r>
          </a:p>
          <a:p>
            <a:pPr>
              <a:defRPr sz="2000"/>
            </a:pPr>
            <a:r>
              <a:t>📌 Lien TD/TP associé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SI-S5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Synthèse &amp; suite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Relire le polycopié PDF</a:t>
            </a:r>
          </a:p>
          <a:p>
            <a:pPr>
              <a:defRPr sz="2000"/>
            </a:pPr>
            <a:r>
              <a:t>✅ Préparer TD/TP</a:t>
            </a:r>
          </a:p>
          <a:p>
            <a:pPr>
              <a:defRPr sz="2000"/>
            </a:pPr>
            <a:r>
              <a:t>✅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SI-S5  •  Diapositive 10/10</a:t>
            </a:r>
          </a:p>
        </p:txBody>
      </p:sp>
      <p:pic>
        <p:nvPicPr>
          <p:cNvPr id="5" name="Picture 4" descr="Reseaux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