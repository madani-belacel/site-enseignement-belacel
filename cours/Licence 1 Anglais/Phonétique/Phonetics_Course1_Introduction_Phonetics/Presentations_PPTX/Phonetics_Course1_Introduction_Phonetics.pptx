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371600"/>
            <a:ext cx="10362895" cy="1828800"/>
          </a:xfrm>
          <a:prstGeom prst="rect">
            <a:avLst/>
          </a:prstGeom>
          <a:noFill/>
        </p:spPr>
        <p:txBody>
          <a:bodyPr wrap="square">
            <a:spAutoFit/>
          </a:bodyPr>
          <a:lstStyle/>
          <a:p>
            <a:pPr algn="ctr"/>
            <a:r>
              <a:rPr sz="3600" b="1">
                <a:solidFill>val="FFFFFF"/&gt;</a:solidFill>
              </a:rPr>
              <a:t>Phonetics Course1 Introduction Phonetics</a:t>
            </a:r>
          </a:p>
          <a:p>
            <a:pPr algn="ctr"/>
            <a:r>
              <a:rPr sz="1800">
                <a:solidFill>val="DFE5EA"/&gt;</a:solidFill>
              </a:rPr>
              <a:t>14 dialogues | EN-FR | Dr. BELACEL Madani</a:t>
            </a:r>
          </a:p>
        </p:txBody>
      </p:sp>
      <p:sp>
        <p:nvSpPr>
          <p:cNvPr id="990001" name="Pied de page FLE"/>
          <p:cNvSpPr>
            <a:spLocks noGrp="1"/>
          </p:cNvSpPr>
          <p:nvPr/>
        </p:nvSpPr>
        <p:spPr>
          <a:xfrm>
            <a:off x="5562295" y="13716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a:t>
            </a:r>
          </a:p>
          <a:p>
            <a:pPr algn="ctr">
              <a:spcBef>
                <a:spcPts val="1200"/>
              </a:spcBef>
            </a:pPr>
            <a:r>
              <a:rPr sz="2000">
                <a:solidFill>val="DFE5EA"/&gt;</a:solidFill>
              </a:rPr>
              <a:t>🗣️ Dialogue 1 — What is phonetics? (Qu&amp;#x27;est-ce que la phonétique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Good morning, sir. Today we start phonetics. What exactly is phonetics?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Bonjour, monsieur. Aujourd&amp;#x27;hui nous commençons la phonétique. Qu&amp;#x27;est-ce que la phonétique exactement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Phonetics is the scientific study of speech sounds: how we produce them, how we hear them, and how they combine in words.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La phonétique est l&amp;#x27;étude scientifique des sons de la parole : comment nous les produisons, comment nous les entendons, et comment ils se combinent dans les mots.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it is about pronunciation?</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Il s&amp;#x27;agit donc de la prononciation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but in a deeper way. Phonetics explains why and how sounds are made, so you can correct your accent and understand native speakers.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mais de façon plus approfondie. La phonétique explique pourquoi et comment les sons sont produits, afin que vous puissiez corriger votre accent et comprendre les locuteurs natifs.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a:t>
            </a:r>
          </a:p>
          <a:p>
            <a:pPr algn="ctr">
              <a:spcBef>
                <a:spcPts val="1200"/>
              </a:spcBef>
            </a:pPr>
            <a:r>
              <a:rPr sz="2000">
                <a:solidFill>val="DFE5EA"/&gt;</a:solidFill>
              </a:rPr>
              <a:t>🗣️ Dialogue 2 — Why do we study phonetics in English? (Pourquoi étudions-nous la phonétique en anglais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Why do Algerian students of English need phonetics?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Pourquoi les étudiants algériens d&amp;#x27;anglais ont-ils besoin de la phonétique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Because English spelling does not show pronunciation clearly. The word "though" /ðəʊ/ and "tough" /tʌf/ look similar but sound very different.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Parce que l&amp;#x27;orthographe anglaise ne montre pas clairement la prononciation. Les mots « though » /ðəʊ/ et « tough » /tʌf/ se ressemblent mais se prononcent très différemment.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And we also need a good accent for teaching later, I think.</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nous avons aussi besoin d&amp;#x27;un bon accent pour enseigner plus tard, je pense.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Exactly. As future teachers, you will model English sounds for your own pupils, so you must hear and produce them accurately.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Exactement. En tant que futurs enseignants, vous serez des modèles pour vos propres élèves, vous devez donc entendre et produire ces sons avec précision.</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3</a:t>
            </a:r>
          </a:p>
          <a:p>
            <a:pPr algn="ctr">
              <a:spcBef>
                <a:spcPts val="1200"/>
              </a:spcBef>
            </a:pPr>
            <a:r>
              <a:rPr sz="2000">
                <a:solidFill>val="DFE5EA"/&gt;</a:solidFill>
              </a:rPr>
              <a:t>🗣️ Dialogue 3 — The speech organs (Les organes de la parole)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You mentioned speech organs. What are they?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Vous avez mentionné les organes de la parole. Que sont-ils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They are the parts of the body we use to make sounds: the lungs, the larynx or voice box, and the vocal tract — the mouth and nose.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Ce sont les parties du corps que nous utilisons pour produire des sons : les poumons, le larynx ou boîte vocale, et le conduit vocal — la bouche et le nez.</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Which one gives the power for speaking?</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Lequel fournit l&amp;#x27;énergie pour parler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The lungs. They push air out of the body, and this airstream becomes the raw material of every sound we make.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Les poumons. Ils poussent l&amp;#x27;air hors du corps, et ce flux d&amp;#x27;air devient la matière première de chaque son que nous produisons.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4</a:t>
            </a:r>
          </a:p>
          <a:p>
            <a:pPr algn="ctr">
              <a:spcBef>
                <a:spcPts val="1200"/>
              </a:spcBef>
            </a:pPr>
            <a:r>
              <a:rPr sz="2000">
                <a:solidFill>val="DFE5EA"/&gt;</a:solidFill>
              </a:rPr>
              <a:t>🗣️ Dialogue 4 — The larynx and the vocal cords (Le larynx et les cordes vocales)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Where is the larynx?</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Où se trouve le larynx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is in your throat, often called the Adam&amp;#x27;s apple. Inside it there are two folds of muscle called the vocal cords.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Il se trouve dans la gorge, souvent appelé la pomme d&amp;#x27;Adam. À l&amp;#x27;intérieur, il y a deux replis musculaires appelés cordes vocales.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do the vocal cords do?</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 font les cordes vocales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When they are closed and vibrate, we get a voiced sound like /z/ or /v/. When they are open, the sound is voiceless, like /s/ or /f/. Put your fingers on your throat and say /z/... /s/.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Lorsqu&amp;#x27;elles sont fermées et vibrent, nous obtenons un son sonore comme /z/ ou /v/. Lorsqu&amp;#x27;elles sont ouvertes, le son est sourd, comme /s/ ou /f/. Posez vos doigts sur votre gorge et dites /z/... /s/.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5</a:t>
            </a:r>
          </a:p>
          <a:p>
            <a:pPr algn="ctr">
              <a:spcBef>
                <a:spcPts val="1200"/>
              </a:spcBef>
            </a:pPr>
            <a:r>
              <a:rPr sz="2000">
                <a:solidFill>val="DFE5EA"/&gt;</a:solidFill>
              </a:rPr>
              <a:t>🗣️ Dialogue 5 — The tongue, the teeth and the lips (La langue, les dents et les lèvres)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The tongue seems to move everywhere. Is it the most important organ?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 langue semble bouger partout. Est-ce l&amp;#x27;organe le plus important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is the most active one. The tip, the front and the back of the tongue can touch the teeth, the hard palate or the soft palate, changing every sound.</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C&amp;#x27;est le plus actif. La pointe, l&amp;#x27;avant et l&amp;#x27;arrière de la langue peuvent toucher les dents, le palais dur ou le palais mou, modifiant chaque son.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And the lips?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les lèvres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The lips make the sounds /p/, /b/ and /m/, and they become rounded for vowels like /uː/ in "food" /fuːd/ or /ɔː/ in "door" /dɔː/.</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Les lèvres produisent les sons /p/, /b/ et /m/, et elles s&amp;#x27;arrondissent pour les voyelles comme /uː/ dans « food » /fuːd/ ou /ɔː/ dans « door » /dɔː/.</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6</a:t>
            </a:r>
          </a:p>
          <a:p>
            <a:pPr algn="ctr">
              <a:spcBef>
                <a:spcPts val="1200"/>
              </a:spcBef>
            </a:pPr>
            <a:r>
              <a:rPr sz="2000">
                <a:solidFill>val="DFE5EA"/&gt;</a:solidFill>
              </a:rPr>
              <a:t>🗣️ Dialogue 6 — The hard palate and the soft palate (Le palais dur et le palais mou)</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 remember the words "palate" and "velum". Can you explain?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Je me souviens des mots « palais » et « voile du palais ». Pouvez-vous expliquer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The hard palate is the bony roof of the mouth. The soft palate, or velum, is the soft part behind it, and it can open or close the passage to the nose.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 palais dur est la voûte osseuse de la bouche. Le palais mou, ou voile du palais, est la partie molle située derrière, et il peut ouvrir ou fermer le passage vers le nez.</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When does the velum close the nose passage?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Quand le voile du palais ferme-t-il le passage nasal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For most sounds, the air goes through the mouth. But for /m/, /n/ and /ŋ/, the velum is lowered and air escapes through the nose.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 la plupart des sons, l&amp;#x27;air passe par la bouche. Mais pour /m/, /n/ et /ŋ/, le voile du palais s&amp;#x27;abaisse et l&amp;#x27;air s&amp;#x27;échappe par le nez.</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7</a:t>
            </a:r>
          </a:p>
          <a:p>
            <a:pPr algn="ctr">
              <a:spcBef>
                <a:spcPts val="1200"/>
              </a:spcBef>
            </a:pPr>
            <a:r>
              <a:rPr sz="2000">
                <a:solidFill>val="DFE5EA"/&gt;</a:solidFill>
              </a:rPr>
              <a:t>🗣️ Dialogue 7 — Phonemes versus letters (Phonèmes et lettres)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You said "phoneme". What is the difference between a phoneme and a letter?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Vous avez dit « phonème ». Quelle est la différence entre un phonème et une lettre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 letter is what you write; a phoneme is what you hear. Letters are written between "quotes", while phonemes are written between slashes / /.</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Une lettre est ce que vous écrivez ; un phonème est ce que vous entendez. Les lettres s&amp;#x27;écrivent entre guillemets, tandis que les phonèmes s&amp;#x27;écrivent entre barres obliques /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the word "cat" has three letters and three phonemes?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Ainsi, le mot « cat » a trois lettres et trois phonèmes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c-a-t are three letters, and the phonemes are /k/, /æ/ and /t/. Most simple words behave like this, but many others do not.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 c-a-t sont trois lettres, et les phonèmes sont /k/, /æ/ et /t/. La plupart des mots simples se comportent ainsi, mais beaucoup d&amp;#x27;autres non.</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8</a:t>
            </a:r>
          </a:p>
          <a:p>
            <a:pPr algn="ctr">
              <a:spcBef>
                <a:spcPts val="1200"/>
              </a:spcBef>
            </a:pPr>
            <a:r>
              <a:rPr sz="2000">
                <a:solidFill>val="DFE5EA"/&gt;</a:solidFill>
              </a:rPr>
              <a:t>🗣️ Dialogue 8 — How many phonemes does English have? (Combien de phonèmes l&amp;#x27;anglais a-t-il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many phonemes are there in English?</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Combien y a-t-il de phonèmes en anglais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British English has about 44 phonemes: 20 vowels and 24 consonants. The exact number varies slightly from one dialect to another.</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L&amp;#x27;anglais britannique a environ 44 phonèmes : 20 voyelles et 24 consonnes. Le nombre exact varie légèrement d&amp;#x27;un dialecte à l&amp;#x27;autre.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The alphabet has 26 letters but 44 phonemes. Is that the spelling problem?</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L&amp;#x27;alphabet a 26 lettres mais 44 phonèmes. Est-ce là le problème de l&amp;#x27;orthographe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Exactly. English has more sounds than letters, so letters must be reused and combined, which creates irregular spelling.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Exactement. L&amp;#x27;anglais a plus de sons que de lettres, les lettres doivent donc être réutilisées et combinées, ce qui crée une orthographe irrégulière.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9</a:t>
            </a:r>
          </a:p>
          <a:p>
            <a:pPr algn="ctr">
              <a:spcBef>
                <a:spcPts val="1200"/>
              </a:spcBef>
            </a:pPr>
            <a:r>
              <a:rPr sz="2000">
                <a:solidFill>val="DFE5EA"/&gt;</a:solidFill>
              </a:rPr>
              <a:t>🗣️ Dialogue 9 — One letter, many sounds (Une lettre, plusieurs sons)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Can one letter represent different sounds?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Une lettre peut-elle représenter différents sons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Certainly. The letter "a" has different sounds in "cat" /kæt/, "name" /neɪm/, "father" /ˈfɑːðə/ and "about" /əˈbaʊt/.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Certainement. La lettre « a » a des sons différents dans « cat » /kæt/, « name » /neɪm/, « father » /ˈfɑːðə/ et « about » /əˈbaʊt/.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And the letter "o"?</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la lettre « o »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Listen to "hot" /hɒt/, "go" /ɡəʊ/, "woman" /ˈwʊmən/ and "women" /ˈwɪmɪn/. Four different vowel sounds for the same letter!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Écoutez « hot » /hɒt/, « go » /ɡəʊ/, « woman » /ˈwʊmən/ et « women » /ˈwɪmɪn/. Quatre sons vocaliques différents pour la même lettre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10</a:t>
            </a:r>
          </a:p>
          <a:p>
            <a:pPr algn="ctr">
              <a:spcBef>
                <a:spcPts val="1200"/>
              </a:spcBef>
            </a:pPr>
            <a:r>
              <a:rPr sz="2000">
                <a:solidFill>val="DFE5EA"/&gt;</a:solidFill>
              </a:rPr>
              <a:t>🗣️ Dialogue 10 — Many letters, one sound (Plusieurs lettres, un seul son)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And the opposite: can different spellings make the same sound?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Et l&amp;#x27;inverse : différentes orthographes peuvent-elles produire le même son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Yes. The sound /iː/ appears in "see" /siː/, "sea" /siː/, "key" /kiː/ and "believe" /bɪˈliːv/ — four spellings, one sound.</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Oui. Le son /iː/ apparaît dans « see » /siː/, « sea» /siː/, « key » /kiː/ et « believe » /bɪˈliːv/ — quatre orthographes, un seul son.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That must be confusing for beginners.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Cela doit être déroutant pour les débutants.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It is. That is exactly why we learn phonetics: the IPA shows the sound, no matter how the word is spelled.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En effet. C&amp;#x27;est précisément pourquoi nous apprenons la phonétique : l&amp;#x27;API montre le son, quelle que soit l&amp;#x27;orthographe du mot.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11</a:t>
            </a:r>
          </a:p>
          <a:p>
            <a:pPr algn="ctr">
              <a:spcBef>
                <a:spcPts val="1200"/>
              </a:spcBef>
            </a:pPr>
            <a:r>
              <a:rPr sz="2000">
                <a:solidFill>val="DFE5EA"/&gt;</a:solidFill>
              </a:rPr>
              <a:t>🗣️ Dialogue 11 — Silent letters (Les lettres muettes)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Some words have letters that are not pronounced. Is that true?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Certains mots ont des lettres qui ne se prononcent pas. Est-ce vrai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Yes. The "k" in "knife" /naɪf/, the "w" in "write" /raɪt/ and the "gh" in "night" /naɪt/ are all silent.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Oui. Le « k » de « knife » /naɪf/, le « w » de « write » /raɪt/ et le « gh » de « night » /naɪt/ sont tous muets.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the pronunciation and the spelling are totally different worlds.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Ainsi, la prononciation et l&amp;#x27;orthographe sont des mondes totalement différents.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They are two separate systems. Always learn a new word with its transcription, for example "enough" /ɪˈnʌf/ or "Wednesday" /ˈwenzdeɪ/.</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Ce sont deux systèmes distincts. Apprenez toujours un nouveau mot avec sa transcription, par exemple « enough » /ɪˈnʌf/ ou « Wednesday » /ˈwenzdeɪ/.</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12</a:t>
            </a:r>
          </a:p>
          <a:p>
            <a:pPr algn="ctr">
              <a:spcBef>
                <a:spcPts val="1200"/>
              </a:spcBef>
            </a:pPr>
            <a:r>
              <a:rPr sz="2000">
                <a:solidFill>val="DFE5EA"/&gt;</a:solidFill>
              </a:rPr>
              <a:t>🗣️ Dialogue 12 — Why English spelling is irregular (Pourquoi l&amp;#x27;orthographe anglaise est irrégulière)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Why did English become so irregular? Was it always like this?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Pourquoi l&amp;#x27;anglais est-il devenu si irrégulier ? A-t-il toujours été ainsi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No. English borrowed words from French, Latin, Greek and many other languages, and it kept their original spellings while the pronunciation changed over centuries.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Non. L&amp;#x27;anglais a emprunté des mots au français, au latin, au grec et à bien d&amp;#x27;autres langues, en conservant leurs orthographes d&amp;#x27;origine tandis que la prononciation changeait au fil des siècles.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That is why we hear different sounds for the same spelling.</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C&amp;#x27;est pourquoi nous entendons des sons différents pour la même orthographe.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Precisely. Think of "ough": "though" /ðəʊ/, "through" /θruː/, "thought" /θɔːt/ and "cough" /kɒf/. One spelling, four sounds. Phonetics saves us.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Précisément. Pensez à « ough » : « though » /ðəʊ/, « through » /θruː/, « thought » /θɔːt/ et « cough» /kɒf/. Une orthographe, quatre sons. La phonétique nous sauve.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13</a:t>
            </a:r>
          </a:p>
          <a:p>
            <a:pPr algn="ctr">
              <a:spcBef>
                <a:spcPts val="1200"/>
              </a:spcBef>
            </a:pPr>
            <a:r>
              <a:rPr sz="2000">
                <a:solidFill>val="DFE5EA"/&gt;</a:solidFill>
              </a:rPr>
              <a:t>🗣️ Dialogue 13 — Writing sounds between slashes (Écrire les sons entre barres obliques)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do we write a sound? Do we use ordinary letters?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écrit-on un son ? Utilise-t-on des lettres ordinaires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We use IPA symbols between slashes: /ʃ/, /θ/, /ɪ/, /ŋ/. These symbols are fixed: /ʃ/ always represents the same sound, in any English word.</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Nous utilisons des symboles de l&amp;#x27;API entre barres obliques : /ʃ/, /θ/, /ɪ/, /ŋ/. Ces symboles sont fixes : /ʃ/ représente toujours le même son, dans n&amp;#x27;importe quel mot anglais.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/ʃ/ is the sound at the start of "ship"?</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Donc /ʃ/ est le son au début de « ship »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Very good. "Ship" is /ʃɪp/, "shoes" is /ʃuːz/ and "wash" is /wɒʃ/. One symbol always gives one sound.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Très bien. « Ship » est /ʃɪp/, « shoes » est /ʃuːz/ et « wash » est /wɒʃ/. Un symbole correspond toujours à un son.</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14</a:t>
            </a:r>
          </a:p>
          <a:p>
            <a:pPr algn="ctr">
              <a:spcBef>
                <a:spcPts val="1200"/>
              </a:spcBef>
            </a:pPr>
            <a:r>
              <a:rPr sz="2000">
                <a:solidFill>val="DFE5EA"/&gt;</a:solidFill>
              </a:rPr>
              <a:t>🗣️ Dialogue 14 — Summary and practice (Résumé et pratique)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Can we summarise what we learned today?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Pouvons-nous résumer ce que nous avons appris aujourd&amp;#x27;hui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Yes. Phonetics studies speech sounds; the speech organs include the lungs, larynx, tongue, lips and palate; English has about 44 phonemes; and spelling is unreliable, so we use the IPA.</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Oui. La phonétique étudie les sons de la parole ; les organes de la parole comprennent les poumons, le larynx, la langue, les lèvres et le palais ; l&amp;#x27;anglais a environ 44 phonèmes ; et l&amp;#x27;orthographe n&amp;#x27;est pas fiable, nous utilisons donc l&amp;#x27;API.</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Let me try to transcribe "teacher": /ˈtiːtʃə/?</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Laissez-moi essayer de transcrire « teacher » : /ˈtiːtʃə/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