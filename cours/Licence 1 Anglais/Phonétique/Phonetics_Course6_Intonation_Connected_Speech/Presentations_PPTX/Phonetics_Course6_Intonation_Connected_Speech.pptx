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val="34495E"/&gt;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3628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val="FFFFFF"/&gt;</a:solidFill>
              </a:rPr>
              <a:t>Phonetics Course6 Intonation Connected Speech</a:t>
            </a:r>
          </a:p>
          <a:p>
            <a:pPr algn="ctr"/>
            <a:r>
              <a:rPr sz="1800">
                <a:solidFill>val="DFE5EA"/&gt;</a:solidFill>
              </a:rPr>
              <a:t>14 dialogues | EN-FR | Dr. BELACEL Madani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13716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val="FFFFFF"/&gt;</a:solidFill>
              </a:rPr>
              <a:t>Dialogue 1</a:t>
            </a:r>
          </a:p>
          <a:p>
            <a:pPr algn="ctr">
              <a:spcBef>
                <a:spcPts val="1200"/>
              </a:spcBef>
            </a:pPr>
            <a:r>
              <a:rPr sz="2000">
                <a:solidFill>val="DFE5EA"/&gt;</a:solidFill>
              </a:rPr>
              <a:t>🗣️ Dialogue 1 — What is intonation? (Qu&amp;#x27;est-ce que l&amp;#x27;intonation ?)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18288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Good morning, sir. What is intonation exactly?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Bonjour, monsieur. Qu&amp;#x27;est-ce que l&amp;#x27;intonation exactement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Intonation is the rise and fall of the voice while we speak. It is the melody of the sentence, and it can change the meaning of what we say.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L&amp;#x27;intonation est la montée et la descente de la voix pendant que nous parlons. C&amp;#x27;est la mélodie de la phrase, et elle peut changer le sens de ce que nous disons.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Is it as important as grammar?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Est-elle aussi importante que la grammaire ?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Almost. The same words can sound polite, rude, surprised or bored depending on the tone. Intonation carries emotions and intentions.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Presque. Les mêmes mots peuvent sembler polis, impolis, surpris ou ennuyés selon le ton. L&amp;#x27;intonation porte les émotions et les intentions.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val="FFFFFF"/&gt;</a:solidFill>
              </a:rPr>
              <a:t>Dialogue 2</a:t>
            </a:r>
          </a:p>
          <a:p>
            <a:pPr algn="ctr">
              <a:spcBef>
                <a:spcPts val="1200"/>
              </a:spcBef>
            </a:pPr>
            <a:r>
              <a:rPr sz="2000">
                <a:solidFill>val="DFE5EA"/&gt;</a:solidFill>
              </a:rPr>
              <a:t>🗣️ Dialogue 2 — Falling intonation (L&amp;#x27;intonation descendante)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18288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What is the most common tone in English?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Quel est le ton le plus courant en anglais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Falling intonation, marked as ↘. The voice goes down at the end. We use it for statements, commands and wh-questions. "The book is on the table." 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L&amp;#x27;intonation descendante, notée ↘. La voix descend à la fin. Nous l&amp;#x27;utilisons pour les affirmations, les ordres et les questions en wh-. « The book is on the table. » 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So "Where is the station?" falls?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Ainsi, « Where is the station?» descend ?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Yes: "Where is the station?" ↘. Your voice falls at the end. This sounds calm, complete and certain. It is the default tone of English sentences.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Oui : « Where is the station?» ↘. Votre voix descend à la fin. Cela sonne calme, complet et certain. C&amp;#x27;est le ton par défaut des phrases anglaises.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val="FFFFFF"/&gt;</a:solidFill>
              </a:rPr>
              <a:t>Dialogue 3</a:t>
            </a:r>
          </a:p>
          <a:p>
            <a:pPr algn="ctr">
              <a:spcBef>
                <a:spcPts val="1200"/>
              </a:spcBef>
            </a:pPr>
            <a:r>
              <a:rPr sz="2000">
                <a:solidFill>val="DFE5EA"/&gt;</a:solidFill>
              </a:rPr>
              <a:t>🗣️ Dialogue 3 — Rising intonation (L&amp;#x27;intonation montante)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18288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When do we use rising intonation?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Quand utilisons-nous l&amp;#x27;intonation montante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For yes/no questions: "Are you ready?" ↗. The voice goes up at the end, inviting an answer of "yes" or "no". Also in lists, before the last item.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Pour les questions fermées : « Are you ready?» ↗. La voix monte à la fin, invitant à répondre « oui » ou « non ». Aussi dans les énumérations, avant le dernier élément.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So a question does not always rise?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Une question ne monte donc pas toujours ?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Correct. Wh-questions fall: "What is your name?" ↘. Yes/no questions rise: "Is your name Omar?" ↗. Confusing "what" questions and "yes/no" questions is a common mistake.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Correct. Les questions en wh- descendent : « What is your name?» ↘. Les questions fermées montent : « Is your name Omar?» ↗. Confondre les questions en « what» et les questions fermées est une erreur courante.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val="FFFFFF"/&gt;</a:solidFill>
              </a:rPr>
              <a:t>Dialogue 4</a:t>
            </a:r>
          </a:p>
          <a:p>
            <a:pPr algn="ctr">
              <a:spcBef>
                <a:spcPts val="1200"/>
              </a:spcBef>
            </a:pPr>
            <a:r>
              <a:rPr sz="2000">
                <a:solidFill>val="DFE5EA"/&gt;</a:solidFill>
              </a:rPr>
              <a:t>🗣️ Dialogue 4 — The fall-rise tone (Le ton descendant-montant)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18288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Is there a third tone?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Y a-t-il un troisième ton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Yes, the fall-rise ↘↗. It expresses doubt, politeness or a hidden meaning. "I can help you" with fall-rise suggests "but maybe not today".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Oui, le descendant-montant ↘↗. Il exprime le doute, la politesse ou un sens caché. « I can help you» avec un descendant-montant suggère « mais peut-être pas aujourd&amp;#x27;hui ».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So it is a polite but hesitant tone.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C&amp;#x27;est donc un ton poli mais hésitant.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Exactly. French speakers often sound too direct in English because they avoid it.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Use fall-rise in polite requests: "Could you open the window, please?" ↘↗ Exactement. Les francophones sonnent souvent trop directs en anglais parce qu&amp;#x27;ils l&amp;#x27;évitent. Utilisez le descendant-montant dans les demandes polies : « Could you open the window, please?» ↘↗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val="FFFFFF"/&gt;</a:solidFill>
              </a:rPr>
              <a:t>Dialogue 5</a:t>
            </a:r>
          </a:p>
          <a:p>
            <a:pPr algn="ctr">
              <a:spcBef>
                <a:spcPts val="1200"/>
              </a:spcBef>
            </a:pPr>
            <a:r>
              <a:rPr sz="2000">
                <a:solidFill>val="DFE5EA"/&gt;</a:solidFill>
              </a:rPr>
              <a:t>🗣️ Dialogue 5 — Intonation in questions (L&amp;#x27;intonation dans les questions)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18288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Let us practise the question types again.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Révisons encore une fois les types de questions.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Good. Statement: "You are tired." ↘. Yes/no question: "Are you tired?" ↗. Wh-question: "Why are you tired?" ↘. Tag question, real question: "You are tired, aren&amp;#x27;t you?" ↗.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Bien. Affirmation : « You are tired. » ↘. Question fermée : « Are you tired? » ↗. Question en wh- : « Why are you tired? » ↘. Question-tag, vraie question : « You are tired, aren&amp;#x27;t you? » ↗.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And if I already know the answer?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Et si je connais déjà la réponse ?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Then the tag falls: "You are tired, aren&amp;#x27;t you?" ↘. You are just confirming. The same tag can rise or fall, changing the meaning completely.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Alors le tag descend : « You are tired, aren&amp;#x27;t you? » ↘. Vous cherchez simplement confirmation. Le même tag peut monter ou descendre, changeant complètement le sens.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val="FFFFFF"/&gt;</a:solidFill>
              </a:rPr>
              <a:t>Dialogue 6</a:t>
            </a:r>
          </a:p>
          <a:p>
            <a:pPr algn="ctr">
              <a:spcBef>
                <a:spcPts val="1200"/>
              </a:spcBef>
            </a:pPr>
            <a:r>
              <a:rPr sz="2000">
                <a:solidFill>val="DFE5EA"/&gt;</a:solidFill>
              </a:rPr>
              <a:t>🗣️ Dialogue 6 — Intonation for feelings (L&amp;#x27;intonation et les sentiments)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18288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Does intonation show feelings?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L&amp;#x27;intonation montre-t-elle les sentiments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Very much. A wide, high fall shows surprise: "Really?!" ↘. A flat, low tone shows boredom or anger. A gentle rise shows friendliness.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Beaucoup. Une large descente et aiguë montre la surprise : « Really?! » ↘. Un ton plat et grave montre l&amp;#x27;ennui ou la colère. Une montée douce montre la sympathie.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So the same word "no" can say many things.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Ainsi, le même mot « no» peut dire beaucoup de choses.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Exactly. "No." ↘ is neutral. "No?" ↗ is a question. "No!" ↗↘ is strong refusal. Listen to native speakers and copy their melody like a song.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Exactement. « No. » ↘ est neutre. « No? » ↗ est une question. « No! » ↗↘ est un refus énergique. Écoutez les locuteurs natifs et imitez leur mélodie comme une chanson.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val="FFFFFF"/&gt;</a:solidFill>
              </a:rPr>
              <a:t>Dialogue 7</a:t>
            </a:r>
          </a:p>
          <a:p>
            <a:pPr algn="ctr">
              <a:spcBef>
                <a:spcPts val="1200"/>
              </a:spcBef>
            </a:pPr>
            <a:r>
              <a:rPr sz="2000">
                <a:solidFill>val="DFE5EA"/&gt;</a:solidFill>
              </a:rPr>
              <a:t>🗣️ Dialogue 7 — What is connected speech? (Qu&amp;#x27;est-ce que la parole enchaînée ?)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18288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Now let us talk about connected speech. What is it?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Parlons maintenant de la parole enchaînée. Qu&amp;#x27;est-ce que c&amp;#x27;est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When we speak quickly, words are not separate. Sounds link, disappear and change at the boundaries. Native English is one smooth stream, not separate words.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Lorsque nous parlons vite, les mots ne sont pas séparés. Les sons s&amp;#x27;enchaînent, disparaissent et se modifient aux frontières. L&amp;#x27;anglais natif est un flot continu, pas des mots séparés.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So "an apple" is not pronounced word by word?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Ainsi, « an apple» ne se prononce pas mot par mot ?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No. It becomes /əˈnæpl/: the "n" of "an" joins the "a" of "apple". This is called linking. It makes English flow like water.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Non. Il devient /əˈnæpl/ : le « n » de « an» s&amp;#x27;attache au « a » de « apple». C&amp;#x27;est ce qu&amp;#x27;on appelle l&amp;#x27;enchaînement. Cela fait couler l&amp;#x27;anglais comme l&amp;#x27;eau.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val="FFFFFF"/&gt;</a:solidFill>
              </a:rPr>
              <a:t>Dialogue 8</a:t>
            </a:r>
          </a:p>
          <a:p>
            <a:pPr algn="ctr">
              <a:spcBef>
                <a:spcPts val="1200"/>
              </a:spcBef>
            </a:pPr>
            <a:r>
              <a:rPr sz="2000">
                <a:solidFill>val="DFE5EA"/&gt;</a:solidFill>
              </a:rPr>
              <a:t>🗣️ Dialogue 8 — Linking: consonant to vowel (Enchaînement : consonne vers voyelle)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18288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What is the main linking rule?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Quelle est la règle principale d&amp;#x27;enchaînement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When a word ends in a consonant and the next begins with a vowel, the consonant moves to the next word: "turn off" /tɜːn ɒf/ becomes /tɜː nɒf/. "Not at all" /nɒt ət ɔːl/ → /nɒ tə tɔːl/.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Quand un mot se termine par une consonne et que le suivant commence par une voyelle, la consonne passe au mot suivant : « turn off» /tɜːn ɒf/ devient /tɜː nɒf/. « Not at all» /nɒt ət ɔːl/ → /nɒ tə tɔːl/.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That is why I could not understand native speakers before.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C&amp;#x27;est pourquoi je ne comprenais pas les locuteurs natifs auparavant.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Exactly. You were listening for word boundaries that disappear. Practise reading phrases aloud and sliding the consonant across: "an egg" /əˈneɡ/, "keep off" /kiːp ɒf/.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Exactement. Vous cherchiez des frontières de mots qui disparaissent. Entraînez-vous à lire des groupes de mots à voix haute en glissant la consonne : « an egg» /əˈneɡ/, « keep off» /kiːp ɒf/.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val="FFFFFF"/&gt;</a:solidFill>
              </a:rPr>
              <a:t>Dialogue 9</a:t>
            </a:r>
          </a:p>
          <a:p>
            <a:pPr algn="ctr">
              <a:spcBef>
                <a:spcPts val="1200"/>
              </a:spcBef>
            </a:pPr>
            <a:r>
              <a:rPr sz="2000">
                <a:solidFill>val="DFE5EA"/&gt;</a:solidFill>
              </a:rPr>
              <a:t>🗣️ Dialogue 9 — Linking: vowel to vowel (Enchaînement : voyelle vers voyelle)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18288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What happens when a vowel meets a vowel?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Que se passe-t-il quand une voyelle rencontre une voyelle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We add a small glide between them. After /ɪ/ or /iː/, we add a light /j/: "my apple" → /maɪ ˈjæpl/. After /uː/ or /əʊ/, we add /w/: "go out" → /ɡəʊ ˈwaʊt/.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Nous ajoutons une petite glide entre elles. Après /ɪ/ ou /iː/, nous ajoutons un léger /j/ : « my apple» → /maɪ ˈjæpl/. Après /uː/ ou /əʊ/, nous ajoutons /w/ : « go out» → /ɡəʊ ˈwaʊt/.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So there are no gaps at all.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Il n&amp;#x27;y a donc aucun espace.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Correct. Native speech connects everything. "Do it" becomes /duː wɪt/ with the /w/ glide. Listen and reproduce these little bridges.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Correct. La parole native relie tout. « Do it» devient /duː wɪt/ avec la glide /w/. Écoutez et reproduisez ces petits ponts.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val="FFFFFF"/&gt;</a:solidFill>
              </a:rPr>
              <a:t>Dialogue 10</a:t>
            </a:r>
          </a:p>
          <a:p>
            <a:pPr algn="ctr">
              <a:spcBef>
                <a:spcPts val="1200"/>
              </a:spcBef>
            </a:pPr>
            <a:r>
              <a:rPr sz="2000">
                <a:solidFill>val="DFE5EA"/&gt;</a:solidFill>
              </a:rPr>
              <a:t>🗣️ Dialogue 10 — Linking /r/ (Le /r/ de liaison)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18288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You said "car" is /kɑː/ but "car is" changes. How?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Vous avez dit que « car» est /kɑː/ mais que « car is» change. Comment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This is linking /r/. When a word ends in "r" and the next begins with a vowel, the /r/ reappears: "car is" → /kɑːr ɪz/, "far away" → /fɑːr əˈweɪ/.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C&amp;#x27;est le /r/ de liaison. Quand un mot se termine par « r» et que le suivant commence par une voyelle, le /r/ réapparaît : « car is» → /kɑːr ɪz/, « far away» → /fɑːr əˈweɪ/.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And when the next word starts with a consonant?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Et quand le mot suivant commence par une consonne ?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Then the /r/ stays silent: "car park" /ˈkɑː pɑːk/. Remember the difference: "car park" no /r/, "car engine" /kɑːr ˈendʒɪn/ with /r/. Linking makes the sentence smooth.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Alors le /r/ reste muet : « car park» /ˈkɑː pɑːk/. Retenez la différence : « car park» sans /r/, « car engine» /kɑːr ˈendʒɪn/ avec /r/. L&amp;#x27;enchaînement rend la phrase fluide.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val="FFFFFF"/&gt;</a:solidFill>
              </a:rPr>
              <a:t>Dialogue 11</a:t>
            </a:r>
          </a:p>
          <a:p>
            <a:pPr algn="ctr">
              <a:spcBef>
                <a:spcPts val="1200"/>
              </a:spcBef>
            </a:pPr>
            <a:r>
              <a:rPr sz="2000">
                <a:solidFill>val="DFE5EA"/&gt;</a:solidFill>
              </a:rPr>
              <a:t>🗣️ Dialogue 11 — Elision: disappearing sounds (L&amp;#x27;élision : les sons qui disparaissent)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18288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What is elision?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Qu&amp;#x27;est-ce que l&amp;#x27;élision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Elision is when a sound completely disappears in fast speech. We often drop the /t/ and /d/ between consonants: "last time" → /lɑːs taɪm/, "old man" → /əʊl mæn/.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L&amp;#x27;élision est la disparition complète d&amp;#x27;un son dans la parole rapide. Nous supprimons souvent les /t/ et /d/ entre consonnes : « last time» → /lɑːs taɪm/, « old man» → /əʊl mæn/.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So the /t/ in "last" is not pronounced at all?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Le /t/ de « last» ne se prononce donc pas du tout ?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In quick speech, no. The /s/ simply joins the /t/ of "time": /lɑːs taɪm/. But if you speak slowly, you keep the /t/. Elision is natural, not lazy.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Dans la parole rapide, non. Le /s/ rejoint simplement le /t/ de « time» : /lɑːs taɪm/. Mais si vous parlez lentement, vous gardez le /t/. L&amp;#x27;élision est naturelle, pas paresseuse.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val="FFFFFF"/&gt;</a:solidFill>
              </a:rPr>
              <a:t>Dialogue 12</a:t>
            </a:r>
          </a:p>
          <a:p>
            <a:pPr algn="ctr">
              <a:spcBef>
                <a:spcPts val="1200"/>
              </a:spcBef>
            </a:pPr>
            <a:r>
              <a:rPr sz="2000">
                <a:solidFill>val="DFE5EA"/&gt;</a:solidFill>
              </a:rPr>
              <a:t>🗣️ Dialogue 12 — Assimilation: sounds changing (L&amp;#x27;assimilation : les sons qui changent)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18288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And assimilation? I hear "good morning" pronounced strangely.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Et l&amp;#x27;assimilation ? J&amp;#x27;entends « good morning» prononcé étrangement.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Good example. The /d/ of "good" becomes /b/ before "morning": /ɡʊb ˈmɔːnɪŋ/. The sound changes to be easier to say. "White paper" → /waɪp peɪpə/.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Bon exemple. Le /d/ de « good» devient /b/ devant « morning» : /ɡʊb ˈmɔːnɪŋ/. Le son change pour être plus facile à dire. « White paper» → /waɪp peɪpə/.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So the /t/ becomes /p/ before "p"?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Ainsi, le /t/ devient /p/ devant « p» ?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Exactly. It is easier to make two sounds at the same place. "Ten boys" → /tem bɔɪz/, "that man" → /ðæp mæn/. Understand these changes and fast speech becomes clear.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Exactement. Il est plus facile de produire deux sons au même point. « Ten boys» → /tem bɔɪz/, « that man» → /ðæp mæn/. Comprenez ces changements et la parole rapide devient claire.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val="FFFFFF"/&gt;</a:solidFill>
              </a:rPr>
              <a:t>Dialogue 13</a:t>
            </a:r>
          </a:p>
          <a:p>
            <a:pPr algn="ctr">
              <a:spcBef>
                <a:spcPts val="1200"/>
              </a:spcBef>
            </a:pPr>
            <a:r>
              <a:rPr sz="2000">
                <a:solidFill>val="DFE5EA"/&gt;</a:solidFill>
              </a:rPr>
              <a:t>🗣️ Dialogue 13 — Weak forms in connected speech (Les formes faibles dans la parole enchaînée)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18288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Does connected speech also use the weak forms from Course 5?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La parole enchaînée utilise-t-elle aussi les formes faibles du cours 5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Absolutely. Function words are the glue, and they are nearly always weak. "I can help" → /aɪ kən help/ or /aɪ kn̩ help/, "some water" → /səm ˈwɔːtə/.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Absolument. Les mots grammaticaux sont la colle, et ils sont presque toujours faibles. « I can help» → /aɪ kən help/ ou /aɪ kn̩ help/, « some water» → /səm ˈwɔːtə/.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So stress, schwa and linking all work together.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L&amp;#x27;accent, le schwa et l&amp;#x27;enchaînement travaillent donc tous ensemble.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Yes. Strong syllables carry the music, weak syllables carry the glue, and linking carries the flow. Understanding all three unlocks native-like listening.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Oui. Les syllabes fortes portent la musique, les syllabes faibles portent la colle, et l&amp;#x27;enchaînement porte le flux. Comprendre ces trois éléments débloque une écoute proche du natif.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val="FFFFFF"/&gt;</a:solidFill>
              </a:rPr>
              <a:t>Dialogue 14</a:t>
            </a:r>
          </a:p>
          <a:p>
            <a:pPr algn="ctr">
              <a:spcBef>
                <a:spcPts val="1200"/>
              </a:spcBef>
            </a:pPr>
            <a:r>
              <a:rPr sz="2000">
                <a:solidFill>val="DFE5EA"/&gt;</a:solidFill>
              </a:rPr>
              <a:t>🗣️ Dialogue 14 — Summary and practice (Résumé et pratique)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18288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Let me summarise this last course.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Laissez-moi résumer ce dernier cours.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Please do. Intonation gives the melody: falling for statements, rising for yes/no questions, fall-rise for politeness. Connected speech links, elides and assimilates sounds.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Je vous en prie. L&amp;#x27;intonation donne la mélodie : descente pour les affirmations, montée pour les questions fermées, descendant-montant pour la politesse. La parole enchaînée relie, élide et assimile les sons.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Let me try: "Not at all, I&amp;#x27;m going out now."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Laissez-moi essayer : « Not at all, I&amp;#x27;m going out now. »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