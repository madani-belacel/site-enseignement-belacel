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Poppins"/>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Poppins"/>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Poppins"/>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Poppins"/>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Poppins"/>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Poppins"/>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Poppins"/>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Poppins"/>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Poppins"/>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Poppins"/>
          <a:ea typeface="+mn-ea"/>
          <a:cs typeface="+mn-cs"/>
        </a:defRPr>
      </a:lvl9pPr>
    </p:bodyStyle>
    <p:otherStyle>
      <a:defPPr>
        <a:defRPr lang="en-US"/>
      </a:defPPr>
      <a:lvl1pPr marL="0" algn="l" defTabSz="457200" rtl="0" eaLnBrk="1" latinLnBrk="0" hangingPunct="1">
        <a:defRPr sz="1800" kern="1200">
          <a:solidFill>
            <a:schemeClr val="tx1"/>
          </a:solidFill>
          <a:latin typeface="Poppins"/>
          <a:ea typeface="+mn-ea"/>
          <a:cs typeface="+mn-cs"/>
        </a:defRPr>
      </a:lvl1pPr>
      <a:lvl2pPr marL="457200" algn="l" defTabSz="457200" rtl="0" eaLnBrk="1" latinLnBrk="0" hangingPunct="1">
        <a:defRPr sz="1800" kern="1200">
          <a:solidFill>
            <a:schemeClr val="tx1"/>
          </a:solidFill>
          <a:latin typeface="Poppins"/>
          <a:ea typeface="+mn-ea"/>
          <a:cs typeface="+mn-cs"/>
        </a:defRPr>
      </a:lvl2pPr>
      <a:lvl3pPr marL="914400" algn="l" defTabSz="457200" rtl="0" eaLnBrk="1" latinLnBrk="0" hangingPunct="1">
        <a:defRPr sz="1800" kern="1200">
          <a:solidFill>
            <a:schemeClr val="tx1"/>
          </a:solidFill>
          <a:latin typeface="Poppins"/>
          <a:ea typeface="+mn-ea"/>
          <a:cs typeface="+mn-cs"/>
        </a:defRPr>
      </a:lvl3pPr>
      <a:lvl4pPr marL="1371600" algn="l" defTabSz="457200" rtl="0" eaLnBrk="1" latinLnBrk="0" hangingPunct="1">
        <a:defRPr sz="1800" kern="1200">
          <a:solidFill>
            <a:schemeClr val="tx1"/>
          </a:solidFill>
          <a:latin typeface="Poppins"/>
          <a:ea typeface="+mn-ea"/>
          <a:cs typeface="+mn-cs"/>
        </a:defRPr>
      </a:lvl4pPr>
      <a:lvl5pPr marL="1828800" algn="l" defTabSz="457200" rtl="0" eaLnBrk="1" latinLnBrk="0" hangingPunct="1">
        <a:defRPr sz="1800" kern="1200">
          <a:solidFill>
            <a:schemeClr val="tx1"/>
          </a:solidFill>
          <a:latin typeface="Poppins"/>
          <a:ea typeface="+mn-ea"/>
          <a:cs typeface="+mn-cs"/>
        </a:defRPr>
      </a:lvl5pPr>
      <a:lvl6pPr marL="2286000" algn="l" defTabSz="457200" rtl="0" eaLnBrk="1" latinLnBrk="0" hangingPunct="1">
        <a:defRPr sz="1800" kern="1200">
          <a:solidFill>
            <a:schemeClr val="tx1"/>
          </a:solidFill>
          <a:latin typeface="Poppins"/>
          <a:ea typeface="+mn-ea"/>
          <a:cs typeface="+mn-cs"/>
        </a:defRPr>
      </a:lvl6pPr>
      <a:lvl7pPr marL="2743200" algn="l" defTabSz="457200" rtl="0" eaLnBrk="1" latinLnBrk="0" hangingPunct="1">
        <a:defRPr sz="1800" kern="1200">
          <a:solidFill>
            <a:schemeClr val="tx1"/>
          </a:solidFill>
          <a:latin typeface="Poppins"/>
          <a:ea typeface="+mn-ea"/>
          <a:cs typeface="+mn-cs"/>
        </a:defRPr>
      </a:lvl7pPr>
      <a:lvl8pPr marL="3200400" algn="l" defTabSz="457200" rtl="0" eaLnBrk="1" latinLnBrk="0" hangingPunct="1">
        <a:defRPr sz="1800" kern="1200">
          <a:solidFill>
            <a:schemeClr val="tx1"/>
          </a:solidFill>
          <a:latin typeface="Poppins"/>
          <a:ea typeface="+mn-ea"/>
          <a:cs typeface="+mn-cs"/>
        </a:defRPr>
      </a:lvl8pPr>
      <a:lvl9pPr marL="3657600" algn="l" defTabSz="457200" rtl="0" eaLnBrk="1" latinLnBrk="0" hangingPunct="1">
        <a:defRPr sz="1800" kern="1200">
          <a:solidFill>
            <a:schemeClr val="tx1"/>
          </a:solidFill>
          <a:latin typeface="Poppins"/>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val="34495E"/&gt;</a:solidFill>
        <a:effectLst/>
      </p:bgPr>
    </p:bg>
    <p:spTree>
      <p:nvGrpSpPr>
        <p:cNvPr id="1" name=""/>
        <p:cNvGrpSpPr/>
        <p:nvPr/>
      </p:nvGrpSpPr>
      <p:grpSpPr/>
      <p:sp>
        <p:nvSpPr>
          <p:cNvPr id="2" name="TextBox 1"/>
          <p:cNvSpPr txBox="1"/>
          <p:nvPr/>
        </p:nvSpPr>
        <p:spPr>
          <a:xfrm>
            <a:off x="914400" y="1371600"/>
            <a:ext cx="10362895" cy="1828800"/>
          </a:xfrm>
          <a:prstGeom prst="rect">
            <a:avLst/>
          </a:prstGeom>
          <a:noFill/>
        </p:spPr>
        <p:txBody>
          <a:bodyPr wrap="square">
            <a:spAutoFit/>
          </a:bodyPr>
          <a:lstStyle/>
          <a:p>
            <a:pPr algn="ctr"/>
            <a:r>
              <a:rPr sz="3600" b="1">
                <a:solidFill>val="FFFFFF"/&gt;</a:solidFill>
              </a:rPr>
              <a:t>Written Course1 Introduction Dialogues</a:t>
            </a:r>
          </a:p>
          <a:p>
            <a:pPr algn="ctr"/>
            <a:r>
              <a:rPr sz="1800">
                <a:solidFill>val="DFE5EA"/&gt;</a:solidFill>
              </a:rPr>
              <a:t>20 dialogues | EN-FR | Dr. BELACEL Madani</a:t>
            </a:r>
          </a:p>
        </p:txBody>
      </p:sp>
      <p:sp>
        <p:nvSpPr>
          <p:cNvPr id="990001" name="Pied de page FLE"/>
          <p:cNvSpPr>
            <a:spLocks noGrp="1"/>
          </p:cNvSpPr>
          <p:nvPr/>
        </p:nvSpPr>
        <p:spPr>
          <a:xfrm>
            <a:off x="5562295" y="13716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a:t>
            </a:r>
          </a:p>
          <a:p>
            <a:pPr algn="ctr">
              <a:spcBef>
                <a:spcPts val="1200"/>
              </a:spcBef>
            </a:pPr>
            <a:r>
              <a:rPr sz="2000">
                <a:solidFill>val="DFE5EA"/&gt;</a:solidFill>
              </a:rPr>
              <a:t>🗣️ Dialogue 1 — What is written comprehension? (Qu&amp;#x27;est-ce que la compréhension écrite ?)</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exactly do we mean by written comprehension?</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 signifie exactement la compréhension écrite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It is the ability to understand written texts: articles, stories, academic passages, instructions, emails, and more. It includes understanding vocabulary, main ideas, details and the writer&amp;#x27;s purpose.</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C&amp;#x27;est la capacité à comprendre des textes écrits : articles, histoires, passages académiques, instructions, e-mails, et plus encore. Elle inclut la compréhension du vocabulaire, des idées principales, des détails et de l&amp;#x27;intention de l&amp;#x27;auteur.</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Is it only about understanding every word?</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S&amp;#x27;agit-il seulement de comprendre chaque mot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No. Good readers understand the overall meaning even when some words are unknown. They use context and reading strategies.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Non. Les bons lecteurs comprennent le sens global même quand certains mots sont inconnus. Ils utilisent le contexte et des stratégies de lecture.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2</a:t>
            </a:r>
          </a:p>
          <a:p>
            <a:pPr algn="ctr">
              <a:spcBef>
                <a:spcPts val="1200"/>
              </a:spcBef>
            </a:pPr>
            <a:r>
              <a:rPr sz="2000">
                <a:solidFill>val="DFE5EA"/&gt;</a:solidFill>
              </a:rPr>
              <a:t>🗣️ Dialogue 2 — What is written expression? (Qu&amp;#x27;est-ce que l&amp;#x27;expression écrite ?)</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And what about written expression?</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Et qu&amp;#x27;en est-il de l&amp;#x27;expression écrite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Written expression is the ability to produce clear, organised and appropriate written texts: paragraphs, essays, summaries, letters, emails and reports.</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L&amp;#x27;expression écrite est la capacité à produire des textes écrits clairs, organisés et appropriés : paragraphes, dissertations, résumés, lettres, e-mails et rapports.</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Is it just grammar and vocabulary?</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S&amp;#x27;agit-il seulement de grammaire et de vocabulaire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Grammar and vocabulary are essential, but organisation, coherence, style and adaptation to the reader are equally important.</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La grammaire et le vocabulaire sont essentiels, mais l&amp;#x27;organisation, la cohérence, le style et l&amp;#x27;adaptation au lecteur sont tout aussi importants.</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3</a:t>
            </a:r>
          </a:p>
          <a:p>
            <a:pPr algn="ctr">
              <a:spcBef>
                <a:spcPts val="1200"/>
              </a:spcBef>
            </a:pPr>
            <a:r>
              <a:rPr sz="2000">
                <a:solidFill>val="DFE5EA"/&gt;</a:solidFill>
              </a:rPr>
              <a:t>🗣️ Dialogue 3 — Why are written skills important for English students? (Pourquoi les compétences écrites sont-elles importantes pour les étudiants d&amp;#x27;anglais ?)</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Why do we study written comprehension and expression in the first year?</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Pourquoi étudions-nous la compréhension et l&amp;#x27;expression écrites en première année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Because almost all university work involves reading and writing: exams, assignments, research, and later professional communication. Strong written skills are essential for academic success.</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Parce que presque tout le travail universitaire implique lecture et écriture : examens, devoirs, recherche, et plus tard la communication professionnelle. De solides compétences écrites sont essentielles pour la réussite académique.</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Are they also useful outside university?</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Sont-elles aussi utiles en dehors de l&amp;#x27;université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Yes. Emails, reports, applications, social media posts and many jobs require clear written English.</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Oui. Les e-mails, rapports, candidatures, publications sur les réseaux sociaux et de nombreux métiers exigent un anglais écrit clair.</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4</a:t>
            </a:r>
          </a:p>
          <a:p>
            <a:pPr algn="ctr">
              <a:spcBef>
                <a:spcPts val="1200"/>
              </a:spcBef>
            </a:pPr>
            <a:r>
              <a:rPr sz="2000">
                <a:solidFill>val="DFE5EA"/&gt;</a:solidFill>
              </a:rPr>
              <a:t>🗣️ Dialogue 4 — The link between reading and writing (Le lien entre lecture et écriture)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Is there a connection between reading and writing?</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Y a-t-il un lien entre lecture et écriture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A very strong one. Good readers usually become better writers because they absorb vocabulary, structures, organisation patterns and styles from the texts they read.</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Un lien très fort. Les bons lecteurs deviennent généralement de meilleurs scripteurs parce qu&amp;#x27;ils absorbent le vocabulaire, les structures, les schémas d&amp;#x27;organisation et les styles des textes qu&amp;#x27;ils lisent.</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So we should read a lot to write better?</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Donc nous devrions beaucoup lire pour mieux écrire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Exactly. Reading provides models. Writing practice then helps you use what you have absorbed actively.</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Exactement. La lecture fournit des modèles. La pratique de l&amp;#x27;écriture vous aide ensuite à utiliser activement ce que vous avez absorbé.</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5</a:t>
            </a:r>
          </a:p>
          <a:p>
            <a:pPr algn="ctr">
              <a:spcBef>
                <a:spcPts val="1200"/>
              </a:spcBef>
            </a:pPr>
            <a:r>
              <a:rPr sz="2000">
                <a:solidFill>val="DFE5EA"/&gt;</a:solidFill>
              </a:rPr>
              <a:t>🗣️ Dialogue 5 — Different types of written texts (Différents types de textes écrits)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kinds of texts will we work on?</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Sur quels types de textes allons-nous travailler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Descriptive, narrative, argumentative and expository texts. Also practical genres: formal and informal emails, summaries, and short academic paragraphs.</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Des textes descriptifs, narratifs, argumentatifs et explicatifs. Aussi des genres pratiques : e-mails formels et informels, résumés, et courts paragraphes académiques.</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Do they all require the same skills?</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Exigent-ils tous les mêmes compétences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Some skills are common (clarity, organisation, correct language), but each type has its own purpose, structure and useful language.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Certaines compétences sont communes (clarté, organisation, langue correcte), mais chaque type a son propre but, sa structure et son langage utile.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6</a:t>
            </a:r>
          </a:p>
          <a:p>
            <a:pPr algn="ctr">
              <a:spcBef>
                <a:spcPts val="1200"/>
              </a:spcBef>
            </a:pPr>
            <a:r>
              <a:rPr sz="2000">
                <a:solidFill>val="DFE5EA"/&gt;</a:solidFill>
              </a:rPr>
              <a:t>🗣️ Dialogue 6 — Reading strategies: skimming and scanning (Stratégies de lecture : skimming et scanning)</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are skimming and scanning?</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 sont le skimming et le scanning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Skimming is reading quickly to get the general idea. Scanning is looking quickly for specific information (a date, a name, a number).</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Le skimming consiste à lire rapidement pour avoir l&amp;#x27;idée générale. Le scanning consiste à chercher rapidement une information précise (une date, un nom, un chiffre).</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When should we use each one?</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Quand devons-nous utiliser chacun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Skim when you need an overview. Scan when you need a particular detail. Both save time and are essential exam skills.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Faites du skimming quand vous avez besoin d&amp;#x27;une vue d&amp;#x27;ensemble. Du scanning quand vous avez besoin d&amp;#x27;un détail particulier. Les deux font gagner du temps et sont des compétences essentielles aux examens.</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7</a:t>
            </a:r>
          </a:p>
          <a:p>
            <a:pPr algn="ctr">
              <a:spcBef>
                <a:spcPts val="1200"/>
              </a:spcBef>
            </a:pPr>
            <a:r>
              <a:rPr sz="2000">
                <a:solidFill>val="DFE5EA"/&gt;</a:solidFill>
              </a:rPr>
              <a:t>🗣️ Dialogue 7 — Understanding the main idea of a text (Comprendre l&amp;#x27;idée principale d&amp;#x27;un texte)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How can I find the main idea of a paragraph or text?</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Comment trouver l&amp;#x27;idée principale d&amp;#x27;un paragraphe ou d&amp;#x27;un texte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Look at the title, the first and last sentences, and repeated key words. Ask yourself: What is the writer mainly telling me?</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Regardez le titre, la première et la dernière phrase, et les mots-clés répétés. Demandez-vous : Que me dit principalement l&amp;#x27;auteur ?</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Is the main idea always in the first sentence?</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L&amp;#x27;idée principale est-elle toujours dans la première phrase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Often, but not always. Sometimes it comes at the end or is implied. Training helps you recognise the different possibilities.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Souvent, mais pas toujours. Parfois elle vient à la fin ou est implicite. L&amp;#x27;entraînement vous aide à reconnaître les différentes possibilités.</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8</a:t>
            </a:r>
          </a:p>
          <a:p>
            <a:pPr algn="ctr">
              <a:spcBef>
                <a:spcPts val="1200"/>
              </a:spcBef>
            </a:pPr>
            <a:r>
              <a:rPr sz="2000">
                <a:solidFill>val="DFE5EA"/&gt;</a:solidFill>
              </a:rPr>
              <a:t>🗣️ Dialogue 8 — Dealing with unknown words in reading (Gérer les mots inconnus en lecture)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should I do when I meet many unknown words?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 faire quand je rencontre beaucoup de mots inconnus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Do not stop for every word. Try to guess from context, look at word parts (prefixes, suffixes), and only check the dictionary for words that block overall understanding.</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Ne vous arrêtez pas à chaque mot. Essayez de deviner grâce au contexte, regardez les parties du mot (préfixes, suffixes), et ne consultez le dictionnaire que pour les mots qui bloquent la compréhension globale.</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Is using a dictionary too often a problem?</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Utiliser trop souvent un dictionnaire est-il un problème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Yes, because it interrupts reading fluency. Learn to tolerate some uncertainty and focus on the main message first.</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Oui, parce que cela interrompt la fluidité de lecture. Apprenez à tolérer une certaine incertitude et concentrez-vous d&amp;#x27;abord sur le message principal.</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9</a:t>
            </a:r>
          </a:p>
          <a:p>
            <a:pPr algn="ctr">
              <a:spcBef>
                <a:spcPts val="1200"/>
              </a:spcBef>
            </a:pPr>
            <a:r>
              <a:rPr sz="2000">
                <a:solidFill>val="DFE5EA"/&gt;</a:solidFill>
              </a:rPr>
              <a:t>🗣️ Dialogue 9 — From sentence to paragraph (De la phrase au paragraphe)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makes a good paragraph?</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Qu&amp;#x27;est-ce qui fait un bon paragraphe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A clear topic sentence, supporting sentences that develop the idea, and often a concluding or linking sentence. Unity and coherence are essential.</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Une phrase thématique claire, des phrases de soutien qui développent l&amp;#x27;idée, et souvent une phrase de conclusion ou de transition. L&amp;#x27;unité et la cohérence sont essentielles.</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What is a topic sentence?</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Qu&amp;#x27;est-ce qu&amp;#x27;une phrase thématique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It is usually the first sentence of the paragraph. It states the main idea that the rest of the paragraph will explain or support.</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C&amp;#x27;est généralement la première phrase du paragraphe. Elle énonce l&amp;#x27;idée principale que le reste du paragraphe expliquera ou soutiendra.</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10</a:t>
            </a:r>
          </a:p>
          <a:p>
            <a:pPr algn="ctr">
              <a:spcBef>
                <a:spcPts val="1200"/>
              </a:spcBef>
            </a:pPr>
            <a:r>
              <a:rPr sz="2000">
                <a:solidFill>val="DFE5EA"/&gt;</a:solidFill>
              </a:rPr>
              <a:t>🗣️ Dialogue 10 — Basic principles of clear writing (Principes de base d&amp;#x27;une écriture claire)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are the basic rules for writing clearly in English?</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Quelles sont les règles de base pour écrire clairement en anglais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Write simple and complete sentences, prefer active voice when possible, avoid unnecessary words, use linking words, and check that each sentence has a clear purpose.</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Écrivez des phrases simples et complètes, préférez la voix active quand c&amp;#x27;est possible, évitez les mots inutiles, utilisez des mots de liaison, et vérifiez que chaque phrase a un but clair.</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Is short always better?</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Court est-il toujours mieux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Not always, but clarity comes first. A short clear sentence is better than a long confusing one. You can combine ideas later when you control the structures.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Pas toujours, mais la clarté passe en premier. Une phrase courte et claire vaut mieux qu&amp;#x27;une longue phrase confuse. Vous pourrez combiner les idées plus tard quand vous maîtriserez les structures.</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11</a:t>
            </a:r>
          </a:p>
          <a:p>
            <a:pPr algn="ctr">
              <a:spcBef>
                <a:spcPts val="1200"/>
              </a:spcBef>
            </a:pPr>
            <a:r>
              <a:rPr sz="2000">
                <a:solidFill>val="DFE5EA"/&gt;</a:solidFill>
              </a:rPr>
              <a:t>🗣️ Dialogue 11 — The writing process: planning (Le processus d&amp;#x27;écriture : la planification)</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Should we start writing immediately or plan first?</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Devons-nous commencer à écrire immédiatement ou planifier d&amp;#x27;abord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Always plan, even briefly. Note your main idea, list two or three supporting points, and decide the order. Planning saves time and improves organisation.</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Planifiez toujours, même brièvement. Notez votre idée principale, listez deux ou trois points de soutien, et décidez de l&amp;#x27;ordre. La planification fait gagner du temps et améliore l&amp;#x27;organisation.</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What if I have no ideas?</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Et si je n&amp;#x27;ai pas d&amp;#x27;idées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Brainstorm freely for a few minutes without judging. Write everything that comes to mind, then select and organise the best points.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Faites un brainstorming libre pendant quelques minutes sans juger. Écrivez tout ce qui vous vient à l&amp;#x27;esprit, puis sélectionnez et organisez les meilleurs points.</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12</a:t>
            </a:r>
          </a:p>
          <a:p>
            <a:pPr algn="ctr">
              <a:spcBef>
                <a:spcPts val="1200"/>
              </a:spcBef>
            </a:pPr>
            <a:r>
              <a:rPr sz="2000">
                <a:solidFill>val="DFE5EA"/&gt;</a:solidFill>
              </a:rPr>
              <a:t>🗣️ Dialogue 12 — Drafting and revising (Rédiger et réviser)</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Is the first version of a text usually good enough?</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La première version d&amp;#x27;un texte est-elle généralement suffisante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Rarely. Good writing is rewriting. First get your ideas down (draft), then revise for organisation and clarity, and finally edit for grammar, spelling and punctuation.</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Rarement. Une bonne écriture est une réécriture. D&amp;#x27;abord mettez vos idées sur le papier (brouillon), puis révisez pour l&amp;#x27;organisation et la clarté, et enfin corrigez grammaire, orthographe et ponctuation.</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How many times should we revise?</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Combien de fois devons-nous réviser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At least once carefully. For important assignments, two or three revisions are better. Reading your text aloud helps a lot.</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Au moins une fois attentivement. Pour les devoirs importants, deux ou trois révisions sont mieux. Lire votre texte à voix haute aide beaucoup.</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13</a:t>
            </a:r>
          </a:p>
          <a:p>
            <a:pPr algn="ctr">
              <a:spcBef>
                <a:spcPts val="1200"/>
              </a:spcBef>
            </a:pPr>
            <a:r>
              <a:rPr sz="2000">
                <a:solidFill>val="DFE5EA"/&gt;</a:solidFill>
              </a:rPr>
              <a:t>🗣️ Dialogue 13 — Coherence and cohesion (Cohérence et cohésion)</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is the difference between coherence and cohesion?</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Quelle est la différence entre cohérence et cohésion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Coherence means the ideas are logically organised and make sense together. Cohesion means the sentences are linked with words and structures (and, but, however, this, such…).</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La cohérence signifie que les idées sont logiquement organisées et ont du sens ensemble. La cohésion signifie que les phrases sont liées par des mots et structures (and, but, however, this, such…).</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How can we improve both?</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Comment améliorer les deux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Plan the order of ideas (coherence) and learn common linking words and reference words (cohesion). Practice both deliberately.</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Planifiez l&amp;#x27;ordre des idées (cohérence) et apprenez les mots de liaison et de référence courants (cohésion). Pratiquez les deux de façon délibérée.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14</a:t>
            </a:r>
          </a:p>
          <a:p>
            <a:pPr algn="ctr">
              <a:spcBef>
                <a:spcPts val="1200"/>
              </a:spcBef>
            </a:pPr>
            <a:r>
              <a:rPr sz="2000">
                <a:solidFill>val="DFE5EA"/&gt;</a:solidFill>
              </a:rPr>
              <a:t>🗣️ Dialogue 14 — Formal vs informal writing (Écriture formelle vs informelle)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When should we write formally or informally?</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Quand devons-nous écrire de façon formelle ou informelle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Informal for personal emails, messages to friends, and some creative texts. Formal for academic essays, official emails, reports and most university assignments.</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Informel pour les e-mails personnels, messages aux amis, et certains textes créatifs. Formel pour les dissertations académiques, e-mails officiels, rapports et la plupart des devoirs universitaires.</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What are the main differences?</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Quelles sont les principales différences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Formal writing avoids contractions, slang, and very personal tone. It uses more precise vocabulary and complete structures. Informal writing is closer to spoken language.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L&amp;#x27;écriture formelle évite les contractions, l&amp;#x27;argot et un ton trop personnel. Elle utilise un vocabulaire plus précis et des structures complètes. L&amp;#x27;écriture informelle est plus proche de la langue parlée.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15</a:t>
            </a:r>
          </a:p>
          <a:p>
            <a:pPr algn="ctr">
              <a:spcBef>
                <a:spcPts val="1200"/>
              </a:spcBef>
            </a:pPr>
            <a:r>
              <a:rPr sz="2000">
                <a:solidFill>val="DFE5EA"/&gt;</a:solidFill>
              </a:rPr>
              <a:t>🗣️ Dialogue 15 — Common problems of first-year writers (Problèmes courants des scripteurs de première année)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mistakes do first-year students often make in writing?</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Quelles erreurs les étudiants de première année font-ils souvent à l&amp;#x27;écrit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Translating word for word from French, writing very long unclear sentences, forgetting topic sentences, weak organisation, and not revising.</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Traduire mot à mot du français, écrire de très longues phrases peu claires, oublier les phrases thématiques, une organisation faible, et ne pas réviser.</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How can we avoid translating from French?</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Comment éviter de traduire du français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Think in simple English from the start. Use structures and vocabulary you already know well. Read a lot of good English models.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Pensez en anglais simple dès le début. Utilisez des structures et un vocabulaire que vous maîtrisez déjà bien. Lisez beaucoup de bons modèles anglais.</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16</a:t>
            </a:r>
          </a:p>
          <a:p>
            <a:pPr algn="ctr">
              <a:spcBef>
                <a:spcPts val="1200"/>
              </a:spcBef>
            </a:pPr>
            <a:r>
              <a:rPr sz="2000">
                <a:solidFill>val="DFE5EA"/&gt;</a:solidFill>
              </a:rPr>
              <a:t>🗣️ Dialogue 16 — Using a dictionary and other tools for writing (Utiliser un dictionnaire et d&amp;#x27;autres outils pour écrire)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Which tools help us write better?</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Quels outils nous aident à mieux écrire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A good bilingual and monolingual dictionary, a learner&amp;#x27;s grammar, model texts, and careful use of spell-checkers. Later, corpora and style guides can help too.</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Un bon dictionnaire bilingue et monolingue, une grammaire pour apprenants, des textes modèles, et une utilisation prudente des correcteurs orthographiques. Plus tard, les corpus et guides de style peuvent aussi aider.</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Can we trust automatic translators?</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Pouvons-nous faire confiance aux traducteurs automatiques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Not for producing final texts. They can give ideas, but they often produce unnatural or incorrect English. Always check and rewrite.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Pas pour produire des textes finaux. Ils peuvent donner des idées, mais produisent souvent un anglais peu naturel ou incorrect. Vérifiez et réécrivez toujours.</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17</a:t>
            </a:r>
          </a:p>
          <a:p>
            <a:pPr algn="ctr">
              <a:spcBef>
                <a:spcPts val="1200"/>
              </a:spcBef>
            </a:pPr>
            <a:r>
              <a:rPr sz="2000">
                <a:solidFill>val="DFE5EA"/&gt;</a:solidFill>
              </a:rPr>
              <a:t>🗣️ Dialogue 17 — Reading as a writer (Lire en tant que scripteur)</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How should we read if we want to improve our writing?</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Comment lire si nous voulons améliorer notre écriture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Notice how good writers organise paragraphs, introduce ideas, give examples, and link sentences. Collect useful phrases and structures in a notebook.</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Remarquez comment les bons scripteurs organisent les paragraphes, introduisent les idées, donnent des exemples et lient les phrases. Collectez des phrases et structures utiles dans un carnet.</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Is passive reading enough?</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La lecture passive suffit-elle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No. Active reading with attention to form and organisation is much more effective for developing writing skills.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Non. Une lecture active avec attention à la forme et à l&amp;#x27;organisation est bien plus efficace pour développer les compétences d&amp;#x27;écriture.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18</a:t>
            </a:r>
          </a:p>
          <a:p>
            <a:pPr algn="ctr">
              <a:spcBef>
                <a:spcPts val="1200"/>
              </a:spcBef>
            </a:pPr>
            <a:r>
              <a:rPr sz="2000">
                <a:solidFill>val="DFE5EA"/&gt;</a:solidFill>
              </a:rPr>
              <a:t>🗣️ Dialogue 18 — Feedback and peer review (Feedback et relecture par les pairs)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How useful is feedback from classmates?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À quel point le feedback des camarades est-il utile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Very useful when it is specific and constructive. Peer review trains both the writer and the reader. Always start with positive points, then suggest improvements.</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Très utile quand il est précis et constructif. La relecture par les pairs entraîne à la fois le scripteur et le lecteur. Commencez toujours par des points positifs, puis suggérez des améliorations.</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Should we correct grammar for each other?</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Devons-nous nous corriger la grammaire mutuellement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You can point out obvious errors, but focus first on content, organisation and clarity. The teacher remains the main reference for accurate correction.</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Vous pouvez signaler les erreurs évidentes, mais concentrez-vous d&amp;#x27;abord sur le contenu, l&amp;#x27;organisation et la clarté. L&amp;#x27;enseignant reste la référence principale pour une correction précise.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19</a:t>
            </a:r>
          </a:p>
          <a:p>
            <a:pPr algn="ctr">
              <a:spcBef>
                <a:spcPts val="1200"/>
              </a:spcBef>
            </a:pPr>
            <a:r>
              <a:rPr sz="2000">
                <a:solidFill>val="DFE5EA"/&gt;</a:solidFill>
              </a:rPr>
              <a:t>🗣️ Dialogue 19 — Building a writing habit (Construire une habitude d&amp;#x27;écriture)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How can we practise writing regularly?</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Comment pratiquer l&amp;#x27;écriture régulièrement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Write a short paragraph several times a week on simple topics, keep a learning diary in English, or summarise articles you read. Short and regular is better than rare and long.</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Écrivez un court paragraphe plusieurs fois par semaine sur des sujets simples, tenez un journal d&amp;#x27;apprentissage en anglais, ou résumez des articles que vous lisez. Court et régulier vaut mieux que rare et long.</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What if I make many mistakes?</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Et si je fais beaucoup d&amp;#x27;erreurs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Mistakes are part of learning. Write first for fluency of ideas, then revise. Over time accuracy improves with feedback and conscious practice.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Les erreurs font partie de l&amp;#x27;apprentissage. Écrivez d&amp;#x27;abord pour la fluidité des idées, puis révisez. Avec le temps la précision s&amp;#x27;améliore grâce au feedback et à une pratique consciente.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20</a:t>
            </a:r>
          </a:p>
          <a:p>
            <a:pPr algn="ctr">
              <a:spcBef>
                <a:spcPts val="1200"/>
              </a:spcBef>
            </a:pPr>
            <a:r>
              <a:rPr sz="2000">
                <a:solidFill>val="DFE5EA"/&gt;</a:solidFill>
              </a:rPr>
              <a:t>🗣️ Dialogue 20 — Conclusion: Starting the journey of written skills (Conclusion : Commencer le parcours des compétences écrites)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should we remember from this first written skills course?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 devons-nous retenir de ce premier cours de compétences écrites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Reading and writing support each other. Use strategies for comprehension, plan before writing, focus on clarity and organisation, revise carefully, and practise regularly.</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Lecture et écriture se soutiennent mutuellement. Utilisez des stratégies pour la compréhension, planifiez avant d&amp;#x27;écrire, concentrez-vous sur la clarté et l&amp;#x27;organisation, révisez soigneusement, et pratiquez régulièrement.</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What is the first practical step for us?</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Quelle est la première étape pratique pour nous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This week: read one short authentic text using skimming and scanning, then write a short paragraph with a clear topic sentence and two supporting ideas. Small steps build strong skills.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Cette semaine : lisez un court texte authentique en utilisant skimming et scanning, puis écrivez un court paragraphe avec une phrase thématique claire et deux idées de soutien. Les petits pas construisent de solides compétences.</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val="00875B"/&gt;</a:solidFill>
              </a:rPr>
              <a:t>Student: </a:t>
            </a:r>
            <a:r>
              <a:rPr sz="1400">
                <a:solidFill>val="162B40"/&gt;</a:solidFill>
              </a:rPr>
              <a:t>Thank you, sir. This gives us a clear starting point.</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Merci, monsieur. Cela nous donne un point de départ clair.</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Poppi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oppi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