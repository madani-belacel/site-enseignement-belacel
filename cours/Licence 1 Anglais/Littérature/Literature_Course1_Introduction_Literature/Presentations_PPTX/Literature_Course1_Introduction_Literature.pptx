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Poppins"/>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Poppins"/>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Poppins"/>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Poppins"/>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Poppins"/>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Poppins"/>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Poppins"/>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Poppins"/>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Poppins"/>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Poppins"/>
          <a:ea typeface="+mn-ea"/>
          <a:cs typeface="+mn-cs"/>
        </a:defRPr>
      </a:lvl9pPr>
    </p:bodyStyle>
    <p:otherStyle>
      <a:defPPr>
        <a:defRPr lang="en-US"/>
      </a:defPPr>
      <a:lvl1pPr marL="0" algn="l" defTabSz="457200" rtl="0" eaLnBrk="1" latinLnBrk="0" hangingPunct="1">
        <a:defRPr sz="1800" kern="1200">
          <a:solidFill>
            <a:schemeClr val="tx1"/>
          </a:solidFill>
          <a:latin typeface="Poppins"/>
          <a:ea typeface="+mn-ea"/>
          <a:cs typeface="+mn-cs"/>
        </a:defRPr>
      </a:lvl1pPr>
      <a:lvl2pPr marL="457200" algn="l" defTabSz="457200" rtl="0" eaLnBrk="1" latinLnBrk="0" hangingPunct="1">
        <a:defRPr sz="1800" kern="1200">
          <a:solidFill>
            <a:schemeClr val="tx1"/>
          </a:solidFill>
          <a:latin typeface="Poppins"/>
          <a:ea typeface="+mn-ea"/>
          <a:cs typeface="+mn-cs"/>
        </a:defRPr>
      </a:lvl2pPr>
      <a:lvl3pPr marL="914400" algn="l" defTabSz="457200" rtl="0" eaLnBrk="1" latinLnBrk="0" hangingPunct="1">
        <a:defRPr sz="1800" kern="1200">
          <a:solidFill>
            <a:schemeClr val="tx1"/>
          </a:solidFill>
          <a:latin typeface="Poppins"/>
          <a:ea typeface="+mn-ea"/>
          <a:cs typeface="+mn-cs"/>
        </a:defRPr>
      </a:lvl3pPr>
      <a:lvl4pPr marL="1371600" algn="l" defTabSz="457200" rtl="0" eaLnBrk="1" latinLnBrk="0" hangingPunct="1">
        <a:defRPr sz="1800" kern="1200">
          <a:solidFill>
            <a:schemeClr val="tx1"/>
          </a:solidFill>
          <a:latin typeface="Poppins"/>
          <a:ea typeface="+mn-ea"/>
          <a:cs typeface="+mn-cs"/>
        </a:defRPr>
      </a:lvl4pPr>
      <a:lvl5pPr marL="1828800" algn="l" defTabSz="457200" rtl="0" eaLnBrk="1" latinLnBrk="0" hangingPunct="1">
        <a:defRPr sz="1800" kern="1200">
          <a:solidFill>
            <a:schemeClr val="tx1"/>
          </a:solidFill>
          <a:latin typeface="Poppins"/>
          <a:ea typeface="+mn-ea"/>
          <a:cs typeface="+mn-cs"/>
        </a:defRPr>
      </a:lvl5pPr>
      <a:lvl6pPr marL="2286000" algn="l" defTabSz="457200" rtl="0" eaLnBrk="1" latinLnBrk="0" hangingPunct="1">
        <a:defRPr sz="1800" kern="1200">
          <a:solidFill>
            <a:schemeClr val="tx1"/>
          </a:solidFill>
          <a:latin typeface="Poppins"/>
          <a:ea typeface="+mn-ea"/>
          <a:cs typeface="+mn-cs"/>
        </a:defRPr>
      </a:lvl6pPr>
      <a:lvl7pPr marL="2743200" algn="l" defTabSz="457200" rtl="0" eaLnBrk="1" latinLnBrk="0" hangingPunct="1">
        <a:defRPr sz="1800" kern="1200">
          <a:solidFill>
            <a:schemeClr val="tx1"/>
          </a:solidFill>
          <a:latin typeface="Poppins"/>
          <a:ea typeface="+mn-ea"/>
          <a:cs typeface="+mn-cs"/>
        </a:defRPr>
      </a:lvl7pPr>
      <a:lvl8pPr marL="3200400" algn="l" defTabSz="457200" rtl="0" eaLnBrk="1" latinLnBrk="0" hangingPunct="1">
        <a:defRPr sz="1800" kern="1200">
          <a:solidFill>
            <a:schemeClr val="tx1"/>
          </a:solidFill>
          <a:latin typeface="Poppins"/>
          <a:ea typeface="+mn-ea"/>
          <a:cs typeface="+mn-cs"/>
        </a:defRPr>
      </a:lvl8pPr>
      <a:lvl9pPr marL="3657600" algn="l" defTabSz="457200" rtl="0" eaLnBrk="1" latinLnBrk="0" hangingPunct="1">
        <a:defRPr sz="1800" kern="1200">
          <a:solidFill>
            <a:schemeClr val="tx1"/>
          </a:solidFill>
          <a:latin typeface="Poppins"/>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val="34495E"/&gt;</a:solidFill>
        <a:effectLst/>
      </p:bgPr>
    </p:bg>
    <p:spTree>
      <p:nvGrpSpPr>
        <p:cNvPr id="1" name=""/>
        <p:cNvGrpSpPr/>
        <p:nvPr/>
      </p:nvGrpSpPr>
      <p:grpSpPr/>
      <p:sp>
        <p:nvSpPr>
          <p:cNvPr id="2" name="TextBox 1"/>
          <p:cNvSpPr txBox="1"/>
          <p:nvPr/>
        </p:nvSpPr>
        <p:spPr>
          <a:xfrm>
            <a:off x="914400" y="1371600"/>
            <a:ext cx="10362895" cy="1828800"/>
          </a:xfrm>
          <a:prstGeom prst="rect">
            <a:avLst/>
          </a:prstGeom>
          <a:noFill/>
        </p:spPr>
        <p:txBody>
          <a:bodyPr wrap="square">
            <a:spAutoFit/>
          </a:bodyPr>
          <a:lstStyle/>
          <a:p>
            <a:pPr algn="ctr"/>
            <a:r>
              <a:rPr sz="3600" b="1">
                <a:solidFill>val="FFFFFF"/&gt;</a:solidFill>
              </a:rPr>
              <a:t>Literature Course1 Introduction Literature</a:t>
            </a:r>
          </a:p>
          <a:p>
            <a:pPr algn="ctr"/>
            <a:r>
              <a:rPr sz="1800">
                <a:solidFill>val="DFE5EA"/&gt;</a:solidFill>
              </a:rPr>
              <a:t>15 dialogues | EN-FR | Dr. BELACEL Madani</a:t>
            </a:r>
          </a:p>
        </p:txBody>
      </p:sp>
      <p:sp>
        <p:nvSpPr>
          <p:cNvPr id="990001" name="Pied de page FLE"/>
          <p:cNvSpPr>
            <a:spLocks noGrp="1"/>
          </p:cNvSpPr>
          <p:nvPr/>
        </p:nvSpPr>
        <p:spPr>
          <a:xfrm>
            <a:off x="5562295" y="137160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val="162B40"/&gt;</a:solidFill>
        <a:effectLst/>
      </p:bgPr>
    </p:bg>
    <p:spTree>
      <p:nvGrpSpPr>
        <p:cNvPr id="1" name=""/>
        <p:cNvGrpSpPr/>
        <p:nvPr/>
      </p:nvGrpSpPr>
      <p:grpSpPr/>
      <p:sp>
        <p:nvSpPr>
          <p:cNvPr id="2" name="TextBox 1"/>
          <p:cNvSpPr txBox="1"/>
          <p:nvPr/>
        </p:nvSpPr>
        <p:spPr>
          <a:xfrm>
            <a:off x="914400" y="2286000"/>
            <a:ext cx="10362895" cy="2286000"/>
          </a:xfrm>
          <a:prstGeom prst="rect">
            <a:avLst/>
          </a:prstGeom>
          <a:noFill/>
        </p:spPr>
        <p:txBody>
          <a:bodyPr wrap="square">
            <a:spAutoFit/>
          </a:bodyPr>
          <a:lstStyle/>
          <a:p>
            <a:pPr algn="ctr"/>
            <a:r>
              <a:rPr sz="2800" b="1">
                <a:solidFill>val="FFFFFF"/&gt;</a:solidFill>
              </a:rPr>
              <a:t>Dialogue 1</a:t>
            </a:r>
          </a:p>
          <a:p>
            <a:pPr algn="ctr">
              <a:spcBef>
                <a:spcPts val="1200"/>
              </a:spcBef>
            </a:pPr>
            <a:r>
              <a:rPr sz="2000">
                <a:solidFill>val="DFE5EA"/&gt;</a:solidFill>
              </a:rPr>
              <a:t>🗣️ Dialogue 1 — What is literature? (Qu&amp;#x27;est-ce que la littérature ?)</a:t>
            </a:r>
          </a:p>
        </p:txBody>
      </p:sp>
      <p:sp>
        <p:nvSpPr>
          <p:cNvPr id="990001" name="Pied de page FLE"/>
          <p:cNvSpPr>
            <a:spLocks noGrp="1"/>
          </p:cNvSpPr>
          <p:nvPr/>
        </p:nvSpPr>
        <p:spPr>
          <a:xfrm>
            <a:off x="5562295" y="182880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val="00875B"/&gt;</a:solidFill>
              </a:rPr>
              <a:t>Student: </a:t>
            </a:r>
            <a:r>
              <a:rPr sz="1400">
                <a:solidFill>val="162B40"/&gt;</a:solidFill>
              </a:rPr>
              <a:t>Good morning, sir. I hear the word "literature" everywhere, but what does it really mean?</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Bonjour, monsieur. J&amp;#x27;entends le mot « littérature » partout, mais qu&amp;#x27;est-ce que cela signifie vraiment ?</a:t>
            </a:r>
          </a:p>
        </p:txBody>
      </p:sp>
      <p:sp>
        <p:nvSpPr>
          <p:cNvPr id="4" name="TextBox 3"/>
          <p:cNvSpPr txBox="1"/>
          <p:nvPr/>
        </p:nvSpPr>
        <p:spPr>
          <a:xfrm>
            <a:off x="731520" y="1371600"/>
            <a:ext cx="10698480" cy="457200"/>
          </a:xfrm>
          <a:prstGeom prst="rect">
            <a:avLst/>
          </a:prstGeom>
          <a:noFill/>
        </p:spPr>
        <p:txBody>
          <a:bodyPr wrap="square">
            <a:spAutoFit/>
          </a:bodyPr>
          <a:lstStyle/>
          <a:p>
            <a:r>
              <a:rPr sz="1400" b="1">
                <a:solidFill>val="F0B429"/&gt;</a:solidFill>
              </a:rPr>
              <a:t>Teacher: </a:t>
            </a:r>
            <a:r>
              <a:rPr sz="1400">
                <a:solidFill>val="162B40"/&gt;</a:solidFill>
              </a:rPr>
              <a:t>Good morning. Literature is writing that uses language in a special, creative way to express ideas, feelings and experiences.</a:t>
            </a:r>
          </a:p>
        </p:txBody>
      </p:sp>
      <p:sp>
        <p:nvSpPr>
          <p:cNvPr id="5" name="TextBox 4"/>
          <p:cNvSpPr txBox="1"/>
          <p:nvPr/>
        </p:nvSpPr>
        <p:spPr>
          <a:xfrm>
            <a:off x="1097280" y="1783080"/>
            <a:ext cx="10332720" cy="411480"/>
          </a:xfrm>
          <a:prstGeom prst="rect">
            <a:avLst/>
          </a:prstGeom>
          <a:noFill/>
        </p:spPr>
        <p:txBody>
          <a:bodyPr wrap="square">
            <a:spAutoFit/>
          </a:bodyPr>
          <a:lstStyle/>
          <a:p>
            <a:r>
              <a:rPr sz="1200" i="1">
                <a:solidFill>val="69788B"/&gt;</a:solidFill>
              </a:rPr>
              <a:t>Bonjour. La littérature est une écriture qui utilise la langue d&amp;#x27;une manière spéciale et créative pour exprimer des idées, des sentiments et des expériences.</a:t>
            </a:r>
          </a:p>
        </p:txBody>
      </p:sp>
      <p:sp>
        <p:nvSpPr>
          <p:cNvPr id="6" name="TextBox 5"/>
          <p:cNvSpPr txBox="1"/>
          <p:nvPr/>
        </p:nvSpPr>
        <p:spPr>
          <a:xfrm>
            <a:off x="731520" y="2286000"/>
            <a:ext cx="10698480" cy="457200"/>
          </a:xfrm>
          <a:prstGeom prst="rect">
            <a:avLst/>
          </a:prstGeom>
          <a:noFill/>
        </p:spPr>
        <p:txBody>
          <a:bodyPr wrap="square">
            <a:spAutoFit/>
          </a:bodyPr>
          <a:lstStyle/>
          <a:p>
            <a:r>
              <a:rPr sz="1400" b="1">
                <a:solidFill>val="00875B"/&gt;</a:solidFill>
              </a:rPr>
              <a:t>Student: </a:t>
            </a:r>
            <a:r>
              <a:rPr sz="1400">
                <a:solidFill>val="162B40"/&gt;</a:solidFill>
              </a:rPr>
              <a:t>So any text is literature?</a:t>
            </a:r>
          </a:p>
        </p:txBody>
      </p:sp>
      <p:sp>
        <p:nvSpPr>
          <p:cNvPr id="7" name="TextBox 6"/>
          <p:cNvSpPr txBox="1"/>
          <p:nvPr/>
        </p:nvSpPr>
        <p:spPr>
          <a:xfrm>
            <a:off x="1097280" y="2697480"/>
            <a:ext cx="10332720" cy="411480"/>
          </a:xfrm>
          <a:prstGeom prst="rect">
            <a:avLst/>
          </a:prstGeom>
          <a:noFill/>
        </p:spPr>
        <p:txBody>
          <a:bodyPr wrap="square">
            <a:spAutoFit/>
          </a:bodyPr>
          <a:lstStyle/>
          <a:p>
            <a:r>
              <a:rPr sz="1200" i="1">
                <a:solidFill>val="69788B"/&gt;</a:solidFill>
              </a:rPr>
              <a:t>Alors, n&amp;#x27;importe quel texte est de la littérature ?</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val="F0B429"/&gt;</a:solidFill>
              </a:rPr>
              <a:t>Teacher: </a:t>
            </a:r>
            <a:r>
              <a:rPr sz="1400">
                <a:solidFill>val="162B40"/&gt;</a:solidFill>
              </a:rPr>
              <a:t>Not exactly. A bus timetable is useful, but it is not literature. Literature aims to move us or make us think, not just to give information.</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Pas tout à fait. Un horaire de bus est utile, mais ce n&amp;#x27;est pas de la littérature. La littérature cherche à nous toucher ou à nous faire réfléchir, pas seulement à donner des informations.</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val="162B40"/&gt;</a:solidFill>
        <a:effectLst/>
      </p:bgPr>
    </p:bg>
    <p:spTree>
      <p:nvGrpSpPr>
        <p:cNvPr id="1" name=""/>
        <p:cNvGrpSpPr/>
        <p:nvPr/>
      </p:nvGrpSpPr>
      <p:grpSpPr/>
      <p:sp>
        <p:nvSpPr>
          <p:cNvPr id="2" name="TextBox 1"/>
          <p:cNvSpPr txBox="1"/>
          <p:nvPr/>
        </p:nvSpPr>
        <p:spPr>
          <a:xfrm>
            <a:off x="914400" y="2286000"/>
            <a:ext cx="10362895" cy="2286000"/>
          </a:xfrm>
          <a:prstGeom prst="rect">
            <a:avLst/>
          </a:prstGeom>
          <a:noFill/>
        </p:spPr>
        <p:txBody>
          <a:bodyPr wrap="square">
            <a:spAutoFit/>
          </a:bodyPr>
          <a:lstStyle/>
          <a:p>
            <a:pPr algn="ctr"/>
            <a:r>
              <a:rPr sz="2800" b="1">
                <a:solidFill>val="FFFFFF"/&gt;</a:solidFill>
              </a:rPr>
              <a:t>Dialogue 2</a:t>
            </a:r>
          </a:p>
          <a:p>
            <a:pPr algn="ctr">
              <a:spcBef>
                <a:spcPts val="1200"/>
              </a:spcBef>
            </a:pPr>
            <a:r>
              <a:rPr sz="2000">
                <a:solidFill>val="DFE5EA"/&gt;</a:solidFill>
              </a:rPr>
              <a:t>🗣️ Dialogue 2 — Literature and imagination (La littérature et l&amp;#x27;imagination)</a:t>
            </a:r>
          </a:p>
        </p:txBody>
      </p:sp>
      <p:sp>
        <p:nvSpPr>
          <p:cNvPr id="990001" name="Pied de page FLE"/>
          <p:cNvSpPr>
            <a:spLocks noGrp="1"/>
          </p:cNvSpPr>
          <p:nvPr/>
        </p:nvSpPr>
        <p:spPr>
          <a:xfrm>
            <a:off x="5562295" y="182880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val="00875B"/&gt;</a:solidFill>
              </a:rPr>
              <a:t>Student: </a:t>
            </a:r>
            <a:r>
              <a:rPr sz="1400">
                <a:solidFill>val="162B40"/&gt;</a:solidFill>
              </a:rPr>
              <a:t>What makes literature different from a news report, for example?</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Qu&amp;#x27;est-ce qui rend la littérature différente d&amp;#x27;un reportage, par exemple ?</a:t>
            </a:r>
          </a:p>
        </p:txBody>
      </p:sp>
      <p:sp>
        <p:nvSpPr>
          <p:cNvPr id="4" name="TextBox 3"/>
          <p:cNvSpPr txBox="1"/>
          <p:nvPr/>
        </p:nvSpPr>
        <p:spPr>
          <a:xfrm>
            <a:off x="731520" y="1371600"/>
            <a:ext cx="10698480" cy="457200"/>
          </a:xfrm>
          <a:prstGeom prst="rect">
            <a:avLst/>
          </a:prstGeom>
          <a:noFill/>
        </p:spPr>
        <p:txBody>
          <a:bodyPr wrap="square">
            <a:spAutoFit/>
          </a:bodyPr>
          <a:lstStyle/>
          <a:p>
            <a:r>
              <a:rPr sz="1400" b="1">
                <a:solidFill>val="F0B429"/&gt;</a:solidFill>
              </a:rPr>
              <a:t>Teacher: </a:t>
            </a:r>
            <a:r>
              <a:rPr sz="1400">
                <a:solidFill>val="162B40"/&gt;</a:solidFill>
              </a:rPr>
              <a:t>A news report tells you what happened. Literature invites you to imagine a world, feel with the characters and see language as an art.</a:t>
            </a:r>
          </a:p>
        </p:txBody>
      </p:sp>
      <p:sp>
        <p:nvSpPr>
          <p:cNvPr id="5" name="TextBox 4"/>
          <p:cNvSpPr txBox="1"/>
          <p:nvPr/>
        </p:nvSpPr>
        <p:spPr>
          <a:xfrm>
            <a:off x="1097280" y="1783080"/>
            <a:ext cx="10332720" cy="411480"/>
          </a:xfrm>
          <a:prstGeom prst="rect">
            <a:avLst/>
          </a:prstGeom>
          <a:noFill/>
        </p:spPr>
        <p:txBody>
          <a:bodyPr wrap="square">
            <a:spAutoFit/>
          </a:bodyPr>
          <a:lstStyle/>
          <a:p>
            <a:r>
              <a:rPr sz="1200" i="1">
                <a:solidFill>val="69788B"/&gt;</a:solidFill>
              </a:rPr>
              <a:t>Un reportage vous dit ce qui s&amp;#x27;est passé. La littérature vous invite à imaginer un monde, à ressentir avec les personnages et à voir le langage comme un art.</a:t>
            </a:r>
          </a:p>
        </p:txBody>
      </p:sp>
      <p:sp>
        <p:nvSpPr>
          <p:cNvPr id="6" name="TextBox 5"/>
          <p:cNvSpPr txBox="1"/>
          <p:nvPr/>
        </p:nvSpPr>
        <p:spPr>
          <a:xfrm>
            <a:off x="731520" y="2286000"/>
            <a:ext cx="10698480" cy="457200"/>
          </a:xfrm>
          <a:prstGeom prst="rect">
            <a:avLst/>
          </a:prstGeom>
          <a:noFill/>
        </p:spPr>
        <p:txBody>
          <a:bodyPr wrap="square">
            <a:spAutoFit/>
          </a:bodyPr>
          <a:lstStyle/>
          <a:p>
            <a:r>
              <a:rPr sz="1400" b="1">
                <a:solidFill>val="00875B"/&gt;</a:solidFill>
              </a:rPr>
              <a:t>Student: </a:t>
            </a:r>
            <a:r>
              <a:rPr sz="1400">
                <a:solidFill>val="162B40"/&gt;</a:solidFill>
              </a:rPr>
              <a:t>Can you give me a very simple example?</a:t>
            </a:r>
          </a:p>
        </p:txBody>
      </p:sp>
      <p:sp>
        <p:nvSpPr>
          <p:cNvPr id="7" name="TextBox 6"/>
          <p:cNvSpPr txBox="1"/>
          <p:nvPr/>
        </p:nvSpPr>
        <p:spPr>
          <a:xfrm>
            <a:off x="1097280" y="2697480"/>
            <a:ext cx="10332720" cy="411480"/>
          </a:xfrm>
          <a:prstGeom prst="rect">
            <a:avLst/>
          </a:prstGeom>
          <a:noFill/>
        </p:spPr>
        <p:txBody>
          <a:bodyPr wrap="square">
            <a:spAutoFit/>
          </a:bodyPr>
          <a:lstStyle/>
          <a:p>
            <a:r>
              <a:rPr sz="1200" i="1">
                <a:solidFill>val="69788B"/&gt;</a:solidFill>
              </a:rPr>
              <a:t>Pouvez-vous me donner un exemple très simple ?</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val="F0B429"/&gt;</a:solidFill>
              </a:rPr>
              <a:t>Teacher: </a:t>
            </a:r>
            <a:r>
              <a:rPr sz="1400">
                <a:solidFill>val="162B40"/&gt;</a:solidFill>
              </a:rPr>
              <a:t>Of course. A report says: "The rain fell on the street." Literature says: "The rain whispered secrets on the empty street."</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Bien sûr. Un reportage dit : « La pluie tombait sur la rue. » La littérature dit : « La pluie murmurait des secrets sur la rue déserte. »</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val="162B40"/&gt;</a:solidFill>
        <a:effectLst/>
      </p:bgPr>
    </p:bg>
    <p:spTree>
      <p:nvGrpSpPr>
        <p:cNvPr id="1" name=""/>
        <p:cNvGrpSpPr/>
        <p:nvPr/>
      </p:nvGrpSpPr>
      <p:grpSpPr/>
      <p:sp>
        <p:nvSpPr>
          <p:cNvPr id="2" name="TextBox 1"/>
          <p:cNvSpPr txBox="1"/>
          <p:nvPr/>
        </p:nvSpPr>
        <p:spPr>
          <a:xfrm>
            <a:off x="914400" y="2286000"/>
            <a:ext cx="10362895" cy="2286000"/>
          </a:xfrm>
          <a:prstGeom prst="rect">
            <a:avLst/>
          </a:prstGeom>
          <a:noFill/>
        </p:spPr>
        <p:txBody>
          <a:bodyPr wrap="square">
            <a:spAutoFit/>
          </a:bodyPr>
          <a:lstStyle/>
          <a:p>
            <a:pPr algn="ctr"/>
            <a:r>
              <a:rPr sz="2800" b="1">
                <a:solidFill>val="FFFFFF"/&gt;</a:solidFill>
              </a:rPr>
              <a:t>Dialogue 3</a:t>
            </a:r>
          </a:p>
          <a:p>
            <a:pPr algn="ctr">
              <a:spcBef>
                <a:spcPts val="1200"/>
              </a:spcBef>
            </a:pPr>
            <a:r>
              <a:rPr sz="2000">
                <a:solidFill>val="DFE5EA"/&gt;</a:solidFill>
              </a:rPr>
              <a:t>🗣️ Dialogue 3 — Fiction and non-fiction (La fiction et la non-fiction)</a:t>
            </a:r>
          </a:p>
        </p:txBody>
      </p:sp>
      <p:sp>
        <p:nvSpPr>
          <p:cNvPr id="990001" name="Pied de page FLE"/>
          <p:cNvSpPr>
            <a:spLocks noGrp="1"/>
          </p:cNvSpPr>
          <p:nvPr/>
        </p:nvSpPr>
        <p:spPr>
          <a:xfrm>
            <a:off x="5562295" y="182880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val="00875B"/&gt;</a:solidFill>
              </a:rPr>
              <a:t>Student: </a:t>
            </a:r>
            <a:r>
              <a:rPr sz="1400">
                <a:solidFill>val="162B40"/&gt;</a:solidFill>
              </a:rPr>
              <a:t>I often hear about fiction. What does that word mean?</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J&amp;#x27;entends souvent parler de fiction. Que signifie ce mot ?</a:t>
            </a:r>
          </a:p>
        </p:txBody>
      </p:sp>
      <p:sp>
        <p:nvSpPr>
          <p:cNvPr id="4" name="TextBox 3"/>
          <p:cNvSpPr txBox="1"/>
          <p:nvPr/>
        </p:nvSpPr>
        <p:spPr>
          <a:xfrm>
            <a:off x="731520" y="1371600"/>
            <a:ext cx="10698480" cy="457200"/>
          </a:xfrm>
          <a:prstGeom prst="rect">
            <a:avLst/>
          </a:prstGeom>
          <a:noFill/>
        </p:spPr>
        <p:txBody>
          <a:bodyPr wrap="square">
            <a:spAutoFit/>
          </a:bodyPr>
          <a:lstStyle/>
          <a:p>
            <a:r>
              <a:rPr sz="1400" b="1">
                <a:solidFill>val="F0B429"/&gt;</a:solidFill>
              </a:rPr>
              <a:t>Teacher: </a:t>
            </a:r>
            <a:r>
              <a:rPr sz="1400">
                <a:solidFill>val="162B40"/&gt;</a:solidFill>
              </a:rPr>
              <a:t>Fiction is a story invented by the author&amp;#x27;s imagination, like a novel about a boy who finds a magic lamp.</a:t>
            </a:r>
          </a:p>
        </p:txBody>
      </p:sp>
      <p:sp>
        <p:nvSpPr>
          <p:cNvPr id="5" name="TextBox 4"/>
          <p:cNvSpPr txBox="1"/>
          <p:nvPr/>
        </p:nvSpPr>
        <p:spPr>
          <a:xfrm>
            <a:off x="1097280" y="1783080"/>
            <a:ext cx="10332720" cy="411480"/>
          </a:xfrm>
          <a:prstGeom prst="rect">
            <a:avLst/>
          </a:prstGeom>
          <a:noFill/>
        </p:spPr>
        <p:txBody>
          <a:bodyPr wrap="square">
            <a:spAutoFit/>
          </a:bodyPr>
          <a:lstStyle/>
          <a:p>
            <a:r>
              <a:rPr sz="1200" i="1">
                <a:solidFill>val="69788B"/&gt;</a:solidFill>
              </a:rPr>
              <a:t>La fiction est une histoire inventée par l&amp;#x27;imagination de l&amp;#x27;auteur, comme un roman sur un garçon qui trouve une lampe magique.</a:t>
            </a:r>
          </a:p>
        </p:txBody>
      </p:sp>
      <p:sp>
        <p:nvSpPr>
          <p:cNvPr id="6" name="TextBox 5"/>
          <p:cNvSpPr txBox="1"/>
          <p:nvPr/>
        </p:nvSpPr>
        <p:spPr>
          <a:xfrm>
            <a:off x="731520" y="2286000"/>
            <a:ext cx="10698480" cy="457200"/>
          </a:xfrm>
          <a:prstGeom prst="rect">
            <a:avLst/>
          </a:prstGeom>
          <a:noFill/>
        </p:spPr>
        <p:txBody>
          <a:bodyPr wrap="square">
            <a:spAutoFit/>
          </a:bodyPr>
          <a:lstStyle/>
          <a:p>
            <a:r>
              <a:rPr sz="1400" b="1">
                <a:solidFill>val="00875B"/&gt;</a:solidFill>
              </a:rPr>
              <a:t>Student: </a:t>
            </a:r>
            <a:r>
              <a:rPr sz="1400">
                <a:solidFill>val="162B40"/&gt;</a:solidFill>
              </a:rPr>
              <a:t>So non-fiction is the opposite?</a:t>
            </a:r>
          </a:p>
        </p:txBody>
      </p:sp>
      <p:sp>
        <p:nvSpPr>
          <p:cNvPr id="7" name="TextBox 6"/>
          <p:cNvSpPr txBox="1"/>
          <p:nvPr/>
        </p:nvSpPr>
        <p:spPr>
          <a:xfrm>
            <a:off x="1097280" y="2697480"/>
            <a:ext cx="10332720" cy="411480"/>
          </a:xfrm>
          <a:prstGeom prst="rect">
            <a:avLst/>
          </a:prstGeom>
          <a:noFill/>
        </p:spPr>
        <p:txBody>
          <a:bodyPr wrap="square">
            <a:spAutoFit/>
          </a:bodyPr>
          <a:lstStyle/>
          <a:p>
            <a:r>
              <a:rPr sz="1200" i="1">
                <a:solidFill>val="69788B"/&gt;</a:solidFill>
              </a:rPr>
              <a:t>Donc la non-fiction est le contraire ?</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val="F0B429"/&gt;</a:solidFill>
              </a:rPr>
              <a:t>Teacher: </a:t>
            </a:r>
            <a:r>
              <a:rPr sz="1400">
                <a:solidFill>val="162B40"/&gt;</a:solidFill>
              </a:rPr>
              <a:t>Yes. Non-fiction tells about real people and real events, like a biography of a famous scientist or a book about the history of Algeria.</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Oui. La non-fiction parle de vraies personnes et de vrais événements, comme une biographie d&amp;#x27;un grand scientifique ou un livre sur l&amp;#x27;histoire de l&amp;#x27;Algérie.</a:t>
            </a:r>
          </a:p>
        </p:txBody>
      </p:sp>
      <p:sp>
        <p:nvSpPr>
          <p:cNvPr id="4" name="TextBox 3"/>
          <p:cNvSpPr txBox="1"/>
          <p:nvPr/>
        </p:nvSpPr>
        <p:spPr>
          <a:xfrm>
            <a:off x="731520" y="1371600"/>
            <a:ext cx="10698480" cy="457200"/>
          </a:xfrm>
          <a:prstGeom prst="rect">
            <a:avLst/>
          </a:prstGeom>
          <a:noFill/>
        </p:spPr>
        <p:txBody>
          <a:bodyPr wrap="square">
            <a:spAutoFit/>
          </a:bodyPr>
          <a:lstStyle/>
          <a:p>
            <a:r>
              <a:rPr sz="1400" b="1">
                <a:solidFill>val="00875B"/&gt;</a:solidFill>
              </a:rPr>
              <a:t>Student: </a:t>
            </a:r>
            <a:r>
              <a:rPr sz="1400">
                <a:solidFill>val="162B40"/&gt;</a:solidFill>
              </a:rPr>
              <a:t>Are both important in literature?</a:t>
            </a:r>
          </a:p>
        </p:txBody>
      </p:sp>
      <p:sp>
        <p:nvSpPr>
          <p:cNvPr id="5" name="TextBox 4"/>
          <p:cNvSpPr txBox="1"/>
          <p:nvPr/>
        </p:nvSpPr>
        <p:spPr>
          <a:xfrm>
            <a:off x="1097280" y="1783080"/>
            <a:ext cx="10332720" cy="411480"/>
          </a:xfrm>
          <a:prstGeom prst="rect">
            <a:avLst/>
          </a:prstGeom>
          <a:noFill/>
        </p:spPr>
        <p:txBody>
          <a:bodyPr wrap="square">
            <a:spAutoFit/>
          </a:bodyPr>
          <a:lstStyle/>
          <a:p>
            <a:r>
              <a:rPr sz="1200" i="1">
                <a:solidFill>val="69788B"/&gt;</a:solidFill>
              </a:rPr>
              <a:t>Les deux sont-ils importants en littérature ?</a:t>
            </a:r>
          </a:p>
        </p:txBody>
      </p:sp>
      <p:sp>
        <p:nvSpPr>
          <p:cNvPr id="6" name="TextBox 5"/>
          <p:cNvSpPr txBox="1"/>
          <p:nvPr/>
        </p:nvSpPr>
        <p:spPr>
          <a:xfrm>
            <a:off x="731520" y="2286000"/>
            <a:ext cx="10698480" cy="457200"/>
          </a:xfrm>
          <a:prstGeom prst="rect">
            <a:avLst/>
          </a:prstGeom>
          <a:noFill/>
        </p:spPr>
        <p:txBody>
          <a:bodyPr wrap="square">
            <a:spAutoFit/>
          </a:bodyPr>
          <a:lstStyle/>
          <a:p>
            <a:r>
              <a:rPr sz="1400" b="1">
                <a:solidFill>val="F0B429"/&gt;</a:solidFill>
              </a:rPr>
              <a:t>Teacher: </a:t>
            </a:r>
            <a:r>
              <a:rPr sz="1400">
                <a:solidFill>val="162B40"/&gt;</a:solidFill>
              </a:rPr>
              <a:t>Absolutely. They are two doors into the same house: the world of books.</a:t>
            </a:r>
          </a:p>
        </p:txBody>
      </p:sp>
      <p:sp>
        <p:nvSpPr>
          <p:cNvPr id="7" name="TextBox 6"/>
          <p:cNvSpPr txBox="1"/>
          <p:nvPr/>
        </p:nvSpPr>
        <p:spPr>
          <a:xfrm>
            <a:off x="1097280" y="2697480"/>
            <a:ext cx="10332720" cy="411480"/>
          </a:xfrm>
          <a:prstGeom prst="rect">
            <a:avLst/>
          </a:prstGeom>
          <a:noFill/>
        </p:spPr>
        <p:txBody>
          <a:bodyPr wrap="square">
            <a:spAutoFit/>
          </a:bodyPr>
          <a:lstStyle/>
          <a:p>
            <a:r>
              <a:rPr sz="1200" i="1">
                <a:solidFill>val="69788B"/&gt;</a:solidFill>
              </a:rPr>
              <a:t>Absolument. Ce sont deux portes vers la même maison : le monde des livres.</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val="162B40"/&gt;</a:solidFill>
        <a:effectLst/>
      </p:bgPr>
    </p:bg>
    <p:spTree>
      <p:nvGrpSpPr>
        <p:cNvPr id="1" name=""/>
        <p:cNvGrpSpPr/>
        <p:nvPr/>
      </p:nvGrpSpPr>
      <p:grpSpPr/>
      <p:sp>
        <p:nvSpPr>
          <p:cNvPr id="2" name="TextBox 1"/>
          <p:cNvSpPr txBox="1"/>
          <p:nvPr/>
        </p:nvSpPr>
        <p:spPr>
          <a:xfrm>
            <a:off x="914400" y="2286000"/>
            <a:ext cx="10362895" cy="2286000"/>
          </a:xfrm>
          <a:prstGeom prst="rect">
            <a:avLst/>
          </a:prstGeom>
          <a:noFill/>
        </p:spPr>
        <p:txBody>
          <a:bodyPr wrap="square">
            <a:spAutoFit/>
          </a:bodyPr>
          <a:lstStyle/>
          <a:p>
            <a:pPr algn="ctr"/>
            <a:r>
              <a:rPr sz="2800" b="1">
                <a:solidFill>val="FFFFFF"/&gt;</a:solidFill>
              </a:rPr>
              <a:t>Dialogue 4</a:t>
            </a:r>
          </a:p>
          <a:p>
            <a:pPr algn="ctr">
              <a:spcBef>
                <a:spcPts val="1200"/>
              </a:spcBef>
            </a:pPr>
            <a:r>
              <a:rPr sz="2000">
                <a:solidFill>val="DFE5EA"/&gt;</a:solidFill>
              </a:rPr>
              <a:t>🗣️ Dialogue 4 — The main genres: an overview (Les principaux genres : un aperçu)</a:t>
            </a:r>
          </a:p>
        </p:txBody>
      </p:sp>
      <p:sp>
        <p:nvSpPr>
          <p:cNvPr id="990001" name="Pied de page FLE"/>
          <p:cNvSpPr>
            <a:spLocks noGrp="1"/>
          </p:cNvSpPr>
          <p:nvPr/>
        </p:nvSpPr>
        <p:spPr>
          <a:xfrm>
            <a:off x="5562295" y="182880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val="00875B"/&gt;</a:solidFill>
              </a:rPr>
              <a:t>Student: </a:t>
            </a:r>
            <a:r>
              <a:rPr sz="1400">
                <a:solidFill>val="162B40"/&gt;</a:solidFill>
              </a:rPr>
              <a:t>I hear about genres too. How many are there?</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J&amp;#x27;entends aussi parler de genres. Combien y en a-t-il ?</a:t>
            </a:r>
          </a:p>
        </p:txBody>
      </p:sp>
      <p:sp>
        <p:nvSpPr>
          <p:cNvPr id="4" name="TextBox 3"/>
          <p:cNvSpPr txBox="1"/>
          <p:nvPr/>
        </p:nvSpPr>
        <p:spPr>
          <a:xfrm>
            <a:off x="731520" y="1371600"/>
            <a:ext cx="10698480" cy="457200"/>
          </a:xfrm>
          <a:prstGeom prst="rect">
            <a:avLst/>
          </a:prstGeom>
          <a:noFill/>
        </p:spPr>
        <p:txBody>
          <a:bodyPr wrap="square">
            <a:spAutoFit/>
          </a:bodyPr>
          <a:lstStyle/>
          <a:p>
            <a:r>
              <a:rPr sz="1400" b="1">
                <a:solidFill>val="F0B429"/&gt;</a:solidFill>
              </a:rPr>
              <a:t>Teacher: </a:t>
            </a:r>
            <a:r>
              <a:rPr sz="1400">
                <a:solidFill>val="162B40"/&gt;</a:solidFill>
              </a:rPr>
              <a:t>There are three great genres: prose, poetry and drama.</a:t>
            </a:r>
          </a:p>
        </p:txBody>
      </p:sp>
      <p:sp>
        <p:nvSpPr>
          <p:cNvPr id="5" name="TextBox 4"/>
          <p:cNvSpPr txBox="1"/>
          <p:nvPr/>
        </p:nvSpPr>
        <p:spPr>
          <a:xfrm>
            <a:off x="1097280" y="1783080"/>
            <a:ext cx="10332720" cy="411480"/>
          </a:xfrm>
          <a:prstGeom prst="rect">
            <a:avLst/>
          </a:prstGeom>
          <a:noFill/>
        </p:spPr>
        <p:txBody>
          <a:bodyPr wrap="square">
            <a:spAutoFit/>
          </a:bodyPr>
          <a:lstStyle/>
          <a:p>
            <a:r>
              <a:rPr sz="1200" i="1">
                <a:solidFill>val="69788B"/&gt;</a:solidFill>
              </a:rPr>
              <a:t>Il y a trois grands genres : la prose, la poésie et le théâtre.</a:t>
            </a:r>
          </a:p>
        </p:txBody>
      </p:sp>
      <p:sp>
        <p:nvSpPr>
          <p:cNvPr id="6" name="TextBox 5"/>
          <p:cNvSpPr txBox="1"/>
          <p:nvPr/>
        </p:nvSpPr>
        <p:spPr>
          <a:xfrm>
            <a:off x="731520" y="2286000"/>
            <a:ext cx="10698480" cy="457200"/>
          </a:xfrm>
          <a:prstGeom prst="rect">
            <a:avLst/>
          </a:prstGeom>
          <a:noFill/>
        </p:spPr>
        <p:txBody>
          <a:bodyPr wrap="square">
            <a:spAutoFit/>
          </a:bodyPr>
          <a:lstStyle/>
          <a:p>
            <a:r>
              <a:rPr sz="1400" b="1">
                <a:solidFill>val="00875B"/&gt;</a:solidFill>
              </a:rPr>
              <a:t>Student: </a:t>
            </a:r>
            <a:r>
              <a:rPr sz="1400">
                <a:solidFill>val="162B40"/&gt;</a:solidFill>
              </a:rPr>
              <a:t>What are they exactly?</a:t>
            </a:r>
          </a:p>
        </p:txBody>
      </p:sp>
      <p:sp>
        <p:nvSpPr>
          <p:cNvPr id="7" name="TextBox 6"/>
          <p:cNvSpPr txBox="1"/>
          <p:nvPr/>
        </p:nvSpPr>
        <p:spPr>
          <a:xfrm>
            <a:off x="1097280" y="2697480"/>
            <a:ext cx="10332720" cy="411480"/>
          </a:xfrm>
          <a:prstGeom prst="rect">
            <a:avLst/>
          </a:prstGeom>
          <a:noFill/>
        </p:spPr>
        <p:txBody>
          <a:bodyPr wrap="square">
            <a:spAutoFit/>
          </a:bodyPr>
          <a:lstStyle/>
          <a:p>
            <a:r>
              <a:rPr sz="1200" i="1">
                <a:solidFill>val="69788B"/&gt;</a:solidFill>
              </a:rPr>
              <a:t>Que sont-ils exactement ?</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val="F0B429"/&gt;</a:solidFill>
              </a:rPr>
              <a:t>Teacher: </a:t>
            </a:r>
            <a:r>
              <a:rPr sz="1400">
                <a:solidFill>val="162B40"/&gt;</a:solidFill>
              </a:rPr>
              <a:t>Prose is ordinary writing in sentences and paragraphs, like novels. Poetry uses lines, rhythm and sometimes rhyme. Drama is written to be performed on stage.</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La prose est une écriture ordinaire en phrases et en paragraphes, comme les romans. La poésie utilise des vers, le rythme et parfois la rime. Le théâtre est écrit pour être joué sur scène.</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val="162B40"/&gt;</a:solidFill>
        <a:effectLst/>
      </p:bgPr>
    </p:bg>
    <p:spTree>
      <p:nvGrpSpPr>
        <p:cNvPr id="1" name=""/>
        <p:cNvGrpSpPr/>
        <p:nvPr/>
      </p:nvGrpSpPr>
      <p:grpSpPr/>
      <p:sp>
        <p:nvSpPr>
          <p:cNvPr id="2" name="TextBox 1"/>
          <p:cNvSpPr txBox="1"/>
          <p:nvPr/>
        </p:nvSpPr>
        <p:spPr>
          <a:xfrm>
            <a:off x="914400" y="2286000"/>
            <a:ext cx="10362895" cy="2286000"/>
          </a:xfrm>
          <a:prstGeom prst="rect">
            <a:avLst/>
          </a:prstGeom>
          <a:noFill/>
        </p:spPr>
        <p:txBody>
          <a:bodyPr wrap="square">
            <a:spAutoFit/>
          </a:bodyPr>
          <a:lstStyle/>
          <a:p>
            <a:pPr algn="ctr"/>
            <a:r>
              <a:rPr sz="2800" b="1">
                <a:solidFill>val="FFFFFF"/&gt;</a:solidFill>
              </a:rPr>
              <a:t>Dialogue 5</a:t>
            </a:r>
          </a:p>
          <a:p>
            <a:pPr algn="ctr">
              <a:spcBef>
                <a:spcPts val="1200"/>
              </a:spcBef>
            </a:pPr>
            <a:r>
              <a:rPr sz="2000">
                <a:solidFill>val="DFE5EA"/&gt;</a:solidFill>
              </a:rPr>
              <a:t>🗣️ Dialogue 5 — What is prose? (Qu&amp;#x27;est-ce que la prose ?)</a:t>
            </a:r>
          </a:p>
        </p:txBody>
      </p:sp>
      <p:sp>
        <p:nvSpPr>
          <p:cNvPr id="990001" name="Pied de page FLE"/>
          <p:cNvSpPr>
            <a:spLocks noGrp="1"/>
          </p:cNvSpPr>
          <p:nvPr/>
        </p:nvSpPr>
        <p:spPr>
          <a:xfrm>
            <a:off x="5562295" y="182880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val="00875B"/&gt;</a:solidFill>
              </a:rPr>
              <a:t>Student: </a:t>
            </a:r>
            <a:r>
              <a:rPr sz="1400">
                <a:solidFill>val="162B40"/&gt;</a:solidFill>
              </a:rPr>
              <a:t>Let me start with prose. Is it the easiest genre?</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Commençons par la prose. Est-ce le genre le plus facile ?</a:t>
            </a:r>
          </a:p>
        </p:txBody>
      </p:sp>
      <p:sp>
        <p:nvSpPr>
          <p:cNvPr id="4" name="TextBox 3"/>
          <p:cNvSpPr txBox="1"/>
          <p:nvPr/>
        </p:nvSpPr>
        <p:spPr>
          <a:xfrm>
            <a:off x="731520" y="1371600"/>
            <a:ext cx="10698480" cy="457200"/>
          </a:xfrm>
          <a:prstGeom prst="rect">
            <a:avLst/>
          </a:prstGeom>
          <a:noFill/>
        </p:spPr>
        <p:txBody>
          <a:bodyPr wrap="square">
            <a:spAutoFit/>
          </a:bodyPr>
          <a:lstStyle/>
          <a:p>
            <a:r>
              <a:rPr sz="1400" b="1">
                <a:solidFill>val="F0B429"/&gt;</a:solidFill>
              </a:rPr>
              <a:t>Teacher: </a:t>
            </a:r>
            <a:r>
              <a:rPr sz="1400">
                <a:solidFill>val="162B40"/&gt;</a:solidFill>
              </a:rPr>
              <a:t>Prose follows natural speech: sentences, paragraphs, no special rhythm. That is why it seems the closest to everyday language.</a:t>
            </a:r>
          </a:p>
        </p:txBody>
      </p:sp>
      <p:sp>
        <p:nvSpPr>
          <p:cNvPr id="5" name="TextBox 4"/>
          <p:cNvSpPr txBox="1"/>
          <p:nvPr/>
        </p:nvSpPr>
        <p:spPr>
          <a:xfrm>
            <a:off x="1097280" y="1783080"/>
            <a:ext cx="10332720" cy="411480"/>
          </a:xfrm>
          <a:prstGeom prst="rect">
            <a:avLst/>
          </a:prstGeom>
          <a:noFill/>
        </p:spPr>
        <p:txBody>
          <a:bodyPr wrap="square">
            <a:spAutoFit/>
          </a:bodyPr>
          <a:lstStyle/>
          <a:p>
            <a:r>
              <a:rPr sz="1200" i="1">
                <a:solidFill>val="69788B"/&gt;</a:solidFill>
              </a:rPr>
              <a:t>La prose suit le langage naturel : des phrases, des paragraphes, pas de rythme particulier. C&amp;#x27;est pourquoi elle semble la plus proche du langage quotidien.</a:t>
            </a:r>
          </a:p>
        </p:txBody>
      </p:sp>
      <p:sp>
        <p:nvSpPr>
          <p:cNvPr id="6" name="TextBox 5"/>
          <p:cNvSpPr txBox="1"/>
          <p:nvPr/>
        </p:nvSpPr>
        <p:spPr>
          <a:xfrm>
            <a:off x="731520" y="2286000"/>
            <a:ext cx="10698480" cy="457200"/>
          </a:xfrm>
          <a:prstGeom prst="rect">
            <a:avLst/>
          </a:prstGeom>
          <a:noFill/>
        </p:spPr>
        <p:txBody>
          <a:bodyPr wrap="square">
            <a:spAutoFit/>
          </a:bodyPr>
          <a:lstStyle/>
          <a:p>
            <a:r>
              <a:rPr sz="1400" b="1">
                <a:solidFill>val="00875B"/&gt;</a:solidFill>
              </a:rPr>
              <a:t>Student: </a:t>
            </a:r>
            <a:r>
              <a:rPr sz="1400">
                <a:solidFill>val="162B40"/&gt;</a:solidFill>
              </a:rPr>
              <a:t>Give me an example of prose.</a:t>
            </a:r>
          </a:p>
        </p:txBody>
      </p:sp>
      <p:sp>
        <p:nvSpPr>
          <p:cNvPr id="7" name="TextBox 6"/>
          <p:cNvSpPr txBox="1"/>
          <p:nvPr/>
        </p:nvSpPr>
        <p:spPr>
          <a:xfrm>
            <a:off x="1097280" y="2697480"/>
            <a:ext cx="10332720" cy="411480"/>
          </a:xfrm>
          <a:prstGeom prst="rect">
            <a:avLst/>
          </a:prstGeom>
          <a:noFill/>
        </p:spPr>
        <p:txBody>
          <a:bodyPr wrap="square">
            <a:spAutoFit/>
          </a:bodyPr>
          <a:lstStyle/>
          <a:p>
            <a:r>
              <a:rPr sz="1200" i="1">
                <a:solidFill>val="69788B"/&gt;</a:solidFill>
              </a:rPr>
              <a:t>Donnez-moi un exemple de prose.</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val="F0B429"/&gt;</a:solidFill>
              </a:rPr>
              <a:t>Teacher: </a:t>
            </a:r>
            <a:r>
              <a:rPr sz="1400">
                <a:solidFill>val="162B40"/&gt;</a:solidFill>
              </a:rPr>
              <a:t>"The boy opened the door slowly. His cat was sleeping on the old chair." That is prose — simple, clear and direct.</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 Le garçon ouvrit lentement la porte. Son chat dormait sur la vieille chaise. » Voilà de la prose — simple, claire et directe.</a:t>
            </a:r>
          </a:p>
        </p:txBody>
      </p:sp>
      <p:sp>
        <p:nvSpPr>
          <p:cNvPr id="4" name="TextBox 3"/>
          <p:cNvSpPr txBox="1"/>
          <p:nvPr/>
        </p:nvSpPr>
        <p:spPr>
          <a:xfrm>
            <a:off x="731520" y="1371600"/>
            <a:ext cx="10698480" cy="457200"/>
          </a:xfrm>
          <a:prstGeom prst="rect">
            <a:avLst/>
          </a:prstGeom>
          <a:noFill/>
        </p:spPr>
        <p:txBody>
          <a:bodyPr wrap="square">
            <a:spAutoFit/>
          </a:bodyPr>
          <a:lstStyle/>
          <a:p>
            <a:r>
              <a:rPr sz="1400" b="1">
                <a:solidFill>val="00875B"/&gt;</a:solidFill>
              </a:rPr>
              <a:t>Student: </a:t>
            </a:r>
            <a:r>
              <a:rPr sz="1400">
                <a:solidFill>val="162B40"/&gt;</a:solidFill>
              </a:rPr>
              <a:t>And novels and short stories are both prose?</a:t>
            </a:r>
          </a:p>
        </p:txBody>
      </p:sp>
      <p:sp>
        <p:nvSpPr>
          <p:cNvPr id="5" name="TextBox 4"/>
          <p:cNvSpPr txBox="1"/>
          <p:nvPr/>
        </p:nvSpPr>
        <p:spPr>
          <a:xfrm>
            <a:off x="1097280" y="1783080"/>
            <a:ext cx="10332720" cy="411480"/>
          </a:xfrm>
          <a:prstGeom prst="rect">
            <a:avLst/>
          </a:prstGeom>
          <a:noFill/>
        </p:spPr>
        <p:txBody>
          <a:bodyPr wrap="square">
            <a:spAutoFit/>
          </a:bodyPr>
          <a:lstStyle/>
          <a:p>
            <a:r>
              <a:rPr sz="1200" i="1">
                <a:solidFill>val="69788B"/&gt;</a:solidFill>
              </a:rPr>
              <a:t>Et les romans et les nouvelles sont tous les deux de la prose ?</a:t>
            </a:r>
          </a:p>
        </p:txBody>
      </p:sp>
      <p:sp>
        <p:nvSpPr>
          <p:cNvPr id="6" name="TextBox 5"/>
          <p:cNvSpPr txBox="1"/>
          <p:nvPr/>
        </p:nvSpPr>
        <p:spPr>
          <a:xfrm>
            <a:off x="731520" y="2286000"/>
            <a:ext cx="10698480" cy="457200"/>
          </a:xfrm>
          <a:prstGeom prst="rect">
            <a:avLst/>
          </a:prstGeom>
          <a:noFill/>
        </p:spPr>
        <p:txBody>
          <a:bodyPr wrap="square">
            <a:spAutoFit/>
          </a:bodyPr>
          <a:lstStyle/>
          <a:p>
            <a:r>
              <a:rPr sz="1400" b="1">
                <a:solidFill>val="F0B429"/&gt;</a:solidFill>
              </a:rPr>
              <a:t>Teacher: </a:t>
            </a:r>
            <a:r>
              <a:rPr sz="1400">
                <a:solidFill>val="162B40"/&gt;</a:solidFill>
              </a:rPr>
              <a:t>Exactly. They are the two most famous forms of prose fiction.</a:t>
            </a:r>
          </a:p>
        </p:txBody>
      </p:sp>
      <p:sp>
        <p:nvSpPr>
          <p:cNvPr id="7" name="TextBox 6"/>
          <p:cNvSpPr txBox="1"/>
          <p:nvPr/>
        </p:nvSpPr>
        <p:spPr>
          <a:xfrm>
            <a:off x="1097280" y="2697480"/>
            <a:ext cx="10332720" cy="411480"/>
          </a:xfrm>
          <a:prstGeom prst="rect">
            <a:avLst/>
          </a:prstGeom>
          <a:noFill/>
        </p:spPr>
        <p:txBody>
          <a:bodyPr wrap="square">
            <a:spAutoFit/>
          </a:bodyPr>
          <a:lstStyle/>
          <a:p>
            <a:r>
              <a:rPr sz="1200" i="1">
                <a:solidFill>val="69788B"/&gt;</a:solidFill>
              </a:rPr>
              <a:t>Exactement. Ce sont les deux formes les plus célèbres de la fiction en prose.</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val="162B40"/&gt;</a:solidFill>
        <a:effectLst/>
      </p:bgPr>
    </p:bg>
    <p:spTree>
      <p:nvGrpSpPr>
        <p:cNvPr id="1" name=""/>
        <p:cNvGrpSpPr/>
        <p:nvPr/>
      </p:nvGrpSpPr>
      <p:grpSpPr/>
      <p:sp>
        <p:nvSpPr>
          <p:cNvPr id="2" name="TextBox 1"/>
          <p:cNvSpPr txBox="1"/>
          <p:nvPr/>
        </p:nvSpPr>
        <p:spPr>
          <a:xfrm>
            <a:off x="914400" y="2286000"/>
            <a:ext cx="10362895" cy="2286000"/>
          </a:xfrm>
          <a:prstGeom prst="rect">
            <a:avLst/>
          </a:prstGeom>
          <a:noFill/>
        </p:spPr>
        <p:txBody>
          <a:bodyPr wrap="square">
            <a:spAutoFit/>
          </a:bodyPr>
          <a:lstStyle/>
          <a:p>
            <a:pPr algn="ctr"/>
            <a:r>
              <a:rPr sz="2800" b="1">
                <a:solidFill>val="FFFFFF"/&gt;</a:solidFill>
              </a:rPr>
              <a:t>Dialogue 6</a:t>
            </a:r>
          </a:p>
          <a:p>
            <a:pPr algn="ctr">
              <a:spcBef>
                <a:spcPts val="1200"/>
              </a:spcBef>
            </a:pPr>
            <a:r>
              <a:rPr sz="2000">
                <a:solidFill>val="DFE5EA"/&gt;</a:solidFill>
              </a:rPr>
              <a:t>🗣️ Dialogue 6 — What is poetry? (Qu&amp;#x27;est-ce que la poésie ?)</a:t>
            </a:r>
          </a:p>
        </p:txBody>
      </p:sp>
      <p:sp>
        <p:nvSpPr>
          <p:cNvPr id="990001" name="Pied de page FLE"/>
          <p:cNvSpPr>
            <a:spLocks noGrp="1"/>
          </p:cNvSpPr>
          <p:nvPr/>
        </p:nvSpPr>
        <p:spPr>
          <a:xfrm>
            <a:off x="5562295" y="182880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val="00875B"/&gt;</a:solidFill>
              </a:rPr>
              <a:t>Student: </a:t>
            </a:r>
            <a:r>
              <a:rPr sz="1400">
                <a:solidFill>val="162B40"/&gt;</a:solidFill>
              </a:rPr>
              <a:t>Now poetry. Why does poetry look so different on the page?</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Maintenant la poésie. Pourquoi la poésie paraît-elle si différente sur la page ?</a:t>
            </a:r>
          </a:p>
        </p:txBody>
      </p:sp>
      <p:sp>
        <p:nvSpPr>
          <p:cNvPr id="4" name="TextBox 3"/>
          <p:cNvSpPr txBox="1"/>
          <p:nvPr/>
        </p:nvSpPr>
        <p:spPr>
          <a:xfrm>
            <a:off x="731520" y="1371600"/>
            <a:ext cx="10698480" cy="457200"/>
          </a:xfrm>
          <a:prstGeom prst="rect">
            <a:avLst/>
          </a:prstGeom>
          <a:noFill/>
        </p:spPr>
        <p:txBody>
          <a:bodyPr wrap="square">
            <a:spAutoFit/>
          </a:bodyPr>
          <a:lstStyle/>
          <a:p>
            <a:r>
              <a:rPr sz="1400" b="1">
                <a:solidFill>val="F0B429"/&gt;</a:solidFill>
              </a:rPr>
              <a:t>Teacher: </a:t>
            </a:r>
            <a:r>
              <a:rPr sz="1400">
                <a:solidFill>val="162B40"/&gt;</a:solidFill>
              </a:rPr>
              <a:t>Because it is written in lines and stanzas, and it plays with rhythm and sound. It often says a lot in very few words.</a:t>
            </a:r>
          </a:p>
        </p:txBody>
      </p:sp>
      <p:sp>
        <p:nvSpPr>
          <p:cNvPr id="5" name="TextBox 4"/>
          <p:cNvSpPr txBox="1"/>
          <p:nvPr/>
        </p:nvSpPr>
        <p:spPr>
          <a:xfrm>
            <a:off x="1097280" y="1783080"/>
            <a:ext cx="10332720" cy="411480"/>
          </a:xfrm>
          <a:prstGeom prst="rect">
            <a:avLst/>
          </a:prstGeom>
          <a:noFill/>
        </p:spPr>
        <p:txBody>
          <a:bodyPr wrap="square">
            <a:spAutoFit/>
          </a:bodyPr>
          <a:lstStyle/>
          <a:p>
            <a:r>
              <a:rPr sz="1200" i="1">
                <a:solidFill>val="69788B"/&gt;</a:solidFill>
              </a:rPr>
              <a:t>Parce qu&amp;#x27;elle est écrite en vers et en strophes, et qu&amp;#x27;elle joue avec le rythme et le son. Elle dit souvent beaucoup en très peu de mots.</a:t>
            </a:r>
          </a:p>
        </p:txBody>
      </p:sp>
      <p:sp>
        <p:nvSpPr>
          <p:cNvPr id="6" name="TextBox 5"/>
          <p:cNvSpPr txBox="1"/>
          <p:nvPr/>
        </p:nvSpPr>
        <p:spPr>
          <a:xfrm>
            <a:off x="731520" y="2286000"/>
            <a:ext cx="10698480" cy="457200"/>
          </a:xfrm>
          <a:prstGeom prst="rect">
            <a:avLst/>
          </a:prstGeom>
          <a:noFill/>
        </p:spPr>
        <p:txBody>
          <a:bodyPr wrap="square">
            <a:spAutoFit/>
          </a:bodyPr>
          <a:lstStyle/>
          <a:p>
            <a:r>
              <a:rPr sz="1400" b="1">
                <a:solidFill>val="00875B"/&gt;</a:solidFill>
              </a:rPr>
              <a:t>Student: </a:t>
            </a:r>
            <a:r>
              <a:rPr sz="1400">
                <a:solidFill>val="162B40"/&gt;</a:solidFill>
              </a:rPr>
              <a:t>Can you show me a tiny example?</a:t>
            </a:r>
          </a:p>
        </p:txBody>
      </p:sp>
      <p:sp>
        <p:nvSpPr>
          <p:cNvPr id="7" name="TextBox 6"/>
          <p:cNvSpPr txBox="1"/>
          <p:nvPr/>
        </p:nvSpPr>
        <p:spPr>
          <a:xfrm>
            <a:off x="1097280" y="2697480"/>
            <a:ext cx="10332720" cy="411480"/>
          </a:xfrm>
          <a:prstGeom prst="rect">
            <a:avLst/>
          </a:prstGeom>
          <a:noFill/>
        </p:spPr>
        <p:txBody>
          <a:bodyPr wrap="square">
            <a:spAutoFit/>
          </a:bodyPr>
          <a:lstStyle/>
          <a:p>
            <a:r>
              <a:rPr sz="1200" i="1">
                <a:solidFill>val="69788B"/&gt;</a:solidFill>
              </a:rPr>
              <a:t>Pouvez-vous me montrer un tout petit exemple ?</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val="F0B429"/&gt;</a:solidFill>
              </a:rPr>
              <a:t>Teacher: </a:t>
            </a:r>
            <a:r>
              <a:rPr sz="1400">
                <a:solidFill>val="162B40"/&gt;</a:solidFill>
              </a:rPr>
              <a:t>Here is one I invented: "The sun goes down, the birds go home, / And still I sit and write alone."</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En voici un que j&amp;#x27;ai inventé : « Le soleil se couche, les oiseaux rentrent, / Et je reste assis à écrire seul. »</a:t>
            </a:r>
          </a:p>
        </p:txBody>
      </p:sp>
      <p:sp>
        <p:nvSpPr>
          <p:cNvPr id="4" name="TextBox 3"/>
          <p:cNvSpPr txBox="1"/>
          <p:nvPr/>
        </p:nvSpPr>
        <p:spPr>
          <a:xfrm>
            <a:off x="731520" y="1371600"/>
            <a:ext cx="10698480" cy="457200"/>
          </a:xfrm>
          <a:prstGeom prst="rect">
            <a:avLst/>
          </a:prstGeom>
          <a:noFill/>
        </p:spPr>
        <p:txBody>
          <a:bodyPr wrap="square">
            <a:spAutoFit/>
          </a:bodyPr>
          <a:lstStyle/>
          <a:p>
            <a:r>
              <a:rPr sz="1400" b="1">
                <a:solidFill>val="00875B"/&gt;</a:solidFill>
              </a:rPr>
              <a:t>Student: </a:t>
            </a:r>
            <a:r>
              <a:rPr sz="1400">
                <a:solidFill>val="162B40"/&gt;</a:solidFill>
              </a:rPr>
              <a:t>The words seem to sing a little.</a:t>
            </a:r>
          </a:p>
        </p:txBody>
      </p:sp>
      <p:sp>
        <p:nvSpPr>
          <p:cNvPr id="5" name="TextBox 4"/>
          <p:cNvSpPr txBox="1"/>
          <p:nvPr/>
        </p:nvSpPr>
        <p:spPr>
          <a:xfrm>
            <a:off x="1097280" y="1783080"/>
            <a:ext cx="10332720" cy="411480"/>
          </a:xfrm>
          <a:prstGeom prst="rect">
            <a:avLst/>
          </a:prstGeom>
          <a:noFill/>
        </p:spPr>
        <p:txBody>
          <a:bodyPr wrap="square">
            <a:spAutoFit/>
          </a:bodyPr>
          <a:lstStyle/>
          <a:p>
            <a:r>
              <a:rPr sz="1200" i="1">
                <a:solidFill>val="69788B"/&gt;</a:solidFill>
              </a:rPr>
              <a:t>Les mots semblent un peu chanter.</a:t>
            </a:r>
          </a:p>
        </p:txBody>
      </p:sp>
      <p:sp>
        <p:nvSpPr>
          <p:cNvPr id="6" name="TextBox 5"/>
          <p:cNvSpPr txBox="1"/>
          <p:nvPr/>
        </p:nvSpPr>
        <p:spPr>
          <a:xfrm>
            <a:off x="731520" y="2286000"/>
            <a:ext cx="10698480" cy="457200"/>
          </a:xfrm>
          <a:prstGeom prst="rect">
            <a:avLst/>
          </a:prstGeom>
          <a:noFill/>
        </p:spPr>
        <p:txBody>
          <a:bodyPr wrap="square">
            <a:spAutoFit/>
          </a:bodyPr>
          <a:lstStyle/>
          <a:p>
            <a:r>
              <a:rPr sz="1400" b="1">
                <a:solidFill>val="F0B429"/&gt;</a:solidFill>
              </a:rPr>
              <a:t>Teacher: </a:t>
            </a:r>
            <a:r>
              <a:rPr sz="1400">
                <a:solidFill>val="162B40"/&gt;</a:solidFill>
              </a:rPr>
              <a:t>Yes! That musical quality is part of poetry&amp;#x27;s beauty.</a:t>
            </a:r>
          </a:p>
        </p:txBody>
      </p:sp>
      <p:sp>
        <p:nvSpPr>
          <p:cNvPr id="7" name="TextBox 6"/>
          <p:cNvSpPr txBox="1"/>
          <p:nvPr/>
        </p:nvSpPr>
        <p:spPr>
          <a:xfrm>
            <a:off x="1097280" y="2697480"/>
            <a:ext cx="10332720" cy="411480"/>
          </a:xfrm>
          <a:prstGeom prst="rect">
            <a:avLst/>
          </a:prstGeom>
          <a:noFill/>
        </p:spPr>
        <p:txBody>
          <a:bodyPr wrap="square">
            <a:spAutoFit/>
          </a:bodyPr>
          <a:lstStyle/>
          <a:p>
            <a:r>
              <a:rPr sz="1200" i="1">
                <a:solidFill>val="69788B"/&gt;</a:solidFill>
              </a:rPr>
              <a:t>Oui ! Cette qualité musicale fait partie de la beauté de la poésie.</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val="162B40"/&gt;</a:solidFill>
        <a:effectLst/>
      </p:bgPr>
    </p:bg>
    <p:spTree>
      <p:nvGrpSpPr>
        <p:cNvPr id="1" name=""/>
        <p:cNvGrpSpPr/>
        <p:nvPr/>
      </p:nvGrpSpPr>
      <p:grpSpPr/>
      <p:sp>
        <p:nvSpPr>
          <p:cNvPr id="2" name="TextBox 1"/>
          <p:cNvSpPr txBox="1"/>
          <p:nvPr/>
        </p:nvSpPr>
        <p:spPr>
          <a:xfrm>
            <a:off x="914400" y="2286000"/>
            <a:ext cx="10362895" cy="2286000"/>
          </a:xfrm>
          <a:prstGeom prst="rect">
            <a:avLst/>
          </a:prstGeom>
          <a:noFill/>
        </p:spPr>
        <p:txBody>
          <a:bodyPr wrap="square">
            <a:spAutoFit/>
          </a:bodyPr>
          <a:lstStyle/>
          <a:p>
            <a:pPr algn="ctr"/>
            <a:r>
              <a:rPr sz="2800" b="1">
                <a:solidFill>val="FFFFFF"/&gt;</a:solidFill>
              </a:rPr>
              <a:t>Dialogue 7</a:t>
            </a:r>
          </a:p>
          <a:p>
            <a:pPr algn="ctr">
              <a:spcBef>
                <a:spcPts val="1200"/>
              </a:spcBef>
            </a:pPr>
            <a:r>
              <a:rPr sz="2000">
                <a:solidFill>val="DFE5EA"/&gt;</a:solidFill>
              </a:rPr>
              <a:t>🗣️ Dialogue 7 — What is drama? (Qu&amp;#x27;est-ce que le théâtre ?)</a:t>
            </a:r>
          </a:p>
        </p:txBody>
      </p:sp>
      <p:sp>
        <p:nvSpPr>
          <p:cNvPr id="990001" name="Pied de page FLE"/>
          <p:cNvSpPr>
            <a:spLocks noGrp="1"/>
          </p:cNvSpPr>
          <p:nvPr/>
        </p:nvSpPr>
        <p:spPr>
          <a:xfrm>
            <a:off x="5562295" y="182880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val="00875B"/&gt;</a:solidFill>
              </a:rPr>
              <a:t>Student: </a:t>
            </a:r>
            <a:r>
              <a:rPr sz="1400">
                <a:solidFill>val="162B40"/&gt;</a:solidFill>
              </a:rPr>
              <a:t>And drama is the third genre. Is drama only for the stage?</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Et le théâtre est le troisième genre. Le théâtre est-il seulement pour la scène ?</a:t>
            </a:r>
          </a:p>
        </p:txBody>
      </p:sp>
      <p:sp>
        <p:nvSpPr>
          <p:cNvPr id="4" name="TextBox 3"/>
          <p:cNvSpPr txBox="1"/>
          <p:nvPr/>
        </p:nvSpPr>
        <p:spPr>
          <a:xfrm>
            <a:off x="731520" y="1371600"/>
            <a:ext cx="10698480" cy="457200"/>
          </a:xfrm>
          <a:prstGeom prst="rect">
            <a:avLst/>
          </a:prstGeom>
          <a:noFill/>
        </p:spPr>
        <p:txBody>
          <a:bodyPr wrap="square">
            <a:spAutoFit/>
          </a:bodyPr>
          <a:lstStyle/>
          <a:p>
            <a:r>
              <a:rPr sz="1400" b="1">
                <a:solidFill>val="F0B429"/&gt;</a:solidFill>
              </a:rPr>
              <a:t>Teacher: </a:t>
            </a:r>
            <a:r>
              <a:rPr sz="1400">
                <a:solidFill>val="162B40"/&gt;</a:solidFill>
              </a:rPr>
              <a:t>Drama is written to be performed: actors say the words on a stage in front of an audience.</a:t>
            </a:r>
          </a:p>
        </p:txBody>
      </p:sp>
      <p:sp>
        <p:nvSpPr>
          <p:cNvPr id="5" name="TextBox 4"/>
          <p:cNvSpPr txBox="1"/>
          <p:nvPr/>
        </p:nvSpPr>
        <p:spPr>
          <a:xfrm>
            <a:off x="1097280" y="1783080"/>
            <a:ext cx="10332720" cy="411480"/>
          </a:xfrm>
          <a:prstGeom prst="rect">
            <a:avLst/>
          </a:prstGeom>
          <a:noFill/>
        </p:spPr>
        <p:txBody>
          <a:bodyPr wrap="square">
            <a:spAutoFit/>
          </a:bodyPr>
          <a:lstStyle/>
          <a:p>
            <a:r>
              <a:rPr sz="1200" i="1">
                <a:solidFill>val="69788B"/&gt;</a:solidFill>
              </a:rPr>
              <a:t>Le théâtre est écrit pour être joué : des acteurs disent les mots sur une scène devant un public.</a:t>
            </a:r>
          </a:p>
        </p:txBody>
      </p:sp>
      <p:sp>
        <p:nvSpPr>
          <p:cNvPr id="6" name="TextBox 5"/>
          <p:cNvSpPr txBox="1"/>
          <p:nvPr/>
        </p:nvSpPr>
        <p:spPr>
          <a:xfrm>
            <a:off x="731520" y="2286000"/>
            <a:ext cx="10698480" cy="457200"/>
          </a:xfrm>
          <a:prstGeom prst="rect">
            <a:avLst/>
          </a:prstGeom>
          <a:noFill/>
        </p:spPr>
        <p:txBody>
          <a:bodyPr wrap="square">
            <a:spAutoFit/>
          </a:bodyPr>
          <a:lstStyle/>
          <a:p>
            <a:r>
              <a:rPr sz="1400" b="1">
                <a:solidFill>val="00875B"/&gt;</a:solidFill>
              </a:rPr>
              <a:t>Student: </a:t>
            </a:r>
            <a:r>
              <a:rPr sz="1400">
                <a:solidFill>val="162B40"/&gt;</a:solidFill>
              </a:rPr>
              <a:t>So drama is made of dialogue?</a:t>
            </a:r>
          </a:p>
        </p:txBody>
      </p:sp>
      <p:sp>
        <p:nvSpPr>
          <p:cNvPr id="7" name="TextBox 6"/>
          <p:cNvSpPr txBox="1"/>
          <p:nvPr/>
        </p:nvSpPr>
        <p:spPr>
          <a:xfrm>
            <a:off x="1097280" y="2697480"/>
            <a:ext cx="10332720" cy="411480"/>
          </a:xfrm>
          <a:prstGeom prst="rect">
            <a:avLst/>
          </a:prstGeom>
          <a:noFill/>
        </p:spPr>
        <p:txBody>
          <a:bodyPr wrap="square">
            <a:spAutoFit/>
          </a:bodyPr>
          <a:lstStyle/>
          <a:p>
            <a:r>
              <a:rPr sz="1200" i="1">
                <a:solidFill>val="69788B"/&gt;</a:solidFill>
              </a:rPr>
              <a:t>Donc le théâtre est fait de dialogues ?</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val="F0B429"/&gt;</a:solidFill>
              </a:rPr>
              <a:t>Teacher: </a:t>
            </a:r>
            <a:r>
              <a:rPr sz="1400">
                <a:solidFill>val="162B40"/&gt;</a:solidFill>
              </a:rPr>
              <a:t>Yes. A play is built from characters speaking to each other, plus stage directions that tell the actors how to move.</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Oui. Une pièce est construite à partir de personnages qui se parlent, plus des didascalies qui indiquent aux acteurs comment bouger.</a:t>
            </a:r>
          </a:p>
        </p:txBody>
      </p:sp>
      <p:sp>
        <p:nvSpPr>
          <p:cNvPr id="4" name="TextBox 3"/>
          <p:cNvSpPr txBox="1"/>
          <p:nvPr/>
        </p:nvSpPr>
        <p:spPr>
          <a:xfrm>
            <a:off x="731520" y="1371600"/>
            <a:ext cx="10698480" cy="457200"/>
          </a:xfrm>
          <a:prstGeom prst="rect">
            <a:avLst/>
          </a:prstGeom>
          <a:noFill/>
        </p:spPr>
        <p:txBody>
          <a:bodyPr wrap="square">
            <a:spAutoFit/>
          </a:bodyPr>
          <a:lstStyle/>
          <a:p>
            <a:r>
              <a:rPr sz="1400" b="1">
                <a:solidFill>val="00875B"/&gt;</a:solidFill>
              </a:rPr>
              <a:t>Student: </a:t>
            </a:r>
            <a:r>
              <a:rPr sz="1400">
                <a:solidFill>val="162B40"/&gt;</a:solidFill>
              </a:rPr>
              <a:t>I think I will enjoy reading plays too.</a:t>
            </a:r>
          </a:p>
        </p:txBody>
      </p:sp>
      <p:sp>
        <p:nvSpPr>
          <p:cNvPr id="5" name="TextBox 4"/>
          <p:cNvSpPr txBox="1"/>
          <p:nvPr/>
        </p:nvSpPr>
        <p:spPr>
          <a:xfrm>
            <a:off x="1097280" y="1783080"/>
            <a:ext cx="10332720" cy="411480"/>
          </a:xfrm>
          <a:prstGeom prst="rect">
            <a:avLst/>
          </a:prstGeom>
          <a:noFill/>
        </p:spPr>
        <p:txBody>
          <a:bodyPr wrap="square">
            <a:spAutoFit/>
          </a:bodyPr>
          <a:lstStyle/>
          <a:p>
            <a:r>
              <a:rPr sz="1200" i="1">
                <a:solidFill>val="69788B"/&gt;</a:solidFill>
              </a:rPr>
              <a:t>Je pense que j&amp;#x27;apprécierai aussi de lire des pièces de théâtre.</a:t>
            </a:r>
          </a:p>
        </p:txBody>
      </p:sp>
      <p:sp>
        <p:nvSpPr>
          <p:cNvPr id="6" name="TextBox 5"/>
          <p:cNvSpPr txBox="1"/>
          <p:nvPr/>
        </p:nvSpPr>
        <p:spPr>
          <a:xfrm>
            <a:off x="731520" y="2286000"/>
            <a:ext cx="10698480" cy="457200"/>
          </a:xfrm>
          <a:prstGeom prst="rect">
            <a:avLst/>
          </a:prstGeom>
          <a:noFill/>
        </p:spPr>
        <p:txBody>
          <a:bodyPr wrap="square">
            <a:spAutoFit/>
          </a:bodyPr>
          <a:lstStyle/>
          <a:p>
            <a:r>
              <a:rPr sz="1400" b="1">
                <a:solidFill>val="F0B429"/&gt;</a:solidFill>
              </a:rPr>
              <a:t>Teacher: </a:t>
            </a:r>
            <a:r>
              <a:rPr sz="1400">
                <a:solidFill>val="162B40"/&gt;</a:solidFill>
              </a:rPr>
              <a:t>Reading a play is reading a story that is waiting to be seen.</a:t>
            </a:r>
          </a:p>
        </p:txBody>
      </p:sp>
      <p:sp>
        <p:nvSpPr>
          <p:cNvPr id="7" name="TextBox 6"/>
          <p:cNvSpPr txBox="1"/>
          <p:nvPr/>
        </p:nvSpPr>
        <p:spPr>
          <a:xfrm>
            <a:off x="1097280" y="2697480"/>
            <a:ext cx="10332720" cy="411480"/>
          </a:xfrm>
          <a:prstGeom prst="rect">
            <a:avLst/>
          </a:prstGeom>
          <a:noFill/>
        </p:spPr>
        <p:txBody>
          <a:bodyPr wrap="square">
            <a:spAutoFit/>
          </a:bodyPr>
          <a:lstStyle/>
          <a:p>
            <a:r>
              <a:rPr sz="1200" i="1">
                <a:solidFill>val="69788B"/&gt;</a:solidFill>
              </a:rPr>
              <a:t>Lire une pièce, c&amp;#x27;est lire une histoire qui attend d&amp;#x27;être vue.</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val="162B40"/&gt;</a:solidFill>
        <a:effectLst/>
      </p:bgPr>
    </p:bg>
    <p:spTree>
      <p:nvGrpSpPr>
        <p:cNvPr id="1" name=""/>
        <p:cNvGrpSpPr/>
        <p:nvPr/>
      </p:nvGrpSpPr>
      <p:grpSpPr/>
      <p:sp>
        <p:nvSpPr>
          <p:cNvPr id="2" name="TextBox 1"/>
          <p:cNvSpPr txBox="1"/>
          <p:nvPr/>
        </p:nvSpPr>
        <p:spPr>
          <a:xfrm>
            <a:off x="914400" y="2286000"/>
            <a:ext cx="10362895" cy="2286000"/>
          </a:xfrm>
          <a:prstGeom prst="rect">
            <a:avLst/>
          </a:prstGeom>
          <a:noFill/>
        </p:spPr>
        <p:txBody>
          <a:bodyPr wrap="square">
            <a:spAutoFit/>
          </a:bodyPr>
          <a:lstStyle/>
          <a:p>
            <a:pPr algn="ctr"/>
            <a:r>
              <a:rPr sz="2800" b="1">
                <a:solidFill>val="FFFFFF"/&gt;</a:solidFill>
              </a:rPr>
              <a:t>Dialogue 8</a:t>
            </a:r>
          </a:p>
          <a:p>
            <a:pPr algn="ctr">
              <a:spcBef>
                <a:spcPts val="1200"/>
              </a:spcBef>
            </a:pPr>
            <a:r>
              <a:rPr sz="2000">
                <a:solidFill>val="DFE5EA"/&gt;</a:solidFill>
              </a:rPr>
              <a:t>🗣️ Dialogue 8 — Genres and subgenres (Les genres et sous-genres)</a:t>
            </a:r>
          </a:p>
        </p:txBody>
      </p:sp>
      <p:sp>
        <p:nvSpPr>
          <p:cNvPr id="990001" name="Pied de page FLE"/>
          <p:cNvSpPr>
            <a:spLocks noGrp="1"/>
          </p:cNvSpPr>
          <p:nvPr/>
        </p:nvSpPr>
        <p:spPr>
          <a:xfrm>
            <a:off x="5562295" y="182880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val="00875B"/&gt;</a:solidFill>
              </a:rPr>
              <a:t>Student: </a:t>
            </a:r>
            <a:r>
              <a:rPr sz="1400">
                <a:solidFill>val="162B40"/&gt;</a:solidFill>
              </a:rPr>
              <a:t>Are there smaller categories inside these three genres?</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Y a-t-il des catégories plus petites à l&amp;#x27;intérieur de ces trois genres ?</a:t>
            </a:r>
          </a:p>
        </p:txBody>
      </p:sp>
      <p:sp>
        <p:nvSpPr>
          <p:cNvPr id="4" name="TextBox 3"/>
          <p:cNvSpPr txBox="1"/>
          <p:nvPr/>
        </p:nvSpPr>
        <p:spPr>
          <a:xfrm>
            <a:off x="731520" y="1371600"/>
            <a:ext cx="10698480" cy="457200"/>
          </a:xfrm>
          <a:prstGeom prst="rect">
            <a:avLst/>
          </a:prstGeom>
          <a:noFill/>
        </p:spPr>
        <p:txBody>
          <a:bodyPr wrap="square">
            <a:spAutoFit/>
          </a:bodyPr>
          <a:lstStyle/>
          <a:p>
            <a:r>
              <a:rPr sz="1400" b="1">
                <a:solidFill>val="F0B429"/&gt;</a:solidFill>
              </a:rPr>
              <a:t>Teacher: </a:t>
            </a:r>
            <a:r>
              <a:rPr sz="1400">
                <a:solidFill>val="162B40"/&gt;</a:solidFill>
              </a:rPr>
              <a:t>Yes, we call them subgenres. Prose has novels, short stories, fables and biographies.</a:t>
            </a:r>
          </a:p>
        </p:txBody>
      </p:sp>
      <p:sp>
        <p:nvSpPr>
          <p:cNvPr id="5" name="TextBox 4"/>
          <p:cNvSpPr txBox="1"/>
          <p:nvPr/>
        </p:nvSpPr>
        <p:spPr>
          <a:xfrm>
            <a:off x="1097280" y="1783080"/>
            <a:ext cx="10332720" cy="411480"/>
          </a:xfrm>
          <a:prstGeom prst="rect">
            <a:avLst/>
          </a:prstGeom>
          <a:noFill/>
        </p:spPr>
        <p:txBody>
          <a:bodyPr wrap="square">
            <a:spAutoFit/>
          </a:bodyPr>
          <a:lstStyle/>
          <a:p>
            <a:r>
              <a:rPr sz="1200" i="1">
                <a:solidFill>val="69788B"/&gt;</a:solidFill>
              </a:rPr>
              <a:t>Oui, on les appelle des sous-genres. La prose comprend les romans, les nouvelles, les fables et les biographies.</a:t>
            </a:r>
          </a:p>
        </p:txBody>
      </p:sp>
      <p:sp>
        <p:nvSpPr>
          <p:cNvPr id="6" name="TextBox 5"/>
          <p:cNvSpPr txBox="1"/>
          <p:nvPr/>
        </p:nvSpPr>
        <p:spPr>
          <a:xfrm>
            <a:off x="731520" y="2286000"/>
            <a:ext cx="10698480" cy="457200"/>
          </a:xfrm>
          <a:prstGeom prst="rect">
            <a:avLst/>
          </a:prstGeom>
          <a:noFill/>
        </p:spPr>
        <p:txBody>
          <a:bodyPr wrap="square">
            <a:spAutoFit/>
          </a:bodyPr>
          <a:lstStyle/>
          <a:p>
            <a:r>
              <a:rPr sz="1400" b="1">
                <a:solidFill>val="00875B"/&gt;</a:solidFill>
              </a:rPr>
              <a:t>Student: </a:t>
            </a:r>
            <a:r>
              <a:rPr sz="1400">
                <a:solidFill>val="162B40"/&gt;</a:solidFill>
              </a:rPr>
              <a:t>What about poetry and drama?</a:t>
            </a:r>
          </a:p>
        </p:txBody>
      </p:sp>
      <p:sp>
        <p:nvSpPr>
          <p:cNvPr id="7" name="TextBox 6"/>
          <p:cNvSpPr txBox="1"/>
          <p:nvPr/>
        </p:nvSpPr>
        <p:spPr>
          <a:xfrm>
            <a:off x="1097280" y="2697480"/>
            <a:ext cx="10332720" cy="411480"/>
          </a:xfrm>
          <a:prstGeom prst="rect">
            <a:avLst/>
          </a:prstGeom>
          <a:noFill/>
        </p:spPr>
        <p:txBody>
          <a:bodyPr wrap="square">
            <a:spAutoFit/>
          </a:bodyPr>
          <a:lstStyle/>
          <a:p>
            <a:r>
              <a:rPr sz="1200" i="1">
                <a:solidFill>val="69788B"/&gt;</a:solidFill>
              </a:rPr>
              <a:t>Et qu&amp;#x27;en est-il de la poésie et du théâtre ?</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val="F0B429"/&gt;</a:solidFill>
              </a:rPr>
              <a:t>Teacher: </a:t>
            </a:r>
            <a:r>
              <a:rPr sz="1400">
                <a:solidFill>val="162B40"/&gt;</a:solidFill>
              </a:rPr>
              <a:t>Poetry has sonnets, songs and haiku, for example. Drama has tragedies, comedies and historical plays.</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La poésie a par exemple le sonnet, la chanson et le haïku. Le théâtre a la tragédie, la comédie et la pièce historique.</a:t>
            </a:r>
          </a:p>
        </p:txBody>
      </p:sp>
      <p:sp>
        <p:nvSpPr>
          <p:cNvPr id="4" name="TextBox 3"/>
          <p:cNvSpPr txBox="1"/>
          <p:nvPr/>
        </p:nvSpPr>
        <p:spPr>
          <a:xfrm>
            <a:off x="731520" y="1371600"/>
            <a:ext cx="10698480" cy="457200"/>
          </a:xfrm>
          <a:prstGeom prst="rect">
            <a:avLst/>
          </a:prstGeom>
          <a:noFill/>
        </p:spPr>
        <p:txBody>
          <a:bodyPr wrap="square">
            <a:spAutoFit/>
          </a:bodyPr>
          <a:lstStyle/>
          <a:p>
            <a:r>
              <a:rPr sz="1400" b="1">
                <a:solidFill>val="00875B"/&gt;</a:solidFill>
              </a:rPr>
              <a:t>Student: </a:t>
            </a:r>
            <a:r>
              <a:rPr sz="1400">
                <a:solidFill>val="162B40"/&gt;</a:solidFill>
              </a:rPr>
              <a:t>Everything fits into a category, then?</a:t>
            </a:r>
          </a:p>
        </p:txBody>
      </p:sp>
      <p:sp>
        <p:nvSpPr>
          <p:cNvPr id="5" name="TextBox 4"/>
          <p:cNvSpPr txBox="1"/>
          <p:nvPr/>
        </p:nvSpPr>
        <p:spPr>
          <a:xfrm>
            <a:off x="1097280" y="1783080"/>
            <a:ext cx="10332720" cy="411480"/>
          </a:xfrm>
          <a:prstGeom prst="rect">
            <a:avLst/>
          </a:prstGeom>
          <a:noFill/>
        </p:spPr>
        <p:txBody>
          <a:bodyPr wrap="square">
            <a:spAutoFit/>
          </a:bodyPr>
          <a:lstStyle/>
          <a:p>
            <a:r>
              <a:rPr sz="1200" i="1">
                <a:solidFill>val="69788B"/&gt;</a:solidFill>
              </a:rPr>
              <a:t>Tout rentre donc dans une catégorie ?</a:t>
            </a:r>
          </a:p>
        </p:txBody>
      </p:sp>
      <p:sp>
        <p:nvSpPr>
          <p:cNvPr id="6" name="TextBox 5"/>
          <p:cNvSpPr txBox="1"/>
          <p:nvPr/>
        </p:nvSpPr>
        <p:spPr>
          <a:xfrm>
            <a:off x="731520" y="2286000"/>
            <a:ext cx="10698480" cy="457200"/>
          </a:xfrm>
          <a:prstGeom prst="rect">
            <a:avLst/>
          </a:prstGeom>
          <a:noFill/>
        </p:spPr>
        <p:txBody>
          <a:bodyPr wrap="square">
            <a:spAutoFit/>
          </a:bodyPr>
          <a:lstStyle/>
          <a:p>
            <a:r>
              <a:rPr sz="1400" b="1">
                <a:solidFill>val="F0B429"/&gt;</a:solidFill>
              </a:rPr>
              <a:t>Teacher: </a:t>
            </a:r>
            <a:r>
              <a:rPr sz="1400">
                <a:solidFill>val="162B40"/&gt;</a:solidFill>
              </a:rPr>
              <a:t>Most of the time, yes. Categories help us study literature, but great writers often mix them.</a:t>
            </a:r>
          </a:p>
        </p:txBody>
      </p:sp>
      <p:sp>
        <p:nvSpPr>
          <p:cNvPr id="7" name="TextBox 6"/>
          <p:cNvSpPr txBox="1"/>
          <p:nvPr/>
        </p:nvSpPr>
        <p:spPr>
          <a:xfrm>
            <a:off x="1097280" y="2697480"/>
            <a:ext cx="10332720" cy="411480"/>
          </a:xfrm>
          <a:prstGeom prst="rect">
            <a:avLst/>
          </a:prstGeom>
          <a:noFill/>
        </p:spPr>
        <p:txBody>
          <a:bodyPr wrap="square">
            <a:spAutoFit/>
          </a:bodyPr>
          <a:lstStyle/>
          <a:p>
            <a:r>
              <a:rPr sz="1200" i="1">
                <a:solidFill>val="69788B"/&gt;</a:solidFill>
              </a:rPr>
              <a:t>La plupart du temps, oui. Les catégories aident à étudier la littérature, mais les grands écrivains les mélangent souvent.</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val="162B40"/&gt;</a:solidFill>
        <a:effectLst/>
      </p:bgPr>
    </p:bg>
    <p:spTree>
      <p:nvGrpSpPr>
        <p:cNvPr id="1" name=""/>
        <p:cNvGrpSpPr/>
        <p:nvPr/>
      </p:nvGrpSpPr>
      <p:grpSpPr/>
      <p:sp>
        <p:nvSpPr>
          <p:cNvPr id="2" name="TextBox 1"/>
          <p:cNvSpPr txBox="1"/>
          <p:nvPr/>
        </p:nvSpPr>
        <p:spPr>
          <a:xfrm>
            <a:off x="914400" y="2286000"/>
            <a:ext cx="10362895" cy="2286000"/>
          </a:xfrm>
          <a:prstGeom prst="rect">
            <a:avLst/>
          </a:prstGeom>
          <a:noFill/>
        </p:spPr>
        <p:txBody>
          <a:bodyPr wrap="square">
            <a:spAutoFit/>
          </a:bodyPr>
          <a:lstStyle/>
          <a:p>
            <a:pPr algn="ctr"/>
            <a:r>
              <a:rPr sz="2800" b="1">
                <a:solidFill>val="FFFFFF"/&gt;</a:solidFill>
              </a:rPr>
              <a:t>Dialogue 9</a:t>
            </a:r>
          </a:p>
          <a:p>
            <a:pPr algn="ctr">
              <a:spcBef>
                <a:spcPts val="1200"/>
              </a:spcBef>
            </a:pPr>
            <a:r>
              <a:rPr sz="2000">
                <a:solidFill>val="DFE5EA"/&gt;</a:solidFill>
              </a:rPr>
              <a:t>🗣️ Dialogue 9 — Why do we study literature? (Pourquoi étudions-nous la littérature ?)</a:t>
            </a:r>
          </a:p>
        </p:txBody>
      </p:sp>
      <p:sp>
        <p:nvSpPr>
          <p:cNvPr id="990001" name="Pied de page FLE"/>
          <p:cNvSpPr>
            <a:spLocks noGrp="1"/>
          </p:cNvSpPr>
          <p:nvPr/>
        </p:nvSpPr>
        <p:spPr>
          <a:xfrm>
            <a:off x="5562295" y="182880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val="00875B"/&gt;</a:solidFill>
              </a:rPr>
              <a:t>Student: </a:t>
            </a:r>
            <a:r>
              <a:rPr sz="1400">
                <a:solidFill>val="162B40"/&gt;</a:solidFill>
              </a:rPr>
              <a:t>Some of my friends say literature is just for pleasure. Is that true?</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Certains de mes amis disent que la littérature sert seulement au plaisir. Est-ce vrai ?</a:t>
            </a:r>
          </a:p>
        </p:txBody>
      </p:sp>
      <p:sp>
        <p:nvSpPr>
          <p:cNvPr id="4" name="TextBox 3"/>
          <p:cNvSpPr txBox="1"/>
          <p:nvPr/>
        </p:nvSpPr>
        <p:spPr>
          <a:xfrm>
            <a:off x="731520" y="1371600"/>
            <a:ext cx="10698480" cy="457200"/>
          </a:xfrm>
          <a:prstGeom prst="rect">
            <a:avLst/>
          </a:prstGeom>
          <a:noFill/>
        </p:spPr>
        <p:txBody>
          <a:bodyPr wrap="square">
            <a:spAutoFit/>
          </a:bodyPr>
          <a:lstStyle/>
          <a:p>
            <a:r>
              <a:rPr sz="1400" b="1">
                <a:solidFill>val="F0B429"/&gt;</a:solidFill>
              </a:rPr>
              <a:t>Teacher: </a:t>
            </a:r>
            <a:r>
              <a:rPr sz="1400">
                <a:solidFill>val="162B40"/&gt;</a:solidFill>
              </a:rPr>
              <a:t>Pleasure is part of it, but literature also develops your language, your imagination and your understanding of people.</a:t>
            </a:r>
          </a:p>
        </p:txBody>
      </p:sp>
      <p:sp>
        <p:nvSpPr>
          <p:cNvPr id="5" name="TextBox 4"/>
          <p:cNvSpPr txBox="1"/>
          <p:nvPr/>
        </p:nvSpPr>
        <p:spPr>
          <a:xfrm>
            <a:off x="1097280" y="1783080"/>
            <a:ext cx="10332720" cy="411480"/>
          </a:xfrm>
          <a:prstGeom prst="rect">
            <a:avLst/>
          </a:prstGeom>
          <a:noFill/>
        </p:spPr>
        <p:txBody>
          <a:bodyPr wrap="square">
            <a:spAutoFit/>
          </a:bodyPr>
          <a:lstStyle/>
          <a:p>
            <a:r>
              <a:rPr sz="1200" i="1">
                <a:solidFill>val="69788B"/&gt;</a:solidFill>
              </a:rPr>
              <a:t>Le plaisir en fait partie, mais la littérature développe aussi votre langue, votre imagination et votre compréhension des gens.</a:t>
            </a:r>
          </a:p>
        </p:txBody>
      </p:sp>
      <p:sp>
        <p:nvSpPr>
          <p:cNvPr id="6" name="TextBox 5"/>
          <p:cNvSpPr txBox="1"/>
          <p:nvPr/>
        </p:nvSpPr>
        <p:spPr>
          <a:xfrm>
            <a:off x="731520" y="2286000"/>
            <a:ext cx="10698480" cy="457200"/>
          </a:xfrm>
          <a:prstGeom prst="rect">
            <a:avLst/>
          </a:prstGeom>
          <a:noFill/>
        </p:spPr>
        <p:txBody>
          <a:bodyPr wrap="square">
            <a:spAutoFit/>
          </a:bodyPr>
          <a:lstStyle/>
          <a:p>
            <a:r>
              <a:rPr sz="1400" b="1">
                <a:solidFill>val="00875B"/&gt;</a:solidFill>
              </a:rPr>
              <a:t>Student: </a:t>
            </a:r>
            <a:r>
              <a:rPr sz="1400">
                <a:solidFill>val="162B40"/&gt;</a:solidFill>
              </a:rPr>
              <a:t>Can literature teach me about my own life?</a:t>
            </a:r>
          </a:p>
        </p:txBody>
      </p:sp>
      <p:sp>
        <p:nvSpPr>
          <p:cNvPr id="7" name="TextBox 6"/>
          <p:cNvSpPr txBox="1"/>
          <p:nvPr/>
        </p:nvSpPr>
        <p:spPr>
          <a:xfrm>
            <a:off x="1097280" y="2697480"/>
            <a:ext cx="10332720" cy="411480"/>
          </a:xfrm>
          <a:prstGeom prst="rect">
            <a:avLst/>
          </a:prstGeom>
          <a:noFill/>
        </p:spPr>
        <p:txBody>
          <a:bodyPr wrap="square">
            <a:spAutoFit/>
          </a:bodyPr>
          <a:lstStyle/>
          <a:p>
            <a:r>
              <a:rPr sz="1200" i="1">
                <a:solidFill>val="69788B"/&gt;</a:solidFill>
              </a:rPr>
              <a:t>La littérature peut-elle m&amp;#x27;apprendre des choses sur ma propre vie ?</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val="F0B429"/&gt;</a:solidFill>
              </a:rPr>
              <a:t>Teacher: </a:t>
            </a:r>
            <a:r>
              <a:rPr sz="1400">
                <a:solidFill>val="162B40"/&gt;</a:solidFill>
              </a:rPr>
              <a:t>Yes. When you read about a character who is afraid or happy, you recognize feelings that we all share.</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Oui. Quand vous lisez un personnage qui a peur ou qui est heureux, vous reconnaissez des sentiments que nous partageons tous.</a:t>
            </a:r>
          </a:p>
        </p:txBody>
      </p:sp>
      <p:sp>
        <p:nvSpPr>
          <p:cNvPr id="4" name="TextBox 3"/>
          <p:cNvSpPr txBox="1"/>
          <p:nvPr/>
        </p:nvSpPr>
        <p:spPr>
          <a:xfrm>
            <a:off x="731520" y="1371600"/>
            <a:ext cx="10698480" cy="457200"/>
          </a:xfrm>
          <a:prstGeom prst="rect">
            <a:avLst/>
          </a:prstGeom>
          <a:noFill/>
        </p:spPr>
        <p:txBody>
          <a:bodyPr wrap="square">
            <a:spAutoFit/>
          </a:bodyPr>
          <a:lstStyle/>
          <a:p>
            <a:r>
              <a:rPr sz="1400" b="1">
                <a:solidFill>val="00875B"/&gt;</a:solidFill>
              </a:rPr>
              <a:t>Student: </a:t>
            </a:r>
            <a:r>
              <a:rPr sz="1400">
                <a:solidFill>val="162B40"/&gt;</a:solidFill>
              </a:rPr>
              <a:t>So literature is like a mirror.</a:t>
            </a:r>
          </a:p>
        </p:txBody>
      </p:sp>
      <p:sp>
        <p:nvSpPr>
          <p:cNvPr id="5" name="TextBox 4"/>
          <p:cNvSpPr txBox="1"/>
          <p:nvPr/>
        </p:nvSpPr>
        <p:spPr>
          <a:xfrm>
            <a:off x="1097280" y="1783080"/>
            <a:ext cx="10332720" cy="411480"/>
          </a:xfrm>
          <a:prstGeom prst="rect">
            <a:avLst/>
          </a:prstGeom>
          <a:noFill/>
        </p:spPr>
        <p:txBody>
          <a:bodyPr wrap="square">
            <a:spAutoFit/>
          </a:bodyPr>
          <a:lstStyle/>
          <a:p>
            <a:r>
              <a:rPr sz="1200" i="1">
                <a:solidFill>val="69788B"/&gt;</a:solidFill>
              </a:rPr>
              <a:t>Donc la littérature est comme un miroir.</a:t>
            </a:r>
          </a:p>
        </p:txBody>
      </p:sp>
      <p:sp>
        <p:nvSpPr>
          <p:cNvPr id="6" name="TextBox 5"/>
          <p:cNvSpPr txBox="1"/>
          <p:nvPr/>
        </p:nvSpPr>
        <p:spPr>
          <a:xfrm>
            <a:off x="731520" y="2286000"/>
            <a:ext cx="10698480" cy="457200"/>
          </a:xfrm>
          <a:prstGeom prst="rect">
            <a:avLst/>
          </a:prstGeom>
          <a:noFill/>
        </p:spPr>
        <p:txBody>
          <a:bodyPr wrap="square">
            <a:spAutoFit/>
          </a:bodyPr>
          <a:lstStyle/>
          <a:p>
            <a:r>
              <a:rPr sz="1400" b="1">
                <a:solidFill>val="F0B429"/&gt;</a:solidFill>
              </a:rPr>
              <a:t>Teacher: </a:t>
            </a:r>
            <a:r>
              <a:rPr sz="1400">
                <a:solidFill>val="162B40"/&gt;</a:solidFill>
              </a:rPr>
              <a:t>A mirror and a window: we see ourselves, and we see other people and other worlds.</a:t>
            </a:r>
          </a:p>
        </p:txBody>
      </p:sp>
      <p:sp>
        <p:nvSpPr>
          <p:cNvPr id="7" name="TextBox 6"/>
          <p:cNvSpPr txBox="1"/>
          <p:nvPr/>
        </p:nvSpPr>
        <p:spPr>
          <a:xfrm>
            <a:off x="1097280" y="2697480"/>
            <a:ext cx="10332720" cy="411480"/>
          </a:xfrm>
          <a:prstGeom prst="rect">
            <a:avLst/>
          </a:prstGeom>
          <a:noFill/>
        </p:spPr>
        <p:txBody>
          <a:bodyPr wrap="square">
            <a:spAutoFit/>
          </a:bodyPr>
          <a:lstStyle/>
          <a:p>
            <a:r>
              <a:rPr sz="1200" i="1">
                <a:solidFill>val="69788B"/&gt;</a:solidFill>
              </a:rPr>
              <a:t>Un miroir et une fenêtre : on s&amp;#x27;y voit soi-même, et on y voit d&amp;#x27;autres personnes et d&amp;#x27;autres mondes.</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val="162B40"/&gt;</a:solidFill>
        <a:effectLst/>
      </p:bgPr>
    </p:bg>
    <p:spTree>
      <p:nvGrpSpPr>
        <p:cNvPr id="1" name=""/>
        <p:cNvGrpSpPr/>
        <p:nvPr/>
      </p:nvGrpSpPr>
      <p:grpSpPr/>
      <p:sp>
        <p:nvSpPr>
          <p:cNvPr id="2" name="TextBox 1"/>
          <p:cNvSpPr txBox="1"/>
          <p:nvPr/>
        </p:nvSpPr>
        <p:spPr>
          <a:xfrm>
            <a:off x="914400" y="2286000"/>
            <a:ext cx="10362895" cy="2286000"/>
          </a:xfrm>
          <a:prstGeom prst="rect">
            <a:avLst/>
          </a:prstGeom>
          <a:noFill/>
        </p:spPr>
        <p:txBody>
          <a:bodyPr wrap="square">
            <a:spAutoFit/>
          </a:bodyPr>
          <a:lstStyle/>
          <a:p>
            <a:pPr algn="ctr"/>
            <a:r>
              <a:rPr sz="2800" b="1">
                <a:solidFill>val="FFFFFF"/&gt;</a:solidFill>
              </a:rPr>
              <a:t>Dialogue 10</a:t>
            </a:r>
          </a:p>
          <a:p>
            <a:pPr algn="ctr">
              <a:spcBef>
                <a:spcPts val="1200"/>
              </a:spcBef>
            </a:pPr>
            <a:r>
              <a:rPr sz="2000">
                <a:solidFill>val="DFE5EA"/&gt;</a:solidFill>
              </a:rPr>
              <a:t>🗣️ Dialogue 10 — Literature and culture (La littérature et la culture)</a:t>
            </a:r>
          </a:p>
        </p:txBody>
      </p:sp>
      <p:sp>
        <p:nvSpPr>
          <p:cNvPr id="990001" name="Pied de page FLE"/>
          <p:cNvSpPr>
            <a:spLocks noGrp="1"/>
          </p:cNvSpPr>
          <p:nvPr/>
        </p:nvSpPr>
        <p:spPr>
          <a:xfrm>
            <a:off x="5562295" y="182880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val="00875B"/&gt;</a:solidFill>
              </a:rPr>
              <a:t>Student: </a:t>
            </a:r>
            <a:r>
              <a:rPr sz="1400">
                <a:solidFill>val="162B40"/&gt;</a:solidFill>
              </a:rPr>
              <a:t>Is literature connected to culture?</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La littérature est-elle liée à la culture ?</a:t>
            </a:r>
          </a:p>
        </p:txBody>
      </p:sp>
      <p:sp>
        <p:nvSpPr>
          <p:cNvPr id="4" name="TextBox 3"/>
          <p:cNvSpPr txBox="1"/>
          <p:nvPr/>
        </p:nvSpPr>
        <p:spPr>
          <a:xfrm>
            <a:off x="731520" y="1371600"/>
            <a:ext cx="10698480" cy="457200"/>
          </a:xfrm>
          <a:prstGeom prst="rect">
            <a:avLst/>
          </a:prstGeom>
          <a:noFill/>
        </p:spPr>
        <p:txBody>
          <a:bodyPr wrap="square">
            <a:spAutoFit/>
          </a:bodyPr>
          <a:lstStyle/>
          <a:p>
            <a:r>
              <a:rPr sz="1400" b="1">
                <a:solidFill>val="F0B429"/&gt;</a:solidFill>
              </a:rPr>
              <a:t>Teacher: </a:t>
            </a:r>
            <a:r>
              <a:rPr sz="1400">
                <a:solidFill>val="162B40"/&gt;</a:solidFill>
              </a:rPr>
              <a:t>Deeply. Every nation has its stories, and those stories carry its history, values and dreams.</a:t>
            </a:r>
          </a:p>
        </p:txBody>
      </p:sp>
      <p:sp>
        <p:nvSpPr>
          <p:cNvPr id="5" name="TextBox 4"/>
          <p:cNvSpPr txBox="1"/>
          <p:nvPr/>
        </p:nvSpPr>
        <p:spPr>
          <a:xfrm>
            <a:off x="1097280" y="1783080"/>
            <a:ext cx="10332720" cy="411480"/>
          </a:xfrm>
          <a:prstGeom prst="rect">
            <a:avLst/>
          </a:prstGeom>
          <a:noFill/>
        </p:spPr>
        <p:txBody>
          <a:bodyPr wrap="square">
            <a:spAutoFit/>
          </a:bodyPr>
          <a:lstStyle/>
          <a:p>
            <a:r>
              <a:rPr sz="1200" i="1">
                <a:solidFill>val="69788B"/&gt;</a:solidFill>
              </a:rPr>
              <a:t>Profondément. Chaque nation a ses histoires, et ces histoires portent son histoire, ses valeurs et ses rêves.</a:t>
            </a:r>
          </a:p>
        </p:txBody>
      </p:sp>
      <p:sp>
        <p:nvSpPr>
          <p:cNvPr id="6" name="TextBox 5"/>
          <p:cNvSpPr txBox="1"/>
          <p:nvPr/>
        </p:nvSpPr>
        <p:spPr>
          <a:xfrm>
            <a:off x="731520" y="2286000"/>
            <a:ext cx="10698480" cy="457200"/>
          </a:xfrm>
          <a:prstGeom prst="rect">
            <a:avLst/>
          </a:prstGeom>
          <a:noFill/>
        </p:spPr>
        <p:txBody>
          <a:bodyPr wrap="square">
            <a:spAutoFit/>
          </a:bodyPr>
          <a:lstStyle/>
          <a:p>
            <a:r>
              <a:rPr sz="1400" b="1">
                <a:solidFill>val="00875B"/&gt;</a:solidFill>
              </a:rPr>
              <a:t>Student: </a:t>
            </a:r>
            <a:r>
              <a:rPr sz="1400">
                <a:solidFill>val="162B40"/&gt;</a:solidFill>
              </a:rPr>
              <a:t>Does Algeria have its own literature?</a:t>
            </a:r>
          </a:p>
        </p:txBody>
      </p:sp>
      <p:sp>
        <p:nvSpPr>
          <p:cNvPr id="7" name="TextBox 6"/>
          <p:cNvSpPr txBox="1"/>
          <p:nvPr/>
        </p:nvSpPr>
        <p:spPr>
          <a:xfrm>
            <a:off x="1097280" y="2697480"/>
            <a:ext cx="10332720" cy="411480"/>
          </a:xfrm>
          <a:prstGeom prst="rect">
            <a:avLst/>
          </a:prstGeom>
          <a:noFill/>
        </p:spPr>
        <p:txBody>
          <a:bodyPr wrap="square">
            <a:spAutoFit/>
          </a:bodyPr>
          <a:lstStyle/>
          <a:p>
            <a:r>
              <a:rPr sz="1200" i="1">
                <a:solidFill>val="69788B"/&gt;</a:solidFill>
              </a:rPr>
              <a:t>L&amp;#x27;Algérie a-t-elle sa propre littérature ?</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val="F0B429"/&gt;</a:solidFill>
              </a:rPr>
              <a:t>Teacher: </a:t>
            </a:r>
            <a:r>
              <a:rPr sz="1400">
                <a:solidFill>val="162B40"/&gt;</a:solidFill>
              </a:rPr>
              <a:t>Yes, a rich one. Algerian writers write in Arabic, Tamazight and French, telling stories about identity, struggle and hope.</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Oui, une littérature riche. Les écrivains algériens écrivent en arabe, en tamazight et en français, racontant des histoires d&amp;#x27;identité, de lutte et d&amp;#x27;espoir.</a:t>
            </a:r>
          </a:p>
        </p:txBody>
      </p:sp>
      <p:sp>
        <p:nvSpPr>
          <p:cNvPr id="4" name="TextBox 3"/>
          <p:cNvSpPr txBox="1"/>
          <p:nvPr/>
        </p:nvSpPr>
        <p:spPr>
          <a:xfrm>
            <a:off x="731520" y="1371600"/>
            <a:ext cx="10698480" cy="457200"/>
          </a:xfrm>
          <a:prstGeom prst="rect">
            <a:avLst/>
          </a:prstGeom>
          <a:noFill/>
        </p:spPr>
        <p:txBody>
          <a:bodyPr wrap="square">
            <a:spAutoFit/>
          </a:bodyPr>
          <a:lstStyle/>
          <a:p>
            <a:r>
              <a:rPr sz="1400" b="1">
                <a:solidFill>val="00875B"/&gt;</a:solidFill>
              </a:rPr>
              <a:t>Student: </a:t>
            </a:r>
            <a:r>
              <a:rPr sz="1400">
                <a:solidFill>val="162B40"/&gt;</a:solidFill>
              </a:rPr>
              <a:t>And studying English literature opens another window.</a:t>
            </a:r>
          </a:p>
        </p:txBody>
      </p:sp>
      <p:sp>
        <p:nvSpPr>
          <p:cNvPr id="5" name="TextBox 4"/>
          <p:cNvSpPr txBox="1"/>
          <p:nvPr/>
        </p:nvSpPr>
        <p:spPr>
          <a:xfrm>
            <a:off x="1097280" y="1783080"/>
            <a:ext cx="10332720" cy="411480"/>
          </a:xfrm>
          <a:prstGeom prst="rect">
            <a:avLst/>
          </a:prstGeom>
          <a:noFill/>
        </p:spPr>
        <p:txBody>
          <a:bodyPr wrap="square">
            <a:spAutoFit/>
          </a:bodyPr>
          <a:lstStyle/>
          <a:p>
            <a:r>
              <a:rPr sz="1200" i="1">
                <a:solidFill>val="69788B"/&gt;</a:solidFill>
              </a:rPr>
              <a:t>Et l&amp;#x27;étude de la littérature anglaise ouvre une autre fenêtre.</a:t>
            </a:r>
          </a:p>
        </p:txBody>
      </p:sp>
      <p:sp>
        <p:nvSpPr>
          <p:cNvPr id="6" name="TextBox 5"/>
          <p:cNvSpPr txBox="1"/>
          <p:nvPr/>
        </p:nvSpPr>
        <p:spPr>
          <a:xfrm>
            <a:off x="731520" y="2286000"/>
            <a:ext cx="10698480" cy="457200"/>
          </a:xfrm>
          <a:prstGeom prst="rect">
            <a:avLst/>
          </a:prstGeom>
          <a:noFill/>
        </p:spPr>
        <p:txBody>
          <a:bodyPr wrap="square">
            <a:spAutoFit/>
          </a:bodyPr>
          <a:lstStyle/>
          <a:p>
            <a:r>
              <a:rPr sz="1400" b="1">
                <a:solidFill>val="F0B429"/&gt;</a:solidFill>
              </a:rPr>
              <a:t>Teacher: </a:t>
            </a:r>
            <a:r>
              <a:rPr sz="1400">
                <a:solidFill>val="162B40"/&gt;</a:solidFill>
              </a:rPr>
              <a:t>Precisely. You are studying the literature of a whole world that speaks English.</a:t>
            </a:r>
          </a:p>
        </p:txBody>
      </p:sp>
      <p:sp>
        <p:nvSpPr>
          <p:cNvPr id="7" name="TextBox 6"/>
          <p:cNvSpPr txBox="1"/>
          <p:nvPr/>
        </p:nvSpPr>
        <p:spPr>
          <a:xfrm>
            <a:off x="1097280" y="2697480"/>
            <a:ext cx="10332720" cy="411480"/>
          </a:xfrm>
          <a:prstGeom prst="rect">
            <a:avLst/>
          </a:prstGeom>
          <a:noFill/>
        </p:spPr>
        <p:txBody>
          <a:bodyPr wrap="square">
            <a:spAutoFit/>
          </a:bodyPr>
          <a:lstStyle/>
          <a:p>
            <a:r>
              <a:rPr sz="1200" i="1">
                <a:solidFill>val="69788B"/&gt;</a:solidFill>
              </a:rPr>
              <a:t>Précisément. Vous étudiez la littérature de tout un monde qui parle anglais.</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val="162B40"/&gt;</a:solidFill>
        <a:effectLst/>
      </p:bgPr>
    </p:bg>
    <p:spTree>
      <p:nvGrpSpPr>
        <p:cNvPr id="1" name=""/>
        <p:cNvGrpSpPr/>
        <p:nvPr/>
      </p:nvGrpSpPr>
      <p:grpSpPr/>
      <p:sp>
        <p:nvSpPr>
          <p:cNvPr id="2" name="TextBox 1"/>
          <p:cNvSpPr txBox="1"/>
          <p:nvPr/>
        </p:nvSpPr>
        <p:spPr>
          <a:xfrm>
            <a:off x="914400" y="2286000"/>
            <a:ext cx="10362895" cy="2286000"/>
          </a:xfrm>
          <a:prstGeom prst="rect">
            <a:avLst/>
          </a:prstGeom>
          <a:noFill/>
        </p:spPr>
        <p:txBody>
          <a:bodyPr wrap="square">
            <a:spAutoFit/>
          </a:bodyPr>
          <a:lstStyle/>
          <a:p>
            <a:pPr algn="ctr"/>
            <a:r>
              <a:rPr sz="2800" b="1">
                <a:solidFill>val="FFFFFF"/&gt;</a:solidFill>
              </a:rPr>
              <a:t>Dialogue 11</a:t>
            </a:r>
          </a:p>
          <a:p>
            <a:pPr algn="ctr">
              <a:spcBef>
                <a:spcPts val="1200"/>
              </a:spcBef>
            </a:pPr>
            <a:r>
              <a:rPr sz="2000">
                <a:solidFill>val="DFE5EA"/&gt;</a:solidFill>
              </a:rPr>
              <a:t>🗣️ Dialogue 11 — The three genres: a quick review (Les trois genres : une révision rapide)</a:t>
            </a:r>
          </a:p>
        </p:txBody>
      </p:sp>
      <p:sp>
        <p:nvSpPr>
          <p:cNvPr id="990001" name="Pied de page FLE"/>
          <p:cNvSpPr>
            <a:spLocks noGrp="1"/>
          </p:cNvSpPr>
          <p:nvPr/>
        </p:nvSpPr>
        <p:spPr>
          <a:xfrm>
            <a:off x="5562295" y="182880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val="00875B"/&gt;</a:solidFill>
              </a:rPr>
              <a:t>Student: </a:t>
            </a:r>
            <a:r>
              <a:rPr sz="1400">
                <a:solidFill>val="162B40"/&gt;</a:solidFill>
              </a:rPr>
              <a:t>Let me check what I remember. Prose is ordinary writing?</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Laissez-moi vérifier ce que je retiens. La prose est une écriture ordinaire ?</a:t>
            </a:r>
          </a:p>
        </p:txBody>
      </p:sp>
      <p:sp>
        <p:nvSpPr>
          <p:cNvPr id="4" name="TextBox 3"/>
          <p:cNvSpPr txBox="1"/>
          <p:nvPr/>
        </p:nvSpPr>
        <p:spPr>
          <a:xfrm>
            <a:off x="731520" y="1371600"/>
            <a:ext cx="10698480" cy="457200"/>
          </a:xfrm>
          <a:prstGeom prst="rect">
            <a:avLst/>
          </a:prstGeom>
          <a:noFill/>
        </p:spPr>
        <p:txBody>
          <a:bodyPr wrap="square">
            <a:spAutoFit/>
          </a:bodyPr>
          <a:lstStyle/>
          <a:p>
            <a:r>
              <a:rPr sz="1400" b="1">
                <a:solidFill>val="F0B429"/&gt;</a:solidFill>
              </a:rPr>
              <a:t>Teacher: </a:t>
            </a:r>
            <a:r>
              <a:rPr sz="1400">
                <a:solidFill>val="162B40"/&gt;</a:solidFill>
              </a:rPr>
              <a:t>Yes. Novels and short stories are prose, written in sentences and paragraphs.</a:t>
            </a:r>
          </a:p>
        </p:txBody>
      </p:sp>
      <p:sp>
        <p:nvSpPr>
          <p:cNvPr id="5" name="TextBox 4"/>
          <p:cNvSpPr txBox="1"/>
          <p:nvPr/>
        </p:nvSpPr>
        <p:spPr>
          <a:xfrm>
            <a:off x="1097280" y="1783080"/>
            <a:ext cx="10332720" cy="411480"/>
          </a:xfrm>
          <a:prstGeom prst="rect">
            <a:avLst/>
          </a:prstGeom>
          <a:noFill/>
        </p:spPr>
        <p:txBody>
          <a:bodyPr wrap="square">
            <a:spAutoFit/>
          </a:bodyPr>
          <a:lstStyle/>
          <a:p>
            <a:r>
              <a:rPr sz="1200" i="1">
                <a:solidFill>val="69788B"/&gt;</a:solidFill>
              </a:rPr>
              <a:t>Oui. Les romans et les nouvelles sont de la prose, écrite en phrases et en paragraphes.</a:t>
            </a:r>
          </a:p>
        </p:txBody>
      </p:sp>
      <p:sp>
        <p:nvSpPr>
          <p:cNvPr id="6" name="TextBox 5"/>
          <p:cNvSpPr txBox="1"/>
          <p:nvPr/>
        </p:nvSpPr>
        <p:spPr>
          <a:xfrm>
            <a:off x="731520" y="2286000"/>
            <a:ext cx="10698480" cy="457200"/>
          </a:xfrm>
          <a:prstGeom prst="rect">
            <a:avLst/>
          </a:prstGeom>
          <a:noFill/>
        </p:spPr>
        <p:txBody>
          <a:bodyPr wrap="square">
            <a:spAutoFit/>
          </a:bodyPr>
          <a:lstStyle/>
          <a:p>
            <a:r>
              <a:rPr sz="1400" b="1">
                <a:solidFill>val="00875B"/&gt;</a:solidFill>
              </a:rPr>
              <a:t>Student: </a:t>
            </a:r>
            <a:r>
              <a:rPr sz="1400">
                <a:solidFill>val="162B40"/&gt;</a:solidFill>
              </a:rPr>
              <a:t>Poetry uses lines, rhythm and rhyme.</a:t>
            </a:r>
          </a:p>
        </p:txBody>
      </p:sp>
      <p:sp>
        <p:nvSpPr>
          <p:cNvPr id="7" name="TextBox 6"/>
          <p:cNvSpPr txBox="1"/>
          <p:nvPr/>
        </p:nvSpPr>
        <p:spPr>
          <a:xfrm>
            <a:off x="1097280" y="2697480"/>
            <a:ext cx="10332720" cy="411480"/>
          </a:xfrm>
          <a:prstGeom prst="rect">
            <a:avLst/>
          </a:prstGeom>
          <a:noFill/>
        </p:spPr>
        <p:txBody>
          <a:bodyPr wrap="square">
            <a:spAutoFit/>
          </a:bodyPr>
          <a:lstStyle/>
          <a:p>
            <a:r>
              <a:rPr sz="1200" i="1">
                <a:solidFill>val="69788B"/&gt;</a:solidFill>
              </a:rPr>
              <a:t>La poésie utilise les vers, le rythme et la rime.</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val="F0B429"/&gt;</a:solidFill>
              </a:rPr>
              <a:t>Teacher: </a:t>
            </a:r>
            <a:r>
              <a:rPr sz="1400">
                <a:solidFill>val="162B40"/&gt;</a:solidFill>
              </a:rPr>
              <a:t>And it expresses feelings in a very concentrated way.</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Et elle exprime les sentiments de manière très concentrée.</a:t>
            </a:r>
          </a:p>
        </p:txBody>
      </p:sp>
      <p:sp>
        <p:nvSpPr>
          <p:cNvPr id="4" name="TextBox 3"/>
          <p:cNvSpPr txBox="1"/>
          <p:nvPr/>
        </p:nvSpPr>
        <p:spPr>
          <a:xfrm>
            <a:off x="731520" y="1371600"/>
            <a:ext cx="10698480" cy="457200"/>
          </a:xfrm>
          <a:prstGeom prst="rect">
            <a:avLst/>
          </a:prstGeom>
          <a:noFill/>
        </p:spPr>
        <p:txBody>
          <a:bodyPr wrap="square">
            <a:spAutoFit/>
          </a:bodyPr>
          <a:lstStyle/>
          <a:p>
            <a:r>
              <a:rPr sz="1400" b="1">
                <a:solidFill>val="00875B"/&gt;</a:solidFill>
              </a:rPr>
              <a:t>Student: </a:t>
            </a:r>
            <a:r>
              <a:rPr sz="1400">
                <a:solidFill>val="162B40"/&gt;</a:solidFill>
              </a:rPr>
              <a:t>Drama is written to be performed on stage.</a:t>
            </a:r>
          </a:p>
        </p:txBody>
      </p:sp>
      <p:sp>
        <p:nvSpPr>
          <p:cNvPr id="5" name="TextBox 4"/>
          <p:cNvSpPr txBox="1"/>
          <p:nvPr/>
        </p:nvSpPr>
        <p:spPr>
          <a:xfrm>
            <a:off x="1097280" y="1783080"/>
            <a:ext cx="10332720" cy="411480"/>
          </a:xfrm>
          <a:prstGeom prst="rect">
            <a:avLst/>
          </a:prstGeom>
          <a:noFill/>
        </p:spPr>
        <p:txBody>
          <a:bodyPr wrap="square">
            <a:spAutoFit/>
          </a:bodyPr>
          <a:lstStyle/>
          <a:p>
            <a:r>
              <a:rPr sz="1200" i="1">
                <a:solidFill>val="69788B"/&gt;</a:solidFill>
              </a:rPr>
              <a:t>Le théâtre est écrit pour être joué sur scène.</a:t>
            </a:r>
          </a:p>
        </p:txBody>
      </p:sp>
      <p:sp>
        <p:nvSpPr>
          <p:cNvPr id="6" name="TextBox 5"/>
          <p:cNvSpPr txBox="1"/>
          <p:nvPr/>
        </p:nvSpPr>
        <p:spPr>
          <a:xfrm>
            <a:off x="731520" y="2286000"/>
            <a:ext cx="10698480" cy="457200"/>
          </a:xfrm>
          <a:prstGeom prst="rect">
            <a:avLst/>
          </a:prstGeom>
          <a:noFill/>
        </p:spPr>
        <p:txBody>
          <a:bodyPr wrap="square">
            <a:spAutoFit/>
          </a:bodyPr>
          <a:lstStyle/>
          <a:p>
            <a:r>
              <a:rPr sz="1400" b="1">
                <a:solidFill>val="F0B429"/&gt;</a:solidFill>
              </a:rPr>
              <a:t>Teacher: </a:t>
            </a:r>
            <a:r>
              <a:rPr sz="1400">
                <a:solidFill>val="162B40"/&gt;</a:solidFill>
              </a:rPr>
              <a:t>Perfect. You have understood the three pillars of literature.</a:t>
            </a:r>
          </a:p>
        </p:txBody>
      </p:sp>
      <p:sp>
        <p:nvSpPr>
          <p:cNvPr id="7" name="TextBox 6"/>
          <p:cNvSpPr txBox="1"/>
          <p:nvPr/>
        </p:nvSpPr>
        <p:spPr>
          <a:xfrm>
            <a:off x="1097280" y="2697480"/>
            <a:ext cx="10332720" cy="411480"/>
          </a:xfrm>
          <a:prstGeom prst="rect">
            <a:avLst/>
          </a:prstGeom>
          <a:noFill/>
        </p:spPr>
        <p:txBody>
          <a:bodyPr wrap="square">
            <a:spAutoFit/>
          </a:bodyPr>
          <a:lstStyle/>
          <a:p>
            <a:r>
              <a:rPr sz="1200" i="1">
                <a:solidFill>val="69788B"/&gt;</a:solidFill>
              </a:rPr>
              <a:t>Parfait. Vous avez compris les trois piliers de la littérature.</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val="162B40"/&gt;</a:solidFill>
        <a:effectLst/>
      </p:bgPr>
    </p:bg>
    <p:spTree>
      <p:nvGrpSpPr>
        <p:cNvPr id="1" name=""/>
        <p:cNvGrpSpPr/>
        <p:nvPr/>
      </p:nvGrpSpPr>
      <p:grpSpPr/>
      <p:sp>
        <p:nvSpPr>
          <p:cNvPr id="2" name="TextBox 1"/>
          <p:cNvSpPr txBox="1"/>
          <p:nvPr/>
        </p:nvSpPr>
        <p:spPr>
          <a:xfrm>
            <a:off x="914400" y="2286000"/>
            <a:ext cx="10362895" cy="2286000"/>
          </a:xfrm>
          <a:prstGeom prst="rect">
            <a:avLst/>
          </a:prstGeom>
          <a:noFill/>
        </p:spPr>
        <p:txBody>
          <a:bodyPr wrap="square">
            <a:spAutoFit/>
          </a:bodyPr>
          <a:lstStyle/>
          <a:p>
            <a:pPr algn="ctr"/>
            <a:r>
              <a:rPr sz="2800" b="1">
                <a:solidFill>val="FFFFFF"/&gt;</a:solidFill>
              </a:rPr>
              <a:t>Dialogue 12</a:t>
            </a:r>
          </a:p>
          <a:p>
            <a:pPr algn="ctr">
              <a:spcBef>
                <a:spcPts val="1200"/>
              </a:spcBef>
            </a:pPr>
            <a:r>
              <a:rPr sz="2000">
                <a:solidFill>val="DFE5EA"/&gt;</a:solidFill>
              </a:rPr>
              <a:t>🗣️ Dialogue 12 — Reading literature: some advice (Lire la littérature : quelques conseils)</a:t>
            </a:r>
          </a:p>
        </p:txBody>
      </p:sp>
      <p:sp>
        <p:nvSpPr>
          <p:cNvPr id="990001" name="Pied de page FLE"/>
          <p:cNvSpPr>
            <a:spLocks noGrp="1"/>
          </p:cNvSpPr>
          <p:nvPr/>
        </p:nvSpPr>
        <p:spPr>
          <a:xfrm>
            <a:off x="5562295" y="182880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val="00875B"/&gt;</a:solidFill>
              </a:rPr>
              <a:t>Student: </a:t>
            </a:r>
            <a:r>
              <a:rPr sz="1400">
                <a:solidFill>val="162B40"/&gt;</a:solidFill>
              </a:rPr>
              <a:t>What should I do when I read a literary text for the first time?</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Que dois-je faire quand je lis un texte littéraire pour la première fois ?</a:t>
            </a:r>
          </a:p>
        </p:txBody>
      </p:sp>
      <p:sp>
        <p:nvSpPr>
          <p:cNvPr id="4" name="TextBox 3"/>
          <p:cNvSpPr txBox="1"/>
          <p:nvPr/>
        </p:nvSpPr>
        <p:spPr>
          <a:xfrm>
            <a:off x="731520" y="1371600"/>
            <a:ext cx="10698480" cy="457200"/>
          </a:xfrm>
          <a:prstGeom prst="rect">
            <a:avLst/>
          </a:prstGeom>
          <a:noFill/>
        </p:spPr>
        <p:txBody>
          <a:bodyPr wrap="square">
            <a:spAutoFit/>
          </a:bodyPr>
          <a:lstStyle/>
          <a:p>
            <a:r>
              <a:rPr sz="1400" b="1">
                <a:solidFill>val="F0B429"/&gt;</a:solidFill>
              </a:rPr>
              <a:t>Teacher: </a:t>
            </a:r>
            <a:r>
              <a:rPr sz="1400">
                <a:solidFill>val="162B40"/&gt;</a:solidFill>
              </a:rPr>
              <a:t>Read it slowly and twice. On the first reading, simply enjoy the story.</a:t>
            </a:r>
          </a:p>
        </p:txBody>
      </p:sp>
      <p:sp>
        <p:nvSpPr>
          <p:cNvPr id="5" name="TextBox 4"/>
          <p:cNvSpPr txBox="1"/>
          <p:nvPr/>
        </p:nvSpPr>
        <p:spPr>
          <a:xfrm>
            <a:off x="1097280" y="1783080"/>
            <a:ext cx="10332720" cy="411480"/>
          </a:xfrm>
          <a:prstGeom prst="rect">
            <a:avLst/>
          </a:prstGeom>
          <a:noFill/>
        </p:spPr>
        <p:txBody>
          <a:bodyPr wrap="square">
            <a:spAutoFit/>
          </a:bodyPr>
          <a:lstStyle/>
          <a:p>
            <a:r>
              <a:rPr sz="1200" i="1">
                <a:solidFill>val="69788B"/&gt;</a:solidFill>
              </a:rPr>
              <a:t>Lisez-le lentement et deux fois. À la première lecture, profitez simplement de l&amp;#x27;histoire.</a:t>
            </a:r>
          </a:p>
        </p:txBody>
      </p:sp>
      <p:sp>
        <p:nvSpPr>
          <p:cNvPr id="6" name="TextBox 5"/>
          <p:cNvSpPr txBox="1"/>
          <p:nvPr/>
        </p:nvSpPr>
        <p:spPr>
          <a:xfrm>
            <a:off x="731520" y="2286000"/>
            <a:ext cx="10698480" cy="457200"/>
          </a:xfrm>
          <a:prstGeom prst="rect">
            <a:avLst/>
          </a:prstGeom>
          <a:noFill/>
        </p:spPr>
        <p:txBody>
          <a:bodyPr wrap="square">
            <a:spAutoFit/>
          </a:bodyPr>
          <a:lstStyle/>
          <a:p>
            <a:r>
              <a:rPr sz="1400" b="1">
                <a:solidFill>val="00875B"/&gt;</a:solidFill>
              </a:rPr>
              <a:t>Student: </a:t>
            </a:r>
            <a:r>
              <a:rPr sz="1400">
                <a:solidFill>val="162B40"/&gt;</a:solidFill>
              </a:rPr>
              <a:t>And on the second reading?</a:t>
            </a:r>
          </a:p>
        </p:txBody>
      </p:sp>
      <p:sp>
        <p:nvSpPr>
          <p:cNvPr id="7" name="TextBox 6"/>
          <p:cNvSpPr txBox="1"/>
          <p:nvPr/>
        </p:nvSpPr>
        <p:spPr>
          <a:xfrm>
            <a:off x="1097280" y="2697480"/>
            <a:ext cx="10332720" cy="411480"/>
          </a:xfrm>
          <a:prstGeom prst="rect">
            <a:avLst/>
          </a:prstGeom>
          <a:noFill/>
        </p:spPr>
        <p:txBody>
          <a:bodyPr wrap="square">
            <a:spAutoFit/>
          </a:bodyPr>
          <a:lstStyle/>
          <a:p>
            <a:r>
              <a:rPr sz="1200" i="1">
                <a:solidFill>val="69788B"/&gt;</a:solidFill>
              </a:rPr>
              <a:t>Et à la deuxième lecture ?</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val="F0B429"/&gt;</a:solidFill>
              </a:rPr>
              <a:t>Teacher: </a:t>
            </a:r>
            <a:r>
              <a:rPr sz="1400">
                <a:solidFill>val="162B40"/&gt;</a:solidFill>
              </a:rPr>
              <a:t>Notice how it is written: the words, the images, the feelings the author creates.</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Observez comment c&amp;#x27;est écrit : les mots, les images, les sentiments que l&amp;#x27;auteur crée.</a:t>
            </a:r>
          </a:p>
        </p:txBody>
      </p:sp>
      <p:sp>
        <p:nvSpPr>
          <p:cNvPr id="4" name="TextBox 3"/>
          <p:cNvSpPr txBox="1"/>
          <p:nvPr/>
        </p:nvSpPr>
        <p:spPr>
          <a:xfrm>
            <a:off x="731520" y="1371600"/>
            <a:ext cx="10698480" cy="457200"/>
          </a:xfrm>
          <a:prstGeom prst="rect">
            <a:avLst/>
          </a:prstGeom>
          <a:noFill/>
        </p:spPr>
        <p:txBody>
          <a:bodyPr wrap="square">
            <a:spAutoFit/>
          </a:bodyPr>
          <a:lstStyle/>
          <a:p>
            <a:r>
              <a:rPr sz="1400" b="1">
                <a:solidFill>val="00875B"/&gt;</a:solidFill>
              </a:rPr>
              <a:t>Student: </a:t>
            </a:r>
            <a:r>
              <a:rPr sz="1400">
                <a:solidFill>val="162B40"/&gt;</a:solidFill>
              </a:rPr>
              <a:t>Should I use a dictionary for every word?</a:t>
            </a:r>
          </a:p>
        </p:txBody>
      </p:sp>
      <p:sp>
        <p:nvSpPr>
          <p:cNvPr id="5" name="TextBox 4"/>
          <p:cNvSpPr txBox="1"/>
          <p:nvPr/>
        </p:nvSpPr>
        <p:spPr>
          <a:xfrm>
            <a:off x="1097280" y="1783080"/>
            <a:ext cx="10332720" cy="411480"/>
          </a:xfrm>
          <a:prstGeom prst="rect">
            <a:avLst/>
          </a:prstGeom>
          <a:noFill/>
        </p:spPr>
        <p:txBody>
          <a:bodyPr wrap="square">
            <a:spAutoFit/>
          </a:bodyPr>
          <a:lstStyle/>
          <a:p>
            <a:r>
              <a:rPr sz="1200" i="1">
                <a:solidFill>val="69788B"/&gt;</a:solidFill>
              </a:rPr>
              <a:t>Dois-je chercher chaque mot dans le dictionnaire ?</a:t>
            </a:r>
          </a:p>
        </p:txBody>
      </p:sp>
      <p:sp>
        <p:nvSpPr>
          <p:cNvPr id="6" name="TextBox 5"/>
          <p:cNvSpPr txBox="1"/>
          <p:nvPr/>
        </p:nvSpPr>
        <p:spPr>
          <a:xfrm>
            <a:off x="731520" y="2286000"/>
            <a:ext cx="10698480" cy="457200"/>
          </a:xfrm>
          <a:prstGeom prst="rect">
            <a:avLst/>
          </a:prstGeom>
          <a:noFill/>
        </p:spPr>
        <p:txBody>
          <a:bodyPr wrap="square">
            <a:spAutoFit/>
          </a:bodyPr>
          <a:lstStyle/>
          <a:p>
            <a:r>
              <a:rPr sz="1400" b="1">
                <a:solidFill>val="F0B429"/&gt;</a:solidFill>
              </a:rPr>
              <a:t>Teacher: </a:t>
            </a:r>
            <a:r>
              <a:rPr sz="1400">
                <a:solidFill>val="162B40"/&gt;</a:solidFill>
              </a:rPr>
              <a:t>No. Try to guess the meaning from the context, and use a dictionary only for important words.</a:t>
            </a:r>
          </a:p>
        </p:txBody>
      </p:sp>
      <p:sp>
        <p:nvSpPr>
          <p:cNvPr id="7" name="TextBox 6"/>
          <p:cNvSpPr txBox="1"/>
          <p:nvPr/>
        </p:nvSpPr>
        <p:spPr>
          <a:xfrm>
            <a:off x="1097280" y="2697480"/>
            <a:ext cx="10332720" cy="411480"/>
          </a:xfrm>
          <a:prstGeom prst="rect">
            <a:avLst/>
          </a:prstGeom>
          <a:noFill/>
        </p:spPr>
        <p:txBody>
          <a:bodyPr wrap="square">
            <a:spAutoFit/>
          </a:bodyPr>
          <a:lstStyle/>
          <a:p>
            <a:r>
              <a:rPr sz="1200" i="1">
                <a:solidFill>val="69788B"/&gt;</a:solidFill>
              </a:rPr>
              <a:t>Non. Essayez de deviner le sens grâce au contexte, et n&amp;#x27;utilisez le dictionnaire que pour les mots importants.</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val="162B40"/&gt;</a:solidFill>
        <a:effectLst/>
      </p:bgPr>
    </p:bg>
    <p:spTree>
      <p:nvGrpSpPr>
        <p:cNvPr id="1" name=""/>
        <p:cNvGrpSpPr/>
        <p:nvPr/>
      </p:nvGrpSpPr>
      <p:grpSpPr/>
      <p:sp>
        <p:nvSpPr>
          <p:cNvPr id="2" name="TextBox 1"/>
          <p:cNvSpPr txBox="1"/>
          <p:nvPr/>
        </p:nvSpPr>
        <p:spPr>
          <a:xfrm>
            <a:off x="914400" y="2286000"/>
            <a:ext cx="10362895" cy="2286000"/>
          </a:xfrm>
          <a:prstGeom prst="rect">
            <a:avLst/>
          </a:prstGeom>
          <a:noFill/>
        </p:spPr>
        <p:txBody>
          <a:bodyPr wrap="square">
            <a:spAutoFit/>
          </a:bodyPr>
          <a:lstStyle/>
          <a:p>
            <a:pPr algn="ctr"/>
            <a:r>
              <a:rPr sz="2800" b="1">
                <a:solidFill>val="FFFFFF"/&gt;</a:solidFill>
              </a:rPr>
              <a:t>Dialogue 13</a:t>
            </a:r>
          </a:p>
          <a:p>
            <a:pPr algn="ctr">
              <a:spcBef>
                <a:spcPts val="1200"/>
              </a:spcBef>
            </a:pPr>
            <a:r>
              <a:rPr sz="2000">
                <a:solidFill>val="DFE5EA"/&gt;</a:solidFill>
              </a:rPr>
              <a:t>🗣️ Dialogue 13 — Literature in daily life (La littérature dans la vie quotidienne)</a:t>
            </a:r>
          </a:p>
        </p:txBody>
      </p:sp>
      <p:sp>
        <p:nvSpPr>
          <p:cNvPr id="990001" name="Pied de page FLE"/>
          <p:cNvSpPr>
            <a:spLocks noGrp="1"/>
          </p:cNvSpPr>
          <p:nvPr/>
        </p:nvSpPr>
        <p:spPr>
          <a:xfrm>
            <a:off x="5562295" y="182880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val="00875B"/&gt;</a:solidFill>
              </a:rPr>
              <a:t>Student: </a:t>
            </a:r>
            <a:r>
              <a:rPr sz="1400">
                <a:solidFill>val="162B40"/&gt;</a:solidFill>
              </a:rPr>
              <a:t>Honestly, sir, will I ever use literature outside the classroom?</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Honnêtement, monsieur, vais-je un jour utiliser la littérature en dehors de la classe ?</a:t>
            </a:r>
          </a:p>
        </p:txBody>
      </p:sp>
      <p:sp>
        <p:nvSpPr>
          <p:cNvPr id="4" name="TextBox 3"/>
          <p:cNvSpPr txBox="1"/>
          <p:nvPr/>
        </p:nvSpPr>
        <p:spPr>
          <a:xfrm>
            <a:off x="731520" y="1371600"/>
            <a:ext cx="10698480" cy="457200"/>
          </a:xfrm>
          <a:prstGeom prst="rect">
            <a:avLst/>
          </a:prstGeom>
          <a:noFill/>
        </p:spPr>
        <p:txBody>
          <a:bodyPr wrap="square">
            <a:spAutoFit/>
          </a:bodyPr>
          <a:lstStyle/>
          <a:p>
            <a:r>
              <a:rPr sz="1400" b="1">
                <a:solidFill>val="F0B429"/&gt;</a:solidFill>
              </a:rPr>
              <a:t>Teacher: </a:t>
            </a:r>
            <a:r>
              <a:rPr sz="1400">
                <a:solidFill>val="162B40"/&gt;</a:solidFill>
              </a:rPr>
              <a:t>Every day. Songs are poems, films are stories, and good advertisements often use images and rhythm.</a:t>
            </a:r>
          </a:p>
        </p:txBody>
      </p:sp>
      <p:sp>
        <p:nvSpPr>
          <p:cNvPr id="5" name="TextBox 4"/>
          <p:cNvSpPr txBox="1"/>
          <p:nvPr/>
        </p:nvSpPr>
        <p:spPr>
          <a:xfrm>
            <a:off x="1097280" y="1783080"/>
            <a:ext cx="10332720" cy="411480"/>
          </a:xfrm>
          <a:prstGeom prst="rect">
            <a:avLst/>
          </a:prstGeom>
          <a:noFill/>
        </p:spPr>
        <p:txBody>
          <a:bodyPr wrap="square">
            <a:spAutoFit/>
          </a:bodyPr>
          <a:lstStyle/>
          <a:p>
            <a:r>
              <a:rPr sz="1200" i="1">
                <a:solidFill>val="69788B"/&gt;</a:solidFill>
              </a:rPr>
              <a:t>Tous les jours. Les chansons sont des poèmes, les films sont des histoires, et les bonnes publicités utilisent souvent images et rythme.</a:t>
            </a:r>
          </a:p>
        </p:txBody>
      </p:sp>
      <p:sp>
        <p:nvSpPr>
          <p:cNvPr id="6" name="TextBox 5"/>
          <p:cNvSpPr txBox="1"/>
          <p:nvPr/>
        </p:nvSpPr>
        <p:spPr>
          <a:xfrm>
            <a:off x="731520" y="2286000"/>
            <a:ext cx="10698480" cy="457200"/>
          </a:xfrm>
          <a:prstGeom prst="rect">
            <a:avLst/>
          </a:prstGeom>
          <a:noFill/>
        </p:spPr>
        <p:txBody>
          <a:bodyPr wrap="square">
            <a:spAutoFit/>
          </a:bodyPr>
          <a:lstStyle/>
          <a:p>
            <a:r>
              <a:rPr sz="1400" b="1">
                <a:solidFill>val="00875B"/&gt;</a:solidFill>
              </a:rPr>
              <a:t>Student: </a:t>
            </a:r>
            <a:r>
              <a:rPr sz="1400">
                <a:solidFill>val="162B40"/&gt;</a:solidFill>
              </a:rPr>
              <a:t>I never thought about it that way.</a:t>
            </a:r>
          </a:p>
        </p:txBody>
      </p:sp>
      <p:sp>
        <p:nvSpPr>
          <p:cNvPr id="7" name="TextBox 6"/>
          <p:cNvSpPr txBox="1"/>
          <p:nvPr/>
        </p:nvSpPr>
        <p:spPr>
          <a:xfrm>
            <a:off x="1097280" y="2697480"/>
            <a:ext cx="10332720" cy="411480"/>
          </a:xfrm>
          <a:prstGeom prst="rect">
            <a:avLst/>
          </a:prstGeom>
          <a:noFill/>
        </p:spPr>
        <p:txBody>
          <a:bodyPr wrap="square">
            <a:spAutoFit/>
          </a:bodyPr>
          <a:lstStyle/>
          <a:p>
            <a:r>
              <a:rPr sz="1200" i="1">
                <a:solidFill>val="69788B"/&gt;</a:solidFill>
              </a:rPr>
              <a:t>Je n&amp;#x27;avais jamais pensé à cela de cette manière.</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val="F0B429"/&gt;</a:solidFill>
              </a:rPr>
              <a:t>Teacher: </a:t>
            </a:r>
            <a:r>
              <a:rPr sz="1400">
                <a:solidFill>val="162B40"/&gt;</a:solidFill>
              </a:rPr>
              <a:t>And when you tell a funny story to a friend, you are creating a little piece of narrative.</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Et quand vous racontez une histoire drôle à un ami, vous créez une petite narration.</a:t>
            </a:r>
          </a:p>
        </p:txBody>
      </p:sp>
      <p:sp>
        <p:nvSpPr>
          <p:cNvPr id="4" name="TextBox 3"/>
          <p:cNvSpPr txBox="1"/>
          <p:nvPr/>
        </p:nvSpPr>
        <p:spPr>
          <a:xfrm>
            <a:off x="731520" y="1371600"/>
            <a:ext cx="10698480" cy="457200"/>
          </a:xfrm>
          <a:prstGeom prst="rect">
            <a:avLst/>
          </a:prstGeom>
          <a:noFill/>
        </p:spPr>
        <p:txBody>
          <a:bodyPr wrap="square">
            <a:spAutoFit/>
          </a:bodyPr>
          <a:lstStyle/>
          <a:p>
            <a:r>
              <a:rPr sz="1400" b="1">
                <a:solidFill>val="00875B"/&gt;</a:solidFill>
              </a:rPr>
              <a:t>Student: </a:t>
            </a:r>
            <a:r>
              <a:rPr sz="1400">
                <a:solidFill>val="162B40"/&gt;</a:solidFill>
              </a:rPr>
              <a:t>So literature is really everywhere.</a:t>
            </a:r>
          </a:p>
        </p:txBody>
      </p:sp>
      <p:sp>
        <p:nvSpPr>
          <p:cNvPr id="5" name="TextBox 4"/>
          <p:cNvSpPr txBox="1"/>
          <p:nvPr/>
        </p:nvSpPr>
        <p:spPr>
          <a:xfrm>
            <a:off x="1097280" y="1783080"/>
            <a:ext cx="10332720" cy="411480"/>
          </a:xfrm>
          <a:prstGeom prst="rect">
            <a:avLst/>
          </a:prstGeom>
          <a:noFill/>
        </p:spPr>
        <p:txBody>
          <a:bodyPr wrap="square">
            <a:spAutoFit/>
          </a:bodyPr>
          <a:lstStyle/>
          <a:p>
            <a:r>
              <a:rPr sz="1200" i="1">
                <a:solidFill>val="69788B"/&gt;</a:solidFill>
              </a:rPr>
              <a:t>Donc la littérature est vraiment partout.</a:t>
            </a:r>
          </a:p>
        </p:txBody>
      </p:sp>
      <p:sp>
        <p:nvSpPr>
          <p:cNvPr id="6" name="TextBox 5"/>
          <p:cNvSpPr txBox="1"/>
          <p:nvPr/>
        </p:nvSpPr>
        <p:spPr>
          <a:xfrm>
            <a:off x="731520" y="2286000"/>
            <a:ext cx="10698480" cy="457200"/>
          </a:xfrm>
          <a:prstGeom prst="rect">
            <a:avLst/>
          </a:prstGeom>
          <a:noFill/>
        </p:spPr>
        <p:txBody>
          <a:bodyPr wrap="square">
            <a:spAutoFit/>
          </a:bodyPr>
          <a:lstStyle/>
          <a:p>
            <a:r>
              <a:rPr sz="1400" b="1">
                <a:solidFill>val="F0B429"/&gt;</a:solidFill>
              </a:rPr>
              <a:t>Teacher: </a:t>
            </a:r>
            <a:r>
              <a:rPr sz="1400">
                <a:solidFill>val="162B40"/&gt;</a:solidFill>
              </a:rPr>
              <a:t>Once you can see it, you will find it everywhere.</a:t>
            </a:r>
          </a:p>
        </p:txBody>
      </p:sp>
      <p:sp>
        <p:nvSpPr>
          <p:cNvPr id="7" name="TextBox 6"/>
          <p:cNvSpPr txBox="1"/>
          <p:nvPr/>
        </p:nvSpPr>
        <p:spPr>
          <a:xfrm>
            <a:off x="1097280" y="2697480"/>
            <a:ext cx="10332720" cy="411480"/>
          </a:xfrm>
          <a:prstGeom prst="rect">
            <a:avLst/>
          </a:prstGeom>
          <a:noFill/>
        </p:spPr>
        <p:txBody>
          <a:bodyPr wrap="square">
            <a:spAutoFit/>
          </a:bodyPr>
          <a:lstStyle/>
          <a:p>
            <a:r>
              <a:rPr sz="1200" i="1">
                <a:solidFill>val="69788B"/&gt;</a:solidFill>
              </a:rPr>
              <a:t>Une fois que vous savez la voir, vous la trouvez partout.</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val="162B40"/&gt;</a:solidFill>
        <a:effectLst/>
      </p:bgPr>
    </p:bg>
    <p:spTree>
      <p:nvGrpSpPr>
        <p:cNvPr id="1" name=""/>
        <p:cNvGrpSpPr/>
        <p:nvPr/>
      </p:nvGrpSpPr>
      <p:grpSpPr/>
      <p:sp>
        <p:nvSpPr>
          <p:cNvPr id="2" name="TextBox 1"/>
          <p:cNvSpPr txBox="1"/>
          <p:nvPr/>
        </p:nvSpPr>
        <p:spPr>
          <a:xfrm>
            <a:off x="914400" y="2286000"/>
            <a:ext cx="10362895" cy="2286000"/>
          </a:xfrm>
          <a:prstGeom prst="rect">
            <a:avLst/>
          </a:prstGeom>
          <a:noFill/>
        </p:spPr>
        <p:txBody>
          <a:bodyPr wrap="square">
            <a:spAutoFit/>
          </a:bodyPr>
          <a:lstStyle/>
          <a:p>
            <a:pPr algn="ctr"/>
            <a:r>
              <a:rPr sz="2800" b="1">
                <a:solidFill>val="FFFFFF"/&gt;</a:solidFill>
              </a:rPr>
              <a:t>Dialogue 14</a:t>
            </a:r>
          </a:p>
          <a:p>
            <a:pPr algn="ctr">
              <a:spcBef>
                <a:spcPts val="1200"/>
              </a:spcBef>
            </a:pPr>
            <a:r>
              <a:rPr sz="2000">
                <a:solidFill>val="DFE5EA"/&gt;</a:solidFill>
              </a:rPr>
              <a:t>🗣️ Dialogue 14 — Common literary words you should know (Des mots littéraires courants à connaître)</a:t>
            </a:r>
          </a:p>
        </p:txBody>
      </p:sp>
      <p:sp>
        <p:nvSpPr>
          <p:cNvPr id="990001" name="Pied de page FLE"/>
          <p:cNvSpPr>
            <a:spLocks noGrp="1"/>
          </p:cNvSpPr>
          <p:nvPr/>
        </p:nvSpPr>
        <p:spPr>
          <a:xfrm>
            <a:off x="5562295" y="182880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val="00875B"/&gt;</a:solidFill>
              </a:rPr>
              <a:t>Student: </a:t>
            </a:r>
            <a:r>
              <a:rPr sz="1400">
                <a:solidFill>val="162B40"/&gt;</a:solidFill>
              </a:rPr>
              <a:t>Which words should a beginner know in this module?</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Quels mots un débutant devrait-il connaître dans ce module ?</a:t>
            </a:r>
          </a:p>
        </p:txBody>
      </p:sp>
      <p:sp>
        <p:nvSpPr>
          <p:cNvPr id="4" name="TextBox 3"/>
          <p:cNvSpPr txBox="1"/>
          <p:nvPr/>
        </p:nvSpPr>
        <p:spPr>
          <a:xfrm>
            <a:off x="731520" y="1371600"/>
            <a:ext cx="10698480" cy="457200"/>
          </a:xfrm>
          <a:prstGeom prst="rect">
            <a:avLst/>
          </a:prstGeom>
          <a:noFill/>
        </p:spPr>
        <p:txBody>
          <a:bodyPr wrap="square">
            <a:spAutoFit/>
          </a:bodyPr>
          <a:lstStyle/>
          <a:p>
            <a:r>
              <a:rPr sz="1400" b="1">
                <a:solidFill>val="F0B429"/&gt;</a:solidFill>
              </a:rPr>
              <a:t>Teacher: </a:t>
            </a:r>
            <a:r>
              <a:rPr sz="1400">
                <a:solidFill>val="162B40"/&gt;</a:solidFill>
              </a:rPr>
              <a:t>Learn these five: author, text, genre, character and theme.</a:t>
            </a:r>
          </a:p>
        </p:txBody>
      </p:sp>
      <p:sp>
        <p:nvSpPr>
          <p:cNvPr id="5" name="TextBox 4"/>
          <p:cNvSpPr txBox="1"/>
          <p:nvPr/>
        </p:nvSpPr>
        <p:spPr>
          <a:xfrm>
            <a:off x="1097280" y="1783080"/>
            <a:ext cx="10332720" cy="411480"/>
          </a:xfrm>
          <a:prstGeom prst="rect">
            <a:avLst/>
          </a:prstGeom>
          <a:noFill/>
        </p:spPr>
        <p:txBody>
          <a:bodyPr wrap="square">
            <a:spAutoFit/>
          </a:bodyPr>
          <a:lstStyle/>
          <a:p>
            <a:r>
              <a:rPr sz="1200" i="1">
                <a:solidFill>val="69788B"/&gt;</a:solidFill>
              </a:rPr>
              <a:t>Apprenez ces cinq mots : auteur, texte, genre, personnage et thème.</a:t>
            </a:r>
          </a:p>
        </p:txBody>
      </p:sp>
      <p:sp>
        <p:nvSpPr>
          <p:cNvPr id="6" name="TextBox 5"/>
          <p:cNvSpPr txBox="1"/>
          <p:nvPr/>
        </p:nvSpPr>
        <p:spPr>
          <a:xfrm>
            <a:off x="731520" y="2286000"/>
            <a:ext cx="10698480" cy="457200"/>
          </a:xfrm>
          <a:prstGeom prst="rect">
            <a:avLst/>
          </a:prstGeom>
          <a:noFill/>
        </p:spPr>
        <p:txBody>
          <a:bodyPr wrap="square">
            <a:spAutoFit/>
          </a:bodyPr>
          <a:lstStyle/>
          <a:p>
            <a:r>
              <a:rPr sz="1400" b="1">
                <a:solidFill>val="00875B"/&gt;</a:solidFill>
              </a:rPr>
              <a:t>Student: </a:t>
            </a:r>
            <a:r>
              <a:rPr sz="1400">
                <a:solidFill>val="162B40"/&gt;</a:solidFill>
              </a:rPr>
              <a:t>Author is the writer, and text is the written work.</a:t>
            </a:r>
          </a:p>
        </p:txBody>
      </p:sp>
      <p:sp>
        <p:nvSpPr>
          <p:cNvPr id="7" name="TextBox 6"/>
          <p:cNvSpPr txBox="1"/>
          <p:nvPr/>
        </p:nvSpPr>
        <p:spPr>
          <a:xfrm>
            <a:off x="1097280" y="2697480"/>
            <a:ext cx="10332720" cy="411480"/>
          </a:xfrm>
          <a:prstGeom prst="rect">
            <a:avLst/>
          </a:prstGeom>
          <a:noFill/>
        </p:spPr>
        <p:txBody>
          <a:bodyPr wrap="square">
            <a:spAutoFit/>
          </a:bodyPr>
          <a:lstStyle/>
          <a:p>
            <a:r>
              <a:rPr sz="1200" i="1">
                <a:solidFill>val="69788B"/&gt;</a:solidFill>
              </a:rPr>
              <a:t>L&amp;#x27;auteur est l&amp;#x27;écrivain, et le texte est l&amp;#x27;œuvre écrite.</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val="F0B429"/&gt;</a:solidFill>
              </a:rPr>
              <a:t>Teacher: </a:t>
            </a:r>
            <a:r>
              <a:rPr sz="1400">
                <a:solidFill>val="162B40"/&gt;</a:solidFill>
              </a:rPr>
              <a:t>Exactly. Genre is the type of literature, and a character is a person in the story.</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Exactement. Le genre est le type de littérature, et un personnage est une personne dans l&amp;#x27;histoire.</a:t>
            </a:r>
          </a:p>
        </p:txBody>
      </p:sp>
      <p:sp>
        <p:nvSpPr>
          <p:cNvPr id="4" name="TextBox 3"/>
          <p:cNvSpPr txBox="1"/>
          <p:nvPr/>
        </p:nvSpPr>
        <p:spPr>
          <a:xfrm>
            <a:off x="731520" y="1371600"/>
            <a:ext cx="10698480" cy="457200"/>
          </a:xfrm>
          <a:prstGeom prst="rect">
            <a:avLst/>
          </a:prstGeom>
          <a:noFill/>
        </p:spPr>
        <p:txBody>
          <a:bodyPr wrap="square">
            <a:spAutoFit/>
          </a:bodyPr>
          <a:lstStyle/>
          <a:p>
            <a:r>
              <a:rPr sz="1400" b="1">
                <a:solidFill>val="00875B"/&gt;</a:solidFill>
              </a:rPr>
              <a:t>Student: </a:t>
            </a:r>
            <a:r>
              <a:rPr sz="1400">
                <a:solidFill>val="162B40"/&gt;</a:solidFill>
              </a:rPr>
              <a:t>And a theme is the main idea?</a:t>
            </a:r>
          </a:p>
        </p:txBody>
      </p:sp>
      <p:sp>
        <p:nvSpPr>
          <p:cNvPr id="5" name="TextBox 4"/>
          <p:cNvSpPr txBox="1"/>
          <p:nvPr/>
        </p:nvSpPr>
        <p:spPr>
          <a:xfrm>
            <a:off x="1097280" y="1783080"/>
            <a:ext cx="10332720" cy="411480"/>
          </a:xfrm>
          <a:prstGeom prst="rect">
            <a:avLst/>
          </a:prstGeom>
          <a:noFill/>
        </p:spPr>
        <p:txBody>
          <a:bodyPr wrap="square">
            <a:spAutoFit/>
          </a:bodyPr>
          <a:lstStyle/>
          <a:p>
            <a:r>
              <a:rPr sz="1200" i="1">
                <a:solidFill>val="69788B"/&gt;</a:solidFill>
              </a:rPr>
              <a:t>Et un thème est l&amp;#x27;idée principale ?</a:t>
            </a:r>
          </a:p>
        </p:txBody>
      </p:sp>
      <p:sp>
        <p:nvSpPr>
          <p:cNvPr id="6" name="TextBox 5"/>
          <p:cNvSpPr txBox="1"/>
          <p:nvPr/>
        </p:nvSpPr>
        <p:spPr>
          <a:xfrm>
            <a:off x="731520" y="2286000"/>
            <a:ext cx="10698480" cy="457200"/>
          </a:xfrm>
          <a:prstGeom prst="rect">
            <a:avLst/>
          </a:prstGeom>
          <a:noFill/>
        </p:spPr>
        <p:txBody>
          <a:bodyPr wrap="square">
            <a:spAutoFit/>
          </a:bodyPr>
          <a:lstStyle/>
          <a:p>
            <a:r>
              <a:rPr sz="1400" b="1">
                <a:solidFill>val="F0B429"/&gt;</a:solidFill>
              </a:rPr>
              <a:t>Teacher: </a:t>
            </a:r>
            <a:r>
              <a:rPr sz="1400">
                <a:solidFill>val="162B40"/&gt;</a:solidFill>
              </a:rPr>
              <a:t>Yes, the message or big idea of the work, like love, freedom or friendship.</a:t>
            </a:r>
          </a:p>
        </p:txBody>
      </p:sp>
      <p:sp>
        <p:nvSpPr>
          <p:cNvPr id="7" name="TextBox 6"/>
          <p:cNvSpPr txBox="1"/>
          <p:nvPr/>
        </p:nvSpPr>
        <p:spPr>
          <a:xfrm>
            <a:off x="1097280" y="2697480"/>
            <a:ext cx="10332720" cy="411480"/>
          </a:xfrm>
          <a:prstGeom prst="rect">
            <a:avLst/>
          </a:prstGeom>
          <a:noFill/>
        </p:spPr>
        <p:txBody>
          <a:bodyPr wrap="square">
            <a:spAutoFit/>
          </a:bodyPr>
          <a:lstStyle/>
          <a:p>
            <a:r>
              <a:rPr sz="1200" i="1">
                <a:solidFill>val="69788B"/&gt;</a:solidFill>
              </a:rPr>
              <a:t>Oui, le message ou la grande idée de l&amp;#x27;œuvre, comme l&amp;#x27;amour, la liberté ou l&amp;#x27;amitié.</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val="162B40"/&gt;</a:solidFill>
        <a:effectLst/>
      </p:bgPr>
    </p:bg>
    <p:spTree>
      <p:nvGrpSpPr>
        <p:cNvPr id="1" name=""/>
        <p:cNvGrpSpPr/>
        <p:nvPr/>
      </p:nvGrpSpPr>
      <p:grpSpPr/>
      <p:sp>
        <p:nvSpPr>
          <p:cNvPr id="2" name="TextBox 1"/>
          <p:cNvSpPr txBox="1"/>
          <p:nvPr/>
        </p:nvSpPr>
        <p:spPr>
          <a:xfrm>
            <a:off x="914400" y="2286000"/>
            <a:ext cx="10362895" cy="2286000"/>
          </a:xfrm>
          <a:prstGeom prst="rect">
            <a:avLst/>
          </a:prstGeom>
          <a:noFill/>
        </p:spPr>
        <p:txBody>
          <a:bodyPr wrap="square">
            <a:spAutoFit/>
          </a:bodyPr>
          <a:lstStyle/>
          <a:p>
            <a:pPr algn="ctr"/>
            <a:r>
              <a:rPr sz="2800" b="1">
                <a:solidFill>val="FFFFFF"/&gt;</a:solidFill>
              </a:rPr>
              <a:t>Dialogue 15</a:t>
            </a:r>
          </a:p>
          <a:p>
            <a:pPr algn="ctr">
              <a:spcBef>
                <a:spcPts val="1200"/>
              </a:spcBef>
            </a:pPr>
            <a:r>
              <a:rPr sz="2000">
                <a:solidFill>val="DFE5EA"/&gt;</a:solidFill>
              </a:rPr>
              <a:t>🗣️ Dialogue 15 — Summary dialogue (Dialogue de synthèse)</a:t>
            </a:r>
          </a:p>
        </p:txBody>
      </p:sp>
      <p:sp>
        <p:nvSpPr>
          <p:cNvPr id="990001" name="Pied de page FLE"/>
          <p:cNvSpPr>
            <a:spLocks noGrp="1"/>
          </p:cNvSpPr>
          <p:nvPr/>
        </p:nvSpPr>
        <p:spPr>
          <a:xfrm>
            <a:off x="5562295" y="182880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val="00875B"/&gt;</a:solidFill>
              </a:rPr>
              <a:t>Student: </a:t>
            </a:r>
            <a:r>
              <a:rPr sz="1400">
                <a:solidFill>val="162B40"/&gt;</a:solidFill>
              </a:rPr>
              <a:t>Can we sum up today&amp;#x27;s lesson in a few sentences?</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Pouvons-nous résumer la leçon d&amp;#x27;aujourd&amp;#x27;hui en quelques phrases ?</a:t>
            </a:r>
          </a:p>
        </p:txBody>
      </p:sp>
      <p:sp>
        <p:nvSpPr>
          <p:cNvPr id="4" name="TextBox 3"/>
          <p:cNvSpPr txBox="1"/>
          <p:nvPr/>
        </p:nvSpPr>
        <p:spPr>
          <a:xfrm>
            <a:off x="731520" y="1371600"/>
            <a:ext cx="10698480" cy="457200"/>
          </a:xfrm>
          <a:prstGeom prst="rect">
            <a:avLst/>
          </a:prstGeom>
          <a:noFill/>
        </p:spPr>
        <p:txBody>
          <a:bodyPr wrap="square">
            <a:spAutoFit/>
          </a:bodyPr>
          <a:lstStyle/>
          <a:p>
            <a:r>
              <a:rPr sz="1400" b="1">
                <a:solidFill>val="F0B429"/&gt;</a:solidFill>
              </a:rPr>
              <a:t>Teacher: </a:t>
            </a:r>
            <a:r>
              <a:rPr sz="1400">
                <a:solidFill>val="162B40"/&gt;</a:solidFill>
              </a:rPr>
              <a:t>Certainly. Literature is creative writing that expresses ideas and feelings with artistic language.</a:t>
            </a:r>
          </a:p>
        </p:txBody>
      </p:sp>
      <p:sp>
        <p:nvSpPr>
          <p:cNvPr id="5" name="TextBox 4"/>
          <p:cNvSpPr txBox="1"/>
          <p:nvPr/>
        </p:nvSpPr>
        <p:spPr>
          <a:xfrm>
            <a:off x="1097280" y="1783080"/>
            <a:ext cx="10332720" cy="411480"/>
          </a:xfrm>
          <a:prstGeom prst="rect">
            <a:avLst/>
          </a:prstGeom>
          <a:noFill/>
        </p:spPr>
        <p:txBody>
          <a:bodyPr wrap="square">
            <a:spAutoFit/>
          </a:bodyPr>
          <a:lstStyle/>
          <a:p>
            <a:r>
              <a:rPr sz="1200" i="1">
                <a:solidFill>val="69788B"/&gt;</a:solidFill>
              </a:rPr>
              <a:t>Certainement. La littérature est une écriture créative qui exprime des idées et des sentiments avec un langage artistique.</a:t>
            </a:r>
          </a:p>
        </p:txBody>
      </p:sp>
      <p:sp>
        <p:nvSpPr>
          <p:cNvPr id="6" name="TextBox 5"/>
          <p:cNvSpPr txBox="1"/>
          <p:nvPr/>
        </p:nvSpPr>
        <p:spPr>
          <a:xfrm>
            <a:off x="731520" y="2286000"/>
            <a:ext cx="10698480" cy="457200"/>
          </a:xfrm>
          <a:prstGeom prst="rect">
            <a:avLst/>
          </a:prstGeom>
          <a:noFill/>
        </p:spPr>
        <p:txBody>
          <a:bodyPr wrap="square">
            <a:spAutoFit/>
          </a:bodyPr>
          <a:lstStyle/>
          <a:p>
            <a:r>
              <a:rPr sz="1400" b="1">
                <a:solidFill>val="00875B"/&gt;</a:solidFill>
              </a:rPr>
              <a:t>Student: </a:t>
            </a:r>
            <a:r>
              <a:rPr sz="1400">
                <a:solidFill>val="162B40"/&gt;</a:solidFill>
              </a:rPr>
              <a:t>And it has three main genres: prose, poetry and drama.</a:t>
            </a:r>
          </a:p>
        </p:txBody>
      </p:sp>
      <p:sp>
        <p:nvSpPr>
          <p:cNvPr id="7" name="TextBox 6"/>
          <p:cNvSpPr txBox="1"/>
          <p:nvPr/>
        </p:nvSpPr>
        <p:spPr>
          <a:xfrm>
            <a:off x="1097280" y="2697480"/>
            <a:ext cx="10332720" cy="411480"/>
          </a:xfrm>
          <a:prstGeom prst="rect">
            <a:avLst/>
          </a:prstGeom>
          <a:noFill/>
        </p:spPr>
        <p:txBody>
          <a:bodyPr wrap="square">
            <a:spAutoFit/>
          </a:bodyPr>
          <a:lstStyle/>
          <a:p>
            <a:r>
              <a:rPr sz="1200" i="1">
                <a:solidFill>val="69788B"/&gt;</a:solidFill>
              </a:rPr>
              <a:t>Et elle a trois grands genres : la prose, la poésie et le théâtre.</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val="FFFFFF"/&gt;</a:solidFill>
        <a:effectLst/>
      </p:bgPr>
    </p:bg>
    <p:spTree>
      <p:nvGrpSpPr>
        <p:cNvPr id="1" name=""/>
        <p:cNvGrpSpPr/>
        <p:nvPr/>
      </p:nvGrpSpPr>
      <p:grpSpPr/>
      <p:sp>
        <p:nvSpPr>
          <p:cNvPr id="2" name="TextBox 1"/>
          <p:cNvSpPr txBox="1"/>
          <p:nvPr/>
        </p:nvSpPr>
        <p:spPr>
          <a:xfrm>
            <a:off x="731520" y="457200"/>
            <a:ext cx="10698480" cy="457200"/>
          </a:xfrm>
          <a:prstGeom prst="rect">
            <a:avLst/>
          </a:prstGeom>
          <a:noFill/>
        </p:spPr>
        <p:txBody>
          <a:bodyPr wrap="square">
            <a:spAutoFit/>
          </a:bodyPr>
          <a:lstStyle/>
          <a:p>
            <a:r>
              <a:rPr sz="1400" b="1">
                <a:solidFill>val="F0B429"/&gt;</a:solidFill>
              </a:rPr>
              <a:t>Teacher: </a:t>
            </a:r>
            <a:r>
              <a:rPr sz="1400">
                <a:solidFill>val="162B40"/&gt;</a:solidFill>
              </a:rPr>
              <a:t>Fiction is invented, non-fiction is real, and all of it helps us understand people and the world.</a:t>
            </a:r>
          </a:p>
        </p:txBody>
      </p:sp>
      <p:sp>
        <p:nvSpPr>
          <p:cNvPr id="3" name="TextBox 2"/>
          <p:cNvSpPr txBox="1"/>
          <p:nvPr/>
        </p:nvSpPr>
        <p:spPr>
          <a:xfrm>
            <a:off x="1097280" y="868680"/>
            <a:ext cx="10332720" cy="411480"/>
          </a:xfrm>
          <a:prstGeom prst="rect">
            <a:avLst/>
          </a:prstGeom>
          <a:noFill/>
        </p:spPr>
        <p:txBody>
          <a:bodyPr wrap="square">
            <a:spAutoFit/>
          </a:bodyPr>
          <a:lstStyle/>
          <a:p>
            <a:r>
              <a:rPr sz="1200" i="1">
                <a:solidFill>val="69788B"/&gt;</a:solidFill>
              </a:rPr>
              <a:t>La fiction est inventée, la non-fiction est réelle, et tout cela nous aide à comprendre les personnes et le monde.</a:t>
            </a:r>
          </a:p>
        </p:txBody>
      </p:sp>
      <p:sp>
        <p:nvSpPr>
          <p:cNvPr id="4" name="TextBox 3"/>
          <p:cNvSpPr txBox="1"/>
          <p:nvPr/>
        </p:nvSpPr>
        <p:spPr>
          <a:xfrm>
            <a:off x="731520" y="1371600"/>
            <a:ext cx="10698480" cy="457200"/>
          </a:xfrm>
          <a:prstGeom prst="rect">
            <a:avLst/>
          </a:prstGeom>
          <a:noFill/>
        </p:spPr>
        <p:txBody>
          <a:bodyPr wrap="square">
            <a:spAutoFit/>
          </a:bodyPr>
          <a:lstStyle/>
          <a:p>
            <a:r>
              <a:rPr sz="1400" b="1">
                <a:solidFill>val="00875B"/&gt;</a:solidFill>
              </a:rPr>
              <a:t>Student: </a:t>
            </a:r>
            <a:r>
              <a:rPr sz="1400">
                <a:solidFill>val="162B40"/&gt;</a:solidFill>
              </a:rPr>
              <a:t>I feel ready to explore each genre now.</a:t>
            </a:r>
          </a:p>
        </p:txBody>
      </p:sp>
      <p:sp>
        <p:nvSpPr>
          <p:cNvPr id="5" name="TextBox 4"/>
          <p:cNvSpPr txBox="1"/>
          <p:nvPr/>
        </p:nvSpPr>
        <p:spPr>
          <a:xfrm>
            <a:off x="1097280" y="1783080"/>
            <a:ext cx="10332720" cy="411480"/>
          </a:xfrm>
          <a:prstGeom prst="rect">
            <a:avLst/>
          </a:prstGeom>
          <a:noFill/>
        </p:spPr>
        <p:txBody>
          <a:bodyPr wrap="square">
            <a:spAutoFit/>
          </a:bodyPr>
          <a:lstStyle/>
          <a:p>
            <a:r>
              <a:rPr sz="1200" i="1">
                <a:solidFill>val="69788B"/&gt;</a:solidFill>
              </a:rPr>
              <a:t>Je me sens prêt à explorer chaque genre maintenant.</a:t>
            </a:r>
          </a:p>
        </p:txBody>
      </p:sp>
      <p:sp>
        <p:nvSpPr>
          <p:cNvPr id="990001" name="Pied de page FLE"/>
          <p:cNvSpPr>
            <a:spLocks noGrp="1"/>
          </p:cNvSpPr>
          <p:nvPr/>
        </p:nvSpPr>
        <p:spPr>
          <a:xfrm>
            <a:off x="5897880" y="0"/>
            <a:ext cx="4572000" cy="274320"/>
          </a:xfrm>
          <a:prstGeom prst="rect">
            <a:avLst/>
          </a:prstGeom>
        </p:spPr>
        <p:txBody>
          <a:bodyPr anchor="b"/>
          <a:lstStyle/>
          <a:p>
            <a:pPr algn="r">
              <a:defRPr sz="900">
                <a:solidFill>
                  <a:srgbClr val="9AA7B6"/>
                </a:solidFill>
                <a:latin typeface="Poppins"/>
              </a:defRPr>
            </a:pPr>
            <a:r>
              <a:rPr lang="fr-FR" sz="900">
                <a:solidFill>
                  <a:srgbClr val="9AA7B6"/>
                </a:solidFill>
                <a:latin typeface="Poppins"/>
              </a:rPr>
              <a:t>Université de Mostaganem — Dr. Madani BELACEL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Poppins"/>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Poppins"/>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