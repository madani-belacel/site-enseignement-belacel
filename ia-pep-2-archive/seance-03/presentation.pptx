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03 — Rechercher et comprendre l'information avec l'IA</a:t>
            </a:r>
          </a:p>
          <a:p>
            <a:r>
              <a:rPr sz="2000">
                <a:solidFill>
                  <a:srgbClr val="ECEFF1"/>
                </a:solidFill>
              </a:rPr>
              <a:t>Searching and understanding information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Transformer un sujet vague en question de recherche précise.</a:t>
            </a:r>
          </a:p>
          <a:p>
            <a:pPr>
              <a:defRPr sz="2000"/>
            </a:pPr>
            <a:r>
              <a:t>Utiliser Perplexity pour comprendre une notion avec des sources citées.</a:t>
            </a:r>
          </a:p>
          <a:p>
            <a:pPr>
              <a:defRPr sz="2000"/>
            </a:pPr>
            <a:r>
              <a:t>Chercher de la littérature scientifique avec Google Scholar et Consensus.</a:t>
            </a:r>
          </a:p>
          <a:p>
            <a:pPr>
              <a:defRPr sz="2000"/>
            </a:pPr>
            <a:r>
              <a:t>Évaluer et croiser les sources avant de les utiliser dans un travail.</a:t>
            </a:r>
          </a:p>
          <a:p>
            <a:pPr>
              <a:defRPr sz="2000"/>
            </a:pPr>
            <a:r>
              <a:t>Citer correctement : nom, année, titre, éditeur ou revue.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Turn a vague topic into a precise research question.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Use Perplexity to understand a concept with cited sources.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Search scientific literature with Google Scholar and Consensus.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Evaluate and cross-check sources before using them in an assignment.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Cite correctly: author, year, title, publisher or journal.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00–10 — Accueil et sondage</a:t>
            </a:r>
          </a:p>
          <a:p>
            <a:pPr>
              <a:defRPr sz="2000"/>
            </a:pPr>
            <a:r>
              <a:t>10–30 — Partie 1 : Formuler sa question de recherche</a:t>
            </a:r>
          </a:p>
          <a:p>
            <a:pPr>
              <a:defRPr sz="2000"/>
            </a:pPr>
            <a:r>
              <a:t>30–50 — Partie 2 : Perplexity en démonstration</a:t>
            </a:r>
          </a:p>
          <a:p>
            <a:pPr>
              <a:defRPr sz="2000"/>
            </a:pPr>
            <a:r>
              <a:t>50–70 — Partie 3 : Google Scholar et Consensus</a:t>
            </a:r>
          </a:p>
          <a:p>
            <a:pPr>
              <a:defRPr sz="2000"/>
            </a:pPr>
            <a:r>
              <a:t>70–80 — Activité : défis « je vérifie »</a:t>
            </a:r>
          </a:p>
          <a:p>
            <a:pPr>
              <a:defRPr sz="2000"/>
            </a:pPr>
            <a:r>
              <a:t>80–90 — Synthèse et annonce de la séance 4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Welcome and survey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1: Formulating your research question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2: Perplexity demo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3: Google Scholar and Consensus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Activity: "I check" challenges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 and preview of session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Google vous donne 1 million de résultats en 0,5 seconde… mais lequel croire ? Chercher n'est pas trouver : aujourd'hui on apprend à pêcher les bonnes sources.</a:t>
            </a:r>
          </a:p>
          <a:p>
            <a:pPr>
              <a:defRPr sz="2000"/>
            </a:pPr>
            <a:r>
              <a:t>🍳 🍳 Google, c'est un filet qui ramène tout : poissons, crabes et vieilles chaussures. Perplexity, c'est une canne à pêche avec un hameçon-source : moins de prises, mais on sait d'où vient chacune.</a:t>
            </a:r>
          </a:p>
          <a:p>
            <a:pPr>
              <a:defRPr sz="2000"/>
            </a:pPr>
            <a:r>
              <a:t>💡 💡 Bien chercher = une question précise + les bons outils (Perplexity, Scholar) + vérifier chaque source avant de l'utiliser.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Searching well = a precise question + the right tools (Perplexity, Scholar) + checking each source before using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Formuler une bonne question de recherche</a:t>
            </a:r>
            <a:r>
              <a:t>  ·  Formulating a good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recherche commence toujours par une question, pas par des mots tapés au hasard. La question détermine les outils, les mots-clés, la date et le nombre de sources nécessaires.</a:t>
            </a:r>
          </a:p>
          <a:p>
            <a:pPr>
              <a:defRPr sz="2000"/>
            </a:pPr>
            <a:r>
              <a:t>&lt;strong&gt;1. Préciser le sujet :&lt;/strong&gt; pas « l'IA » mais « les limites de l'IA générative pour l'enseignant du primaire ».</a:t>
            </a:r>
          </a:p>
          <a:p>
            <a:pPr>
              <a:defRPr sz="2000"/>
            </a:pPr>
            <a:r>
              <a:t>&lt;strong&gt;2. Fixer la forme :&lt;/strong&gt; définition, comparaison, données chiffrées, exemple d'application ?</a:t>
            </a:r>
          </a:p>
          <a:p>
            <a:pPr>
              <a:defRPr sz="2000"/>
            </a:pPr>
            <a:r>
              <a:t>&lt;strong&gt;3. Borner :&lt;/strong&gt; période (les 5 dernières années ?), pays, niveau scolaire.</a:t>
            </a:r>
          </a:p>
          <a:p>
            <a:pPr>
              <a:defRPr sz="2000"/>
            </a:pPr>
            <a:r>
              <a:t>&lt;strong&gt;4. Choisir le type de source :&lt;/strong&gt; cours, article scientifique, rapport officiel, presse.</a:t>
            </a:r>
          </a:p>
          <a:p>
            <a:pPr>
              <a:defRPr sz="2000"/>
            </a:pPr>
            <a:r>
              <a:t>&lt;strong&gt;5. Poser la question à l'IA ET à un moteur :&lt;/strong&gt; les deux réponses se complètent.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search always starts with a question, not with random typed words. The question determines the tools, the keywords, the date and the number of sources needed.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&lt;strong&gt;1. Narrow the topic:&lt;/strong&gt; not "AI" but "the limits of generative AI for the primary teacher".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&lt;strong&gt;2. Set the form:&lt;/strong&gt; definition, comparison, figures, application example?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&lt;strong&gt;3. Bound it:&lt;/strong&gt; period (last 5 years?), country, school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Perplexity : la recherche avec sources citées</a:t>
            </a:r>
            <a:r>
              <a:t>  ·  Perplexity: search with cited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Perplexity est un moteur de réponses : il lit le web, rédige une réponse et affiche les sources à côté de chaque affirmation. C'est l'outil idéal pour comprendre vite une notion en vérifiant l'origine de l'information.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Perplexity is an answer engine: it reads the web, writes a response and shows the sources next to each claim. It is the ideal tool to understand a concept fast while checking where the information comes from.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Scholar et Consensus : la littérature scientifique</a:t>
            </a:r>
            <a:r>
              <a:t>  ·  Google Scholar and Consensus: the scientific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Pour un exposé ou un travail universitaire sérieux, les sources fiables sont les articles scientifiques. Deux outils vous y mènent : Google Scholar (moteur d'articles) et Consensus (synthèse de résultats d'études).</a:t>
            </a:r>
          </a:p>
          <a:p>
            <a:pPr>
              <a:defRPr sz="2000"/>
            </a:pPr>
            <a:r>
              <a:t>&lt;strong&gt;Google Scholar :&lt;/strong&gt; chercher par mots-clés, filtrer par année, voir « cité par », lire le résumé, trouver le DOI.</a:t>
            </a:r>
          </a:p>
          <a:p>
            <a:pPr>
              <a:defRPr sz="2000"/>
            </a:pPr>
            <a:r>
              <a:t>&lt;strong&gt;Consensus :&lt;/strong&gt; poser une question factuelle (« le jeu vidéo aide-t-il l'apprentissage ? ») et obtenir un « consensus » sourcé d'études.</a:t>
            </a:r>
          </a:p>
          <a:p>
            <a:pPr>
              <a:defRPr sz="2000"/>
            </a:pPr>
            <a:r>
              <a:t>&lt;strong&gt;Le DOI :&lt;/strong&gt; numéro unique d'un article — il prouve que l'article existe et permet de le retrouver.</a:t>
            </a:r>
          </a:p>
          <a:p>
            <a:pPr>
              <a:defRPr sz="2000"/>
            </a:pPr>
            <a:r>
              <a:t>&lt;strong&gt;La citation :&lt;/strong&gt; notez toujours auteur, année, titre, revue. Scholar fournit la citation « Cite ».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For a serious presentation or academic work, the reliable sources are scientific papers. Two tools take you there: Google Scholar (article engine) and Consensus (synthesis of study results).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&lt;strong&gt;Google Scholar:&lt;/strong&gt; search by keywords, filter by year, see "cited by", read the abstract, find the DOI.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&lt;strong&gt;Consensus:&lt;/strong&gt; ask a factual question (“does video gaming help learning?”) and get a "consensus" sourced from studies.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&lt;strong&gt;The DOI:&lt;/strong&gt; a paper's unique number — it proves the paper exists and lets you find it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Évaluer et croiser les sources</a:t>
            </a:r>
            <a:r>
              <a:t>  ·  Evaluating and cross-checking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information répétée par deux sources indépendantes est plus fiable qu'une information isolée. Confrontez l'IA à votre cours, vos polycopiés et au moins une source officielle.</a:t>
            </a:r>
          </a:p>
          <a:p>
            <a:pPr>
              <a:defRPr sz="2000"/>
            </a:pPr>
            <a:r>
              <a:t>&lt;strong&gt;Qui ?&lt;/strong&gt; L'auteur est-il identifiable et qualifié (université, organisme) ?</a:t>
            </a:r>
          </a:p>
          <a:p>
            <a:pPr>
              <a:defRPr sz="2000"/>
            </a:pPr>
            <a:r>
              <a:t>&lt;strong&gt;Quand ?&lt;/strong&gt; La date : une info de 2019 sur un sujet qui évolue vite peut être périmée.</a:t>
            </a:r>
          </a:p>
          <a:p>
            <a:pPr>
              <a:defRPr sz="2000"/>
            </a:pPr>
            <a:r>
              <a:t>&lt;strong&gt;Quoi ?&lt;/strong&gt; Fait vérifiable, analyse sourcée, ou simple opinion ?</a:t>
            </a:r>
          </a:p>
          <a:p>
            <a:pPr>
              <a:defRPr sz="2000"/>
            </a:pPr>
            <a:r>
              <a:t>&lt;strong&gt;Vérifiable ?&lt;/strong&gt; La retrouvez-vous ailleurs (Perplexity + Google Scholar + cours) ?</a:t>
            </a:r>
          </a:p>
          <a:p>
            <a:pPr>
              <a:defRPr sz="2000"/>
            </a:pPr>
            <a:r>
              <a:t>&lt;strong&gt;Pourquoi ?&lt;/strong&gt; Le but du document : informer, vendre, convaincre, tromper ?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Information repeated by two independent sources is more reliable than isolated information. Confront AI with your lesson, your handouts and at least one official source.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&lt;strong&gt;Who?&lt;/strong&gt; Is the author identifiable and qualified (university, organisation)?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&lt;strong&gt;When?&lt;/strong&gt; The date: 2019 information on a fast-moving topic may be outdated.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&lt;strong&gt;What?&lt;/strong&gt; Verifiable fact, sourced analysis, or mere opinion?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La recherche gagne un temps considérable dès que l'on combine les outils : Perplexity pour comprendre, Scholar/Consensus pour les sources, le cours pour recouper. Le réflexe clé : toujours savoir D'OÙ vient une information.</a:t>
            </a:r>
          </a:p>
          <a:p>
            <a:pPr>
              <a:defRPr sz="2000"/>
            </a:pPr>
            <a:r>
              <a:t>&lt;strong&gt;✅ Coupler IA et moteur :&lt;/strong&gt; la question part dans Perplexity, les sources s'ouvrent dans Scholar.</a:t>
            </a:r>
          </a:p>
          <a:p>
            <a:pPr>
              <a:defRPr sz="2000"/>
            </a:pPr>
            <a:r>
              <a:t>&lt;strong&gt;✅ Préciser la session :&lt;/strong&gt; « académique », « les 5 dernières années », la langue des sources.</a:t>
            </a:r>
          </a:p>
          <a:p>
            <a:pPr>
              <a:defRPr sz="2000"/>
            </a:pPr>
            <a:r>
              <a:t>&lt;strong&gt;✅ Enregistrer ses recherches :&lt;/strong&gt; copier la question + les 2 meilleures sources dans une note (Notion, Word, carnet).</a:t>
            </a:r>
          </a:p>
          <a:p>
            <a:pPr>
              <a:defRPr sz="2000"/>
            </a:pPr>
            <a:r>
              <a:t>&lt;strong&gt;✅ Citer au fil de l'eau :&lt;/strong&gt; notez auteur, année, titre dès que vous lisez la source.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Searching saves a huge amount of time as soon as you combine the tools: Perplexity to understand, Scholar/Consensus for sources, the lesson to cross-check. The key reflex: always know WHERE information comes from.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Pair AI and engine:&lt;/strong&gt; the question goes into Perplexity, the sources open in Scholar.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Specify the session:&lt;/strong&gt; "academic", "last 5 years", the language of the sources.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Save your searches:&lt;/strong&gt; copy the question + the 2 best sources into a note (Notion, Word, notebook).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Perplexity : le mode Academic pour vos exposés (tutoriel) (fr)</a:t>
            </a:r>
          </a:p>
          <a:p>
            <a:pPr>
              <a:defRPr sz="2000"/>
            </a:pPr>
            <a:r>
              <a:t>▶️ كيف تبحث في Google Scholar؟ شرح للطلبة (ar)</a:t>
            </a:r>
          </a:p>
          <a:p>
            <a:pPr>
              <a:defRPr sz="2000"/>
            </a:pPr>
            <a:r>
              <a:t>▶️ Consensus : interroger la science en une question (en)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https://www.youtube.com/results?search_query=perplexity+academic+tutoriel+francais+recherche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https://www.youtube.com/results?search_query=google+scholar+شرح+للباحثين+المبتدئين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https://www.youtube.com/results?search_query=consensus+app+ask+scientific+question+tutorial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Question imposée : « Les écrans nuisent-ils au sommeil des enfants ? » 1) Interrogez Perplexity (mode Academic). 2) Ouvrez 2 sources citées. 3) Rédigez 3 phrases sourcées (auteur, année).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Réussi si : 2 sources ouvertes et existantes (revue + année notées), 3 phrases avec (auteur, année), et 1 source écartée expliquée (« blog sans auteur, écarté »).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Set question: "Do screens harm children's sleep?" 1) Ask Perplexity (Academic mode). 2) Open 2 cited sources. 3) Write 3 sourced sentences (author, year).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Success if: 2 opened, existing sources (journal + year noted), 3 sentences with (author, year), and 1 discarded source explained ("authorless blog, discarded").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Question précise (4 composantes) avant tout outil.</a:t>
            </a:r>
          </a:p>
          <a:p>
            <a:pPr>
              <a:defRPr sz="2000"/>
            </a:pPr>
            <a:r>
              <a:t>Perplexity = réponse + sources à ouvrir.</a:t>
            </a:r>
          </a:p>
          <a:p>
            <a:pPr>
              <a:defRPr sz="2000"/>
            </a:pPr>
            <a:r>
              <a:t>Scholar : mots-clés anglais + filtre année + abstract.</a:t>
            </a:r>
          </a:p>
          <a:p>
            <a:pPr>
              <a:defRPr sz="2000"/>
            </a:pPr>
            <a:r>
              <a:t>Source introuvable = source inventée = jamais citée.</a:t>
            </a:r>
          </a:p>
          <a:p>
            <a:pPr>
              <a:defRPr sz="2000"/>
            </a:pPr>
            <a:r>
              <a:t>Toujours savoir D'OÙ vient une information.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Precise question (4 components) before any tool.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Perplexity = answer + sources to open.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Scholar: English keywords + year filter + abstract.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Quel outil pour une réponse AVEC sources à ouvrir ?</a:t>
            </a:r>
            <a:br/>
            <a:r>
              <a:t>   ✅ Perplexity (réponse + liens cités)</a:t>
            </a:r>
          </a:p>
          <a:p>
            <a:pPr>
              <a:defRPr sz="2000"/>
            </a:pPr>
            <a:r>
              <a:t>Q2. Comment chercher sur Google Scholar ?</a:t>
            </a:r>
            <a:br/>
            <a:r>
              <a:t>   ✅ Mots-clés anglais + filtre année + lire l'abstract</a:t>
            </a:r>
          </a:p>
          <a:p>
            <a:pPr>
              <a:defRPr sz="2000"/>
            </a:pPr>
            <a:r>
              <a:t>Q3. À quoi sert Consensus ?</a:t>
            </a:r>
            <a:br/>
            <a:r>
              <a:t>   ✅ Résumer ce que disent les études sur une question factuelle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Which tool for an answer WITH sources to open?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How to search on Google Scholar?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is Consensus for?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recherche commence par une question précise, pas par des mots au hasard.</a:t>
            </a:r>
          </a:p>
          <a:p>
            <a:pPr>
              <a:defRPr sz="2000"/>
            </a:pPr>
            <a:r>
              <a:t>Perplexity répond AVEC les sources ; toujours ouvrir et vérifier ces sources.</a:t>
            </a:r>
          </a:p>
          <a:p>
            <a:pPr>
              <a:defRPr sz="2000"/>
            </a:pPr>
            <a:r>
              <a:t>Google Scholar et Consensus mènent à la littérature scientifique ; le DOI prouve qu'un article existe.</a:t>
            </a:r>
          </a:p>
          <a:p>
            <a:pPr>
              <a:defRPr sz="2000"/>
            </a:pPr>
            <a:r>
              <a:t>Croiser 2 sources indépendantes avant de considérer une information fiable.</a:t>
            </a:r>
          </a:p>
          <a:p>
            <a:pPr>
              <a:defRPr sz="2000"/>
            </a:pPr>
            <a:r>
              <a:t>Jamais de citation sans vérification : sources fantômes = fraude involontaire mais sanctionnée.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search starts with a precise question, not random words.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Perplexity answers WITH sources; always open and check them.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Google Scholar and Consensus lead to the scientific literature; the DOI proves a paper exists.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Cross-check 2 independent sources before considering information reliable.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Never cite without checking: ghost sources = unintentional but sanctioned fraud.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03 — Rechercher et comprendre l'information avec l'IA</a:t>
            </a:r>
          </a:p>
          <a:p>
            <a:r>
              <a:rPr sz="2000">
                <a:solidFill>
                  <a:srgbClr val="ECEFF1"/>
                </a:solidFill>
              </a:rPr>
              <a:t>Searching and understanding information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